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1c9728d6752460c" /><Relationship Type="http://schemas.openxmlformats.org/officeDocument/2006/relationships/extended-properties" Target="/docProps/app.xml" Id="R7c2bdbbcbfca4bc9" /><Relationship Type="http://schemas.openxmlformats.org/officeDocument/2006/relationships/officeDocument" Target="/ppt/presentation.xml" Id="R9f013f08e2c84fa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8259aca069e4cfa"/>
  </p:sldMasterIdLst>
  <p:notesMasterIdLst>
    <p:notesMasterId xmlns:r="http://schemas.openxmlformats.org/officeDocument/2006/relationships" r:id="R0d66ba97290b4dfd"/>
  </p:notesMasterIdLst>
  <p:sldIdLst>
    <p:sldId xmlns:r="http://schemas.openxmlformats.org/officeDocument/2006/relationships" id="256" r:id="Rbfd2b6c903e44262"/>
    <p:sldId xmlns:r="http://schemas.openxmlformats.org/officeDocument/2006/relationships" id="257" r:id="R24d0c758fef642c1"/>
    <p:sldId xmlns:r="http://schemas.openxmlformats.org/officeDocument/2006/relationships" id="258" r:id="Rbcf8df18b0544bb5"/>
    <p:sldId xmlns:r="http://schemas.openxmlformats.org/officeDocument/2006/relationships" id="259" r:id="Rec351fc880984ccd"/>
    <p:sldId xmlns:r="http://schemas.openxmlformats.org/officeDocument/2006/relationships" id="260" r:id="R469938e33eab45d6"/>
    <p:sldId xmlns:r="http://schemas.openxmlformats.org/officeDocument/2006/relationships" id="261" r:id="R87c150c54a7b4dd9"/>
    <p:sldId xmlns:r="http://schemas.openxmlformats.org/officeDocument/2006/relationships" id="262" r:id="R9f0bad996dd54c8b"/>
    <p:sldId xmlns:r="http://schemas.openxmlformats.org/officeDocument/2006/relationships" id="263" r:id="R88a5f3a0e7064bf0"/>
    <p:sldId xmlns:r="http://schemas.openxmlformats.org/officeDocument/2006/relationships" id="264" r:id="R15cd610cacdb4da7"/>
    <p:sldId xmlns:r="http://schemas.openxmlformats.org/officeDocument/2006/relationships" id="265" r:id="Rcc0dd30cae66459c"/>
    <p:sldId xmlns:r="http://schemas.openxmlformats.org/officeDocument/2006/relationships" id="266" r:id="R0cd3fb5ac5ca47af"/>
    <p:sldId xmlns:r="http://schemas.openxmlformats.org/officeDocument/2006/relationships" id="267" r:id="R7e6e4d3f262d4e45"/>
    <p:sldId xmlns:r="http://schemas.openxmlformats.org/officeDocument/2006/relationships" id="268" r:id="R742497b5b66842b7"/>
    <p:sldId xmlns:r="http://schemas.openxmlformats.org/officeDocument/2006/relationships" id="269" r:id="R0fd983fabcc44fb3"/>
    <p:sldId xmlns:r="http://schemas.openxmlformats.org/officeDocument/2006/relationships" id="270" r:id="Rec92326b0f434886"/>
    <p:sldId xmlns:r="http://schemas.openxmlformats.org/officeDocument/2006/relationships" id="271" r:id="R0d864fdc046f4ddd"/>
    <p:sldId xmlns:r="http://schemas.openxmlformats.org/officeDocument/2006/relationships" id="272" r:id="R02e0ba2683cb4827"/>
    <p:sldId xmlns:r="http://schemas.openxmlformats.org/officeDocument/2006/relationships" id="273" r:id="R56ef22a68ac9489e"/>
    <p:sldId xmlns:r="http://schemas.openxmlformats.org/officeDocument/2006/relationships" id="274" r:id="R98e281013a65403c"/>
    <p:sldId xmlns:r="http://schemas.openxmlformats.org/officeDocument/2006/relationships" id="275" r:id="Rb6999ca6a6264e82"/>
    <p:sldId xmlns:r="http://schemas.openxmlformats.org/officeDocument/2006/relationships" id="276" r:id="R87326113ff1947bd"/>
    <p:sldId xmlns:r="http://schemas.openxmlformats.org/officeDocument/2006/relationships" id="277" r:id="R326d0207f00e46a6"/>
    <p:sldId xmlns:r="http://schemas.openxmlformats.org/officeDocument/2006/relationships" id="278" r:id="R7ca5328ff0c34699"/>
    <p:sldId xmlns:r="http://schemas.openxmlformats.org/officeDocument/2006/relationships" id="279" r:id="Rff95da515c3c494d"/>
    <p:sldId xmlns:r="http://schemas.openxmlformats.org/officeDocument/2006/relationships" id="280" r:id="Rd49c94aa4094430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ad5a12ac4f74b03" /><Relationship Type="http://schemas.openxmlformats.org/officeDocument/2006/relationships/slideMaster" Target="/ppt/slideMasters/slideMaster1.xml" Id="R78259aca069e4cfa" /><Relationship Type="http://schemas.openxmlformats.org/officeDocument/2006/relationships/notesMaster" Target="/ppt/notesMasters/notesMaster1.xml" Id="R0d66ba97290b4dfd" /><Relationship Type="http://schemas.openxmlformats.org/officeDocument/2006/relationships/presProps" Target="/ppt/presProps.xml" Id="R293d7b1c3ebf4cb8" /><Relationship Type="http://schemas.openxmlformats.org/officeDocument/2006/relationships/tableStyles" Target="/ppt/tableStyles.xml" Id="Rdce3de8fe7e44b22" /><Relationship Type="http://schemas.openxmlformats.org/officeDocument/2006/relationships/slide" Target="/ppt/slides/slide1.xml" Id="Rbfd2b6c903e44262" /><Relationship Type="http://schemas.openxmlformats.org/officeDocument/2006/relationships/slide" Target="/ppt/slides/slide2.xml" Id="R24d0c758fef642c1" /><Relationship Type="http://schemas.openxmlformats.org/officeDocument/2006/relationships/slide" Target="/ppt/slides/slide3.xml" Id="Rbcf8df18b0544bb5" /><Relationship Type="http://schemas.openxmlformats.org/officeDocument/2006/relationships/slide" Target="/ppt/slides/slide4.xml" Id="Rec351fc880984ccd" /><Relationship Type="http://schemas.openxmlformats.org/officeDocument/2006/relationships/slide" Target="/ppt/slides/slide5.xml" Id="R469938e33eab45d6" /><Relationship Type="http://schemas.openxmlformats.org/officeDocument/2006/relationships/slide" Target="/ppt/slides/slide6.xml" Id="R87c150c54a7b4dd9" /><Relationship Type="http://schemas.openxmlformats.org/officeDocument/2006/relationships/slide" Target="/ppt/slides/slide7.xml" Id="R9f0bad996dd54c8b" /><Relationship Type="http://schemas.openxmlformats.org/officeDocument/2006/relationships/slide" Target="/ppt/slides/slide8.xml" Id="R88a5f3a0e7064bf0" /><Relationship Type="http://schemas.openxmlformats.org/officeDocument/2006/relationships/slide" Target="/ppt/slides/slide9.xml" Id="R15cd610cacdb4da7" /><Relationship Type="http://schemas.openxmlformats.org/officeDocument/2006/relationships/slide" Target="/ppt/slides/slide10.xml" Id="Rcc0dd30cae66459c" /><Relationship Type="http://schemas.openxmlformats.org/officeDocument/2006/relationships/slide" Target="/ppt/slides/slide11.xml" Id="R0cd3fb5ac5ca47af" /><Relationship Type="http://schemas.openxmlformats.org/officeDocument/2006/relationships/slide" Target="/ppt/slides/slide12.xml" Id="R7e6e4d3f262d4e45" /><Relationship Type="http://schemas.openxmlformats.org/officeDocument/2006/relationships/slide" Target="/ppt/slides/slide13.xml" Id="R742497b5b66842b7" /><Relationship Type="http://schemas.openxmlformats.org/officeDocument/2006/relationships/slide" Target="/ppt/slides/slide14.xml" Id="R0fd983fabcc44fb3" /><Relationship Type="http://schemas.openxmlformats.org/officeDocument/2006/relationships/slide" Target="/ppt/slides/slide15.xml" Id="Rec92326b0f434886" /><Relationship Type="http://schemas.openxmlformats.org/officeDocument/2006/relationships/slide" Target="/ppt/slides/slide16.xml" Id="R0d864fdc046f4ddd" /><Relationship Type="http://schemas.openxmlformats.org/officeDocument/2006/relationships/slide" Target="/ppt/slides/slide17.xml" Id="R02e0ba2683cb4827" /><Relationship Type="http://schemas.openxmlformats.org/officeDocument/2006/relationships/slide" Target="/ppt/slides/slide18.xml" Id="R56ef22a68ac9489e" /><Relationship Type="http://schemas.openxmlformats.org/officeDocument/2006/relationships/slide" Target="/ppt/slides/slide19.xml" Id="R98e281013a65403c" /><Relationship Type="http://schemas.openxmlformats.org/officeDocument/2006/relationships/slide" Target="/ppt/slides/slide20.xml" Id="Rb6999ca6a6264e82" /><Relationship Type="http://schemas.openxmlformats.org/officeDocument/2006/relationships/slide" Target="/ppt/slides/slide21.xml" Id="R87326113ff1947bd" /><Relationship Type="http://schemas.openxmlformats.org/officeDocument/2006/relationships/slide" Target="/ppt/slides/slide22.xml" Id="R326d0207f00e46a6" /><Relationship Type="http://schemas.openxmlformats.org/officeDocument/2006/relationships/slide" Target="/ppt/slides/slide23.xml" Id="R7ca5328ff0c34699" /><Relationship Type="http://schemas.openxmlformats.org/officeDocument/2006/relationships/slide" Target="/ppt/slides/slide24.xml" Id="Rff95da515c3c494d" /><Relationship Type="http://schemas.openxmlformats.org/officeDocument/2006/relationships/slide" Target="/ppt/slides/slide25.xml" Id="Rd49c94aa4094430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b2ca4070b5841a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0c589be87624ee8" /><Relationship Type="http://schemas.openxmlformats.org/officeDocument/2006/relationships/notesMaster" Target="/ppt/notesMasters/notesMaster1.xml" Id="R7c94f0f3f46c4d0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7d5dd065c0b4481" /><Relationship Type="http://schemas.openxmlformats.org/officeDocument/2006/relationships/notesMaster" Target="/ppt/notesMasters/notesMaster1.xml" Id="Rcf68f29357ec420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c0d3e4e92d146aa" /><Relationship Type="http://schemas.openxmlformats.org/officeDocument/2006/relationships/notesMaster" Target="/ppt/notesMasters/notesMaster1.xml" Id="R093da98e1957453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cb197f2b4a24bdc" /><Relationship Type="http://schemas.openxmlformats.org/officeDocument/2006/relationships/notesMaster" Target="/ppt/notesMasters/notesMaster1.xml" Id="R97c2c42ece184d5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5f43cc7cd0e4e9f" /><Relationship Type="http://schemas.openxmlformats.org/officeDocument/2006/relationships/notesMaster" Target="/ppt/notesMasters/notesMaster1.xml" Id="Rebd35fdf3a5d441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5d7e5aad2d64b18" /><Relationship Type="http://schemas.openxmlformats.org/officeDocument/2006/relationships/notesMaster" Target="/ppt/notesMasters/notesMaster1.xml" Id="R660f1afba4a84bc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9ed38ace81e4fd6" /><Relationship Type="http://schemas.openxmlformats.org/officeDocument/2006/relationships/notesMaster" Target="/ppt/notesMasters/notesMaster1.xml" Id="Ra09554d0edbf45a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e947ae60a2d47eb" /><Relationship Type="http://schemas.openxmlformats.org/officeDocument/2006/relationships/notesMaster" Target="/ppt/notesMasters/notesMaster1.xml" Id="Red9d93c6eaf642f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e0f23350d2549f5" /><Relationship Type="http://schemas.openxmlformats.org/officeDocument/2006/relationships/notesMaster" Target="/ppt/notesMasters/notesMaster1.xml" Id="R5c8b8ea78dd9408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484ec29fb8a4a3d" /><Relationship Type="http://schemas.openxmlformats.org/officeDocument/2006/relationships/notesMaster" Target="/ppt/notesMasters/notesMaster1.xml" Id="R57077e60dffd472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41b0a148a2e4720" /><Relationship Type="http://schemas.openxmlformats.org/officeDocument/2006/relationships/notesMaster" Target="/ppt/notesMasters/notesMaster1.xml" Id="R01a357326eff470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0c463266af14b52" /><Relationship Type="http://schemas.openxmlformats.org/officeDocument/2006/relationships/notesMaster" Target="/ppt/notesMasters/notesMaster1.xml" Id="R5a323c0b4d204c8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d8e92336a4b48a1" /><Relationship Type="http://schemas.openxmlformats.org/officeDocument/2006/relationships/notesMaster" Target="/ppt/notesMasters/notesMaster1.xml" Id="Rea86423fcef645f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76cb7221d084442" /><Relationship Type="http://schemas.openxmlformats.org/officeDocument/2006/relationships/notesMaster" Target="/ppt/notesMasters/notesMaster1.xml" Id="R85120f51c9034d5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9712c05f7af4e64" /><Relationship Type="http://schemas.openxmlformats.org/officeDocument/2006/relationships/notesMaster" Target="/ppt/notesMasters/notesMaster1.xml" Id="R2d2624a8779340d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2f91d8a1ea741fa" /><Relationship Type="http://schemas.openxmlformats.org/officeDocument/2006/relationships/notesMaster" Target="/ppt/notesMasters/notesMaster1.xml" Id="Rda4eefcf774a496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0be689d0c6d442b" /><Relationship Type="http://schemas.openxmlformats.org/officeDocument/2006/relationships/notesMaster" Target="/ppt/notesMasters/notesMaster1.xml" Id="R19b4cca5c0544ba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6ecc439dfdc4aa2" /><Relationship Type="http://schemas.openxmlformats.org/officeDocument/2006/relationships/notesMaster" Target="/ppt/notesMasters/notesMaster1.xml" Id="Red6a124510ed46e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40c7b03c914447e" /><Relationship Type="http://schemas.openxmlformats.org/officeDocument/2006/relationships/notesMaster" Target="/ppt/notesMasters/notesMaster1.xml" Id="R79715928caf941c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35a5167dfcd4601" /><Relationship Type="http://schemas.openxmlformats.org/officeDocument/2006/relationships/notesMaster" Target="/ppt/notesMasters/notesMaster1.xml" Id="Rbeef9fa06ce74a4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32e44e9db454d03" /><Relationship Type="http://schemas.openxmlformats.org/officeDocument/2006/relationships/notesMaster" Target="/ppt/notesMasters/notesMaster1.xml" Id="R7e07652ec3bb43c1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d095246bdb4f41fd" /><Relationship Type="http://schemas.openxmlformats.org/officeDocument/2006/relationships/notesMaster" Target="/ppt/notesMasters/notesMaster1.xml" Id="Rd5d6ce4f6df54c23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f9b4c913460345b4" /><Relationship Type="http://schemas.openxmlformats.org/officeDocument/2006/relationships/notesMaster" Target="/ppt/notesMasters/notesMaster1.xml" Id="R925406dc05134677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fd446be6da5e43d5" /><Relationship Type="http://schemas.openxmlformats.org/officeDocument/2006/relationships/notesMaster" Target="/ppt/notesMasters/notesMaster1.xml" Id="R6ed3704ee7ad4941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a0f884ced77342ac" /><Relationship Type="http://schemas.openxmlformats.org/officeDocument/2006/relationships/notesMaster" Target="/ppt/notesMasters/notesMaster1.xml" Id="Rdf931799ba5c4b6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20 segundos.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Apresento a seleção do artigo, as métricas do veículo e a função das seções na construção da pesquisa. O estudo combina interfaces de consentimento com observação de tráfego em aplicativos Android.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Artigo fornecido, p. 1. DOI: https://doi.org/10.1145/3548606.3560564.</a:t>
            </a:r>
          </a:p>
          <a:p xmlns:a="http://schemas.openxmlformats.org/drawingml/2006/main">
            <a:r>
              <a:t>Trechos EN entre aspas reproduzem o original. PT indica tradução do apresentador. Análises identificadas no slide são interpretações do seminário. As páginas indicadas são as páginas do PDF fornecido (1 a 15).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45 segundos.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 busca ocorreu no Scopus via acesso institucional. A expressão exata gerou 131 resultados. Os filtros de ano, área e tipo reduziram a 70. O refino por palavras-chave e período levou a cinco candidatos. A seleção final priorizou a relação com o objeto do TCC. Os cinco finalistas estão no slide de apoio.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https://github.com/ClaudioAMF1/TCC/blob/main/seminario/pesquisa/README.md. Capturas presentes no PPTX fornecido.</a:t>
            </a:r>
          </a:p>
          <a:p xmlns:a="http://schemas.openxmlformats.org/drawingml/2006/main">
            <a:r>
              <a:t>Trechos EN entre aspas reproduzem o original. PT indica tradução do apresentador. Análises identificadas no slide são interpretações do seminário. As páginas indicadas são as páginas do PDF fornecido (1 a 15).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35 segundos.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 originalidade está no estudo empírico e no desenvolvimento do instrumento, segundo a apresentação dos autores. Eles descrevem a contribuição como o primeiro estudo em larga escala de avisos de consentimento nesse recorte. No TCC, o método inspira a confirmação do comportamento observado, mas o corpus governamental e o controle comercial pertencem ao meu projeto.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Artigo, p. 1–2. https://github.com/ClaudioAMF1/TCC/blob/main/desenhos/N3-proposta-formal.md.</a:t>
            </a:r>
          </a:p>
          <a:p xmlns:a="http://schemas.openxmlformats.org/drawingml/2006/main">
            <a:r>
              <a:t>Trechos EN entre aspas reproduzem o original. PT indica tradução do apresentador. Análises identificadas no slide são interpretações do seminário. As páginas indicadas são as páginas do PDF fornecido (1 a 15).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40 segundos.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CCS é uma conferência. O rank A* está disponível no portal ICORE. O material do seminário registra h5 90 e mediana 146, preservados como registro, sem nova validação na fonte. O estrato A1 da versão anterior não tem cálculo de percentil verificável. A CAPES descreve percentis e modelos de imputação, não a conversão direta do valor 90 para percentil 90. CORE e Qualis são sistemas distintos.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ICORE: https://portal.core.edu.au/conf-ranks/12/ (consulta em 22/09/2026). CAPES: Documento técnico do Qualis Periódicos, janeiro de 2023, discussão de percentis e imputação, p. 11–13 do PDF. https://www.gov.br/capes/pt-br/centrais-de-conteudo/documentos/avaliacao/avaliacao-quadrienal-2017/DocumentotcnicoQualisPeridicosfinal.pdf. h5 e mediana: slide 4 do PPTX fornecido.</a:t>
            </a:r>
          </a:p>
          <a:p xmlns:a="http://schemas.openxmlformats.org/drawingml/2006/main">
            <a:r>
              <a:t>Trechos EN entre aspas reproduzem o original. PT indica tradução do apresentador. Análises identificadas no slide são interpretações do seminário. As páginas indicadas são as páginas do PDF fornecido (1 a 15).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35 segundos.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 organização distingue construção do método e aplicação empírica. A introdução já posiciona o estudo na literatura, enquanto a revisão detalhada fica na Seção 7. A notificação de desenvolvedores tem seção própria porque responde à terceira pergunta de pesquisa. A análise do seminário destaca a função de cada parte, além de enumerar os títulos.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Artigo, seções 1 a 8, p. 1–13.</a:t>
            </a:r>
          </a:p>
          <a:p xmlns:a="http://schemas.openxmlformats.org/drawingml/2006/main">
            <a:r>
              <a:t>Trechos EN entre aspas reproduzem o original. PT indica tradução do apresentador. Análises identificadas no slide são interpretações do seminário. As páginas indicadas são as páginas do PDF fornecido (1 a 15).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40 segundos.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resumo começa pelo padrão de consentimento usado no estudo. Em seguida, delimita a lacuna na análise sistemática das interfaces e apresenta o objetivo. A afirmação de pioneirismo pertence aos autores e se refere ao recorte e ao momento da publicação. As cores apenas distinguem as funções argumentativas.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Artigo, Abstract, p. 1.</a:t>
            </a:r>
          </a:p>
          <a:p xmlns:a="http://schemas.openxmlformats.org/drawingml/2006/main">
            <a:r>
              <a:t>Trechos EN entre aspas reproduzem o original. PT indica tradução do apresentador. Análises identificadas no slide são interpretações do seminário. As páginas indicadas são as páginas do PDF fornecido (1 a 15).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35 segundos.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resumo condensa o procedimento, os números e a implicação. Neste trecho literal, os autores escrevem violate, sem potentially. Preservo a citação como está e, ao analisar os resultados, uso a qualificação de potencial violação, consistente com a nota de rodapé e com a conclusão. A comparação volta no fechamento.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Artigo, Abstract, p. 1. Comparação com nota 1, p. 2–3, e Conclusion, p. 13.</a:t>
            </a:r>
          </a:p>
          <a:p xmlns:a="http://schemas.openxmlformats.org/drawingml/2006/main">
            <a:r>
              <a:t>Trechos EN entre aspas reproduzem o original. PT indica tradução do apresentador. Análises identificadas no slide são interpretações do seminário. As páginas indicadas são as páginas do PDF fornecido (1 a 15).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45 segundos.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 introdução transforma o tema em questões investigáveis. A primeira exige observar e classificar interfaces. A segunda exige relacionar interface e tráfego sob critérios definidos pelos autores. A terceira exige ouvir desenvolvedores e explica a presença da Seção 5. A pergunta em inglês mantém a construção gramatical do PDF.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Artigo, Seção 1, p. 2.</a:t>
            </a:r>
          </a:p>
          <a:p xmlns:a="http://schemas.openxmlformats.org/drawingml/2006/main">
            <a:r>
              <a:t>Trechos EN entre aspas reproduzem o original. PT indica tradução do apresentador. Análises identificadas no slide são interpretações do seminário. As páginas indicadas são as páginas do PDF fornecido (1 a 15).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35 segundos.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Os três exemplos ampliam a primeira metade da Figura 1. A introdução cita a, b e c como exemplos de confirmation-only. A evidência visual permite discutir a opção oferecida ao usuário. Para caracterizar o envio de dados, o artigo ainda precisa da análise de tráfego.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Artigo, Figura 1 (a), (b), (c), e introdução, p. 2. Seção 2.2.3 e abertura da Seção 3, p. 4.</a:t>
            </a:r>
          </a:p>
          <a:p xmlns:a="http://schemas.openxmlformats.org/drawingml/2006/main">
            <a:r>
              <a:t>Trechos EN entre aspas reproduzem o original. PT indica tradução do apresentador. Análises identificadas no slide são interpretações do seminário. As páginas indicadas são as páginas do PDF fornecido (1 a 15).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30 segundos.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 segunda metade mostra alternativas de escolha e o mecanismo complexo do exemplo f. Em d, a recusa pode se limitar à publicidade personalizada. Em e, há aceitar e recusar. A existência de uma opção visual, por si, ainda não demonstra que a recusa seja respeitada tecnicamente.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Artigo, Figura 1, p. 2. Introdução, p. 2, e Seção 3, p. 4.</a:t>
            </a:r>
          </a:p>
          <a:p xmlns:a="http://schemas.openxmlformats.org/drawingml/2006/main">
            <a:r>
              <a:t>Trechos EN entre aspas reproduzem o original. PT indica tradução do apresentador. Análises identificadas no slide são interpretações do seminário. As páginas indicadas são as páginas do PDF fornecido (1 a 15).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35 segundos.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 fundamentação transforma o conceito de consentimento em categorias de observação. Os autores restringem a análise de potenciais violações ao compartilhamento com controladores publicitários selecionados. A nota 1 explicita a cautela: os resultados técnicos não constituem uma decisão judicial. O slide descreve o enquadramento empregado no artigo de 2022.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Artigo, Seções 2.1 e 2.2, p. 3–4. Nota 1, iniciada na p. 2 e concluída na p. 3.</a:t>
            </a:r>
          </a:p>
          <a:p xmlns:a="http://schemas.openxmlformats.org/drawingml/2006/main">
            <a:r>
              <a:t>Trechos EN entre aspas reproduzem o original. PT indica tradução do apresentador. Análises identificadas no slide são interpretações do seminário. As páginas indicadas são as páginas do PDF fornecido (1 a 15).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55 segundos.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 lista do AndroZoo contém 5,8 milhões de nomes. Os filtros e a obtenção na Google Play resultam em 250.972 apps. A captura tem sucesso em 239.381, ou 95,38%. O OCR e as palavras-chave encontram 20.542 interfaces relacionadas à privacidade. O NLP usa correção, normalização, lematização, bag-of-words, WordNet e TF-IDF. O clustering hierárquico usa Ward. A inspeção dos 44 grupos e depois das interfaces nos 36 grupos restantes identifica 13.082 avisos. O estudo usa seis dispositivos Pixel com root, Android 9 ou 12.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Artigo, Figura 2, p. 6; Seção 3, p. 4–6; 4.1, p. 6; 4.2, p. 6–7.</a:t>
            </a:r>
          </a:p>
          <a:p xmlns:a="http://schemas.openxmlformats.org/drawingml/2006/main">
            <a:r>
              <a:t>Trechos EN entre aspas reproduzem o original. PT indica tradução do apresentador. Análises identificadas no slide são interpretações do seminário. As páginas indicadas são as páginas do PDF fornecido (1 a 15).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55 segundos.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 condições são execuções separadas. Entre elas, a equipe desinstala o app e remove seus dados para exibir novamente o aviso. Tno-consent mede sem interação, Tconfirm mede após aceitar e Treject após recusar. Cada execução dura até 150 segundos. O estudo instrumenta TLS com mitmproxy, usa Objection contra pinning e DroidBot para eventos de interface. Os apps sem aviso também passam por análise de tráfego.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Artigo, Seção 4.3 e Figura 4, p. 8.</a:t>
            </a:r>
          </a:p>
          <a:p xmlns:a="http://schemas.openxmlformats.org/drawingml/2006/main">
            <a:r>
              <a:t>Trechos EN entre aspas reproduzem o original. PT indica tradução do apresentador. Análises identificadas no slide são interpretações do seminário. As páginas indicadas são as páginas do PDF fornecido (1 a 15).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40 segundos.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 categorias descrevem as opções da interface. Quase 44% dos avisos são de confirmação única. A recusa de personalização, presente em cerca de 30%, não necessariamente bloqueia o rastreamento. Os percentuais do artigo foram mantidos; por arredondamento, sua soma difere ligeiramente de 100%. Todas as contagens somam os 13.082 avisos.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Artigo, Seção 4.2 e Figura 3, p. 7. Contagens: 5.740 + 3.949 + 2.871 + 522 = 13.082.</a:t>
            </a:r>
          </a:p>
          <a:p xmlns:a="http://schemas.openxmlformats.org/drawingml/2006/main">
            <a:r>
              <a:t>Trechos EN entre aspas reproduzem o original. PT indica tradução do apresentador. Análises identificadas no slide são interpretações do seminário. As páginas indicadas são as páginas do PDF fornecido (1 a 15).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40 segundos.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Os denominadores são diferentes. Os 2.688 pertencem ao grupo de 13.082 com aviso, e pelo menos uma categoria de potencial violação foi observada. Os 30.160 são apps sem aviso identificado que enviaram dados a controladores publicitários. Não se trata simplesmente de todos os apps sem aviso do corpus. O texto usa 32.341 como base da comparação de envio a domínios publicitários, dos quais 30.160 não apresentavam aviso.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Artigo, Seção 4.4.2, p. 9, e 4.4.6, p. 10.</a:t>
            </a:r>
          </a:p>
          <a:p xmlns:a="http://schemas.openxmlformats.org/drawingml/2006/main">
            <a:r>
              <a:t>Trechos EN entre aspas reproduzem o original. PT indica tradução do apresentador. Análises identificadas no slide são interpretações do seminário. As páginas indicadas são as páginas do PDF fornecido (1 a 15).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45 segundos.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Os percentuais da tabela usam o total de cada coluna. No total de 13.082 apps, 2.181 correspondem a 16,67% e 1.084 a 8,28%, conforme o artigo. Os 134 continuaram enviando dados após a recusa. As categorias se sobrepõem: um mesmo app pode aparecer em mais de uma coluna, portanto não se somam para obter o total de 2.688. A divisão 1.084/13.082 é aproximadamente 8,29% pelo arredondamento usual; o artigo informa 8,28%, preservado no slide por fidelidade à fonte.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Artigo, Tabela 3, p. 10. Seções 4.4.3–4.4.6, p. 9–10.</a:t>
            </a:r>
          </a:p>
          <a:p xmlns:a="http://schemas.openxmlformats.org/drawingml/2006/main">
            <a:r>
              <a:t>Trechos EN entre aspas reproduzem o original. PT indica tradução do apresentador. Análises identificadas no slide são interpretações do seminário. As páginas indicadas são as páginas do PDF fornecido (1 a 15).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30 segundos.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gráfico preserva os valores e os nomes de domínio publicados no artigo. As barras não são grupos mutuamente exclusivos. O AAID é o Android Advertising ID e aparece em 29.952 dos 30.160 apps da categoria sem aviso. O dado de AAID é da tabela de tipos de informação e não apenas dos apps que contataram facebook.com.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Artigo, Figura 5, p. 9, e Tabela 4, p. 11.</a:t>
            </a:r>
          </a:p>
          <a:p xmlns:a="http://schemas.openxmlformats.org/drawingml/2006/main">
            <a:r>
              <a:t>Trechos EN entre aspas reproduzem o original. PT indica tradução do apresentador. Análises identificadas no slide são interpretações do seminário. As páginas indicadas são as páginas do PDF fornecido (1 a 15).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40 segundos.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Após excluir apps removidos ou atualizados desde a coleta, os autores notificaram 1.127 desenvolvedores responsáveis por 1.859 apps. Houve 43 respondentes, mas nem todos responderam a cada questão. Por isso, as frações são 9/14, 9/13 e 6/7. Entre 266 apps cujos desenvolvedores acessaram algum relatório, 147 foram atualizados. Desses, 63 corrigiram o problema e 84 ainda apresentavam pelo menos uma potencial violação. Isso não prova causalidade da notificação.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Artigo, Seções 5.1–5.3, p. 11–12. Notificação em 04/04/2022, acompanhamento até 26/04/2022.</a:t>
            </a:r>
          </a:p>
          <a:p xmlns:a="http://schemas.openxmlformats.org/drawingml/2006/main">
            <a:r>
              <a:t>Trechos EN entre aspas reproduzem o original. PT indica tradução do apresentador. Análises identificadas no slide são interpretações do seminário. As páginas indicadas são as páginas do PDF fornecido (1 a 15).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35 segundos.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 discussão interpreta os resultados e se apoia nas respostas de desenvolvedores. Ela aborda o alcance do problema, a transparência para usuários e o suporte técnico. O artigo não estabelece que todas as ocorrências tenham a mesma motivação. As respostas ajudam a levantar explicações plausíveis, sem provar a causa de cada caso.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Artigo, Seção 6, p. 12–13. Citação de 6.3, p. 13.</a:t>
            </a:r>
          </a:p>
          <a:p xmlns:a="http://schemas.openxmlformats.org/drawingml/2006/main">
            <a:r>
              <a:t>Trechos EN entre aspas reproduzem o original. PT indica tradução do apresentador. Análises identificadas no slide são interpretações do seminário. As páginas indicadas são as páginas do PDF fornecido (1 a 15).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35 segundos.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Os autores relatam as perdas do processo e delimitam o alcance. A categoria sem aviso depende da interface observada, e o próprio artigo reconhece possíveis falsos negativos. A amostra de verificação manual de cem apps não sinalizados encontrou um aviso não detectado, quatro falhas e 95 sem aviso. O estudo não se generaliza para apps pagos. As limitações e o comentário ético aparecem no corpo de outras seções, sem seção autônoma dedicada.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Artigo, 4.1 e 4.2, p. 6–7; limitações na p. 7; 4.3, p. 8; 4.4.1, p. 9.</a:t>
            </a:r>
          </a:p>
          <a:p xmlns:a="http://schemas.openxmlformats.org/drawingml/2006/main">
            <a:r>
              <a:t>Trechos EN entre aspas reproduzem o original. PT indica tradução do apresentador. Análises identificadas no slide são interpretações do seminário. As páginas indicadas são as páginas do PDF fornecido (1 a 15).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40 segundos.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 conclusão retoma o objetivo e a escala de 239.381 apps, recupera os quatro mecanismos e concentra os resultados principais. O recorte preserva toda a seção, mas os trechos centrais estão transcritos para permitir a leitura em sala. Os 30.160 pertencem à categoria sem aviso e os 2.688 à categoria com aviso e pelo menos uma potencial violação.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Artigo, Seção 8, p. 13.</a:t>
            </a:r>
          </a:p>
          <a:p xmlns:a="http://schemas.openxmlformats.org/drawingml/2006/main">
            <a:r>
              <a:t>Trechos EN entre aspas reproduzem o original. PT indica tradução do apresentador. Análises identificadas no slide são interpretações do seminário. As páginas indicadas são as páginas do PDF fornecido (1 a 15).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35 segundos.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fechamento converte os números em uma implicação: transparência e suporte para que usuários possam fazer escolhas livres e informadas. A comparação textual mostra uma diferença real. O resumo usa violate; a conclusão usa potentially violate. A última formulação expressa a cautela descrita na nota 1. A observação é sobre a precisão da redação, sem substituir a avaliação técnica ou jurídica.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Artigo, Abstract, p. 1; nota 1, p. 2–3; Conclusion, p. 13.</a:t>
            </a:r>
          </a:p>
          <a:p xmlns:a="http://schemas.openxmlformats.org/drawingml/2006/main">
            <a:r>
              <a:t>Trechos EN entre aspas reproduzem o original. PT indica tradução do apresentador. Análises identificadas no slide são interpretações do seminário. As páginas indicadas são as páginas do PDF fornecido (1 a 15).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30 segundos.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repositório registra um corpus preliminar de 396 apps e 71 publicadores. Esse contexto pertence ao projeto do TCC, não ao artigo. A contribuição metodológica é confirmar comportamento, além de identificar componentes. O recorte governamental e a comparação pareada são escolhas do TCC. A ausência declarada de anúncios na loja não basta para concluir que não exista rastreamento ou finalidade comercial.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https://github.com/ClaudioAMF1/TCC/blob/main/desenhos/N3-proposta-formal.md e https://github.com/ClaudioAMF1/TCC/blob/main/seminario/plano-do-seminario.md. Versão consultada em 22/09/2026, commit a779038cc235e481c542873e024bfc8b559a60cd.</a:t>
            </a:r>
          </a:p>
          <a:p xmlns:a="http://schemas.openxmlformats.org/drawingml/2006/main">
            <a:r>
              <a:t>Trechos EN entre aspas reproduzem o original. PT indica tradução do apresentador. Análises identificadas no slide são interpretações do seminário. As páginas indicadas são as páginas do PDF fornecido (1 a 15).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de apoio, fora do percurso principal de 15 minutos.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Títulos abreviados para leitura. A contagem de citações representa o registro da sessão de busca, não uma atualização em tempo real. A seleção também considerou o alinhamento com Android e rastreamento, além do método e da escala. Não se infere qualidade do artigo apenas pelo número de citações.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https://github.com/ClaudioAMF1/TCC/blob/main/seminario/pesquisa/README.md.</a:t>
            </a:r>
          </a:p>
          <a:p xmlns:a="http://schemas.openxmlformats.org/drawingml/2006/main">
            <a:r>
              <a:t>Trechos EN entre aspas reproduzem o original. PT indica tradução do apresentador. Análises identificadas no slide são interpretações do seminário. As páginas indicadas são as páginas do PDF fornecido (1 a 15).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de apoio, fora do percurso principal de 15 minutos.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 traduções em português são do apresentador. As figuras são recortes do PDF original. Os dados do projeto e da busca são identificados separadamente das conclusões dos autores.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Artigo fornecido: https://doi.org/10.1145/3548606.3560564. Repositório: https://github.com/ClaudioAMF1/TCC. ICORE: https://portal.core.edu.au/conf-ranks/12/. CAPES: https://www.gov.br/capes/pt-br/centrais-de-conteudo/documentos/avaliacao/avaliacao-quadrienal-2017/DocumentotcnicoQualisPeridicosfinal.pdf.</a:t>
            </a:r>
          </a:p>
          <a:p xmlns:a="http://schemas.openxmlformats.org/drawingml/2006/main">
            <a:r>
              <a:t>Trechos EN entre aspas reproduzem o original. PT indica tradução do apresentador. Análises identificadas no slide são interpretações do seminário. As páginas indicadas são as páginas do PDF fornecido (1 a 15).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8dd542a780409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9c44e09673d4b79" /><Relationship Type="http://schemas.openxmlformats.org/officeDocument/2006/relationships/slideLayout" Target="/ppt/slideLayouts/slideLayout1.xml" Id="R2337035e76534db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337035e76534db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2addafcc084196" /><Relationship Type="http://schemas.openxmlformats.org/officeDocument/2006/relationships/notesSlide" Target="/ppt/notesSlides/notesSlide1.xml" Id="R99e6be7a677744a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240042446c4db2" /><Relationship Type="http://schemas.openxmlformats.org/officeDocument/2006/relationships/image" Target="/ppt/media/image.jpeg" Id="R5c4a9351fbc741f2" /><Relationship Type="http://schemas.openxmlformats.org/officeDocument/2006/relationships/image" Target="/ppt/media/image2.jpeg" Id="R2534e25832074b7c" /><Relationship Type="http://schemas.openxmlformats.org/officeDocument/2006/relationships/image" Target="/ppt/media/image3.jpeg" Id="R485fef7ec8c0421e" /><Relationship Type="http://schemas.openxmlformats.org/officeDocument/2006/relationships/notesSlide" Target="/ppt/notesSlides/notesSlide2.xml" Id="Rfd4d11944d04459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3ff9216b604a14" /><Relationship Type="http://schemas.openxmlformats.org/officeDocument/2006/relationships/image" Target="/ppt/media/image.png" Id="Rc2f3ec27ba8a4f0f" /><Relationship Type="http://schemas.openxmlformats.org/officeDocument/2006/relationships/notesSlide" Target="/ppt/notesSlides/notesSlide3.xml" Id="Rf07005652038412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43fca7b35a4ae5" /><Relationship Type="http://schemas.openxmlformats.org/officeDocument/2006/relationships/notesSlide" Target="/ppt/notesSlides/notesSlide4.xml" Id="R8d20caffde5344d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67547b56444348" /><Relationship Type="http://schemas.openxmlformats.org/officeDocument/2006/relationships/notesSlide" Target="/ppt/notesSlides/notesSlide5.xml" Id="Rac18a4e9bbd947e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f105263bbb4f36" /><Relationship Type="http://schemas.openxmlformats.org/officeDocument/2006/relationships/notesSlide" Target="/ppt/notesSlides/notesSlide6.xml" Id="R749c3a71e8a3477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3550b264644a88" /><Relationship Type="http://schemas.openxmlformats.org/officeDocument/2006/relationships/notesSlide" Target="/ppt/notesSlides/notesSlide7.xml" Id="R3eb6d3989ec04d0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1a48d0daef4e6e" /><Relationship Type="http://schemas.openxmlformats.org/officeDocument/2006/relationships/notesSlide" Target="/ppt/notesSlides/notesSlide8.xml" Id="R55bb9b07fb714dc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909d26b2884896" /><Relationship Type="http://schemas.openxmlformats.org/officeDocument/2006/relationships/image" Target="/ppt/media/image2.png" Id="R627b0606e94249db" /><Relationship Type="http://schemas.openxmlformats.org/officeDocument/2006/relationships/image" Target="/ppt/media/image3.png" Id="R1455f18cc6bf4bb1" /><Relationship Type="http://schemas.openxmlformats.org/officeDocument/2006/relationships/image" Target="/ppt/media/image4.png" Id="R557d8637287a4240" /><Relationship Type="http://schemas.openxmlformats.org/officeDocument/2006/relationships/notesSlide" Target="/ppt/notesSlides/notesSlide9.xml" Id="Rbc8798fc3a7e45d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95a4a913a240dd" /><Relationship Type="http://schemas.openxmlformats.org/officeDocument/2006/relationships/image" Target="/ppt/media/image5.png" Id="R9a3e576663784945" /><Relationship Type="http://schemas.openxmlformats.org/officeDocument/2006/relationships/image" Target="/ppt/media/image6.png" Id="R273985224cb246a7" /><Relationship Type="http://schemas.openxmlformats.org/officeDocument/2006/relationships/image" Target="/ppt/media/image7.png" Id="Re94270d300d84baf" /><Relationship Type="http://schemas.openxmlformats.org/officeDocument/2006/relationships/notesSlide" Target="/ppt/notesSlides/notesSlide10.xml" Id="R41430914c2a44f8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f89c98a4ba496d" /><Relationship Type="http://schemas.openxmlformats.org/officeDocument/2006/relationships/notesSlide" Target="/ppt/notesSlides/notesSlide11.xml" Id="Rf86d45389eea467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0fef31e8424ae9" /><Relationship Type="http://schemas.openxmlformats.org/officeDocument/2006/relationships/image" Target="/ppt/media/image8.png" Id="R9e72a99c69024f18" /><Relationship Type="http://schemas.openxmlformats.org/officeDocument/2006/relationships/notesSlide" Target="/ppt/notesSlides/notesSlide12.xml" Id="Ra51af6d05743418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a8ef24cc6e40d1" /><Relationship Type="http://schemas.openxmlformats.org/officeDocument/2006/relationships/image" Target="/ppt/media/image9.png" Id="R0ba33a3a59404d85" /><Relationship Type="http://schemas.openxmlformats.org/officeDocument/2006/relationships/notesSlide" Target="/ppt/notesSlides/notesSlide13.xml" Id="R507d90f1faa9418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5d87a98def418a" /><Relationship Type="http://schemas.openxmlformats.org/officeDocument/2006/relationships/image" Target="/ppt/media/image10.png" Id="R28a188ede73e4d22" /><Relationship Type="http://schemas.openxmlformats.org/officeDocument/2006/relationships/notesSlide" Target="/ppt/notesSlides/notesSlide14.xml" Id="Rd55a60039e33435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27855864d248a7" /><Relationship Type="http://schemas.openxmlformats.org/officeDocument/2006/relationships/notesSlide" Target="/ppt/notesSlides/notesSlide15.xml" Id="R64534c1a5b884b7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f25562b10649a6" /><Relationship Type="http://schemas.openxmlformats.org/officeDocument/2006/relationships/notesSlide" Target="/ppt/notesSlides/notesSlide16.xml" Id="R35d6ae06ce8048b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eaa457aa304de2" /><Relationship Type="http://schemas.openxmlformats.org/officeDocument/2006/relationships/image" Target="/ppt/media/image11.png" Id="R9c8848577bc04e1c" /><Relationship Type="http://schemas.openxmlformats.org/officeDocument/2006/relationships/notesSlide" Target="/ppt/notesSlides/notesSlide17.xml" Id="Rd4556e06c81a441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9d7ca6cfb7412a" /><Relationship Type="http://schemas.openxmlformats.org/officeDocument/2006/relationships/notesSlide" Target="/ppt/notesSlides/notesSlide18.xml" Id="R48f337393c3d497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ca962e54b24bbe" /><Relationship Type="http://schemas.openxmlformats.org/officeDocument/2006/relationships/notesSlide" Target="/ppt/notesSlides/notesSlide19.xml" Id="Rcc8a96bc425c48a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836430ee834ecc" /><Relationship Type="http://schemas.openxmlformats.org/officeDocument/2006/relationships/notesSlide" Target="/ppt/notesSlides/notesSlide20.xml" Id="Rc19514e1076046e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9ede4eee7c4729" /><Relationship Type="http://schemas.openxmlformats.org/officeDocument/2006/relationships/image" Target="/ppt/media/image12.png" Id="R6ba4ee96d8a74861" /><Relationship Type="http://schemas.openxmlformats.org/officeDocument/2006/relationships/notesSlide" Target="/ppt/notesSlides/notesSlide21.xml" Id="R2278c9f30ec64a26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1e8a2a97e94861" /><Relationship Type="http://schemas.openxmlformats.org/officeDocument/2006/relationships/notesSlide" Target="/ppt/notesSlides/notesSlide22.xml" Id="R10c3473d9fb44f10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d5bccb3d5d4be5" /><Relationship Type="http://schemas.openxmlformats.org/officeDocument/2006/relationships/notesSlide" Target="/ppt/notesSlides/notesSlide23.xml" Id="R1e2e733a19614db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03b8a9c78040f5" /><Relationship Type="http://schemas.openxmlformats.org/officeDocument/2006/relationships/notesSlide" Target="/ppt/notesSlides/notesSlide24.xml" Id="R79a5aba9605f4fd8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daa311c9f14f84" /><Relationship Type="http://schemas.openxmlformats.org/officeDocument/2006/relationships/notesSlide" Target="/ppt/notesSlides/notesSlide25.xml" Id="Rf035c99796d0447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61BEC2-F3F8-490F-989E-0640663DB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875"/>
          </a:solidFill>
          <a:ln xmlns:a="http://schemas.openxmlformats.org/drawingml/2006/main" w="0">
            <a:noFill/>
          </a:ln>
        </p:spPr>
      </p:sp>
      <p:sp>
        <p:nvSpPr>
          <p:cNvPr id="2" name="ANÁLISE DE ARTIGO CIENTÍFICO">
            <a:extLst xmlns:a="http://schemas.openxmlformats.org/drawingml/2006/main">
              <a:ext uri="{FF2B5EF4-FFF2-40B4-BE49-F238E27FC236}">
                <a16:creationId xmlns:a16="http://schemas.microsoft.com/office/drawing/2014/main" id="{5D1F19B8-E201-40A6-9B5E-50582B791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ANÁLISE DE ARTIGO CIENTÍFICO</a:t>
            </a:r>
          </a:p>
        </p:txBody>
      </p:sp>
      <p:sp>
        <p:nvSpPr>
          <p:cNvPr id="3" name="Freely Given Consent?">
            <a:extLst xmlns:a="http://schemas.openxmlformats.org/drawingml/2006/main">
              <a:ext uri="{FF2B5EF4-FFF2-40B4-BE49-F238E27FC236}">
                <a16:creationId xmlns:a16="http://schemas.microsoft.com/office/drawing/2014/main" id="{6B6331A7-DFB1-451F-9E31-4978E2C83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2324F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2324F"/>
                </a:solidFill>
                <a:latin typeface="Arial"/>
                <a:ea typeface="Arial"/>
                <a:cs typeface="Arial"/>
              </a:rPr>
              <a:t>Freely Given Consent?</a:t>
            </a:r>
          </a:p>
        </p:txBody>
      </p:sp>
      <p:sp>
        <p:nvSpPr>
          <p:cNvPr id="4" name="Studying Consent Notice of Third-Party T">
            <a:extLst xmlns:a="http://schemas.openxmlformats.org/drawingml/2006/main">
              <a:ext uri="{FF2B5EF4-FFF2-40B4-BE49-F238E27FC236}">
                <a16:creationId xmlns:a16="http://schemas.microsoft.com/office/drawing/2014/main" id="{EC8C591B-633D-40DF-B611-0C8593315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4384A"/>
                </a:solidFill>
                <a:latin typeface="Arial"/>
                <a:ea typeface="Arial"/>
                <a:cs typeface="Arial"/>
              </a:rPr>
              <a:t>Studying Consent Notice of Third-Party Tracking</a:t>
            </a:r>
          </a:p>
          <a:p xmlns:a="http://schemas.openxmlformats.org/drawingml/2006/main">
            <a:pPr algn="l">
              <a:defRPr sz="2550" b="1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4384A"/>
                </a:solidFill>
                <a:latin typeface="Arial"/>
                <a:ea typeface="Arial"/>
                <a:cs typeface="Arial"/>
              </a:rPr>
              <a:t>and Its Violations of GDPR in Android Apps</a:t>
            </a:r>
          </a:p>
        </p:txBody>
      </p:sp>
      <p:sp>
        <p:nvSpPr>
          <p:cNvPr id="5" name="PT">
            <a:extLst xmlns:a="http://schemas.openxmlformats.org/drawingml/2006/main">
              <a:ext uri="{FF2B5EF4-FFF2-40B4-BE49-F238E27FC236}">
                <a16:creationId xmlns:a16="http://schemas.microsoft.com/office/drawing/2014/main" id="{4584E4BF-DF2C-43AF-A706-03E8A452B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PT</a:t>
            </a:r>
          </a:p>
        </p:txBody>
      </p:sp>
      <p:sp>
        <p:nvSpPr>
          <p:cNvPr id="6" name="Consentimento dado livremente? Estudo do">
            <a:extLst xmlns:a="http://schemas.openxmlformats.org/drawingml/2006/main">
              <a:ext uri="{FF2B5EF4-FFF2-40B4-BE49-F238E27FC236}">
                <a16:creationId xmlns:a16="http://schemas.microsoft.com/office/drawing/2014/main" id="{D10B7848-987F-41AE-800E-38257C33C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351472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4875"/>
                </a:solidFill>
                <a:latin typeface="Arial"/>
                <a:ea typeface="Arial"/>
                <a:cs typeface="Arial"/>
              </a:rPr>
              <a:t>Consentimento dado livremente? Estudo dos avisos de consentimento</a:t>
            </a:r>
          </a:p>
          <a:p xmlns:a="http://schemas.openxmlformats.org/drawingml/2006/main">
            <a:pPr algn="l">
              <a:defRPr sz="1950" b="0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4875"/>
                </a:solidFill>
                <a:latin typeface="Arial"/>
                <a:ea typeface="Arial"/>
                <a:cs typeface="Arial"/>
              </a:rPr>
              <a:t>para rastreamento de terceiros e suas violações do GDPR em apps Android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85A095-7F81-49CE-86E3-EA68F8515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8" name="Trung Tin Nguyen, Michael Backes e Ben S">
            <a:extLst xmlns:a="http://schemas.openxmlformats.org/drawingml/2006/main">
              <a:ext uri="{FF2B5EF4-FFF2-40B4-BE49-F238E27FC236}">
                <a16:creationId xmlns:a16="http://schemas.microsoft.com/office/drawing/2014/main" id="{898B7F50-862B-4A5E-9CE2-16FAD148C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76800"/>
            <a:ext cx="1085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4384A"/>
                </a:solidFill>
                <a:latin typeface="Arial"/>
                <a:ea typeface="Arial"/>
                <a:cs typeface="Arial"/>
              </a:rPr>
              <a:t>Trung Tin Nguyen, Michael Backes e Ben Stock</a:t>
            </a:r>
          </a:p>
        </p:txBody>
      </p:sp>
      <p:sp>
        <p:nvSpPr>
          <p:cNvPr id="9" name="ACM CCS 2022, p. 2369–2383. DOI: 10.1145">
            <a:extLst xmlns:a="http://schemas.openxmlformats.org/drawingml/2006/main">
              <a:ext uri="{FF2B5EF4-FFF2-40B4-BE49-F238E27FC236}">
                <a16:creationId xmlns:a16="http://schemas.microsoft.com/office/drawing/2014/main" id="{C7CC6564-0B0E-4FDF-BF2B-4C9498384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ACM CCS 2022, p. 2369–2383. DOI: 10.1145/3548606.3560564</a:t>
            </a:r>
          </a:p>
        </p:txBody>
      </p:sp>
      <p:sp>
        <p:nvSpPr>
          <p:cNvPr id="10" name="Claudio Meireles">
            <a:extLst xmlns:a="http://schemas.openxmlformats.org/drawingml/2006/main">
              <a:ext uri="{FF2B5EF4-FFF2-40B4-BE49-F238E27FC236}">
                <a16:creationId xmlns:a16="http://schemas.microsoft.com/office/drawing/2014/main" id="{1BA6A3CB-CF61-4E6B-996C-5D4A98C6D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495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2324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2324F"/>
                </a:solidFill>
                <a:latin typeface="Arial"/>
                <a:ea typeface="Arial"/>
                <a:cs typeface="Arial"/>
              </a:rPr>
              <a:t>Claudio Meireles</a:t>
            </a:r>
          </a:p>
        </p:txBody>
      </p:sp>
      <p:sp>
        <p:nvSpPr>
          <p:cNvPr id="11" name="Projeto Capstone I · IDP · 29/09/2026">
            <a:extLst xmlns:a="http://schemas.openxmlformats.org/drawingml/2006/main">
              <a:ext uri="{FF2B5EF4-FFF2-40B4-BE49-F238E27FC236}">
                <a16:creationId xmlns:a16="http://schemas.microsoft.com/office/drawing/2014/main" id="{5EB2EE06-2264-46F7-A30B-A5AE19171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6057900"/>
            <a:ext cx="52482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7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Projeto Capstone I · IDP · 29/09/2026</a:t>
            </a:r>
          </a:p>
        </p:txBody>
      </p:sp>
    </p:spTree>
    <p:extLst>
      <p:ext uri="{BB962C8B-B14F-4D97-AF65-F5344CB8AC3E}">
        <p14:creationId xmlns:p14="http://schemas.microsoft.com/office/powerpoint/2010/main" val="142690580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6D58A84-B97B-4E46-B7A0-76B6BFF3F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875"/>
          </a:solidFill>
          <a:ln xmlns:a="http://schemas.openxmlformats.org/drawingml/2006/main" w="0">
            <a:noFill/>
          </a:ln>
        </p:spPr>
      </p:sp>
      <p:sp>
        <p:nvSpPr>
          <p:cNvPr id="2" name="SELEÇÃO">
            <a:extLst xmlns:a="http://schemas.openxmlformats.org/drawingml/2006/main">
              <a:ext uri="{FF2B5EF4-FFF2-40B4-BE49-F238E27FC236}">
                <a16:creationId xmlns:a16="http://schemas.microsoft.com/office/drawing/2014/main" id="{DB4E902B-ADC1-43FF-BA99-39076580B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SELEÇÃO</a:t>
            </a:r>
          </a:p>
        </p:txBody>
      </p:sp>
      <p:sp>
        <p:nvSpPr>
          <p:cNvPr id="3" name="Seleção do artigo no Scopus">
            <a:extLst xmlns:a="http://schemas.openxmlformats.org/drawingml/2006/main">
              <a:ext uri="{FF2B5EF4-FFF2-40B4-BE49-F238E27FC236}">
                <a16:creationId xmlns:a16="http://schemas.microsoft.com/office/drawing/2014/main" id="{86761131-EEA1-4D78-804D-EF2215967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2324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324F"/>
                </a:solidFill>
                <a:latin typeface="Arial"/>
                <a:ea typeface="Arial"/>
                <a:cs typeface="Arial"/>
              </a:rPr>
              <a:t>Seleção do artigo no Scopus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81122E-DB11-4C67-B9EB-3710D292C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63958B-68CF-4FCB-9607-52855BDB1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6" name="Fonte: registro da busca no TCC, 21/09/2">
            <a:extLst xmlns:a="http://schemas.openxmlformats.org/drawingml/2006/main">
              <a:ext uri="{FF2B5EF4-FFF2-40B4-BE49-F238E27FC236}">
                <a16:creationId xmlns:a16="http://schemas.microsoft.com/office/drawing/2014/main" id="{3C8EAAE0-E42B-413F-828D-CBDEDA908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Fonte: registro da busca no TCC, 21/09/2026. Acesso ao Scopus pela CAPES via CAFe.</a:t>
            </a:r>
          </a:p>
        </p:txBody>
      </p:sp>
      <p:sp>
        <p:nvSpPr>
          <p:cNvPr id="7" name="02 / 23">
            <a:extLst xmlns:a="http://schemas.openxmlformats.org/drawingml/2006/main">
              <a:ext uri="{FF2B5EF4-FFF2-40B4-BE49-F238E27FC236}">
                <a16:creationId xmlns:a16="http://schemas.microsoft.com/office/drawing/2014/main" id="{8FC66050-A729-4870-B9FF-2F920AF2A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7700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02 / 23</a:t>
            </a:r>
          </a:p>
        </p:txBody>
      </p:sp>
      <p:sp>
        <p:nvSpPr>
          <p:cNvPr id="8" name="Busca: “third-party tracking”">
            <a:extLst xmlns:a="http://schemas.openxmlformats.org/drawingml/2006/main">
              <a:ext uri="{FF2B5EF4-FFF2-40B4-BE49-F238E27FC236}">
                <a16:creationId xmlns:a16="http://schemas.microsoft.com/office/drawing/2014/main" id="{CD96B95D-6F58-4768-A1F4-96DEEC975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657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2324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2324F"/>
                </a:solidFill>
                <a:latin typeface="Arial"/>
                <a:ea typeface="Arial"/>
                <a:cs typeface="Arial"/>
              </a:rPr>
              <a:t>Busca: “third-party tracking”</a:t>
            </a:r>
          </a:p>
        </p:txBody>
      </p:sp>
      <p:sp>
        <p:nvSpPr>
          <p:cNvPr id="9" name="Campo: título, resumo e palavras-chave">
            <a:extLst xmlns:a="http://schemas.openxmlformats.org/drawingml/2006/main">
              <a:ext uri="{FF2B5EF4-FFF2-40B4-BE49-F238E27FC236}">
                <a16:creationId xmlns:a16="http://schemas.microsoft.com/office/drawing/2014/main" id="{D8541D47-76B1-4410-ABEB-C6567845B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Campo: título, resumo e palavras-chave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4a9351fbc741f2"/>
          <a:stretch xmlns:a="http://schemas.openxmlformats.org/drawingml/2006/main"/>
        </p:blipFill>
        <p:spPr>
          <a:xfrm xmlns:a="http://schemas.openxmlformats.org/drawingml/2006/main">
            <a:off x="990545" y="2524125"/>
            <a:ext cx="2552810" cy="1476375"/>
          </a:xfrm>
          <a:prstGeom xmlns:a="http://schemas.openxmlformats.org/drawingml/2006/main" prst="rect">
            <a:avLst/>
          </a:prstGeom>
        </p:spPr>
      </p:pic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34e25832074b7c"/>
          <a:stretch xmlns:a="http://schemas.openxmlformats.org/drawingml/2006/main"/>
        </p:blipFill>
        <p:spPr>
          <a:xfrm xmlns:a="http://schemas.openxmlformats.org/drawingml/2006/main">
            <a:off x="4819595" y="2524125"/>
            <a:ext cx="2552810" cy="1476375"/>
          </a:xfrm>
          <a:prstGeom xmlns:a="http://schemas.openxmlformats.org/drawingml/2006/main" prst="rect">
            <a:avLst/>
          </a:prstGeom>
        </p:spPr>
      </p:pic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5fef7ec8c0421e"/>
          <a:stretch xmlns:a="http://schemas.openxmlformats.org/drawingml/2006/main"/>
        </p:blipFill>
        <p:spPr>
          <a:xfrm xmlns:a="http://schemas.openxmlformats.org/drawingml/2006/main">
            <a:off x="8648645" y="2524125"/>
            <a:ext cx="2552810" cy="1476375"/>
          </a:xfrm>
          <a:prstGeom xmlns:a="http://schemas.openxmlformats.org/drawingml/2006/main" prst="rect">
            <a:avLst/>
          </a:prstGeom>
        </p:spPr>
      </p:pic>
      <p:sp>
        <p:nvSpPr>
          <p:cNvPr id="13" name="131">
            <a:extLst xmlns:a="http://schemas.openxmlformats.org/drawingml/2006/main">
              <a:ext uri="{FF2B5EF4-FFF2-40B4-BE49-F238E27FC236}">
                <a16:creationId xmlns:a16="http://schemas.microsoft.com/office/drawing/2014/main" id="{54F09458-D046-454F-840B-2E580167E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62425"/>
            <a:ext cx="1047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131</a:t>
            </a:r>
          </a:p>
        </p:txBody>
      </p:sp>
      <p:sp>
        <p:nvSpPr>
          <p:cNvPr id="14" name="expressão exata,&#10;sem filtros">
            <a:extLst xmlns:a="http://schemas.openxmlformats.org/drawingml/2006/main">
              <a:ext uri="{FF2B5EF4-FFF2-40B4-BE49-F238E27FC236}">
                <a16:creationId xmlns:a16="http://schemas.microsoft.com/office/drawing/2014/main" id="{D664609C-5870-4BCB-8711-06FD1D150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4267200"/>
            <a:ext cx="22002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expressão exata,</a:t>
            </a:r>
          </a:p>
          <a:p xmlns:a="http://schemas.openxmlformats.org/drawingml/2006/main">
            <a:pPr algn="l">
              <a:defRPr sz="172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sem filtros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991134-4F2A-479E-BD84-DF858F55A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4438650"/>
            <a:ext cx="257175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4875"/>
          </a:solidFill>
          <a:ln xmlns:a="http://schemas.openxmlformats.org/drawingml/2006/main" w="0">
            <a:noFill/>
          </a:ln>
        </p:spPr>
      </p:sp>
      <p:sp>
        <p:nvSpPr>
          <p:cNvPr id="16" name="70">
            <a:extLst xmlns:a="http://schemas.openxmlformats.org/drawingml/2006/main">
              <a:ext uri="{FF2B5EF4-FFF2-40B4-BE49-F238E27FC236}">
                <a16:creationId xmlns:a16="http://schemas.microsoft.com/office/drawing/2014/main" id="{BDF01D04-973E-44CC-8B05-E25BD4884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162425"/>
            <a:ext cx="1047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70</a:t>
            </a:r>
          </a:p>
        </p:txBody>
      </p:sp>
      <p:sp>
        <p:nvSpPr>
          <p:cNvPr id="17" name="2018–2026, Computação,&#10;artigos e conferê">
            <a:extLst xmlns:a="http://schemas.openxmlformats.org/drawingml/2006/main">
              <a:ext uri="{FF2B5EF4-FFF2-40B4-BE49-F238E27FC236}">
                <a16:creationId xmlns:a16="http://schemas.microsoft.com/office/drawing/2014/main" id="{DD4B284D-9733-4404-B909-A32793DA9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267200"/>
            <a:ext cx="22002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2018–2026, Computação,</a:t>
            </a:r>
          </a:p>
          <a:p xmlns:a="http://schemas.openxmlformats.org/drawingml/2006/main">
            <a:pPr algn="l">
              <a:defRPr sz="172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artigos e conferências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652FDC-4BC8-4B6E-80A6-14B271C51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4438650"/>
            <a:ext cx="257175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4875"/>
          </a:solidFill>
          <a:ln xmlns:a="http://schemas.openxmlformats.org/drawingml/2006/main" w="0">
            <a:noFill/>
          </a:ln>
        </p:spPr>
      </p:sp>
      <p:sp>
        <p:nvSpPr>
          <p:cNvPr id="19" name="5">
            <a:extLst xmlns:a="http://schemas.openxmlformats.org/drawingml/2006/main">
              <a:ext uri="{FF2B5EF4-FFF2-40B4-BE49-F238E27FC236}">
                <a16:creationId xmlns:a16="http://schemas.microsoft.com/office/drawing/2014/main" id="{DFED3BF3-B35F-403B-A11D-1B44DE83C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162425"/>
            <a:ext cx="1047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0" name="palavras-chave específicas,&#10;período 2018">
            <a:extLst xmlns:a="http://schemas.openxmlformats.org/drawingml/2006/main">
              <a:ext uri="{FF2B5EF4-FFF2-40B4-BE49-F238E27FC236}">
                <a16:creationId xmlns:a16="http://schemas.microsoft.com/office/drawing/2014/main" id="{25EAC06A-E7B0-4C21-AC85-4CC8732AE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4267200"/>
            <a:ext cx="22002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palavras-chave específicas,</a:t>
            </a:r>
          </a:p>
          <a:p xmlns:a="http://schemas.openxmlformats.org/drawingml/2006/main">
            <a:pPr algn="l">
              <a:defRPr sz="172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período 2018–2025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E08E11-FC58-4B22-9541-3E99E789E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22" name="1 artigo selecionado">
            <a:extLst xmlns:a="http://schemas.openxmlformats.org/drawingml/2006/main">
              <a:ext uri="{FF2B5EF4-FFF2-40B4-BE49-F238E27FC236}">
                <a16:creationId xmlns:a16="http://schemas.microsoft.com/office/drawing/2014/main" id="{2FC481BD-67E6-4C83-828E-27B3017F5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3619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2324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2324F"/>
                </a:solidFill>
                <a:latin typeface="Arial"/>
                <a:ea typeface="Arial"/>
                <a:cs typeface="Arial"/>
              </a:rPr>
              <a:t>1 artigo selecionado</a:t>
            </a:r>
          </a:p>
        </p:txBody>
      </p:sp>
      <p:sp>
        <p:nvSpPr>
          <p:cNvPr id="23" name="Leitura de títulos e resumos. Prioridade">
            <a:extLst xmlns:a="http://schemas.openxmlformats.org/drawingml/2006/main">
              <a:ext uri="{FF2B5EF4-FFF2-40B4-BE49-F238E27FC236}">
                <a16:creationId xmlns:a16="http://schemas.microsoft.com/office/drawing/2014/main" id="{9BA87AF0-11D8-4126-AE0C-64CE7A901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514975"/>
            <a:ext cx="72961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Leitura de títulos e resumos. Prioridade para Android,</a:t>
            </a:r>
          </a:p>
          <a:p xmlns:a="http://schemas.openxmlformats.org/drawingml/2006/main">
            <a:pPr algn="l">
              <a:defRPr sz="1800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consentimento, escala do estudo e relação com o TCC.</a:t>
            </a:r>
          </a:p>
        </p:txBody>
      </p:sp>
    </p:spTree>
    <p:extLst>
      <p:ext uri="{BB962C8B-B14F-4D97-AF65-F5344CB8AC3E}">
        <p14:creationId xmlns:p14="http://schemas.microsoft.com/office/powerpoint/2010/main" val="39403012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76DA79-4951-4732-963A-4C3CB3FF8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875"/>
          </a:solidFill>
          <a:ln xmlns:a="http://schemas.openxmlformats.org/drawingml/2006/main" w="0">
            <a:noFill/>
          </a:ln>
        </p:spPr>
      </p:sp>
      <p:sp>
        <p:nvSpPr>
          <p:cNvPr id="2" name="SELEÇÃO">
            <a:extLst xmlns:a="http://schemas.openxmlformats.org/drawingml/2006/main">
              <a:ext uri="{FF2B5EF4-FFF2-40B4-BE49-F238E27FC236}">
                <a16:creationId xmlns:a16="http://schemas.microsoft.com/office/drawing/2014/main" id="{4A65CBBA-0B84-4844-BBE4-92B631BCE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SELEÇÃO</a:t>
            </a:r>
          </a:p>
        </p:txBody>
      </p:sp>
      <p:sp>
        <p:nvSpPr>
          <p:cNvPr id="3" name="Originalidade e relevância para o TCC">
            <a:extLst xmlns:a="http://schemas.openxmlformats.org/drawingml/2006/main">
              <a:ext uri="{FF2B5EF4-FFF2-40B4-BE49-F238E27FC236}">
                <a16:creationId xmlns:a16="http://schemas.microsoft.com/office/drawing/2014/main" id="{1FB6A8D1-17CE-42E5-A6B4-B494F680A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2324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324F"/>
                </a:solidFill>
                <a:latin typeface="Arial"/>
                <a:ea typeface="Arial"/>
                <a:cs typeface="Arial"/>
              </a:rPr>
              <a:t>Originalidade e relevância para o TCC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F6A787-220A-4E5A-92FE-FD362538A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E4677E-FA99-40D4-B606-AB2F9257C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6" name="Nguyen, Backes e Stock (2022), p. 1–2. C">
            <a:extLst xmlns:a="http://schemas.openxmlformats.org/drawingml/2006/main">
              <a:ext uri="{FF2B5EF4-FFF2-40B4-BE49-F238E27FC236}">
                <a16:creationId xmlns:a16="http://schemas.microsoft.com/office/drawing/2014/main" id="{5F74794E-FBA1-496F-BE67-CB9E549B2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Nguyen, Backes e Stock (2022), p. 1–2. Contexto do TCC: proposta N3 no repositório ClaudioAMF1/TCC.</a:t>
            </a:r>
          </a:p>
        </p:txBody>
      </p:sp>
      <p:sp>
        <p:nvSpPr>
          <p:cNvPr id="7" name="03 / 23">
            <a:extLst xmlns:a="http://schemas.openxmlformats.org/drawingml/2006/main">
              <a:ext uri="{FF2B5EF4-FFF2-40B4-BE49-F238E27FC236}">
                <a16:creationId xmlns:a16="http://schemas.microsoft.com/office/drawing/2014/main" id="{AE89BE7D-1100-4DE2-AF57-5B7436ED7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7700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03 / 23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f3ec27ba8a4f0f"/>
          <a:stretch xmlns:a="http://schemas.openxmlformats.org/drawingml/2006/main"/>
        </p:blipFill>
        <p:spPr>
          <a:xfrm xmlns:a="http://schemas.openxmlformats.org/drawingml/2006/main">
            <a:off x="609600" y="1935113"/>
            <a:ext cx="6553200" cy="825600"/>
          </a:xfrm>
          <a:prstGeom xmlns:a="http://schemas.openxmlformats.org/drawingml/2006/main" prst="rect">
            <a:avLst/>
          </a:prstGeom>
        </p:spPr>
      </p:pic>
      <p:sp>
        <p:nvSpPr>
          <p:cNvPr id="9" name="239.381">
            <a:extLst xmlns:a="http://schemas.openxmlformats.org/drawingml/2006/main">
              <a:ext uri="{FF2B5EF4-FFF2-40B4-BE49-F238E27FC236}">
                <a16:creationId xmlns:a16="http://schemas.microsoft.com/office/drawing/2014/main" id="{FCBCC5C6-F9F9-46B8-905A-71813D024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743075"/>
            <a:ext cx="3886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239.381</a:t>
            </a:r>
          </a:p>
        </p:txBody>
      </p:sp>
      <p:sp>
        <p:nvSpPr>
          <p:cNvPr id="10" name="aplicativos Android analisados">
            <a:extLst xmlns:a="http://schemas.openxmlformats.org/drawingml/2006/main">
              <a:ext uri="{FF2B5EF4-FFF2-40B4-BE49-F238E27FC236}">
                <a16:creationId xmlns:a16="http://schemas.microsoft.com/office/drawing/2014/main" id="{3480B985-68A6-43DD-A730-96682934B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562225"/>
            <a:ext cx="3790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aplicativos Android analisados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8FB892-27A4-4E84-AF86-5D2837702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05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12" name="PESQUISA ORIGINAL">
            <a:extLst xmlns:a="http://schemas.openxmlformats.org/drawingml/2006/main">
              <a:ext uri="{FF2B5EF4-FFF2-40B4-BE49-F238E27FC236}">
                <a16:creationId xmlns:a16="http://schemas.microsoft.com/office/drawing/2014/main" id="{176096D1-B007-4225-83AA-133826AF9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71875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PESQUISA ORIGINAL</a:t>
            </a:r>
          </a:p>
        </p:txBody>
      </p:sp>
      <p:sp>
        <p:nvSpPr>
          <p:cNvPr id="13" name="Os autores constroem um corpus de avisos">
            <a:extLst xmlns:a="http://schemas.openxmlformats.org/drawingml/2006/main">
              <a:ext uri="{FF2B5EF4-FFF2-40B4-BE49-F238E27FC236}">
                <a16:creationId xmlns:a16="http://schemas.microsoft.com/office/drawing/2014/main" id="{6B6ECE3D-8D1D-4FA2-88FB-357C95CFA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71925"/>
            <a:ext cx="5191125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Os autores constroem um corpus de avisos</a:t>
            </a:r>
          </a:p>
          <a:p xmlns:a="http://schemas.openxmlformats.org/drawingml/2006/main">
            <a:pPr algn="l">
              <a:defRPr sz="2100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e uma ferramenta de análise de tráfego.</a:t>
            </a:r>
          </a:p>
          <a:p xmlns:a="http://schemas.openxmlformats.org/drawingml/2006/main">
            <a:pPr algn="l">
              <a:defRPr sz="2100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Apresentam dados empíricos próprios.</a:t>
            </a:r>
          </a:p>
        </p:txBody>
      </p:sp>
      <p:sp>
        <p:nvSpPr>
          <p:cNvPr id="14" name="RELAÇÃO COM O TCC">
            <a:extLst xmlns:a="http://schemas.openxmlformats.org/drawingml/2006/main">
              <a:ext uri="{FF2B5EF4-FFF2-40B4-BE49-F238E27FC236}">
                <a16:creationId xmlns:a16="http://schemas.microsoft.com/office/drawing/2014/main" id="{CA669FAC-E2F5-46CB-AFDE-16FC6F1D9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571875"/>
            <a:ext cx="527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RELAÇÃO COM O TCC</a:t>
            </a:r>
          </a:p>
        </p:txBody>
      </p:sp>
      <p:sp>
        <p:nvSpPr>
          <p:cNvPr id="15" name="O TCC investiga rastreamento de terceiro">
            <a:extLst xmlns:a="http://schemas.openxmlformats.org/drawingml/2006/main">
              <a:ext uri="{FF2B5EF4-FFF2-40B4-BE49-F238E27FC236}">
                <a16:creationId xmlns:a16="http://schemas.microsoft.com/office/drawing/2014/main" id="{E71E4146-5D29-48C2-ACAA-AF9E87C6C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971925"/>
            <a:ext cx="52768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O TCC investiga rastreamento de terceiros</a:t>
            </a:r>
          </a:p>
          <a:p xmlns:a="http://schemas.openxmlformats.org/drawingml/2006/main">
            <a:pPr algn="l">
              <a:defRPr sz="2100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em aplicativos governamentais brasileiros</a:t>
            </a:r>
          </a:p>
          <a:p xmlns:a="http://schemas.openxmlformats.org/drawingml/2006/main">
            <a:pPr algn="l">
              <a:defRPr sz="2100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e prevê comparação com apps comerciais.</a:t>
            </a:r>
          </a:p>
        </p:txBody>
      </p:sp>
      <p:sp>
        <p:nvSpPr>
          <p:cNvPr id="16" name="Contribuição central: comparar as escolh">
            <a:extLst xmlns:a="http://schemas.openxmlformats.org/drawingml/2006/main">
              <a:ext uri="{FF2B5EF4-FFF2-40B4-BE49-F238E27FC236}">
                <a16:creationId xmlns:a16="http://schemas.microsoft.com/office/drawing/2014/main" id="{5A790C4B-3345-476A-8203-CE26D72DE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Contribuição central: comparar as escolhas da interface com o envio efetivo de dados.</a:t>
            </a:r>
          </a:p>
        </p:txBody>
      </p:sp>
    </p:spTree>
    <p:extLst>
      <p:ext uri="{BB962C8B-B14F-4D97-AF65-F5344CB8AC3E}">
        <p14:creationId xmlns:p14="http://schemas.microsoft.com/office/powerpoint/2010/main" val="52676549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D3E228-6F76-4CF7-8E39-298550B92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875"/>
          </a:solidFill>
          <a:ln xmlns:a="http://schemas.openxmlformats.org/drawingml/2006/main" w="0">
            <a:noFill/>
          </a:ln>
        </p:spPr>
      </p:sp>
      <p:sp>
        <p:nvSpPr>
          <p:cNvPr id="2" name="MÉTRICAS">
            <a:extLst xmlns:a="http://schemas.openxmlformats.org/drawingml/2006/main">
              <a:ext uri="{FF2B5EF4-FFF2-40B4-BE49-F238E27FC236}">
                <a16:creationId xmlns:a16="http://schemas.microsoft.com/office/drawing/2014/main" id="{F66A5BF6-28F5-4F5E-BBA0-0040845F2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MÉTRICAS</a:t>
            </a:r>
          </a:p>
        </p:txBody>
      </p:sp>
      <p:sp>
        <p:nvSpPr>
          <p:cNvPr id="3" name="Métricas do veículo e limite do enquadra">
            <a:extLst xmlns:a="http://schemas.openxmlformats.org/drawingml/2006/main">
              <a:ext uri="{FF2B5EF4-FFF2-40B4-BE49-F238E27FC236}">
                <a16:creationId xmlns:a16="http://schemas.microsoft.com/office/drawing/2014/main" id="{A49C3522-8B02-4FB8-AD09-8AEED1652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2324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324F"/>
                </a:solidFill>
                <a:latin typeface="Arial"/>
                <a:ea typeface="Arial"/>
                <a:cs typeface="Arial"/>
              </a:rPr>
              <a:t>Métricas do veículo e limite do enquadramento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4FBB49-8C44-44B0-BE59-DC72A91F2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388A50-654E-4298-B688-7F7D5EB3B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6" name="Fontes: levantamento anterior do seminár">
            <a:extLst xmlns:a="http://schemas.openxmlformats.org/drawingml/2006/main">
              <a:ext uri="{FF2B5EF4-FFF2-40B4-BE49-F238E27FC236}">
                <a16:creationId xmlns:a16="http://schemas.microsoft.com/office/drawing/2014/main" id="{A3B82F83-7D33-43D2-A8E2-5626B4E22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Fontes: levantamento anterior do seminário, ICORE 2026 e documento técnico da CAPES (2023).</a:t>
            </a:r>
          </a:p>
        </p:txBody>
      </p:sp>
      <p:sp>
        <p:nvSpPr>
          <p:cNvPr id="7" name="04 / 23">
            <a:extLst xmlns:a="http://schemas.openxmlformats.org/drawingml/2006/main">
              <a:ext uri="{FF2B5EF4-FFF2-40B4-BE49-F238E27FC236}">
                <a16:creationId xmlns:a16="http://schemas.microsoft.com/office/drawing/2014/main" id="{7DB8185B-3775-455F-9A70-BCFC93067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7700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04 / 23</a:t>
            </a:r>
          </a:p>
        </p:txBody>
      </p:sp>
      <p:sp>
        <p:nvSpPr>
          <p:cNvPr id="8" name="GOOGLE SCHOLAR METRICS">
            <a:extLst xmlns:a="http://schemas.openxmlformats.org/drawingml/2006/main">
              <a:ext uri="{FF2B5EF4-FFF2-40B4-BE49-F238E27FC236}">
                <a16:creationId xmlns:a16="http://schemas.microsoft.com/office/drawing/2014/main" id="{7422842A-3B61-4969-9BB9-D5CEFFDFC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GOOGLE SCHOLAR METRICS</a:t>
            </a:r>
          </a:p>
        </p:txBody>
      </p:sp>
      <p:sp>
        <p:nvSpPr>
          <p:cNvPr id="9" name="90">
            <a:extLst xmlns:a="http://schemas.openxmlformats.org/drawingml/2006/main">
              <a:ext uri="{FF2B5EF4-FFF2-40B4-BE49-F238E27FC236}">
                <a16:creationId xmlns:a16="http://schemas.microsoft.com/office/drawing/2014/main" id="{A19E8055-53CD-4BC8-A9C7-C24C32358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250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90</a:t>
            </a:r>
          </a:p>
        </p:txBody>
      </p:sp>
      <p:sp>
        <p:nvSpPr>
          <p:cNvPr id="10" name="índice h5&#10;mediana h5: 146">
            <a:extLst xmlns:a="http://schemas.openxmlformats.org/drawingml/2006/main">
              <a:ext uri="{FF2B5EF4-FFF2-40B4-BE49-F238E27FC236}">
                <a16:creationId xmlns:a16="http://schemas.microsoft.com/office/drawing/2014/main" id="{AB40F23D-3123-4A7C-ABD9-06B69ADFB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476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índice h5</a:t>
            </a:r>
          </a:p>
          <a:p xmlns:a="http://schemas.openxmlformats.org/drawingml/2006/main">
            <a:pPr algn="l">
              <a:defRPr sz="2100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mediana h5: 146</a:t>
            </a:r>
          </a:p>
        </p:txBody>
      </p:sp>
      <p:sp>
        <p:nvSpPr>
          <p:cNvPr id="11" name="Valores registrados no material fornecid">
            <a:extLst xmlns:a="http://schemas.openxmlformats.org/drawingml/2006/main">
              <a:ext uri="{FF2B5EF4-FFF2-40B4-BE49-F238E27FC236}">
                <a16:creationId xmlns:a16="http://schemas.microsoft.com/office/drawing/2014/main" id="{2A274971-655A-4B04-964D-6234E3920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504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Valores registrados no material fornecido.</a:t>
            </a:r>
          </a:p>
          <a:p xmlns:a="http://schemas.openxmlformats.org/drawingml/2006/main">
            <a:pPr algn="l">
              <a:defRPr sz="157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Sem nova confirmação no Google Scholar.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FDFF75-31A6-42F0-9D46-567DBE407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743075"/>
            <a:ext cx="9525" cy="2809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13" name="ICORE CONFERENCE PORTAL">
            <a:extLst xmlns:a="http://schemas.openxmlformats.org/drawingml/2006/main">
              <a:ext uri="{FF2B5EF4-FFF2-40B4-BE49-F238E27FC236}">
                <a16:creationId xmlns:a16="http://schemas.microsoft.com/office/drawing/2014/main" id="{79A26528-7AD9-49FF-99CB-5401193D9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752600"/>
            <a:ext cx="502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ICORE CONFERENCE PORTAL</a:t>
            </a:r>
          </a:p>
        </p:txBody>
      </p:sp>
      <p:sp>
        <p:nvSpPr>
          <p:cNvPr id="14" name="A*">
            <a:extLst xmlns:a="http://schemas.openxmlformats.org/drawingml/2006/main">
              <a:ext uri="{FF2B5EF4-FFF2-40B4-BE49-F238E27FC236}">
                <a16:creationId xmlns:a16="http://schemas.microsoft.com/office/drawing/2014/main" id="{3018ED3A-E0D4-4744-947B-DCEEDD9A1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52650"/>
            <a:ext cx="5029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250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A*</a:t>
            </a:r>
          </a:p>
        </p:txBody>
      </p:sp>
      <p:sp>
        <p:nvSpPr>
          <p:cNvPr id="15" name="ACM CCS&#10;classificação ICORE 2026">
            <a:extLst xmlns:a="http://schemas.openxmlformats.org/drawingml/2006/main">
              <a:ext uri="{FF2B5EF4-FFF2-40B4-BE49-F238E27FC236}">
                <a16:creationId xmlns:a16="http://schemas.microsoft.com/office/drawing/2014/main" id="{89299F3E-4DDD-4A9E-A1F3-544C6EDE5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105150"/>
            <a:ext cx="495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ACM CCS</a:t>
            </a:r>
          </a:p>
          <a:p xmlns:a="http://schemas.openxmlformats.org/drawingml/2006/main">
            <a:pPr algn="l">
              <a:defRPr sz="2100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classificação ICORE 2026</a:t>
            </a:r>
          </a:p>
        </p:txBody>
      </p:sp>
      <p:sp>
        <p:nvSpPr>
          <p:cNvPr id="16" name="Classificação conferida no portal.&#10;Consu">
            <a:extLst xmlns:a="http://schemas.openxmlformats.org/drawingml/2006/main">
              <a:ext uri="{FF2B5EF4-FFF2-40B4-BE49-F238E27FC236}">
                <a16:creationId xmlns:a16="http://schemas.microsoft.com/office/drawing/2014/main" id="{2F7AAF65-0C3D-4F5C-B8A6-76F40E37F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94335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Classificação conferida no portal.</a:t>
            </a:r>
          </a:p>
          <a:p xmlns:a="http://schemas.openxmlformats.org/drawingml/2006/main">
            <a:pPr algn="l">
              <a:defRPr sz="157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Consulta: 22/09/2026.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19DF53-1DCB-4F91-8DF7-CD3CCA3B1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29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18" name="QUALIS PERIÓDICOS CORRESPONDENTE AO h5">
            <a:extLst xmlns:a="http://schemas.openxmlformats.org/drawingml/2006/main">
              <a:ext uri="{FF2B5EF4-FFF2-40B4-BE49-F238E27FC236}">
                <a16:creationId xmlns:a16="http://schemas.microsoft.com/office/drawing/2014/main" id="{045C46D4-44C0-42E1-8E07-CC993362D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5652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5652D"/>
                </a:solidFill>
                <a:latin typeface="Arial"/>
                <a:ea typeface="Arial"/>
                <a:cs typeface="Arial"/>
              </a:rPr>
              <a:t>QUALIS PERIÓDICOS CORRESPONDENTE AO h5</a:t>
            </a:r>
          </a:p>
        </p:txBody>
      </p:sp>
      <p:sp>
        <p:nvSpPr>
          <p:cNvPr id="19" name="Não determinável com os dados disponívei">
            <a:extLst xmlns:a="http://schemas.openxmlformats.org/drawingml/2006/main">
              <a:ext uri="{FF2B5EF4-FFF2-40B4-BE49-F238E27FC236}">
                <a16:creationId xmlns:a16="http://schemas.microsoft.com/office/drawing/2014/main" id="{25F402B3-49F4-4D70-8152-C0CDE0E5A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2324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2324F"/>
                </a:solidFill>
                <a:latin typeface="Arial"/>
                <a:ea typeface="Arial"/>
                <a:cs typeface="Arial"/>
              </a:rPr>
              <a:t>Não determinável com os dados disponíveis.</a:t>
            </a:r>
          </a:p>
        </p:txBody>
      </p:sp>
      <p:sp>
        <p:nvSpPr>
          <p:cNvPr id="20" name="A1 exige percentil ≥ 87,5. O h5 bruto e ">
            <a:extLst xmlns:a="http://schemas.openxmlformats.org/drawingml/2006/main">
              <a:ext uri="{FF2B5EF4-FFF2-40B4-BE49-F238E27FC236}">
                <a16:creationId xmlns:a16="http://schemas.microsoft.com/office/drawing/2014/main" id="{EC5D8985-B9E2-42B7-9A73-3704F1342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9597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A1 exige percentil ≥ 87,5. O h5 bruto e a posição em uma lista truncada não bastam para calculá-lo.</a:t>
            </a:r>
          </a:p>
        </p:txBody>
      </p:sp>
    </p:spTree>
    <p:extLst>
      <p:ext uri="{BB962C8B-B14F-4D97-AF65-F5344CB8AC3E}">
        <p14:creationId xmlns:p14="http://schemas.microsoft.com/office/powerpoint/2010/main" val="142978604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8B2171-12A3-4ADD-8C01-F8F4FC05E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875"/>
          </a:solidFill>
          <a:ln xmlns:a="http://schemas.openxmlformats.org/drawingml/2006/main" w="0">
            <a:noFill/>
          </a:ln>
        </p:spPr>
      </p:sp>
      <p:sp>
        <p:nvSpPr>
          <p:cNvPr id="2" name="ESTRUTURA">
            <a:extLst xmlns:a="http://schemas.openxmlformats.org/drawingml/2006/main">
              <a:ext uri="{FF2B5EF4-FFF2-40B4-BE49-F238E27FC236}">
                <a16:creationId xmlns:a16="http://schemas.microsoft.com/office/drawing/2014/main" id="{8110F456-C87A-4FA5-8FDB-C668FEA35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ESTRUTURA</a:t>
            </a:r>
          </a:p>
        </p:txBody>
      </p:sp>
      <p:sp>
        <p:nvSpPr>
          <p:cNvPr id="3" name="Como o artigo organiza o argumento">
            <a:extLst xmlns:a="http://schemas.openxmlformats.org/drawingml/2006/main">
              <a:ext uri="{FF2B5EF4-FFF2-40B4-BE49-F238E27FC236}">
                <a16:creationId xmlns:a16="http://schemas.microsoft.com/office/drawing/2014/main" id="{5289FE70-5A92-4713-8745-AE78E8B85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2324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324F"/>
                </a:solidFill>
                <a:latin typeface="Arial"/>
                <a:ea typeface="Arial"/>
                <a:cs typeface="Arial"/>
              </a:rPr>
              <a:t>Como o artigo organiza o argumento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418F75-739B-47F7-B790-DECDEFDDE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493FA7-D7CB-4747-8CF9-9B70C1086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6" name="Nguyen, Backes e Stock (2022), p. 1–13. ">
            <a:extLst xmlns:a="http://schemas.openxmlformats.org/drawingml/2006/main">
              <a:ext uri="{FF2B5EF4-FFF2-40B4-BE49-F238E27FC236}">
                <a16:creationId xmlns:a16="http://schemas.microsoft.com/office/drawing/2014/main" id="{7A03D2D7-B687-44C7-AF2E-6EBB12F5A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Nguyen, Backes e Stock (2022), p. 1–13. Funções das seções: interpretação do seminário.</a:t>
            </a:r>
          </a:p>
        </p:txBody>
      </p:sp>
      <p:sp>
        <p:nvSpPr>
          <p:cNvPr id="7" name="05 / 23">
            <a:extLst xmlns:a="http://schemas.openxmlformats.org/drawingml/2006/main">
              <a:ext uri="{FF2B5EF4-FFF2-40B4-BE49-F238E27FC236}">
                <a16:creationId xmlns:a16="http://schemas.microsoft.com/office/drawing/2014/main" id="{679C4E4F-11F9-4972-830C-8ABB83FAF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7700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05 / 23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609600" y="1685925"/>
          <a:ext xmlns:a="http://schemas.openxmlformats.org/drawingml/2006/main" cx="10972800" cy="38100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5400675"/>
                <a:gridCol w="5572125"/>
              </a:tblGrid>
              <a:tr h="476250"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l"/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Parte do artigo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174875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Função na pesquisa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174875"/>
                    </a:solidFill>
                  </a:tcPr>
                </a:tc>
              </a:tr>
              <a:tr h="476250"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Abstract e 1 Introduction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EDF3F8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Contexto, lacuna, objetivo e contribuições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EDF3F8"/>
                    </a:solidFill>
                  </a:tcPr>
                </a:tc>
              </a:tr>
              <a:tr h="476250"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2 Legal Background of GDPR Consent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Critérios usados na análise das práticas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3 Methodology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EDF3F8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Construção do método de identificação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EDF3F8"/>
                    </a:solidFill>
                  </a:tcPr>
                </a:tc>
              </a:tr>
              <a:tr h="476250"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4 Large-Scale Analysis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Aplicação do método e resultados empíricos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5 Developer Notification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EDF3F8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Respostas e atualizações dos desenvolvedores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EDF3F8"/>
                    </a:solidFill>
                  </a:tcPr>
                </a:tc>
              </a:tr>
              <a:tr h="476250"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6 Discussion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Interpretação e implicações dos achados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7 Related Work e 8 Conclusion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EDF3F8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Comparação com a literatura e síntese final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EDF3F8"/>
                    </a:solidFill>
                  </a:tcPr>
                </a:tc>
              </a:tr>
            </a:tbl>
          </a:graphicData>
        </a:graphic>
      </p:graphicFrame>
      <p:sp>
        <p:nvSpPr>
          <p:cNvPr id="9" name="A Seção 3 apresenta o método. A Seção 4 ">
            <a:extLst xmlns:a="http://schemas.openxmlformats.org/drawingml/2006/main">
              <a:ext uri="{FF2B5EF4-FFF2-40B4-BE49-F238E27FC236}">
                <a16:creationId xmlns:a16="http://schemas.microsoft.com/office/drawing/2014/main" id="{A1EA64D5-61CC-4A5A-A4C8-9FF322567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2927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A Seção 3 apresenta o método. A Seção 4 mostra sua aplicação em escala.</a:t>
            </a:r>
          </a:p>
        </p:txBody>
      </p:sp>
      <p:sp>
        <p:nvSpPr>
          <p:cNvPr id="10" name="A revisão detalhada de trabalhos relacio">
            <a:extLst xmlns:a="http://schemas.openxmlformats.org/drawingml/2006/main">
              <a:ext uri="{FF2B5EF4-FFF2-40B4-BE49-F238E27FC236}">
                <a16:creationId xmlns:a16="http://schemas.microsoft.com/office/drawing/2014/main" id="{E934E033-B142-4568-AE26-D9F2716EA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72175"/>
            <a:ext cx="109728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A revisão detalhada de trabalhos relacionados aparece após a discussão.</a:t>
            </a:r>
          </a:p>
        </p:txBody>
      </p:sp>
    </p:spTree>
    <p:extLst>
      <p:ext uri="{BB962C8B-B14F-4D97-AF65-F5344CB8AC3E}">
        <p14:creationId xmlns:p14="http://schemas.microsoft.com/office/powerpoint/2010/main" val="151363587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2D9058E-AAAA-4FC8-9EDA-88EB1218C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875"/>
          </a:solidFill>
          <a:ln xmlns:a="http://schemas.openxmlformats.org/drawingml/2006/main" w="0">
            <a:noFill/>
          </a:ln>
        </p:spPr>
      </p:sp>
      <p:sp>
        <p:nvSpPr>
          <p:cNvPr id="2" name="ANÁLISE DO ABSTRACT">
            <a:extLst xmlns:a="http://schemas.openxmlformats.org/drawingml/2006/main">
              <a:ext uri="{FF2B5EF4-FFF2-40B4-BE49-F238E27FC236}">
                <a16:creationId xmlns:a16="http://schemas.microsoft.com/office/drawing/2014/main" id="{D323966A-7BC2-430B-BE95-5D13FB28A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ANÁLISE DO ABSTRACT</a:t>
            </a:r>
          </a:p>
        </p:txBody>
      </p:sp>
      <p:sp>
        <p:nvSpPr>
          <p:cNvPr id="3" name="Resumo: contexto, lacuna e objetivo">
            <a:extLst xmlns:a="http://schemas.openxmlformats.org/drawingml/2006/main">
              <a:ext uri="{FF2B5EF4-FFF2-40B4-BE49-F238E27FC236}">
                <a16:creationId xmlns:a16="http://schemas.microsoft.com/office/drawing/2014/main" id="{3C67B7E0-59E1-4742-AA8C-23162423D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2324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324F"/>
                </a:solidFill>
                <a:latin typeface="Arial"/>
                <a:ea typeface="Arial"/>
                <a:cs typeface="Arial"/>
              </a:rPr>
              <a:t>Resumo: contexto, lacuna e objetivo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82CA78-4AD5-4997-A2EC-5606CD517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EC031B-658E-4093-BBC9-F77AC2E5F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6" name="Nguyen, Backes e Stock (2022), Abstract,">
            <a:extLst xmlns:a="http://schemas.openxmlformats.org/drawingml/2006/main">
              <a:ext uri="{FF2B5EF4-FFF2-40B4-BE49-F238E27FC236}">
                <a16:creationId xmlns:a16="http://schemas.microsoft.com/office/drawing/2014/main" id="{3E2DC0BF-F28C-4E3A-BA51-3F7EEBAB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Nguyen, Backes e Stock (2022), Abstract, p. 1. EN: excertos literais. PT: tradução do apresentador.</a:t>
            </a:r>
          </a:p>
        </p:txBody>
      </p:sp>
      <p:sp>
        <p:nvSpPr>
          <p:cNvPr id="7" name="06 / 23">
            <a:extLst xmlns:a="http://schemas.openxmlformats.org/drawingml/2006/main">
              <a:ext uri="{FF2B5EF4-FFF2-40B4-BE49-F238E27FC236}">
                <a16:creationId xmlns:a16="http://schemas.microsoft.com/office/drawing/2014/main" id="{5A6CA8DD-4891-4E3F-8743-AFCD8736C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7700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06 / 23</a:t>
            </a:r>
          </a:p>
        </p:txBody>
      </p:sp>
      <p:sp>
        <p:nvSpPr>
          <p:cNvPr id="8" name="CONTEXTO">
            <a:extLst xmlns:a="http://schemas.openxmlformats.org/drawingml/2006/main">
              <a:ext uri="{FF2B5EF4-FFF2-40B4-BE49-F238E27FC236}">
                <a16:creationId xmlns:a16="http://schemas.microsoft.com/office/drawing/2014/main" id="{0F5C8D64-24C0-4E4A-831E-C0C11BDF5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857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C4C4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AC4C45"/>
                </a:solidFill>
                <a:latin typeface="Arial"/>
                <a:ea typeface="Arial"/>
                <a:cs typeface="Arial"/>
              </a:rPr>
              <a:t>CONTEXTO</a:t>
            </a:r>
          </a:p>
        </p:txBody>
      </p:sp>
      <p:sp>
        <p:nvSpPr>
          <p:cNvPr id="9" name="EN">
            <a:extLst xmlns:a="http://schemas.openxmlformats.org/drawingml/2006/main">
              <a:ext uri="{FF2B5EF4-FFF2-40B4-BE49-F238E27FC236}">
                <a16:creationId xmlns:a16="http://schemas.microsoft.com/office/drawing/2014/main" id="{7D9B2A07-BC0E-479C-8545-F497C3044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714500"/>
            <a:ext cx="333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C4C4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AC4C45"/>
                </a:solidFill>
                <a:latin typeface="Arial"/>
                <a:ea typeface="Arial"/>
                <a:cs typeface="Arial"/>
              </a:rPr>
              <a:t>EN</a:t>
            </a:r>
          </a:p>
        </p:txBody>
      </p:sp>
      <p:sp>
        <p:nvSpPr>
          <p:cNvPr id="10" name="“freely given, specific, informed, and u">
            <a:extLst xmlns:a="http://schemas.openxmlformats.org/drawingml/2006/main">
              <a:ext uri="{FF2B5EF4-FFF2-40B4-BE49-F238E27FC236}">
                <a16:creationId xmlns:a16="http://schemas.microsoft.com/office/drawing/2014/main" id="{29B43614-D20E-44D3-BBF3-86075DB71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6764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“freely given, specific, informed, and unambiguous”</a:t>
            </a:r>
          </a:p>
        </p:txBody>
      </p:sp>
      <p:sp>
        <p:nvSpPr>
          <p:cNvPr id="11" name="PT">
            <a:extLst xmlns:a="http://schemas.openxmlformats.org/drawingml/2006/main">
              <a:ext uri="{FF2B5EF4-FFF2-40B4-BE49-F238E27FC236}">
                <a16:creationId xmlns:a16="http://schemas.microsoft.com/office/drawing/2014/main" id="{59352A91-B134-458B-AA5A-BF2B57BDC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400300"/>
            <a:ext cx="333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C4C4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AC4C45"/>
                </a:solidFill>
                <a:latin typeface="Arial"/>
                <a:ea typeface="Arial"/>
                <a:cs typeface="Arial"/>
              </a:rPr>
              <a:t>PT</a:t>
            </a:r>
          </a:p>
        </p:txBody>
      </p:sp>
      <p:sp>
        <p:nvSpPr>
          <p:cNvPr id="12" name="Livre, específico, informado e inequívoc">
            <a:extLst xmlns:a="http://schemas.openxmlformats.org/drawingml/2006/main">
              <a:ext uri="{FF2B5EF4-FFF2-40B4-BE49-F238E27FC236}">
                <a16:creationId xmlns:a16="http://schemas.microsoft.com/office/drawing/2014/main" id="{6FF4D476-9409-4006-AAD5-5603F27BD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343150"/>
            <a:ext cx="8572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AC4C4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C4C45"/>
                </a:solidFill>
                <a:latin typeface="Arial"/>
                <a:ea typeface="Arial"/>
                <a:cs typeface="Arial"/>
              </a:rPr>
              <a:t>Livre, específico, informado e inequívoco.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456A48-6C18-4609-AA13-A13882399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14" name="LACUNA">
            <a:extLst xmlns:a="http://schemas.openxmlformats.org/drawingml/2006/main">
              <a:ext uri="{FF2B5EF4-FFF2-40B4-BE49-F238E27FC236}">
                <a16:creationId xmlns:a16="http://schemas.microsoft.com/office/drawing/2014/main" id="{6EFF6CDB-696C-4124-B2BE-BFA138392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52775"/>
            <a:ext cx="1857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5652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5652D"/>
                </a:solidFill>
                <a:latin typeface="Arial"/>
                <a:ea typeface="Arial"/>
                <a:cs typeface="Arial"/>
              </a:rPr>
              <a:t>LACUNA</a:t>
            </a:r>
          </a:p>
        </p:txBody>
      </p:sp>
      <p:sp>
        <p:nvSpPr>
          <p:cNvPr id="15" name="EN">
            <a:extLst xmlns:a="http://schemas.openxmlformats.org/drawingml/2006/main">
              <a:ext uri="{FF2B5EF4-FFF2-40B4-BE49-F238E27FC236}">
                <a16:creationId xmlns:a16="http://schemas.microsoft.com/office/drawing/2014/main" id="{2BB6C5F0-6DA2-45A1-AEDB-BB5720A8C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152775"/>
            <a:ext cx="333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5652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5652D"/>
                </a:solidFill>
                <a:latin typeface="Arial"/>
                <a:ea typeface="Arial"/>
                <a:cs typeface="Arial"/>
              </a:rPr>
              <a:t>EN</a:t>
            </a:r>
          </a:p>
        </p:txBody>
      </p:sp>
      <p:sp>
        <p:nvSpPr>
          <p:cNvPr id="16" name="“no research has systematically studied ">
            <a:extLst xmlns:a="http://schemas.openxmlformats.org/drawingml/2006/main">
              <a:ext uri="{FF2B5EF4-FFF2-40B4-BE49-F238E27FC236}">
                <a16:creationId xmlns:a16="http://schemas.microsoft.com/office/drawing/2014/main" id="{DF494DE6-4F03-4F73-8BE0-2B199D92E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114675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“no research has systematically studied how consent notices are currently implemented”</a:t>
            </a:r>
          </a:p>
        </p:txBody>
      </p:sp>
      <p:sp>
        <p:nvSpPr>
          <p:cNvPr id="17" name="PT">
            <a:extLst xmlns:a="http://schemas.openxmlformats.org/drawingml/2006/main">
              <a:ext uri="{FF2B5EF4-FFF2-40B4-BE49-F238E27FC236}">
                <a16:creationId xmlns:a16="http://schemas.microsoft.com/office/drawing/2014/main" id="{1C01A1E7-AADC-4F8A-B426-5CBE4F7B3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838575"/>
            <a:ext cx="333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5652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5652D"/>
                </a:solidFill>
                <a:latin typeface="Arial"/>
                <a:ea typeface="Arial"/>
                <a:cs typeface="Arial"/>
              </a:rPr>
              <a:t>PT</a:t>
            </a:r>
          </a:p>
        </p:txBody>
      </p:sp>
      <p:sp>
        <p:nvSpPr>
          <p:cNvPr id="18" name="Nenhuma pesquisa havia estudado sistemat">
            <a:extLst xmlns:a="http://schemas.openxmlformats.org/drawingml/2006/main">
              <a:ext uri="{FF2B5EF4-FFF2-40B4-BE49-F238E27FC236}">
                <a16:creationId xmlns:a16="http://schemas.microsoft.com/office/drawing/2014/main" id="{3EADC7D4-C6A3-4156-A37D-BA1841478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781425"/>
            <a:ext cx="8572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95652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95652D"/>
                </a:solidFill>
                <a:latin typeface="Arial"/>
                <a:ea typeface="Arial"/>
                <a:cs typeface="Arial"/>
              </a:rPr>
              <a:t>Nenhuma pesquisa havia estudado sistematicamente como os avisos de consentimento eram implementados.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35550E-77E7-4672-AC0D-C623BC5F4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48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20" name="OBJETIVO">
            <a:extLst xmlns:a="http://schemas.openxmlformats.org/drawingml/2006/main">
              <a:ext uri="{FF2B5EF4-FFF2-40B4-BE49-F238E27FC236}">
                <a16:creationId xmlns:a16="http://schemas.microsoft.com/office/drawing/2014/main" id="{D6651DC4-7885-4C20-8F0D-C0299CF63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857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OBJETIVO</a:t>
            </a:r>
          </a:p>
        </p:txBody>
      </p:sp>
      <p:sp>
        <p:nvSpPr>
          <p:cNvPr id="21" name="EN">
            <a:extLst xmlns:a="http://schemas.openxmlformats.org/drawingml/2006/main">
              <a:ext uri="{FF2B5EF4-FFF2-40B4-BE49-F238E27FC236}">
                <a16:creationId xmlns:a16="http://schemas.microsoft.com/office/drawing/2014/main" id="{84945248-84A2-45EA-B770-F5C844AED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591050"/>
            <a:ext cx="333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EN</a:t>
            </a:r>
          </a:p>
        </p:txBody>
      </p:sp>
      <p:sp>
        <p:nvSpPr>
          <p:cNvPr id="22" name="“we perform the first large-scale study ">
            <a:extLst xmlns:a="http://schemas.openxmlformats.org/drawingml/2006/main">
              <a:ext uri="{FF2B5EF4-FFF2-40B4-BE49-F238E27FC236}">
                <a16:creationId xmlns:a16="http://schemas.microsoft.com/office/drawing/2014/main" id="{C6EC4880-9B68-4098-8121-A75844302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55295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“we perform the first large-scale study into consent notices for third-party tracking in Android apps”</a:t>
            </a:r>
          </a:p>
        </p:txBody>
      </p:sp>
      <p:sp>
        <p:nvSpPr>
          <p:cNvPr id="23" name="PT">
            <a:extLst xmlns:a="http://schemas.openxmlformats.org/drawingml/2006/main">
              <a:ext uri="{FF2B5EF4-FFF2-40B4-BE49-F238E27FC236}">
                <a16:creationId xmlns:a16="http://schemas.microsoft.com/office/drawing/2014/main" id="{8D7E8990-D977-4465-92D8-089AEE60E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5276850"/>
            <a:ext cx="333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PT</a:t>
            </a:r>
          </a:p>
        </p:txBody>
      </p:sp>
      <p:sp>
        <p:nvSpPr>
          <p:cNvPr id="24" name="Realizamos o primeiro estudo em larga es">
            <a:extLst xmlns:a="http://schemas.openxmlformats.org/drawingml/2006/main">
              <a:ext uri="{FF2B5EF4-FFF2-40B4-BE49-F238E27FC236}">
                <a16:creationId xmlns:a16="http://schemas.microsoft.com/office/drawing/2014/main" id="{5268615D-961E-47D4-852D-1C16B8889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5219700"/>
            <a:ext cx="8572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4875"/>
                </a:solidFill>
                <a:latin typeface="Arial"/>
                <a:ea typeface="Arial"/>
                <a:cs typeface="Arial"/>
              </a:rPr>
              <a:t>Realizamos o primeiro estudo em larga escala sobre avisos de consentimento para rastreamento de terceiros em apps Android.</a:t>
            </a:r>
          </a:p>
        </p:txBody>
      </p:sp>
    </p:spTree>
    <p:extLst>
      <p:ext uri="{BB962C8B-B14F-4D97-AF65-F5344CB8AC3E}">
        <p14:creationId xmlns:p14="http://schemas.microsoft.com/office/powerpoint/2010/main" val="50644893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80CFCD4-8037-4C64-B6C8-D7C68D9D6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875"/>
          </a:solidFill>
          <a:ln xmlns:a="http://schemas.openxmlformats.org/drawingml/2006/main" w="0">
            <a:noFill/>
          </a:ln>
        </p:spPr>
      </p:sp>
      <p:sp>
        <p:nvSpPr>
          <p:cNvPr id="2" name="ANÁLISE DO ABSTRACT">
            <a:extLst xmlns:a="http://schemas.openxmlformats.org/drawingml/2006/main">
              <a:ext uri="{FF2B5EF4-FFF2-40B4-BE49-F238E27FC236}">
                <a16:creationId xmlns:a16="http://schemas.microsoft.com/office/drawing/2014/main" id="{A98AFC48-AF20-42E2-8891-7AA80040F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ANÁLISE DO ABSTRACT</a:t>
            </a:r>
          </a:p>
        </p:txBody>
      </p:sp>
      <p:sp>
        <p:nvSpPr>
          <p:cNvPr id="3" name="Resumo: método, resultado e implicação">
            <a:extLst xmlns:a="http://schemas.openxmlformats.org/drawingml/2006/main">
              <a:ext uri="{FF2B5EF4-FFF2-40B4-BE49-F238E27FC236}">
                <a16:creationId xmlns:a16="http://schemas.microsoft.com/office/drawing/2014/main" id="{5A7C4485-6100-44C8-A3C6-E5692A2BF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2324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324F"/>
                </a:solidFill>
                <a:latin typeface="Arial"/>
                <a:ea typeface="Arial"/>
                <a:cs typeface="Arial"/>
              </a:rPr>
              <a:t>Resumo: método, resultado e implicação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A0B52B-D0E9-4DBC-B9D5-F7AF47DB6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F01569-6F35-4DFE-AA30-481A339C9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6" name="Nguyen, Backes e Stock (2022), Abstract,">
            <a:extLst xmlns:a="http://schemas.openxmlformats.org/drawingml/2006/main">
              <a:ext uri="{FF2B5EF4-FFF2-40B4-BE49-F238E27FC236}">
                <a16:creationId xmlns:a16="http://schemas.microsoft.com/office/drawing/2014/main" id="{542554F6-1FF0-4D94-B28A-F4E997864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Nguyen, Backes e Stock (2022), Abstract, p. 1. Os excertos mantêm os termos usados pelos autores.</a:t>
            </a:r>
          </a:p>
        </p:txBody>
      </p:sp>
      <p:sp>
        <p:nvSpPr>
          <p:cNvPr id="7" name="07 / 23">
            <a:extLst xmlns:a="http://schemas.openxmlformats.org/drawingml/2006/main">
              <a:ext uri="{FF2B5EF4-FFF2-40B4-BE49-F238E27FC236}">
                <a16:creationId xmlns:a16="http://schemas.microsoft.com/office/drawing/2014/main" id="{D7809F7B-8780-4559-9855-303E58D51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7700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07 / 23</a:t>
            </a:r>
          </a:p>
        </p:txBody>
      </p:sp>
      <p:sp>
        <p:nvSpPr>
          <p:cNvPr id="8" name="MÉTODO">
            <a:extLst xmlns:a="http://schemas.openxmlformats.org/drawingml/2006/main">
              <a:ext uri="{FF2B5EF4-FFF2-40B4-BE49-F238E27FC236}">
                <a16:creationId xmlns:a16="http://schemas.microsoft.com/office/drawing/2014/main" id="{83DEC657-5741-4801-A125-AAC49397D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857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8796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87967"/>
                </a:solidFill>
                <a:latin typeface="Arial"/>
                <a:ea typeface="Arial"/>
                <a:cs typeface="Arial"/>
              </a:rPr>
              <a:t>MÉTODO</a:t>
            </a:r>
          </a:p>
        </p:txBody>
      </p:sp>
      <p:sp>
        <p:nvSpPr>
          <p:cNvPr id="9" name="EN">
            <a:extLst xmlns:a="http://schemas.openxmlformats.org/drawingml/2006/main">
              <a:ext uri="{FF2B5EF4-FFF2-40B4-BE49-F238E27FC236}">
                <a16:creationId xmlns:a16="http://schemas.microsoft.com/office/drawing/2014/main" id="{52AC6742-D3C8-4A7C-BF02-2FB7DAF97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714500"/>
            <a:ext cx="333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8796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87967"/>
                </a:solidFill>
                <a:latin typeface="Arial"/>
                <a:ea typeface="Arial"/>
                <a:cs typeface="Arial"/>
              </a:rPr>
              <a:t>EN</a:t>
            </a:r>
          </a:p>
        </p:txBody>
      </p:sp>
      <p:sp>
        <p:nvSpPr>
          <p:cNvPr id="10" name="“a mostly automated and scalable approac">
            <a:extLst xmlns:a="http://schemas.openxmlformats.org/drawingml/2006/main">
              <a:ext uri="{FF2B5EF4-FFF2-40B4-BE49-F238E27FC236}">
                <a16:creationId xmlns:a16="http://schemas.microsoft.com/office/drawing/2014/main" id="{7442F5D9-3FD4-446F-87E8-B381D61FD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676400"/>
            <a:ext cx="8572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“a mostly automated and scalable approach”</a:t>
            </a:r>
          </a:p>
        </p:txBody>
      </p:sp>
      <p:sp>
        <p:nvSpPr>
          <p:cNvPr id="11" name="PT">
            <a:extLst xmlns:a="http://schemas.openxmlformats.org/drawingml/2006/main">
              <a:ext uri="{FF2B5EF4-FFF2-40B4-BE49-F238E27FC236}">
                <a16:creationId xmlns:a16="http://schemas.microsoft.com/office/drawing/2014/main" id="{CCCC6F1A-EBED-498B-A446-37C5E952D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400300"/>
            <a:ext cx="333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8796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87967"/>
                </a:solidFill>
                <a:latin typeface="Arial"/>
                <a:ea typeface="Arial"/>
                <a:cs typeface="Arial"/>
              </a:rPr>
              <a:t>PT</a:t>
            </a:r>
          </a:p>
        </p:txBody>
      </p:sp>
      <p:sp>
        <p:nvSpPr>
          <p:cNvPr id="12" name="Uma abordagem majoritariamente automatiz">
            <a:extLst xmlns:a="http://schemas.openxmlformats.org/drawingml/2006/main">
              <a:ext uri="{FF2B5EF4-FFF2-40B4-BE49-F238E27FC236}">
                <a16:creationId xmlns:a16="http://schemas.microsoft.com/office/drawing/2014/main" id="{371995B6-868B-41E5-9DB7-64645BB7D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352675"/>
            <a:ext cx="8572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28796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87967"/>
                </a:solidFill>
                <a:latin typeface="Arial"/>
                <a:ea typeface="Arial"/>
                <a:cs typeface="Arial"/>
              </a:rPr>
              <a:t>Uma abordagem majoritariamente automatizada e escalável.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F9454A-1E81-43EC-BEEB-400E2261F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622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14" name="RESULTADO">
            <a:extLst xmlns:a="http://schemas.openxmlformats.org/drawingml/2006/main">
              <a:ext uri="{FF2B5EF4-FFF2-40B4-BE49-F238E27FC236}">
                <a16:creationId xmlns:a16="http://schemas.microsoft.com/office/drawing/2014/main" id="{9770D8E4-50F5-4B33-A3DD-87FAC15D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76575"/>
            <a:ext cx="1857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C4C4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AC4C45"/>
                </a:solidFill>
                <a:latin typeface="Arial"/>
                <a:ea typeface="Arial"/>
                <a:cs typeface="Arial"/>
              </a:rPr>
              <a:t>RESULTADO</a:t>
            </a:r>
          </a:p>
        </p:txBody>
      </p:sp>
      <p:sp>
        <p:nvSpPr>
          <p:cNvPr id="15" name="EN">
            <a:extLst xmlns:a="http://schemas.openxmlformats.org/drawingml/2006/main">
              <a:ext uri="{FF2B5EF4-FFF2-40B4-BE49-F238E27FC236}">
                <a16:creationId xmlns:a16="http://schemas.microsoft.com/office/drawing/2014/main" id="{CED82B23-8212-4E7F-B361-4F655661C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076575"/>
            <a:ext cx="333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C4C4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AC4C45"/>
                </a:solidFill>
                <a:latin typeface="Arial"/>
                <a:ea typeface="Arial"/>
                <a:cs typeface="Arial"/>
              </a:rPr>
              <a:t>EN</a:t>
            </a:r>
          </a:p>
        </p:txBody>
      </p:sp>
      <p:sp>
        <p:nvSpPr>
          <p:cNvPr id="16" name="“we identify 2,688 (20.54%) apps violate">
            <a:extLst xmlns:a="http://schemas.openxmlformats.org/drawingml/2006/main">
              <a:ext uri="{FF2B5EF4-FFF2-40B4-BE49-F238E27FC236}">
                <a16:creationId xmlns:a16="http://schemas.microsoft.com/office/drawing/2014/main" id="{AF622F57-1699-4272-881E-2B5559DDA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038475"/>
            <a:ext cx="8572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“we identify 2,688 (20.54%) apps violate at least one of the GDPR consent requirements”</a:t>
            </a:r>
          </a:p>
        </p:txBody>
      </p:sp>
      <p:sp>
        <p:nvSpPr>
          <p:cNvPr id="17" name="PT">
            <a:extLst xmlns:a="http://schemas.openxmlformats.org/drawingml/2006/main">
              <a:ext uri="{FF2B5EF4-FFF2-40B4-BE49-F238E27FC236}">
                <a16:creationId xmlns:a16="http://schemas.microsoft.com/office/drawing/2014/main" id="{D29AEC07-1C20-402A-B08C-6773A9F5D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762375"/>
            <a:ext cx="333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C4C4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AC4C45"/>
                </a:solidFill>
                <a:latin typeface="Arial"/>
                <a:ea typeface="Arial"/>
                <a:cs typeface="Arial"/>
              </a:rPr>
              <a:t>PT</a:t>
            </a:r>
          </a:p>
        </p:txBody>
      </p:sp>
      <p:sp>
        <p:nvSpPr>
          <p:cNvPr id="18" name="Identificamos 2.688 aplicativos (20,54%)">
            <a:extLst xmlns:a="http://schemas.openxmlformats.org/drawingml/2006/main">
              <a:ext uri="{FF2B5EF4-FFF2-40B4-BE49-F238E27FC236}">
                <a16:creationId xmlns:a16="http://schemas.microsoft.com/office/drawing/2014/main" id="{B03E23C3-BE4B-4864-942A-687CFB3B1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714750"/>
            <a:ext cx="8572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AC4C4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C4C45"/>
                </a:solidFill>
                <a:latin typeface="Arial"/>
                <a:ea typeface="Arial"/>
                <a:cs typeface="Arial"/>
              </a:rPr>
              <a:t>Identificamos 2.688 aplicativos (20,54%) que violam pelo menos um dos requisitos de consentimento do GDPR.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EB82BC-FC6D-4B9D-87B6-8EAD6DB09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20" name="IMPLICAÇÃO">
            <a:extLst xmlns:a="http://schemas.openxmlformats.org/drawingml/2006/main">
              <a:ext uri="{FF2B5EF4-FFF2-40B4-BE49-F238E27FC236}">
                <a16:creationId xmlns:a16="http://schemas.microsoft.com/office/drawing/2014/main" id="{C81C3319-6FF0-4604-ADAC-76CA82A7C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38650"/>
            <a:ext cx="1857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9558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9558B"/>
                </a:solidFill>
                <a:latin typeface="Arial"/>
                <a:ea typeface="Arial"/>
                <a:cs typeface="Arial"/>
              </a:rPr>
              <a:t>IMPLICAÇÃO</a:t>
            </a:r>
          </a:p>
        </p:txBody>
      </p:sp>
      <p:sp>
        <p:nvSpPr>
          <p:cNvPr id="21" name="EN">
            <a:extLst xmlns:a="http://schemas.openxmlformats.org/drawingml/2006/main">
              <a:ext uri="{FF2B5EF4-FFF2-40B4-BE49-F238E27FC236}">
                <a16:creationId xmlns:a16="http://schemas.microsoft.com/office/drawing/2014/main" id="{8FC57FF8-37D3-4433-8A4E-FC7E9E89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438650"/>
            <a:ext cx="333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9558B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9558B"/>
                </a:solidFill>
                <a:latin typeface="Arial"/>
                <a:ea typeface="Arial"/>
                <a:cs typeface="Arial"/>
              </a:rPr>
              <a:t>EN</a:t>
            </a:r>
          </a:p>
        </p:txBody>
      </p:sp>
      <p:sp>
        <p:nvSpPr>
          <p:cNvPr id="22" name="“more transparent processing of personal">
            <a:extLst xmlns:a="http://schemas.openxmlformats.org/drawingml/2006/main">
              <a:ext uri="{FF2B5EF4-FFF2-40B4-BE49-F238E27FC236}">
                <a16:creationId xmlns:a16="http://schemas.microsoft.com/office/drawing/2014/main" id="{3E35D21D-3DAD-45CE-861B-9C4C0603D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400550"/>
            <a:ext cx="8572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“more transparent processing of personal data and supporting developers”</a:t>
            </a:r>
          </a:p>
        </p:txBody>
      </p:sp>
      <p:sp>
        <p:nvSpPr>
          <p:cNvPr id="23" name="PT">
            <a:extLst xmlns:a="http://schemas.openxmlformats.org/drawingml/2006/main">
              <a:ext uri="{FF2B5EF4-FFF2-40B4-BE49-F238E27FC236}">
                <a16:creationId xmlns:a16="http://schemas.microsoft.com/office/drawing/2014/main" id="{85FBBF16-2E28-4EEB-9C60-185BEFD81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5124450"/>
            <a:ext cx="333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9558B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9558B"/>
                </a:solidFill>
                <a:latin typeface="Arial"/>
                <a:ea typeface="Arial"/>
                <a:cs typeface="Arial"/>
              </a:rPr>
              <a:t>PT</a:t>
            </a:r>
          </a:p>
        </p:txBody>
      </p:sp>
      <p:sp>
        <p:nvSpPr>
          <p:cNvPr id="24" name="Maior transparência no tratamento de dad">
            <a:extLst xmlns:a="http://schemas.openxmlformats.org/drawingml/2006/main">
              <a:ext uri="{FF2B5EF4-FFF2-40B4-BE49-F238E27FC236}">
                <a16:creationId xmlns:a16="http://schemas.microsoft.com/office/drawing/2014/main" id="{126037DC-26F5-4ABF-8066-1C45B96B3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5076825"/>
            <a:ext cx="8572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9558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9558B"/>
                </a:solidFill>
                <a:latin typeface="Arial"/>
                <a:ea typeface="Arial"/>
                <a:cs typeface="Arial"/>
              </a:rPr>
              <a:t>Maior transparência no tratamento de dados pessoais e apoio aos desenvolvedores.</a:t>
            </a:r>
          </a:p>
        </p:txBody>
      </p:sp>
      <p:sp>
        <p:nvSpPr>
          <p:cNvPr id="25" name="Leitura do seminário: o resumo antecipa ">
            <a:extLst xmlns:a="http://schemas.openxmlformats.org/drawingml/2006/main">
              <a:ext uri="{FF2B5EF4-FFF2-40B4-BE49-F238E27FC236}">
                <a16:creationId xmlns:a16="http://schemas.microsoft.com/office/drawing/2014/main" id="{4B1F9DB7-C0FC-4AED-A171-8AD6E8F0D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9728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Leitura do seminário: o resumo antecipa os achados. A conclusão torna a formulação jurídica mais cautelosa.</a:t>
            </a:r>
          </a:p>
        </p:txBody>
      </p:sp>
    </p:spTree>
    <p:extLst>
      <p:ext uri="{BB962C8B-B14F-4D97-AF65-F5344CB8AC3E}">
        <p14:creationId xmlns:p14="http://schemas.microsoft.com/office/powerpoint/2010/main" val="112312910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8D19B7C-9605-4F0F-91A2-5AADDF209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875"/>
          </a:solidFill>
          <a:ln xmlns:a="http://schemas.openxmlformats.org/drawingml/2006/main" w="0">
            <a:noFill/>
          </a:ln>
        </p:spPr>
      </p:sp>
      <p:sp>
        <p:nvSpPr>
          <p:cNvPr id="2" name="ANÁLISE DA INTRODUÇÃO">
            <a:extLst xmlns:a="http://schemas.openxmlformats.org/drawingml/2006/main">
              <a:ext uri="{FF2B5EF4-FFF2-40B4-BE49-F238E27FC236}">
                <a16:creationId xmlns:a16="http://schemas.microsoft.com/office/drawing/2014/main" id="{602B8990-CF93-4D0B-AF3F-D5F712768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ANÁLISE DA INTRODUÇÃO</a:t>
            </a:r>
          </a:p>
        </p:txBody>
      </p:sp>
      <p:sp>
        <p:nvSpPr>
          <p:cNvPr id="3" name="Introdução: três perguntas de pesquisa">
            <a:extLst xmlns:a="http://schemas.openxmlformats.org/drawingml/2006/main">
              <a:ext uri="{FF2B5EF4-FFF2-40B4-BE49-F238E27FC236}">
                <a16:creationId xmlns:a16="http://schemas.microsoft.com/office/drawing/2014/main" id="{EF67F439-83F9-45AD-B4F4-9203CCE46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2324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324F"/>
                </a:solidFill>
                <a:latin typeface="Arial"/>
                <a:ea typeface="Arial"/>
                <a:cs typeface="Arial"/>
              </a:rPr>
              <a:t>Introdução: três perguntas de pesquisa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8AA6B2-D9CD-4350-BE6F-16E49CD44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389891-175A-4B3E-B51D-EF9188E7F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6" name="Nguyen, Backes e Stock (2022), Seção 1, ">
            <a:extLst xmlns:a="http://schemas.openxmlformats.org/drawingml/2006/main">
              <a:ext uri="{FF2B5EF4-FFF2-40B4-BE49-F238E27FC236}">
                <a16:creationId xmlns:a16="http://schemas.microsoft.com/office/drawing/2014/main" id="{13E010DC-3D67-48B5-81EA-C08967A98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Nguyen, Backes e Stock (2022), Seção 1, p. 2. A redação original da segunda pergunta foi preservada.</a:t>
            </a:r>
          </a:p>
        </p:txBody>
      </p:sp>
      <p:sp>
        <p:nvSpPr>
          <p:cNvPr id="7" name="08 / 23">
            <a:extLst xmlns:a="http://schemas.openxmlformats.org/drawingml/2006/main">
              <a:ext uri="{FF2B5EF4-FFF2-40B4-BE49-F238E27FC236}">
                <a16:creationId xmlns:a16="http://schemas.microsoft.com/office/drawing/2014/main" id="{15048CE7-9418-4109-B219-0D465765F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7700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08 / 23</a:t>
            </a:r>
          </a:p>
        </p:txBody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AA0F5590-F5AD-49F7-A5AC-EEFB1533A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04975"/>
            <a:ext cx="647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EN">
            <a:extLst xmlns:a="http://schemas.openxmlformats.org/drawingml/2006/main">
              <a:ext uri="{FF2B5EF4-FFF2-40B4-BE49-F238E27FC236}">
                <a16:creationId xmlns:a16="http://schemas.microsoft.com/office/drawing/2014/main" id="{F9B619A4-8410-455D-8BFA-2493EE797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525" y="170497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EN</a:t>
            </a:r>
          </a:p>
        </p:txBody>
      </p:sp>
      <p:sp>
        <p:nvSpPr>
          <p:cNvPr id="10" name="“Do mobile apps implement any form of co">
            <a:extLst xmlns:a="http://schemas.openxmlformats.org/drawingml/2006/main">
              <a:ext uri="{FF2B5EF4-FFF2-40B4-BE49-F238E27FC236}">
                <a16:creationId xmlns:a16="http://schemas.microsoft.com/office/drawing/2014/main" id="{8701ED80-3E8D-418A-95EB-1796295D7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1676400"/>
            <a:ext cx="96297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“Do mobile apps implement any form of consent notices? What are the common properties of such consent notices?”</a:t>
            </a:r>
          </a:p>
        </p:txBody>
      </p:sp>
      <p:sp>
        <p:nvSpPr>
          <p:cNvPr id="11" name="PT">
            <a:extLst xmlns:a="http://schemas.openxmlformats.org/drawingml/2006/main">
              <a:ext uri="{FF2B5EF4-FFF2-40B4-BE49-F238E27FC236}">
                <a16:creationId xmlns:a16="http://schemas.microsoft.com/office/drawing/2014/main" id="{02E7BFF8-66F0-4FC6-901E-97B709AB9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525" y="238125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PT</a:t>
            </a:r>
          </a:p>
        </p:txBody>
      </p:sp>
      <p:sp>
        <p:nvSpPr>
          <p:cNvPr id="12" name="Os aplicativos móveis implementam avisos">
            <a:extLst xmlns:a="http://schemas.openxmlformats.org/drawingml/2006/main">
              <a:ext uri="{FF2B5EF4-FFF2-40B4-BE49-F238E27FC236}">
                <a16:creationId xmlns:a16="http://schemas.microsoft.com/office/drawing/2014/main" id="{7C06F701-AC80-4CD9-B9A3-697C74B38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2352675"/>
            <a:ext cx="9629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4875"/>
                </a:solidFill>
                <a:latin typeface="Arial"/>
                <a:ea typeface="Arial"/>
                <a:cs typeface="Arial"/>
              </a:rPr>
              <a:t>Os aplicativos móveis implementam avisos de consentimento? Quais são suas propriedades comuns?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D2D625-25BA-483C-B0C9-3D44751FD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525" y="2981325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14" name="02">
            <a:extLst xmlns:a="http://schemas.openxmlformats.org/drawingml/2006/main">
              <a:ext uri="{FF2B5EF4-FFF2-40B4-BE49-F238E27FC236}">
                <a16:creationId xmlns:a16="http://schemas.microsoft.com/office/drawing/2014/main" id="{A4BF9439-2382-41BF-8E6C-86B15F1A2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95625"/>
            <a:ext cx="647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5" name="EN">
            <a:extLst xmlns:a="http://schemas.openxmlformats.org/drawingml/2006/main">
              <a:ext uri="{FF2B5EF4-FFF2-40B4-BE49-F238E27FC236}">
                <a16:creationId xmlns:a16="http://schemas.microsoft.com/office/drawing/2014/main" id="{0D992ACE-2D3F-44B8-AD03-3070F184A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525" y="309562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EN</a:t>
            </a:r>
          </a:p>
        </p:txBody>
      </p:sp>
      <p:sp>
        <p:nvSpPr>
          <p:cNvPr id="16" name="“Do these implemented consent notices ca">
            <a:extLst xmlns:a="http://schemas.openxmlformats.org/drawingml/2006/main">
              <a:ext uri="{FF2B5EF4-FFF2-40B4-BE49-F238E27FC236}">
                <a16:creationId xmlns:a16="http://schemas.microsoft.com/office/drawing/2014/main" id="{F4365930-0AA3-4795-A663-5D651ADF3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3067050"/>
            <a:ext cx="96297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“Do these implemented consent notices can be legally justified under GDPR?”</a:t>
            </a:r>
          </a:p>
        </p:txBody>
      </p:sp>
      <p:sp>
        <p:nvSpPr>
          <p:cNvPr id="17" name="PT">
            <a:extLst xmlns:a="http://schemas.openxmlformats.org/drawingml/2006/main">
              <a:ext uri="{FF2B5EF4-FFF2-40B4-BE49-F238E27FC236}">
                <a16:creationId xmlns:a16="http://schemas.microsoft.com/office/drawing/2014/main" id="{16C86F0A-B125-4524-9BAC-AD09DF4DB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525" y="37719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PT</a:t>
            </a:r>
          </a:p>
        </p:txBody>
      </p:sp>
      <p:sp>
        <p:nvSpPr>
          <p:cNvPr id="18" name="Esses avisos de consentimento podem ser ">
            <a:extLst xmlns:a="http://schemas.openxmlformats.org/drawingml/2006/main">
              <a:ext uri="{FF2B5EF4-FFF2-40B4-BE49-F238E27FC236}">
                <a16:creationId xmlns:a16="http://schemas.microsoft.com/office/drawing/2014/main" id="{73E477EE-161B-41CE-A69B-BF8ACC359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3743325"/>
            <a:ext cx="9629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4875"/>
                </a:solidFill>
                <a:latin typeface="Arial"/>
                <a:ea typeface="Arial"/>
                <a:cs typeface="Arial"/>
              </a:rPr>
              <a:t>Esses avisos de consentimento podem ser justificados juridicamente à luz do GDPR?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52CB2D-43FD-4861-9396-FB945D058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525" y="4371975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20" name="03">
            <a:extLst xmlns:a="http://schemas.openxmlformats.org/drawingml/2006/main">
              <a:ext uri="{FF2B5EF4-FFF2-40B4-BE49-F238E27FC236}">
                <a16:creationId xmlns:a16="http://schemas.microsoft.com/office/drawing/2014/main" id="{144B5C77-A5FD-4DE0-8424-45D65FA2E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86275"/>
            <a:ext cx="647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1" name="EN">
            <a:extLst xmlns:a="http://schemas.openxmlformats.org/drawingml/2006/main">
              <a:ext uri="{FF2B5EF4-FFF2-40B4-BE49-F238E27FC236}">
                <a16:creationId xmlns:a16="http://schemas.microsoft.com/office/drawing/2014/main" id="{F141B53F-915C-4F28-B149-862E23484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525" y="448627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EN</a:t>
            </a:r>
          </a:p>
        </p:txBody>
      </p:sp>
      <p:sp>
        <p:nvSpPr>
          <p:cNvPr id="22" name="“Are developers aware of the GDPR consen">
            <a:extLst xmlns:a="http://schemas.openxmlformats.org/drawingml/2006/main">
              <a:ext uri="{FF2B5EF4-FFF2-40B4-BE49-F238E27FC236}">
                <a16:creationId xmlns:a16="http://schemas.microsoft.com/office/drawing/2014/main" id="{8B2C20B5-CFCD-476C-B58E-B5A91C2EF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457700"/>
            <a:ext cx="96297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“Are developers aware of the GDPR consent requirements and the violations of their implementation?”</a:t>
            </a:r>
          </a:p>
        </p:txBody>
      </p:sp>
      <p:sp>
        <p:nvSpPr>
          <p:cNvPr id="23" name="PT">
            <a:extLst xmlns:a="http://schemas.openxmlformats.org/drawingml/2006/main">
              <a:ext uri="{FF2B5EF4-FFF2-40B4-BE49-F238E27FC236}">
                <a16:creationId xmlns:a16="http://schemas.microsoft.com/office/drawing/2014/main" id="{E0750647-3ABA-4401-A36D-AD94A254D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525" y="516255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PT</a:t>
            </a:r>
          </a:p>
        </p:txBody>
      </p:sp>
      <p:sp>
        <p:nvSpPr>
          <p:cNvPr id="24" name="Os desenvolvedores conhecem os requisito">
            <a:extLst xmlns:a="http://schemas.openxmlformats.org/drawingml/2006/main">
              <a:ext uri="{FF2B5EF4-FFF2-40B4-BE49-F238E27FC236}">
                <a16:creationId xmlns:a16="http://schemas.microsoft.com/office/drawing/2014/main" id="{D20D0051-CF5D-40FD-B39B-B09B16F63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5133975"/>
            <a:ext cx="9629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4875"/>
                </a:solidFill>
                <a:latin typeface="Arial"/>
                <a:ea typeface="Arial"/>
                <a:cs typeface="Arial"/>
              </a:rPr>
              <a:t>Os desenvolvedores conhecem os requisitos de consentimento do GDPR e as violações em suas implementações?</a:t>
            </a:r>
          </a:p>
        </p:txBody>
      </p:sp>
      <p:sp>
        <p:nvSpPr>
          <p:cNvPr id="25" name="Análise do seminário: as perguntas orien">
            <a:extLst xmlns:a="http://schemas.openxmlformats.org/drawingml/2006/main">
              <a:ext uri="{FF2B5EF4-FFF2-40B4-BE49-F238E27FC236}">
                <a16:creationId xmlns:a16="http://schemas.microsoft.com/office/drawing/2014/main" id="{5EE48D05-642D-4B47-9A3F-3CB07C699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436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Análise do seminário: as perguntas orientam a classificação das interfaces, a medição do tráfego e a notificação.</a:t>
            </a:r>
          </a:p>
        </p:txBody>
      </p:sp>
    </p:spTree>
    <p:extLst>
      <p:ext uri="{BB962C8B-B14F-4D97-AF65-F5344CB8AC3E}">
        <p14:creationId xmlns:p14="http://schemas.microsoft.com/office/powerpoint/2010/main" val="26859432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DBE386-AAC1-476F-AE32-5DF517539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875"/>
          </a:solidFill>
          <a:ln xmlns:a="http://schemas.openxmlformats.org/drawingml/2006/main" w="0">
            <a:noFill/>
          </a:ln>
        </p:spPr>
      </p:sp>
      <p:sp>
        <p:nvSpPr>
          <p:cNvPr id="2" name="ANÁLISE VISUAL DA INTRODUÇÃO">
            <a:extLst xmlns:a="http://schemas.openxmlformats.org/drawingml/2006/main">
              <a:ext uri="{FF2B5EF4-FFF2-40B4-BE49-F238E27FC236}">
                <a16:creationId xmlns:a16="http://schemas.microsoft.com/office/drawing/2014/main" id="{898AFB8D-B64F-419A-AA4F-3F7707EF1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ANÁLISE VISUAL DA INTRODUÇÃO</a:t>
            </a:r>
          </a:p>
        </p:txBody>
      </p:sp>
      <p:sp>
        <p:nvSpPr>
          <p:cNvPr id="3" name="Figura 1: avisos com confirmação única">
            <a:extLst xmlns:a="http://schemas.openxmlformats.org/drawingml/2006/main">
              <a:ext uri="{FF2B5EF4-FFF2-40B4-BE49-F238E27FC236}">
                <a16:creationId xmlns:a16="http://schemas.microsoft.com/office/drawing/2014/main" id="{44CCB4A5-6E89-44CD-8DAC-EFDD27EB4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2324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324F"/>
                </a:solidFill>
                <a:latin typeface="Arial"/>
                <a:ea typeface="Arial"/>
                <a:cs typeface="Arial"/>
              </a:rPr>
              <a:t>Figura 1: avisos com confirmação única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4EF06A-747A-4BE7-A3BE-6E863589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A2B7D9-FC5D-4E34-9569-E1AD24BA9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6" name="Nguyen, Backes e Stock (2022), Figura 1 ">
            <a:extLst xmlns:a="http://schemas.openxmlformats.org/drawingml/2006/main">
              <a:ext uri="{FF2B5EF4-FFF2-40B4-BE49-F238E27FC236}">
                <a16:creationId xmlns:a16="http://schemas.microsoft.com/office/drawing/2014/main" id="{C78DCBBB-066D-48B8-88D0-4DB3E1734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Nguyen, Backes e Stock (2022), Figura 1 (a–c), p. 2. Trecho da introdução, p. 2.</a:t>
            </a:r>
          </a:p>
        </p:txBody>
      </p:sp>
      <p:sp>
        <p:nvSpPr>
          <p:cNvPr id="7" name="09 / 23">
            <a:extLst xmlns:a="http://schemas.openxmlformats.org/drawingml/2006/main">
              <a:ext uri="{FF2B5EF4-FFF2-40B4-BE49-F238E27FC236}">
                <a16:creationId xmlns:a16="http://schemas.microsoft.com/office/drawing/2014/main" id="{3E28AB4A-4049-4936-8131-D1BE5C1A2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7700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09 / 23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7b0606e94249db"/>
          <a:stretch xmlns:a="http://schemas.openxmlformats.org/drawingml/2006/main"/>
        </p:blipFill>
        <p:spPr>
          <a:xfrm xmlns:a="http://schemas.openxmlformats.org/drawingml/2006/main">
            <a:off x="609857" y="1704975"/>
            <a:ext cx="2075935" cy="4267200"/>
          </a:xfrm>
          <a:prstGeom xmlns:a="http://schemas.openxmlformats.org/drawingml/2006/main" prst="rect">
            <a:avLst/>
          </a:prstGeom>
        </p:spPr>
      </p:pic>
      <p:sp>
        <p:nvSpPr>
          <p:cNvPr id="9" name="(a)">
            <a:extLst xmlns:a="http://schemas.openxmlformats.org/drawingml/2006/main">
              <a:ext uri="{FF2B5EF4-FFF2-40B4-BE49-F238E27FC236}">
                <a16:creationId xmlns:a16="http://schemas.microsoft.com/office/drawing/2014/main" id="{C919E411-1C44-478A-AA11-F6F8542F2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38850"/>
            <a:ext cx="2076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(a)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55f18cc6bf4bb1"/>
          <a:stretch xmlns:a="http://schemas.openxmlformats.org/drawingml/2006/main"/>
        </p:blipFill>
        <p:spPr>
          <a:xfrm xmlns:a="http://schemas.openxmlformats.org/drawingml/2006/main">
            <a:off x="2867282" y="1704975"/>
            <a:ext cx="2075935" cy="4267200"/>
          </a:xfrm>
          <a:prstGeom xmlns:a="http://schemas.openxmlformats.org/drawingml/2006/main" prst="rect">
            <a:avLst/>
          </a:prstGeom>
        </p:spPr>
      </p:pic>
      <p:sp>
        <p:nvSpPr>
          <p:cNvPr id="11" name="(b)">
            <a:extLst xmlns:a="http://schemas.openxmlformats.org/drawingml/2006/main">
              <a:ext uri="{FF2B5EF4-FFF2-40B4-BE49-F238E27FC236}">
                <a16:creationId xmlns:a16="http://schemas.microsoft.com/office/drawing/2014/main" id="{0D8C69EA-23DB-4D3F-B258-9F625A1AA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6038850"/>
            <a:ext cx="2076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(b)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7d8637287a4240"/>
          <a:stretch xmlns:a="http://schemas.openxmlformats.org/drawingml/2006/main"/>
        </p:blipFill>
        <p:spPr>
          <a:xfrm xmlns:a="http://schemas.openxmlformats.org/drawingml/2006/main">
            <a:off x="5124707" y="1704975"/>
            <a:ext cx="2075935" cy="4267200"/>
          </a:xfrm>
          <a:prstGeom xmlns:a="http://schemas.openxmlformats.org/drawingml/2006/main" prst="rect">
            <a:avLst/>
          </a:prstGeom>
        </p:spPr>
      </p:pic>
      <p:sp>
        <p:nvSpPr>
          <p:cNvPr id="13" name="(c)">
            <a:extLst xmlns:a="http://schemas.openxmlformats.org/drawingml/2006/main">
              <a:ext uri="{FF2B5EF4-FFF2-40B4-BE49-F238E27FC236}">
                <a16:creationId xmlns:a16="http://schemas.microsoft.com/office/drawing/2014/main" id="{0D02300D-71DD-426F-962E-48A1AB59A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6038850"/>
            <a:ext cx="2076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(c)</a:t>
            </a:r>
          </a:p>
        </p:txBody>
      </p:sp>
      <p:sp>
        <p:nvSpPr>
          <p:cNvPr id="14" name="EN">
            <a:extLst xmlns:a="http://schemas.openxmlformats.org/drawingml/2006/main">
              <a:ext uri="{FF2B5EF4-FFF2-40B4-BE49-F238E27FC236}">
                <a16:creationId xmlns:a16="http://schemas.microsoft.com/office/drawing/2014/main" id="{963671FF-61CB-44F0-925A-681620B60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78117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EN</a:t>
            </a:r>
          </a:p>
        </p:txBody>
      </p:sp>
      <p:sp>
        <p:nvSpPr>
          <p:cNvPr id="15" name="“confirmation-only notices that feature ">
            <a:extLst xmlns:a="http://schemas.openxmlformats.org/drawingml/2006/main">
              <a:ext uri="{FF2B5EF4-FFF2-40B4-BE49-F238E27FC236}">
                <a16:creationId xmlns:a16="http://schemas.microsoft.com/office/drawing/2014/main" id="{68533697-7D29-4D7D-933B-96BD8C439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1752600"/>
            <a:ext cx="3495675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“confirmation-only notices that feature a button with the text “OK” or “I agree””</a:t>
            </a:r>
          </a:p>
        </p:txBody>
      </p:sp>
      <p:sp>
        <p:nvSpPr>
          <p:cNvPr id="16" name="PT">
            <a:extLst xmlns:a="http://schemas.openxmlformats.org/drawingml/2006/main">
              <a:ext uri="{FF2B5EF4-FFF2-40B4-BE49-F238E27FC236}">
                <a16:creationId xmlns:a16="http://schemas.microsoft.com/office/drawing/2014/main" id="{5A54EABC-C1B0-458F-B458-5CC714B36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18135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PT</a:t>
            </a:r>
          </a:p>
        </p:txBody>
      </p:sp>
      <p:sp>
        <p:nvSpPr>
          <p:cNvPr id="17" name="Avisos apenas de confirmação, com um bot">
            <a:extLst xmlns:a="http://schemas.openxmlformats.org/drawingml/2006/main">
              <a:ext uri="{FF2B5EF4-FFF2-40B4-BE49-F238E27FC236}">
                <a16:creationId xmlns:a16="http://schemas.microsoft.com/office/drawing/2014/main" id="{66FF10F7-D57F-462A-90EE-5D7554111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3152775"/>
            <a:ext cx="3495675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4875"/>
                </a:solidFill>
                <a:latin typeface="Arial"/>
                <a:ea typeface="Arial"/>
                <a:cs typeface="Arial"/>
              </a:rPr>
              <a:t>Avisos apenas de confirmação, com um botão contendo “OK” ou “Eu concordo”.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4E82AB-CD54-43F9-995C-4859E792E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648200"/>
            <a:ext cx="39147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19" name="ANÁLISE DO SEMINÁRIO">
            <a:extLst xmlns:a="http://schemas.openxmlformats.org/drawingml/2006/main">
              <a:ext uri="{FF2B5EF4-FFF2-40B4-BE49-F238E27FC236}">
                <a16:creationId xmlns:a16="http://schemas.microsoft.com/office/drawing/2014/main" id="{BBE7EDE6-8051-4637-A374-10C659657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867275"/>
            <a:ext cx="39147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C4C4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AC4C45"/>
                </a:solidFill>
                <a:latin typeface="Arial"/>
                <a:ea typeface="Arial"/>
                <a:cs typeface="Arial"/>
              </a:rPr>
              <a:t>ANÁLISE DO SEMINÁRIO</a:t>
            </a:r>
          </a:p>
        </p:txBody>
      </p:sp>
      <p:sp>
        <p:nvSpPr>
          <p:cNvPr id="20" name="A interface mostra como avançar,&#10;mas não">
            <a:extLst xmlns:a="http://schemas.openxmlformats.org/drawingml/2006/main">
              <a:ext uri="{FF2B5EF4-FFF2-40B4-BE49-F238E27FC236}">
                <a16:creationId xmlns:a16="http://schemas.microsoft.com/office/drawing/2014/main" id="{18997F4A-ED57-469F-8599-572D34C87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5257800"/>
            <a:ext cx="39147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A interface mostra como avançar,</a:t>
            </a:r>
          </a:p>
          <a:p xmlns:a="http://schemas.openxmlformats.org/drawingml/2006/main">
            <a:pPr algn="l">
              <a:defRPr sz="1950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mas não oferece ali uma opção</a:t>
            </a:r>
          </a:p>
          <a:p xmlns:a="http://schemas.openxmlformats.org/drawingml/2006/main">
            <a:pPr algn="l">
              <a:defRPr sz="1950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de recusar o compartilhamento.</a:t>
            </a:r>
          </a:p>
        </p:txBody>
      </p:sp>
    </p:spTree>
    <p:extLst>
      <p:ext uri="{BB962C8B-B14F-4D97-AF65-F5344CB8AC3E}">
        <p14:creationId xmlns:p14="http://schemas.microsoft.com/office/powerpoint/2010/main" val="96096405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E86464-3B98-4033-BDB8-962649CD1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875"/>
          </a:solidFill>
          <a:ln xmlns:a="http://schemas.openxmlformats.org/drawingml/2006/main" w="0">
            <a:noFill/>
          </a:ln>
        </p:spPr>
      </p:sp>
      <p:sp>
        <p:nvSpPr>
          <p:cNvPr id="2" name="ANÁLISE VISUAL DA INTRODUÇÃO">
            <a:extLst xmlns:a="http://schemas.openxmlformats.org/drawingml/2006/main">
              <a:ext uri="{FF2B5EF4-FFF2-40B4-BE49-F238E27FC236}">
                <a16:creationId xmlns:a16="http://schemas.microsoft.com/office/drawing/2014/main" id="{091A6CFB-D16F-42F2-B792-4F684C986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ANÁLISE VISUAL DA INTRODUÇÃO</a:t>
            </a:r>
          </a:p>
        </p:txBody>
      </p:sp>
      <p:sp>
        <p:nvSpPr>
          <p:cNvPr id="3" name="Figura 1: recusa e escolhas mais complex">
            <a:extLst xmlns:a="http://schemas.openxmlformats.org/drawingml/2006/main">
              <a:ext uri="{FF2B5EF4-FFF2-40B4-BE49-F238E27FC236}">
                <a16:creationId xmlns:a16="http://schemas.microsoft.com/office/drawing/2014/main" id="{BBCF1A12-DE5A-43EC-8ED6-9184E4006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2324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324F"/>
                </a:solidFill>
                <a:latin typeface="Arial"/>
                <a:ea typeface="Arial"/>
                <a:cs typeface="Arial"/>
              </a:rPr>
              <a:t>Figura 1: recusa e escolhas mais complexas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73BEF4-0901-4FF4-92B3-42544837F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46D63B-3441-463A-9C11-23AE8723E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6" name="Nguyen, Backes e Stock (2022), Figura 1 ">
            <a:extLst xmlns:a="http://schemas.openxmlformats.org/drawingml/2006/main">
              <a:ext uri="{FF2B5EF4-FFF2-40B4-BE49-F238E27FC236}">
                <a16:creationId xmlns:a16="http://schemas.microsoft.com/office/drawing/2014/main" id="{18B5D242-5D57-4106-8159-4DA2A4759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Nguyen, Backes e Stock (2022), Figura 1 (d–f), p. 2. Trecho da Seção 3, p. 4.</a:t>
            </a:r>
          </a:p>
        </p:txBody>
      </p:sp>
      <p:sp>
        <p:nvSpPr>
          <p:cNvPr id="7" name="10 / 23">
            <a:extLst xmlns:a="http://schemas.openxmlformats.org/drawingml/2006/main">
              <a:ext uri="{FF2B5EF4-FFF2-40B4-BE49-F238E27FC236}">
                <a16:creationId xmlns:a16="http://schemas.microsoft.com/office/drawing/2014/main" id="{DDA34241-9956-4D80-A589-DA52D866F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7700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10 / 23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3e576663784945"/>
          <a:stretch xmlns:a="http://schemas.openxmlformats.org/drawingml/2006/main"/>
        </p:blipFill>
        <p:spPr>
          <a:xfrm xmlns:a="http://schemas.openxmlformats.org/drawingml/2006/main">
            <a:off x="609857" y="1704975"/>
            <a:ext cx="2075935" cy="4267200"/>
          </a:xfrm>
          <a:prstGeom xmlns:a="http://schemas.openxmlformats.org/drawingml/2006/main" prst="rect">
            <a:avLst/>
          </a:prstGeom>
        </p:spPr>
      </p:pic>
      <p:sp>
        <p:nvSpPr>
          <p:cNvPr id="9" name="(d)">
            <a:extLst xmlns:a="http://schemas.openxmlformats.org/drawingml/2006/main">
              <a:ext uri="{FF2B5EF4-FFF2-40B4-BE49-F238E27FC236}">
                <a16:creationId xmlns:a16="http://schemas.microsoft.com/office/drawing/2014/main" id="{CDBF5F2F-5CED-46F2-8418-1B236104B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38850"/>
            <a:ext cx="2076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(d)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3985224cb246a7"/>
          <a:stretch xmlns:a="http://schemas.openxmlformats.org/drawingml/2006/main"/>
        </p:blipFill>
        <p:spPr>
          <a:xfrm xmlns:a="http://schemas.openxmlformats.org/drawingml/2006/main">
            <a:off x="2867282" y="1704975"/>
            <a:ext cx="2075935" cy="4267200"/>
          </a:xfrm>
          <a:prstGeom xmlns:a="http://schemas.openxmlformats.org/drawingml/2006/main" prst="rect">
            <a:avLst/>
          </a:prstGeom>
        </p:spPr>
      </p:pic>
      <p:sp>
        <p:nvSpPr>
          <p:cNvPr id="11" name="(e)">
            <a:extLst xmlns:a="http://schemas.openxmlformats.org/drawingml/2006/main">
              <a:ext uri="{FF2B5EF4-FFF2-40B4-BE49-F238E27FC236}">
                <a16:creationId xmlns:a16="http://schemas.microsoft.com/office/drawing/2014/main" id="{B0039857-686F-41BE-9A4C-DBF7CEC9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6038850"/>
            <a:ext cx="2076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(e)</a:t>
            </a:r>
          </a:p>
        </p:txBody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4270d300d84baf"/>
          <a:stretch xmlns:a="http://schemas.openxmlformats.org/drawingml/2006/main"/>
        </p:blipFill>
        <p:spPr>
          <a:xfrm xmlns:a="http://schemas.openxmlformats.org/drawingml/2006/main">
            <a:off x="5124707" y="1704975"/>
            <a:ext cx="2075935" cy="4267200"/>
          </a:xfrm>
          <a:prstGeom xmlns:a="http://schemas.openxmlformats.org/drawingml/2006/main" prst="rect">
            <a:avLst/>
          </a:prstGeom>
        </p:spPr>
      </p:pic>
      <p:sp>
        <p:nvSpPr>
          <p:cNvPr id="13" name="(f)">
            <a:extLst xmlns:a="http://schemas.openxmlformats.org/drawingml/2006/main">
              <a:ext uri="{FF2B5EF4-FFF2-40B4-BE49-F238E27FC236}">
                <a16:creationId xmlns:a16="http://schemas.microsoft.com/office/drawing/2014/main" id="{4AE244DB-BB51-406F-980B-3DACD183B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6038850"/>
            <a:ext cx="2076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(f)</a:t>
            </a:r>
          </a:p>
        </p:txBody>
      </p:sp>
      <p:sp>
        <p:nvSpPr>
          <p:cNvPr id="14" name="EN">
            <a:extLst xmlns:a="http://schemas.openxmlformats.org/drawingml/2006/main">
              <a:ext uri="{FF2B5EF4-FFF2-40B4-BE49-F238E27FC236}">
                <a16:creationId xmlns:a16="http://schemas.microsoft.com/office/drawing/2014/main" id="{6C3732CC-2EE5-4F9B-B0B1-10AB6D804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78117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EN</a:t>
            </a:r>
          </a:p>
        </p:txBody>
      </p:sp>
      <p:sp>
        <p:nvSpPr>
          <p:cNvPr id="15" name="“the consent dialog in Figure 1 (f) show">
            <a:extLst xmlns:a="http://schemas.openxmlformats.org/drawingml/2006/main">
              <a:ext uri="{FF2B5EF4-FFF2-40B4-BE49-F238E27FC236}">
                <a16:creationId xmlns:a16="http://schemas.microsoft.com/office/drawing/2014/main" id="{65A54BB7-A022-4AFA-ADF4-8A9E0DEB5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1752600"/>
            <a:ext cx="349567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“the consent dialog in Figure 1 (f) shows other types of consent mechanisms from third-party providers that offer complex opt-in choices”</a:t>
            </a:r>
          </a:p>
        </p:txBody>
      </p:sp>
      <p:sp>
        <p:nvSpPr>
          <p:cNvPr id="16" name="PT">
            <a:extLst xmlns:a="http://schemas.openxmlformats.org/drawingml/2006/main">
              <a:ext uri="{FF2B5EF4-FFF2-40B4-BE49-F238E27FC236}">
                <a16:creationId xmlns:a16="http://schemas.microsoft.com/office/drawing/2014/main" id="{B0DA5D50-64CF-4B13-919C-5467E4146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68617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PT</a:t>
            </a:r>
          </a:p>
        </p:txBody>
      </p:sp>
      <p:sp>
        <p:nvSpPr>
          <p:cNvPr id="17" name="O diálogo da Figura 1(f) mostra mecanism">
            <a:extLst xmlns:a="http://schemas.openxmlformats.org/drawingml/2006/main">
              <a:ext uri="{FF2B5EF4-FFF2-40B4-BE49-F238E27FC236}">
                <a16:creationId xmlns:a16="http://schemas.microsoft.com/office/drawing/2014/main" id="{277CAB41-0E45-442C-8F09-16F44BDBE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3657600"/>
            <a:ext cx="3495675" cy="1343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4875"/>
                </a:solidFill>
                <a:latin typeface="Arial"/>
                <a:ea typeface="Arial"/>
                <a:cs typeface="Arial"/>
              </a:rPr>
              <a:t>O diálogo da Figura 1(f) mostra mecanismos de fornecedores terceiros que oferecem escolhas complexas de adesão.</a:t>
            </a:r>
          </a:p>
        </p:txBody>
      </p:sp>
      <p:sp>
        <p:nvSpPr>
          <p:cNvPr id="18" name="ANÁLISE DO SEMINÁRIO">
            <a:extLst xmlns:a="http://schemas.openxmlformats.org/drawingml/2006/main">
              <a:ext uri="{FF2B5EF4-FFF2-40B4-BE49-F238E27FC236}">
                <a16:creationId xmlns:a16="http://schemas.microsoft.com/office/drawing/2014/main" id="{57BFA4BE-8DC3-4A8D-A3A1-B28ECC524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5029200"/>
            <a:ext cx="39147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8796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87967"/>
                </a:solidFill>
                <a:latin typeface="Arial"/>
                <a:ea typeface="Arial"/>
                <a:cs typeface="Arial"/>
              </a:rPr>
              <a:t>ANÁLISE DO SEMINÁRIO</a:t>
            </a:r>
          </a:p>
        </p:txBody>
      </p:sp>
      <p:sp>
        <p:nvSpPr>
          <p:cNvPr id="19" name="As opções visíveis precisam ser&#10;confront">
            <a:extLst xmlns:a="http://schemas.openxmlformats.org/drawingml/2006/main">
              <a:ext uri="{FF2B5EF4-FFF2-40B4-BE49-F238E27FC236}">
                <a16:creationId xmlns:a16="http://schemas.microsoft.com/office/drawing/2014/main" id="{73BA6685-FA18-4414-9916-41488639B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5381625"/>
            <a:ext cx="39147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As opções visíveis precisam ser</a:t>
            </a:r>
          </a:p>
          <a:p xmlns:a="http://schemas.openxmlformats.org/drawingml/2006/main">
            <a:pPr algn="l">
              <a:defRPr sz="172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confrontadas com o que o app</a:t>
            </a:r>
          </a:p>
          <a:p xmlns:a="http://schemas.openxmlformats.org/drawingml/2006/main">
            <a:pPr algn="l">
              <a:defRPr sz="172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efetivamente envia pela rede.</a:t>
            </a:r>
          </a:p>
        </p:txBody>
      </p:sp>
    </p:spTree>
    <p:extLst>
      <p:ext uri="{BB962C8B-B14F-4D97-AF65-F5344CB8AC3E}">
        <p14:creationId xmlns:p14="http://schemas.microsoft.com/office/powerpoint/2010/main" val="99537283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53C013-FB24-4E0E-8D18-A6E3860F3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875"/>
          </a:solidFill>
          <a:ln xmlns:a="http://schemas.openxmlformats.org/drawingml/2006/main" w="0">
            <a:noFill/>
          </a:ln>
        </p:spPr>
      </p:sp>
      <p:sp>
        <p:nvSpPr>
          <p:cNvPr id="2" name="ANÁLISE DA FUNDAMENTAÇÃO">
            <a:extLst xmlns:a="http://schemas.openxmlformats.org/drawingml/2006/main">
              <a:ext uri="{FF2B5EF4-FFF2-40B4-BE49-F238E27FC236}">
                <a16:creationId xmlns:a16="http://schemas.microsoft.com/office/drawing/2014/main" id="{55D232AA-9156-4C3C-9C4C-D8A0A1ED5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ANÁLISE DA FUNDAMENTAÇÃO</a:t>
            </a:r>
          </a:p>
        </p:txBody>
      </p:sp>
      <p:sp>
        <p:nvSpPr>
          <p:cNvPr id="3" name="Marco jurídico: critérios usados no estu">
            <a:extLst xmlns:a="http://schemas.openxmlformats.org/drawingml/2006/main">
              <a:ext uri="{FF2B5EF4-FFF2-40B4-BE49-F238E27FC236}">
                <a16:creationId xmlns:a16="http://schemas.microsoft.com/office/drawing/2014/main" id="{5E85D3E1-03B9-461F-9B4F-6ED01413B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2324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324F"/>
                </a:solidFill>
                <a:latin typeface="Arial"/>
                <a:ea typeface="Arial"/>
                <a:cs typeface="Arial"/>
              </a:rPr>
              <a:t>Marco jurídico: critérios usados no estudo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5A20D0-9A1D-4BAC-9B16-DF8B05FE5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9D279D-D5BD-4936-9458-34AA4DBD5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6" name="Nguyen, Backes e Stock (2022), Seção 2, ">
            <a:extLst xmlns:a="http://schemas.openxmlformats.org/drawingml/2006/main">
              <a:ext uri="{FF2B5EF4-FFF2-40B4-BE49-F238E27FC236}">
                <a16:creationId xmlns:a16="http://schemas.microsoft.com/office/drawing/2014/main" id="{AC134FB3-5568-464B-9BDE-E9D36F409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Nguyen, Backes e Stock (2022), Seção 2, p. 3–4. Síntese da análise dos autores, não avaliação jurídica independente.</a:t>
            </a:r>
          </a:p>
        </p:txBody>
      </p:sp>
      <p:sp>
        <p:nvSpPr>
          <p:cNvPr id="7" name="11 / 23">
            <a:extLst xmlns:a="http://schemas.openxmlformats.org/drawingml/2006/main">
              <a:ext uri="{FF2B5EF4-FFF2-40B4-BE49-F238E27FC236}">
                <a16:creationId xmlns:a16="http://schemas.microsoft.com/office/drawing/2014/main" id="{BE6C37AE-5961-489A-9CF7-EA5BE7785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7700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11 / 23</a:t>
            </a:r>
          </a:p>
        </p:txBody>
      </p:sp>
      <p:graphicFrame>
        <p:nvGraphicFramePr>
          <p:cNvPr id="20" name=""/>
          <p:cNvGraphicFramePr/>
          <p:nvPr/>
        </p:nvGraphicFramePr>
        <p:xfrm>
          <a:off xmlns:a="http://schemas.openxmlformats.org/drawingml/2006/main" x="609600" y="1733550"/>
          <a:ext xmlns:a="http://schemas.openxmlformats.org/drawingml/2006/main" cx="10972800" cy="3190875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5019675"/>
                <a:gridCol w="5953125"/>
              </a:tblGrid>
              <a:tr h="638175"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 do artigo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174875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ctr"/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 que os autores procuram observar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174875"/>
                    </a:solidFill>
                  </a:tcPr>
                </a:tc>
              </a:tr>
              <a:tr h="638175"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Lack of Consent Notices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EDF3F8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Compartilhamento sem aviso de consentimento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EDF3F8"/>
                    </a:solidFill>
                  </a:tcPr>
                </a:tc>
              </a:tr>
              <a:tr h="638175"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Sharing Data Before Given Consent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Envio antes da ação explícita de consentir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No Way to Opt Out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EDF3F8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Ausência de caminho para recusar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EDF3F8"/>
                    </a:solidFill>
                  </a:tcPr>
                </a:tc>
              </a:tr>
              <a:tr h="638175"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Non-Respect of Choice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Envio mesmo após a recusa do usuário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EN">
            <a:extLst xmlns:a="http://schemas.openxmlformats.org/drawingml/2006/main">
              <a:ext uri="{FF2B5EF4-FFF2-40B4-BE49-F238E27FC236}">
                <a16:creationId xmlns:a16="http://schemas.microsoft.com/office/drawing/2014/main" id="{648AC75C-8684-4F7D-80C9-21E65DA63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922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5652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5652D"/>
                </a:solidFill>
                <a:latin typeface="Arial"/>
                <a:ea typeface="Arial"/>
                <a:cs typeface="Arial"/>
              </a:rPr>
              <a:t>EN</a:t>
            </a:r>
          </a:p>
        </p:txBody>
      </p:sp>
      <p:sp>
        <p:nvSpPr>
          <p:cNvPr id="10" name="“only a judicial ruling can provide lega">
            <a:extLst xmlns:a="http://schemas.openxmlformats.org/drawingml/2006/main">
              <a:ext uri="{FF2B5EF4-FFF2-40B4-BE49-F238E27FC236}">
                <a16:creationId xmlns:a16="http://schemas.microsoft.com/office/drawing/2014/main" id="{7B29A68D-6B90-479B-B74B-2B1E2697D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00650"/>
            <a:ext cx="10553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“only a judicial ruling can provide legal certainty”</a:t>
            </a:r>
          </a:p>
        </p:txBody>
      </p:sp>
      <p:sp>
        <p:nvSpPr>
          <p:cNvPr id="11" name="PT">
            <a:extLst xmlns:a="http://schemas.openxmlformats.org/drawingml/2006/main">
              <a:ext uri="{FF2B5EF4-FFF2-40B4-BE49-F238E27FC236}">
                <a16:creationId xmlns:a16="http://schemas.microsoft.com/office/drawing/2014/main" id="{318B37E1-DD36-4368-8DFE-8C88F4368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0547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5652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5652D"/>
                </a:solidFill>
                <a:latin typeface="Arial"/>
                <a:ea typeface="Arial"/>
                <a:cs typeface="Arial"/>
              </a:rPr>
              <a:t>PT</a:t>
            </a:r>
          </a:p>
        </p:txBody>
      </p:sp>
      <p:sp>
        <p:nvSpPr>
          <p:cNvPr id="12" name="Somente uma decisão judicial pode propor">
            <a:extLst xmlns:a="http://schemas.openxmlformats.org/drawingml/2006/main">
              <a:ext uri="{FF2B5EF4-FFF2-40B4-BE49-F238E27FC236}">
                <a16:creationId xmlns:a16="http://schemas.microsoft.com/office/drawing/2014/main" id="{110985A7-DF5C-4BA7-829E-B86BBEF4E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676900"/>
            <a:ext cx="10553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95652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95652D"/>
                </a:solidFill>
                <a:latin typeface="Arial"/>
                <a:ea typeface="Arial"/>
                <a:cs typeface="Arial"/>
              </a:rPr>
              <a:t>Somente uma decisão judicial pode proporcionar certeza jurídica.</a:t>
            </a:r>
          </a:p>
        </p:txBody>
      </p:sp>
    </p:spTree>
    <p:extLst>
      <p:ext uri="{BB962C8B-B14F-4D97-AF65-F5344CB8AC3E}">
        <p14:creationId xmlns:p14="http://schemas.microsoft.com/office/powerpoint/2010/main" val="196920702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206DFB3-091B-4124-A55A-4253D5525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875"/>
          </a:solidFill>
          <a:ln xmlns:a="http://schemas.openxmlformats.org/drawingml/2006/main" w="0">
            <a:noFill/>
          </a:ln>
        </p:spPr>
      </p:sp>
      <p:sp>
        <p:nvSpPr>
          <p:cNvPr id="2" name="METODOLOGIA">
            <a:extLst xmlns:a="http://schemas.openxmlformats.org/drawingml/2006/main">
              <a:ext uri="{FF2B5EF4-FFF2-40B4-BE49-F238E27FC236}">
                <a16:creationId xmlns:a16="http://schemas.microsoft.com/office/drawing/2014/main" id="{FF46BB03-ED85-4E78-8139-32FFE4884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METODOLOGIA</a:t>
            </a:r>
          </a:p>
        </p:txBody>
      </p:sp>
      <p:sp>
        <p:nvSpPr>
          <p:cNvPr id="3" name="Método I: identificação dos avisos">
            <a:extLst xmlns:a="http://schemas.openxmlformats.org/drawingml/2006/main">
              <a:ext uri="{FF2B5EF4-FFF2-40B4-BE49-F238E27FC236}">
                <a16:creationId xmlns:a16="http://schemas.microsoft.com/office/drawing/2014/main" id="{2E80AC6A-D3B8-4852-8021-0488EDD7C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2324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324F"/>
                </a:solidFill>
                <a:latin typeface="Arial"/>
                <a:ea typeface="Arial"/>
                <a:cs typeface="Arial"/>
              </a:rPr>
              <a:t>Método I: identificação dos avisos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36EC43-82B2-48BB-8FB0-8B50C268B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93F2C5-0BD0-475E-84A4-AF7AAB245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6" name="Nguyen, Backes e Stock (2022), Seções 3,">
            <a:extLst xmlns:a="http://schemas.openxmlformats.org/drawingml/2006/main">
              <a:ext uri="{FF2B5EF4-FFF2-40B4-BE49-F238E27FC236}">
                <a16:creationId xmlns:a16="http://schemas.microsoft.com/office/drawing/2014/main" id="{AF08B185-ABDC-44F1-9653-538C4A80F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Nguyen, Backes e Stock (2022), Seções 3, 4.1 e 4.2, p. 4–7. Figura 2 do artigo, p. 6.</a:t>
            </a:r>
          </a:p>
        </p:txBody>
      </p:sp>
      <p:sp>
        <p:nvSpPr>
          <p:cNvPr id="7" name="12 / 23">
            <a:extLst xmlns:a="http://schemas.openxmlformats.org/drawingml/2006/main">
              <a:ext uri="{FF2B5EF4-FFF2-40B4-BE49-F238E27FC236}">
                <a16:creationId xmlns:a16="http://schemas.microsoft.com/office/drawing/2014/main" id="{73612218-BAD9-41B6-99C9-6F4A85807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7700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12 / 23</a:t>
            </a:r>
          </a:p>
        </p:txBody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72a99c69024f18"/>
          <a:stretch xmlns:a="http://schemas.openxmlformats.org/drawingml/2006/main"/>
        </p:blipFill>
        <p:spPr>
          <a:xfrm xmlns:a="http://schemas.openxmlformats.org/drawingml/2006/main">
            <a:off x="609600" y="1728285"/>
            <a:ext cx="10972800" cy="1363081"/>
          </a:xfrm>
          <a:prstGeom xmlns:a="http://schemas.openxmlformats.org/drawingml/2006/main" prst="rect">
            <a:avLst/>
          </a:prstGeom>
        </p:spPr>
      </p:pic>
      <p:sp>
        <p:nvSpPr>
          <p:cNvPr id="9" name="Figura 2 do artigo: corpus e resultados ">
            <a:extLst xmlns:a="http://schemas.openxmlformats.org/drawingml/2006/main">
              <a:ext uri="{FF2B5EF4-FFF2-40B4-BE49-F238E27FC236}">
                <a16:creationId xmlns:a16="http://schemas.microsoft.com/office/drawing/2014/main" id="{36D3E739-41B2-404E-A018-D4276F3EA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Figura 2 do artigo: corpus e resultados intermediários.</a:t>
            </a:r>
          </a:p>
        </p:txBody>
      </p:sp>
      <p:sp>
        <p:nvSpPr>
          <p:cNvPr id="10" name="CRITÉRIOS DO CORPUS">
            <a:extLst xmlns:a="http://schemas.openxmlformats.org/drawingml/2006/main">
              <a:ext uri="{FF2B5EF4-FFF2-40B4-BE49-F238E27FC236}">
                <a16:creationId xmlns:a16="http://schemas.microsoft.com/office/drawing/2014/main" id="{48A6DFA9-464D-4335-A97C-17AD4C3E5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67125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CRITÉRIOS DO CORPUS</a:t>
            </a:r>
          </a:p>
        </p:txBody>
      </p:sp>
      <p:sp>
        <p:nvSpPr>
          <p:cNvPr id="11" name="Apps gratuitos, ao menos 10.000 download">
            <a:extLst xmlns:a="http://schemas.openxmlformats.org/drawingml/2006/main">
              <a:ext uri="{FF2B5EF4-FFF2-40B4-BE49-F238E27FC236}">
                <a16:creationId xmlns:a16="http://schemas.microsoft.com/office/drawing/2014/main" id="{74AD8B14-F3F3-46A0-BFF0-762AFF16E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29075"/>
            <a:ext cx="109728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Apps gratuitos, ao menos 10.000 downloads,</a:t>
            </a:r>
          </a:p>
          <a:p xmlns:a="http://schemas.openxmlformats.org/drawingml/2006/main">
            <a:pPr algn="l">
              <a:defRPr sz="202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permissão sensível e atualização após maio/2018.</a:t>
            </a:r>
          </a:p>
          <a:p xmlns:a="http://schemas.openxmlformats.org/drawingml/2006/main">
            <a:pPr algn="l">
              <a:defRPr sz="202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Coleta: out/2021 a mar/2022, em país do EEE.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2369F0-452B-49AC-9F80-B3AE5317E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20002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8"/>
          </a:solidFill>
          <a:ln xmlns:a="http://schemas.openxmlformats.org/drawingml/2006/main" w="0">
            <a:noFill/>
          </a:ln>
        </p:spPr>
      </p:sp>
      <p:sp>
        <p:nvSpPr>
          <p:cNvPr id="13" name="Screenshots">
            <a:extLst xmlns:a="http://schemas.openxmlformats.org/drawingml/2006/main">
              <a:ext uri="{FF2B5EF4-FFF2-40B4-BE49-F238E27FC236}">
                <a16:creationId xmlns:a16="http://schemas.microsoft.com/office/drawing/2014/main" id="{7C4C2EDE-3EB1-4EF0-BEEF-4448DAC00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24475"/>
            <a:ext cx="1809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Screenshots</a:t>
            </a:r>
          </a:p>
        </p:txBody>
      </p:sp>
      <p:sp>
        <p:nvSpPr>
          <p:cNvPr id="14" name="captura após 5 s">
            <a:extLst xmlns:a="http://schemas.openxmlformats.org/drawingml/2006/main">
              <a:ext uri="{FF2B5EF4-FFF2-40B4-BE49-F238E27FC236}">
                <a16:creationId xmlns:a16="http://schemas.microsoft.com/office/drawing/2014/main" id="{6760C846-8054-45E1-9D75-D4C965E60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20002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captura após 5 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E404A8-46B2-4702-83AE-94541BAB9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391150"/>
            <a:ext cx="1333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4875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655DCD-9E31-4ADC-8B90-3503961E1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5257800"/>
            <a:ext cx="20002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8"/>
          </a:solidFill>
          <a:ln xmlns:a="http://schemas.openxmlformats.org/drawingml/2006/main" w="0">
            <a:noFill/>
          </a:ln>
        </p:spPr>
      </p:sp>
      <p:sp>
        <p:nvSpPr>
          <p:cNvPr id="17" name="OCR">
            <a:extLst xmlns:a="http://schemas.openxmlformats.org/drawingml/2006/main">
              <a:ext uri="{FF2B5EF4-FFF2-40B4-BE49-F238E27FC236}">
                <a16:creationId xmlns:a16="http://schemas.microsoft.com/office/drawing/2014/main" id="{B10DB646-7F9C-4EC9-8D95-A5A84BFA9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5324475"/>
            <a:ext cx="1809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OCR</a:t>
            </a:r>
          </a:p>
        </p:txBody>
      </p:sp>
      <p:sp>
        <p:nvSpPr>
          <p:cNvPr id="18" name="texto e palavras-chave">
            <a:extLst xmlns:a="http://schemas.openxmlformats.org/drawingml/2006/main">
              <a:ext uri="{FF2B5EF4-FFF2-40B4-BE49-F238E27FC236}">
                <a16:creationId xmlns:a16="http://schemas.microsoft.com/office/drawing/2014/main" id="{3C7AF8CE-9422-491A-9F3A-D59400B5B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5781675"/>
            <a:ext cx="20002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texto e palavras-chave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7BA1A1-0BBC-4F47-9224-4BA88434E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5391150"/>
            <a:ext cx="1333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4875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B3880D-2115-44DE-8CEF-ABC4B044E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257800"/>
            <a:ext cx="20002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8"/>
          </a:solidFill>
          <a:ln xmlns:a="http://schemas.openxmlformats.org/drawingml/2006/main" w="0">
            <a:noFill/>
          </a:ln>
        </p:spPr>
      </p:sp>
      <p:sp>
        <p:nvSpPr>
          <p:cNvPr id="21" name="NLP">
            <a:extLst xmlns:a="http://schemas.openxmlformats.org/drawingml/2006/main">
              <a:ext uri="{FF2B5EF4-FFF2-40B4-BE49-F238E27FC236}">
                <a16:creationId xmlns:a16="http://schemas.microsoft.com/office/drawing/2014/main" id="{523FD699-12CE-466A-8496-8F932934B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5324475"/>
            <a:ext cx="1809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NLP</a:t>
            </a:r>
          </a:p>
        </p:txBody>
      </p:sp>
      <p:sp>
        <p:nvSpPr>
          <p:cNvPr id="22" name="normalização e TF-IDF">
            <a:extLst xmlns:a="http://schemas.openxmlformats.org/drawingml/2006/main">
              <a:ext uri="{FF2B5EF4-FFF2-40B4-BE49-F238E27FC236}">
                <a16:creationId xmlns:a16="http://schemas.microsoft.com/office/drawing/2014/main" id="{13267C4B-3FA4-481A-B683-8B7596313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781675"/>
            <a:ext cx="20002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normalização e TF-IDF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F7742C-D7F8-45F8-9663-F75127AF8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391150"/>
            <a:ext cx="1333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4875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510ABC-1B6E-4CBB-9BE5-A6C195BBC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5257800"/>
            <a:ext cx="20002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8"/>
          </a:solidFill>
          <a:ln xmlns:a="http://schemas.openxmlformats.org/drawingml/2006/main" w="0">
            <a:noFill/>
          </a:ln>
        </p:spPr>
      </p:sp>
      <p:sp>
        <p:nvSpPr>
          <p:cNvPr id="25" name="Clustering">
            <a:extLst xmlns:a="http://schemas.openxmlformats.org/drawingml/2006/main">
              <a:ext uri="{FF2B5EF4-FFF2-40B4-BE49-F238E27FC236}">
                <a16:creationId xmlns:a16="http://schemas.microsoft.com/office/drawing/2014/main" id="{DD9B7FCF-00F3-46B7-B66D-4FA7549FA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5324475"/>
            <a:ext cx="1809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Clustering</a:t>
            </a:r>
          </a:p>
        </p:txBody>
      </p:sp>
      <p:sp>
        <p:nvSpPr>
          <p:cNvPr id="26" name="44 grupos semelhantes">
            <a:extLst xmlns:a="http://schemas.openxmlformats.org/drawingml/2006/main">
              <a:ext uri="{FF2B5EF4-FFF2-40B4-BE49-F238E27FC236}">
                <a16:creationId xmlns:a16="http://schemas.microsoft.com/office/drawing/2014/main" id="{B814FE1A-142C-4B55-BF7C-222F13C5D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5781675"/>
            <a:ext cx="20002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44 grupos semelhantes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FCCC52-F2EC-4E59-9097-C437F5F29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391150"/>
            <a:ext cx="1333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4875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E59812C-FC02-458B-B420-D898EB418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5257800"/>
            <a:ext cx="20002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8"/>
          </a:solidFill>
          <a:ln xmlns:a="http://schemas.openxmlformats.org/drawingml/2006/main" w="0">
            <a:noFill/>
          </a:ln>
        </p:spPr>
      </p:sp>
      <p:sp>
        <p:nvSpPr>
          <p:cNvPr id="29" name="Inspeção">
            <a:extLst xmlns:a="http://schemas.openxmlformats.org/drawingml/2006/main">
              <a:ext uri="{FF2B5EF4-FFF2-40B4-BE49-F238E27FC236}">
                <a16:creationId xmlns:a16="http://schemas.microsoft.com/office/drawing/2014/main" id="{60BBDE7A-FFA2-4DD5-9DE9-D89DF11DE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324475"/>
            <a:ext cx="1809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Inspeção</a:t>
            </a:r>
          </a:p>
        </p:txBody>
      </p:sp>
      <p:sp>
        <p:nvSpPr>
          <p:cNvPr id="30" name="13.082 avisos">
            <a:extLst xmlns:a="http://schemas.openxmlformats.org/drawingml/2006/main">
              <a:ext uri="{FF2B5EF4-FFF2-40B4-BE49-F238E27FC236}">
                <a16:creationId xmlns:a16="http://schemas.microsoft.com/office/drawing/2014/main" id="{BD837DD0-6BD2-4598-A6D7-542DBC2E9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5781675"/>
            <a:ext cx="20002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13.082 avisos</a:t>
            </a:r>
          </a:p>
        </p:txBody>
      </p:sp>
    </p:spTree>
    <p:extLst>
      <p:ext uri="{BB962C8B-B14F-4D97-AF65-F5344CB8AC3E}">
        <p14:creationId xmlns:p14="http://schemas.microsoft.com/office/powerpoint/2010/main" val="164204220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4DE92F-DD1B-4EAA-B4AF-8FB63F662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875"/>
          </a:solidFill>
          <a:ln xmlns:a="http://schemas.openxmlformats.org/drawingml/2006/main" w="0">
            <a:noFill/>
          </a:ln>
        </p:spPr>
      </p:sp>
      <p:sp>
        <p:nvSpPr>
          <p:cNvPr id="2" name="METODOLOGIA">
            <a:extLst xmlns:a="http://schemas.openxmlformats.org/drawingml/2006/main">
              <a:ext uri="{FF2B5EF4-FFF2-40B4-BE49-F238E27FC236}">
                <a16:creationId xmlns:a16="http://schemas.microsoft.com/office/drawing/2014/main" id="{B8FAC40A-5EA8-49FD-B432-952B985F0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METODOLOGIA</a:t>
            </a:r>
          </a:p>
        </p:txBody>
      </p:sp>
      <p:sp>
        <p:nvSpPr>
          <p:cNvPr id="3" name="Método II: tráfego sob três condições">
            <a:extLst xmlns:a="http://schemas.openxmlformats.org/drawingml/2006/main">
              <a:ext uri="{FF2B5EF4-FFF2-40B4-BE49-F238E27FC236}">
                <a16:creationId xmlns:a16="http://schemas.microsoft.com/office/drawing/2014/main" id="{4C2AF9B6-67C2-4547-A6C5-B1FB4C0CC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2324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324F"/>
                </a:solidFill>
                <a:latin typeface="Arial"/>
                <a:ea typeface="Arial"/>
                <a:cs typeface="Arial"/>
              </a:rPr>
              <a:t>Método II: tráfego sob três condições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368C94-46B3-4904-9E09-C9291A3E2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CE292B-B4E9-4BE8-A8CC-ED6F63CC9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6" name="Nguyen, Backes e Stock (2022), Seção 4.3">
            <a:extLst xmlns:a="http://schemas.openxmlformats.org/drawingml/2006/main">
              <a:ext uri="{FF2B5EF4-FFF2-40B4-BE49-F238E27FC236}">
                <a16:creationId xmlns:a16="http://schemas.microsoft.com/office/drawing/2014/main" id="{9BA6E6DB-05B5-48C6-AC9E-B5A8D4CC6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Nguyen, Backes e Stock (2022), Seção 4.3 e Figura 4, p. 8. Reinicialização dos dados entre as condições.</a:t>
            </a:r>
          </a:p>
        </p:txBody>
      </p:sp>
      <p:sp>
        <p:nvSpPr>
          <p:cNvPr id="7" name="13 / 23">
            <a:extLst xmlns:a="http://schemas.openxmlformats.org/drawingml/2006/main">
              <a:ext uri="{FF2B5EF4-FFF2-40B4-BE49-F238E27FC236}">
                <a16:creationId xmlns:a16="http://schemas.microsoft.com/office/drawing/2014/main" id="{AB2CE8DA-7F37-4017-9678-97DDDE3D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7700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13 / 23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a33a3a59404d85"/>
          <a:stretch xmlns:a="http://schemas.openxmlformats.org/drawingml/2006/main"/>
        </p:blipFill>
        <p:spPr>
          <a:xfrm xmlns:a="http://schemas.openxmlformats.org/drawingml/2006/main">
            <a:off x="609600" y="1736360"/>
            <a:ext cx="10972800" cy="1204055"/>
          </a:xfrm>
          <a:prstGeom xmlns:a="http://schemas.openxmlformats.org/drawingml/2006/main" prst="rect">
            <a:avLst/>
          </a:prstGeom>
        </p:spPr>
      </p:pic>
      <p:sp>
        <p:nvSpPr>
          <p:cNvPr id="9" name="Figura 4 do artigo: identificação do avi">
            <a:extLst xmlns:a="http://schemas.openxmlformats.org/drawingml/2006/main">
              <a:ext uri="{FF2B5EF4-FFF2-40B4-BE49-F238E27FC236}">
                <a16:creationId xmlns:a16="http://schemas.microsoft.com/office/drawing/2014/main" id="{E073ED12-6DB0-4D57-8A4F-77032CAF8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Figura 4 do artigo: identificação do aviso, interação e análise de tráfego.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B3F042-7A3A-4095-AF6C-2EDAFF1FF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3429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4C45"/>
          </a:solidFill>
          <a:ln xmlns:a="http://schemas.openxmlformats.org/drawingml/2006/main" w="0">
            <a:noFill/>
          </a:ln>
        </p:spPr>
      </p:sp>
      <p:sp>
        <p:nvSpPr>
          <p:cNvPr id="11" name="Tno-consent">
            <a:extLst xmlns:a="http://schemas.openxmlformats.org/drawingml/2006/main">
              <a:ext uri="{FF2B5EF4-FFF2-40B4-BE49-F238E27FC236}">
                <a16:creationId xmlns:a16="http://schemas.microsoft.com/office/drawing/2014/main" id="{0CB54B01-FF7B-4852-A723-01C9DB8A7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AC4C4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AC4C45"/>
                </a:solidFill>
                <a:latin typeface="Arial"/>
                <a:ea typeface="Arial"/>
                <a:cs typeface="Arial"/>
              </a:rPr>
              <a:t>Tno-consent</a:t>
            </a:r>
          </a:p>
        </p:txBody>
      </p:sp>
      <p:sp>
        <p:nvSpPr>
          <p:cNvPr id="12" name="SEM CONSENTIR">
            <a:extLst xmlns:a="http://schemas.openxmlformats.org/drawingml/2006/main">
              <a:ext uri="{FF2B5EF4-FFF2-40B4-BE49-F238E27FC236}">
                <a16:creationId xmlns:a16="http://schemas.microsoft.com/office/drawing/2014/main" id="{6EFF57E5-E0CF-4B7F-94A2-23B267C20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C4C4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AC4C45"/>
                </a:solidFill>
                <a:latin typeface="Arial"/>
                <a:ea typeface="Arial"/>
                <a:cs typeface="Arial"/>
              </a:rPr>
              <a:t>SEM CONSENTIR</a:t>
            </a:r>
          </a:p>
        </p:txBody>
      </p:sp>
      <p:sp>
        <p:nvSpPr>
          <p:cNvPr id="13" name="Abrir o app e não interagir.&#10;Registrar o">
            <a:extLst xmlns:a="http://schemas.openxmlformats.org/drawingml/2006/main">
              <a:ext uri="{FF2B5EF4-FFF2-40B4-BE49-F238E27FC236}">
                <a16:creationId xmlns:a16="http://schemas.microsoft.com/office/drawing/2014/main" id="{3B9B99E2-DC83-4481-B1D1-4783DDE1D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3429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Abrir o app e não interagir.</a:t>
            </a:r>
          </a:p>
          <a:p xmlns:a="http://schemas.openxmlformats.org/drawingml/2006/main">
            <a:pPr algn="l">
              <a:defRPr sz="1800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Registrar o tráfego anterior</a:t>
            </a:r>
          </a:p>
          <a:p xmlns:a="http://schemas.openxmlformats.org/drawingml/2006/main">
            <a:pPr algn="l">
              <a:defRPr sz="1800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a qualquer escolha explícita.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AE8526-BA7E-443B-B22A-775E75DC5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19500"/>
            <a:ext cx="3429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967"/>
          </a:solidFill>
          <a:ln xmlns:a="http://schemas.openxmlformats.org/drawingml/2006/main" w="0">
            <a:noFill/>
          </a:ln>
        </p:spPr>
      </p:sp>
      <p:sp>
        <p:nvSpPr>
          <p:cNvPr id="15" name="Tconfirm">
            <a:extLst xmlns:a="http://schemas.openxmlformats.org/drawingml/2006/main">
              <a:ext uri="{FF2B5EF4-FFF2-40B4-BE49-F238E27FC236}">
                <a16:creationId xmlns:a16="http://schemas.microsoft.com/office/drawing/2014/main" id="{9E517732-85AA-4F66-83DD-68DF986F0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82905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8796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87967"/>
                </a:solidFill>
                <a:latin typeface="Arial"/>
                <a:ea typeface="Arial"/>
                <a:cs typeface="Arial"/>
              </a:rPr>
              <a:t>Tconfirm</a:t>
            </a:r>
          </a:p>
        </p:txBody>
      </p:sp>
      <p:sp>
        <p:nvSpPr>
          <p:cNvPr id="16" name="APÓS ACEITAR">
            <a:extLst xmlns:a="http://schemas.openxmlformats.org/drawingml/2006/main">
              <a:ext uri="{FF2B5EF4-FFF2-40B4-BE49-F238E27FC236}">
                <a16:creationId xmlns:a16="http://schemas.microsoft.com/office/drawing/2014/main" id="{74333B48-72BE-46D0-B994-8C86DC746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3243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8796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87967"/>
                </a:solidFill>
                <a:latin typeface="Arial"/>
                <a:ea typeface="Arial"/>
                <a:cs typeface="Arial"/>
              </a:rPr>
              <a:t>APÓS ACEITAR</a:t>
            </a:r>
          </a:p>
        </p:txBody>
      </p:sp>
      <p:sp>
        <p:nvSpPr>
          <p:cNvPr id="17" name="Acionar a opção de aceitação.&#10;Navegar au">
            <a:extLst xmlns:a="http://schemas.openxmlformats.org/drawingml/2006/main">
              <a:ext uri="{FF2B5EF4-FFF2-40B4-BE49-F238E27FC236}">
                <a16:creationId xmlns:a16="http://schemas.microsoft.com/office/drawing/2014/main" id="{12B4D659-5CDE-46B2-8A3D-B2C3BB856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667250"/>
            <a:ext cx="3429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Acionar a opção de aceitação.</a:t>
            </a:r>
          </a:p>
          <a:p xmlns:a="http://schemas.openxmlformats.org/drawingml/2006/main">
            <a:pPr algn="l">
              <a:defRPr sz="1800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Navegar automaticamente</a:t>
            </a:r>
          </a:p>
          <a:p xmlns:a="http://schemas.openxmlformats.org/drawingml/2006/main">
            <a:pPr algn="l">
              <a:defRPr sz="1800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e registrar o tráfego.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482F21-40B1-427D-AC82-A9352A27D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619500"/>
            <a:ext cx="3429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5652D"/>
          </a:solidFill>
          <a:ln xmlns:a="http://schemas.openxmlformats.org/drawingml/2006/main" w="0">
            <a:noFill/>
          </a:ln>
        </p:spPr>
      </p:sp>
      <p:sp>
        <p:nvSpPr>
          <p:cNvPr id="19" name="Treject">
            <a:extLst xmlns:a="http://schemas.openxmlformats.org/drawingml/2006/main">
              <a:ext uri="{FF2B5EF4-FFF2-40B4-BE49-F238E27FC236}">
                <a16:creationId xmlns:a16="http://schemas.microsoft.com/office/drawing/2014/main" id="{A2DE86F1-37D8-40F0-98C3-9EA22C306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82905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95652D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95652D"/>
                </a:solidFill>
                <a:latin typeface="Arial"/>
                <a:ea typeface="Arial"/>
                <a:cs typeface="Arial"/>
              </a:rPr>
              <a:t>Treject</a:t>
            </a:r>
          </a:p>
        </p:txBody>
      </p:sp>
      <p:sp>
        <p:nvSpPr>
          <p:cNvPr id="20" name="APÓS RECUSAR">
            <a:extLst xmlns:a="http://schemas.openxmlformats.org/drawingml/2006/main">
              <a:ext uri="{FF2B5EF4-FFF2-40B4-BE49-F238E27FC236}">
                <a16:creationId xmlns:a16="http://schemas.microsoft.com/office/drawing/2014/main" id="{D2C80F97-A4D9-4B67-933A-8C5446482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3243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5652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5652D"/>
                </a:solidFill>
                <a:latin typeface="Arial"/>
                <a:ea typeface="Arial"/>
                <a:cs typeface="Arial"/>
              </a:rPr>
              <a:t>APÓS RECUSAR</a:t>
            </a:r>
          </a:p>
        </p:txBody>
      </p:sp>
      <p:sp>
        <p:nvSpPr>
          <p:cNvPr id="21" name="Acionar a opção de recusa.&#10;Verificar se ">
            <a:extLst xmlns:a="http://schemas.openxmlformats.org/drawingml/2006/main">
              <a:ext uri="{FF2B5EF4-FFF2-40B4-BE49-F238E27FC236}">
                <a16:creationId xmlns:a16="http://schemas.microsoft.com/office/drawing/2014/main" id="{E1BE40D3-956C-4273-ACC3-4B08CC3CC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667250"/>
            <a:ext cx="3429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Acionar a opção de recusa.</a:t>
            </a:r>
          </a:p>
          <a:p xmlns:a="http://schemas.openxmlformats.org/drawingml/2006/main">
            <a:pPr algn="l">
              <a:defRPr sz="1800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Verificar se o app continua</a:t>
            </a:r>
          </a:p>
          <a:p xmlns:a="http://schemas.openxmlformats.org/drawingml/2006/main">
            <a:pPr algn="l">
              <a:defRPr sz="1800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enviando dados pessoais.</a:t>
            </a:r>
          </a:p>
        </p:txBody>
      </p:sp>
      <p:sp>
        <p:nvSpPr>
          <p:cNvPr id="22" name="Até 150 s por condição. mitmproxy, Objec">
            <a:extLst xmlns:a="http://schemas.openxmlformats.org/drawingml/2006/main">
              <a:ext uri="{FF2B5EF4-FFF2-40B4-BE49-F238E27FC236}">
                <a16:creationId xmlns:a16="http://schemas.microsoft.com/office/drawing/2014/main" id="{A3803223-E677-4046-A30F-EBD74F607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24525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Até 150 s por condição. mitmproxy, Objection e DroidBot. Busca de dados pessoais</a:t>
            </a:r>
          </a:p>
          <a:p xmlns:a="http://schemas.openxmlformats.org/drawingml/2006/main">
            <a:pPr algn="l">
              <a:defRPr sz="1650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em fluxos de saída para uma lista de 45 domínios de controladores publicitários.</a:t>
            </a:r>
          </a:p>
        </p:txBody>
      </p:sp>
    </p:spTree>
    <p:extLst>
      <p:ext uri="{BB962C8B-B14F-4D97-AF65-F5344CB8AC3E}">
        <p14:creationId xmlns:p14="http://schemas.microsoft.com/office/powerpoint/2010/main" val="88034284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F59EB2-799E-4143-94DD-DC4C8140E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875"/>
          </a:solidFill>
          <a:ln xmlns:a="http://schemas.openxmlformats.org/drawingml/2006/main" w="0">
            <a:noFill/>
          </a:ln>
        </p:spPr>
      </p:sp>
      <p:sp>
        <p:nvSpPr>
          <p:cNvPr id="2" name="RESULTADOS">
            <a:extLst xmlns:a="http://schemas.openxmlformats.org/drawingml/2006/main">
              <a:ext uri="{FF2B5EF4-FFF2-40B4-BE49-F238E27FC236}">
                <a16:creationId xmlns:a16="http://schemas.microsoft.com/office/drawing/2014/main" id="{14049F93-15B0-467C-851D-84AD4EE86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RESULTADOS</a:t>
            </a:r>
          </a:p>
        </p:txBody>
      </p:sp>
      <p:sp>
        <p:nvSpPr>
          <p:cNvPr id="3" name="Quatro mecanismos nos 13.082 avisos">
            <a:extLst xmlns:a="http://schemas.openxmlformats.org/drawingml/2006/main">
              <a:ext uri="{FF2B5EF4-FFF2-40B4-BE49-F238E27FC236}">
                <a16:creationId xmlns:a16="http://schemas.microsoft.com/office/drawing/2014/main" id="{91DBB9C8-0FB5-4CFA-8F0D-1BC890FAB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2324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324F"/>
                </a:solidFill>
                <a:latin typeface="Arial"/>
                <a:ea typeface="Arial"/>
                <a:cs typeface="Arial"/>
              </a:rPr>
              <a:t>Quatro mecanismos nos 13.082 avisos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829403-EAAD-4D95-BD21-5A53622C4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92613C-1024-4D26-81C4-22E638B42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6" name="Nguyen, Backes e Stock (2022), Seção 4.2">
            <a:extLst xmlns:a="http://schemas.openxmlformats.org/drawingml/2006/main">
              <a:ext uri="{FF2B5EF4-FFF2-40B4-BE49-F238E27FC236}">
                <a16:creationId xmlns:a16="http://schemas.microsoft.com/office/drawing/2014/main" id="{A4953296-4E7C-4D9A-A608-6E604F628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Nguyen, Backes e Stock (2022), Seção 4.2 e Figura 3, p. 7. Percentuais conforme o artigo.</a:t>
            </a:r>
          </a:p>
        </p:txBody>
      </p:sp>
      <p:sp>
        <p:nvSpPr>
          <p:cNvPr id="7" name="14 / 23">
            <a:extLst xmlns:a="http://schemas.openxmlformats.org/drawingml/2006/main">
              <a:ext uri="{FF2B5EF4-FFF2-40B4-BE49-F238E27FC236}">
                <a16:creationId xmlns:a16="http://schemas.microsoft.com/office/drawing/2014/main" id="{8082B09E-9192-4858-AB0A-B9A9B7413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7700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14 / 23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a188ede73e4d22"/>
          <a:stretch xmlns:a="http://schemas.openxmlformats.org/drawingml/2006/main"/>
        </p:blipFill>
        <p:spPr>
          <a:xfrm xmlns:a="http://schemas.openxmlformats.org/drawingml/2006/main">
            <a:off x="609600" y="1971478"/>
            <a:ext cx="5429250" cy="3096019"/>
          </a:xfrm>
          <a:prstGeom xmlns:a="http://schemas.openxmlformats.org/drawingml/2006/main" prst="rect">
            <a:avLst/>
          </a:prstGeom>
        </p:spPr>
      </p:pic>
      <p:sp>
        <p:nvSpPr>
          <p:cNvPr id="9" name="Figura 3 do artigo: exemplos dos quatro ">
            <a:extLst xmlns:a="http://schemas.openxmlformats.org/drawingml/2006/main">
              <a:ext uri="{FF2B5EF4-FFF2-40B4-BE49-F238E27FC236}">
                <a16:creationId xmlns:a16="http://schemas.microsoft.com/office/drawing/2014/main" id="{42ED3DBE-E709-4F68-8965-576B0B09D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54292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Figura 3 do artigo: exemplos dos quatro mecanismos.</a:t>
            </a:r>
          </a:p>
        </p:txBody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6381750" y="1743075"/>
          <a:ext xmlns:a="http://schemas.openxmlformats.org/drawingml/2006/main" cx="5200650" cy="36195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009900"/>
                <a:gridCol w="1190625"/>
                <a:gridCol w="1000125"/>
              </a:tblGrid>
              <a:tr h="723900"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l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Mecanismo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174875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Apps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174875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174875"/>
                    </a:solidFill>
                  </a:tcPr>
                </a:tc>
              </a:tr>
              <a:tr h="723900"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Confirmation-only</a:t>
                      </a:r>
                    </a:p>
                    <a:p>
                      <a:pPr algn="l"/>
                      <a:r>
                        <a:rPr sz="157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Apenas confirmação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EDF3F8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5.740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EDF3F8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43,87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EDF3F8"/>
                    </a:solidFill>
                  </a:tcPr>
                </a:tc>
              </a:tr>
              <a:tr h="723900"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Opt-out personalized ads</a:t>
                      </a:r>
                    </a:p>
                    <a:p>
                      <a:pPr algn="l"/>
                      <a:r>
                        <a:rPr sz="157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Recusa da personalização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3.949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30,19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Binary choices</a:t>
                      </a:r>
                    </a:p>
                    <a:p>
                      <a:pPr algn="l"/>
                      <a:r>
                        <a:rPr sz="157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Aceitar ou recusar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EDF3F8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2.871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EDF3F8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21,95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EDF3F8"/>
                    </a:solidFill>
                  </a:tcPr>
                </a:tc>
              </a:tr>
              <a:tr h="723900"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Complex choices</a:t>
                      </a:r>
                    </a:p>
                    <a:p>
                      <a:pPr algn="l"/>
                      <a:r>
                        <a:rPr sz="157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Escolhas detalhadas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522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4,00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usar anúncios personalizados não nece">
            <a:extLst xmlns:a="http://schemas.openxmlformats.org/drawingml/2006/main">
              <a:ext uri="{FF2B5EF4-FFF2-40B4-BE49-F238E27FC236}">
                <a16:creationId xmlns:a16="http://schemas.microsoft.com/office/drawing/2014/main" id="{AC03D70B-6E29-43E0-8FD0-E298DC646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388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Recusar anúncios personalizados não necessariamente impede o rastreamento.</a:t>
            </a:r>
          </a:p>
        </p:txBody>
      </p:sp>
    </p:spTree>
    <p:extLst>
      <p:ext uri="{BB962C8B-B14F-4D97-AF65-F5344CB8AC3E}">
        <p14:creationId xmlns:p14="http://schemas.microsoft.com/office/powerpoint/2010/main" val="132979640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5D9B38-5AF0-4DBE-98B9-C1FF3049F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875"/>
          </a:solidFill>
          <a:ln xmlns:a="http://schemas.openxmlformats.org/drawingml/2006/main" w="0">
            <a:noFill/>
          </a:ln>
        </p:spPr>
      </p:sp>
      <p:sp>
        <p:nvSpPr>
          <p:cNvPr id="2" name="RESULTADOS">
            <a:extLst xmlns:a="http://schemas.openxmlformats.org/drawingml/2006/main">
              <a:ext uri="{FF2B5EF4-FFF2-40B4-BE49-F238E27FC236}">
                <a16:creationId xmlns:a16="http://schemas.microsoft.com/office/drawing/2014/main" id="{FED202B1-92D9-4162-9229-DC2D8B727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RESULTADOS</a:t>
            </a:r>
          </a:p>
        </p:txBody>
      </p:sp>
      <p:sp>
        <p:nvSpPr>
          <p:cNvPr id="3" name="Resultados: dois conjuntos distintos">
            <a:extLst xmlns:a="http://schemas.openxmlformats.org/drawingml/2006/main">
              <a:ext uri="{FF2B5EF4-FFF2-40B4-BE49-F238E27FC236}">
                <a16:creationId xmlns:a16="http://schemas.microsoft.com/office/drawing/2014/main" id="{1B212EF1-8FC1-4DD5-B114-8017EE3E4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2324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324F"/>
                </a:solidFill>
                <a:latin typeface="Arial"/>
                <a:ea typeface="Arial"/>
                <a:cs typeface="Arial"/>
              </a:rPr>
              <a:t>Resultados: dois conjuntos distintos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BE43ED-D250-4CE8-941B-C45A575A7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9FFB80-A07B-44C6-AE7D-3D5BFBAA9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6" name="Nguyen, Backes e Stock (2022), Seções 4.">
            <a:extLst xmlns:a="http://schemas.openxmlformats.org/drawingml/2006/main">
              <a:ext uri="{FF2B5EF4-FFF2-40B4-BE49-F238E27FC236}">
                <a16:creationId xmlns:a16="http://schemas.microsoft.com/office/drawing/2014/main" id="{CAFBD54F-460D-4E06-93C4-09549FE5A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Nguyen, Backes e Stock (2022), Seções 4.4.2 e 4.4.6, p. 9–10. Categorias delimitadas pela análise do artigo.</a:t>
            </a:r>
          </a:p>
        </p:txBody>
      </p:sp>
      <p:sp>
        <p:nvSpPr>
          <p:cNvPr id="7" name="15 / 23">
            <a:extLst xmlns:a="http://schemas.openxmlformats.org/drawingml/2006/main">
              <a:ext uri="{FF2B5EF4-FFF2-40B4-BE49-F238E27FC236}">
                <a16:creationId xmlns:a16="http://schemas.microsoft.com/office/drawing/2014/main" id="{106DC82D-1C2F-41EF-AD93-102F277F5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7700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15 / 23</a:t>
            </a:r>
          </a:p>
        </p:txBody>
      </p:sp>
      <p:sp>
        <p:nvSpPr>
          <p:cNvPr id="8" name="239.381 aplicativos analisados">
            <a:extLst xmlns:a="http://schemas.openxmlformats.org/drawingml/2006/main">
              <a:ext uri="{FF2B5EF4-FFF2-40B4-BE49-F238E27FC236}">
                <a16:creationId xmlns:a16="http://schemas.microsoft.com/office/drawing/2014/main" id="{30F8982A-E6BE-4EFF-96D4-7BF0AE682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049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2324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2324F"/>
                </a:solidFill>
                <a:latin typeface="Arial"/>
                <a:ea typeface="Arial"/>
                <a:cs typeface="Arial"/>
              </a:rPr>
              <a:t>239.381 aplicativos analisados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7D33C8-BD20-4F77-8BAE-8FA1C0F6C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10" name="APPS COM AVISO IDENTIFICADO">
            <a:extLst xmlns:a="http://schemas.openxmlformats.org/drawingml/2006/main">
              <a:ext uri="{FF2B5EF4-FFF2-40B4-BE49-F238E27FC236}">
                <a16:creationId xmlns:a16="http://schemas.microsoft.com/office/drawing/2014/main" id="{12F66A4C-4880-4854-91E2-4A836DCEA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50577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APPS COM AVISO IDENTIFICADO</a:t>
            </a:r>
          </a:p>
        </p:txBody>
      </p:sp>
      <p:sp>
        <p:nvSpPr>
          <p:cNvPr id="11" name="2.688">
            <a:extLst xmlns:a="http://schemas.openxmlformats.org/drawingml/2006/main">
              <a:ext uri="{FF2B5EF4-FFF2-40B4-BE49-F238E27FC236}">
                <a16:creationId xmlns:a16="http://schemas.microsoft.com/office/drawing/2014/main" id="{DC0F60B1-EF57-46DF-AA79-B5C77002F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52775"/>
            <a:ext cx="5238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400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2.688</a:t>
            </a:r>
          </a:p>
        </p:txBody>
      </p:sp>
      <p:sp>
        <p:nvSpPr>
          <p:cNvPr id="12" name="20,54% dos 13.082 apps com aviso">
            <a:extLst xmlns:a="http://schemas.openxmlformats.org/drawingml/2006/main">
              <a:ext uri="{FF2B5EF4-FFF2-40B4-BE49-F238E27FC236}">
                <a16:creationId xmlns:a16="http://schemas.microsoft.com/office/drawing/2014/main" id="{E1A01BE6-0937-4FAD-B634-8FD4946EF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50673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4384A"/>
                </a:solidFill>
                <a:latin typeface="Arial"/>
                <a:ea typeface="Arial"/>
                <a:cs typeface="Arial"/>
              </a:rPr>
              <a:t>20,54% dos 13.082 apps com aviso</a:t>
            </a:r>
          </a:p>
        </p:txBody>
      </p:sp>
      <p:sp>
        <p:nvSpPr>
          <p:cNvPr id="13" name="Pelo menos uma potencial violação&#10;dos re">
            <a:extLst xmlns:a="http://schemas.openxmlformats.org/drawingml/2006/main">
              <a:ext uri="{FF2B5EF4-FFF2-40B4-BE49-F238E27FC236}">
                <a16:creationId xmlns:a16="http://schemas.microsoft.com/office/drawing/2014/main" id="{C02EE3B0-3878-4907-B310-F4C9383B9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50673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Pelo menos uma potencial violação</a:t>
            </a:r>
          </a:p>
          <a:p xmlns:a="http://schemas.openxmlformats.org/drawingml/2006/main">
            <a:pPr algn="l">
              <a:defRPr sz="202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dos requisitos de consentimento.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78C7D2-8EA4-420E-8812-AFB1A105A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667000"/>
            <a:ext cx="9525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15" name="APPS SEM AVISO IDENTIFICADO">
            <a:extLst xmlns:a="http://schemas.openxmlformats.org/drawingml/2006/main">
              <a:ext uri="{FF2B5EF4-FFF2-40B4-BE49-F238E27FC236}">
                <a16:creationId xmlns:a16="http://schemas.microsoft.com/office/drawing/2014/main" id="{3A1EDF68-DDC2-42E1-B4C2-0BDA5BB07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695575"/>
            <a:ext cx="5000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C4C4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AC4C45"/>
                </a:solidFill>
                <a:latin typeface="Arial"/>
                <a:ea typeface="Arial"/>
                <a:cs typeface="Arial"/>
              </a:rPr>
              <a:t>APPS SEM AVISO IDENTIFICADO</a:t>
            </a:r>
          </a:p>
        </p:txBody>
      </p:sp>
      <p:sp>
        <p:nvSpPr>
          <p:cNvPr id="16" name="30.160">
            <a:extLst xmlns:a="http://schemas.openxmlformats.org/drawingml/2006/main">
              <a:ext uri="{FF2B5EF4-FFF2-40B4-BE49-F238E27FC236}">
                <a16:creationId xmlns:a16="http://schemas.microsoft.com/office/drawing/2014/main" id="{5BF55BC9-F5A6-4078-BA89-5CC1FF225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152775"/>
            <a:ext cx="50006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400" b="1">
                <a:solidFill>
                  <a:srgbClr val="AC4C45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AC4C45"/>
                </a:solidFill>
                <a:latin typeface="Arial"/>
                <a:ea typeface="Arial"/>
                <a:cs typeface="Arial"/>
              </a:rPr>
              <a:t>30.160</a:t>
            </a:r>
          </a:p>
        </p:txBody>
      </p:sp>
      <p:sp>
        <p:nvSpPr>
          <p:cNvPr id="17" name="Enviaram dados pessoais a&#10;controladores ">
            <a:extLst xmlns:a="http://schemas.openxmlformats.org/drawingml/2006/main">
              <a:ext uri="{FF2B5EF4-FFF2-40B4-BE49-F238E27FC236}">
                <a16:creationId xmlns:a16="http://schemas.microsoft.com/office/drawing/2014/main" id="{8F131FB7-7E15-4CA7-8E56-2E7728CF1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4191000"/>
            <a:ext cx="500062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4384A"/>
                </a:solidFill>
                <a:latin typeface="Arial"/>
                <a:ea typeface="Arial"/>
                <a:cs typeface="Arial"/>
              </a:rPr>
              <a:t>Enviaram dados pessoais a</a:t>
            </a:r>
          </a:p>
          <a:p xmlns:a="http://schemas.openxmlformats.org/drawingml/2006/main">
            <a:pPr algn="l">
              <a:defRPr sz="2325" b="1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4384A"/>
                </a:solidFill>
                <a:latin typeface="Arial"/>
                <a:ea typeface="Arial"/>
                <a:cs typeface="Arial"/>
              </a:rPr>
              <a:t>controladores publicitários.</a:t>
            </a:r>
          </a:p>
        </p:txBody>
      </p:sp>
      <p:sp>
        <p:nvSpPr>
          <p:cNvPr id="18" name="93,26% dos 32.341 apps que enviaram&#10;dado">
            <a:extLst xmlns:a="http://schemas.openxmlformats.org/drawingml/2006/main">
              <a:ext uri="{FF2B5EF4-FFF2-40B4-BE49-F238E27FC236}">
                <a16:creationId xmlns:a16="http://schemas.microsoft.com/office/drawing/2014/main" id="{A1E2D254-F950-40F8-A2E8-5096D89FA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5095875"/>
            <a:ext cx="500062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93,26% dos 32.341 apps que enviaram</a:t>
            </a:r>
          </a:p>
          <a:p xmlns:a="http://schemas.openxmlformats.org/drawingml/2006/main">
            <a:pPr algn="l">
              <a:defRPr sz="187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dados aos domínios publicitários</a:t>
            </a:r>
          </a:p>
          <a:p xmlns:a="http://schemas.openxmlformats.org/drawingml/2006/main">
            <a:pPr algn="l">
              <a:defRPr sz="187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considerados nessa comparação.</a:t>
            </a:r>
          </a:p>
        </p:txBody>
      </p:sp>
    </p:spTree>
    <p:extLst>
      <p:ext uri="{BB962C8B-B14F-4D97-AF65-F5344CB8AC3E}">
        <p14:creationId xmlns:p14="http://schemas.microsoft.com/office/powerpoint/2010/main" val="99665523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F485BD-9AD0-4C94-A826-A2EF10041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875"/>
          </a:solidFill>
          <a:ln xmlns:a="http://schemas.openxmlformats.org/drawingml/2006/main" w="0">
            <a:noFill/>
          </a:ln>
        </p:spPr>
      </p:sp>
      <p:sp>
        <p:nvSpPr>
          <p:cNvPr id="2" name="RESULTADOS">
            <a:extLst xmlns:a="http://schemas.openxmlformats.org/drawingml/2006/main">
              <a:ext uri="{FF2B5EF4-FFF2-40B4-BE49-F238E27FC236}">
                <a16:creationId xmlns:a16="http://schemas.microsoft.com/office/drawing/2014/main" id="{D3EF6107-6356-4B1B-A7D1-2C7941767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RESULTADOS</a:t>
            </a:r>
          </a:p>
        </p:txBody>
      </p:sp>
      <p:sp>
        <p:nvSpPr>
          <p:cNvPr id="3" name="Potenciais violações entre apps com avis">
            <a:extLst xmlns:a="http://schemas.openxmlformats.org/drawingml/2006/main">
              <a:ext uri="{FF2B5EF4-FFF2-40B4-BE49-F238E27FC236}">
                <a16:creationId xmlns:a16="http://schemas.microsoft.com/office/drawing/2014/main" id="{BB0CEC1A-F3D9-4891-AE45-09B07991F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2324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324F"/>
                </a:solidFill>
                <a:latin typeface="Arial"/>
                <a:ea typeface="Arial"/>
                <a:cs typeface="Arial"/>
              </a:rPr>
              <a:t>Potenciais violações entre apps com aviso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202DCA-D551-4441-A135-775C70BCB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655339-C4DE-45A3-8E1D-0A3509208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6" name="Nguyen, Backes e Stock (2022), Tabela 3 ">
            <a:extLst xmlns:a="http://schemas.openxmlformats.org/drawingml/2006/main">
              <a:ext uri="{FF2B5EF4-FFF2-40B4-BE49-F238E27FC236}">
                <a16:creationId xmlns:a16="http://schemas.microsoft.com/office/drawing/2014/main" id="{D8650CD4-18A4-479F-A579-12C5D0322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Nguyen, Backes e Stock (2022), Tabela 3 e Seções 4.4.3–4.4.6, p. 9–10. Tabela transcrita em formato editável.</a:t>
            </a:r>
          </a:p>
        </p:txBody>
      </p:sp>
      <p:sp>
        <p:nvSpPr>
          <p:cNvPr id="7" name="16 / 23">
            <a:extLst xmlns:a="http://schemas.openxmlformats.org/drawingml/2006/main">
              <a:ext uri="{FF2B5EF4-FFF2-40B4-BE49-F238E27FC236}">
                <a16:creationId xmlns:a16="http://schemas.microsoft.com/office/drawing/2014/main" id="{B5AF86CB-230C-4309-A861-86D253B71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7700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16 / 23</a:t>
            </a:r>
          </a:p>
        </p:txBody>
      </p:sp>
      <p:graphicFrame>
        <p:nvGraphicFramePr>
          <p:cNvPr id="23" name=""/>
          <p:cNvGraphicFramePr/>
          <p:nvPr/>
        </p:nvGraphicFramePr>
        <p:xfrm>
          <a:off xmlns:a="http://schemas.openxmlformats.org/drawingml/2006/main" x="609600" y="1800225"/>
          <a:ext xmlns:a="http://schemas.openxmlformats.org/drawingml/2006/main" cx="10972800" cy="3190875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571875"/>
                <a:gridCol w="2466975"/>
                <a:gridCol w="2466975"/>
                <a:gridCol w="2466975"/>
              </a:tblGrid>
              <a:tr h="752475"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l"/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de aviso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174875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Antes de consentir</a:t>
                      </a:r>
                    </a:p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N = 2.181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174875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Sem opt-out</a:t>
                      </a:r>
                    </a:p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N = 1.084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174875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Após recusar</a:t>
                      </a:r>
                    </a:p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N = 134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174875"/>
                    </a:solidFill>
                  </a:tcPr>
                </a:tc>
              </a:tr>
              <a:tr h="638175"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Confirmation-only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EDF3F8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929 (42,60%)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EDF3F8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1.084 (100%)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EDF3F8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EDF3F8"/>
                    </a:solidFill>
                  </a:tcPr>
                </a:tc>
              </a:tr>
              <a:tr h="638175"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Opt-out personalized ads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609 (27,92%)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48 (35,82%)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Binary choices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EDF3F8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466 (21,37%)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EDF3F8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EDF3F8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28 (20,90%)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EDF3F8"/>
                    </a:solidFill>
                  </a:tcPr>
                </a:tc>
              </a:tr>
              <a:tr h="638175"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Complex choices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177 (8,12%)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58 (43,28%)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2.181">
            <a:extLst xmlns:a="http://schemas.openxmlformats.org/drawingml/2006/main">
              <a:ext uri="{FF2B5EF4-FFF2-40B4-BE49-F238E27FC236}">
                <a16:creationId xmlns:a16="http://schemas.microsoft.com/office/drawing/2014/main" id="{932CAEA8-1A4F-4447-91D0-DD94BDC32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323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AC4C45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AC4C45"/>
                </a:solidFill>
                <a:latin typeface="Arial"/>
                <a:ea typeface="Arial"/>
                <a:cs typeface="Arial"/>
              </a:rPr>
              <a:t>2.181</a:t>
            </a:r>
          </a:p>
        </p:txBody>
      </p:sp>
      <p:sp>
        <p:nvSpPr>
          <p:cNvPr id="10" name="antes de consentir (16,67%)">
            <a:extLst xmlns:a="http://schemas.openxmlformats.org/drawingml/2006/main">
              <a:ext uri="{FF2B5EF4-FFF2-40B4-BE49-F238E27FC236}">
                <a16:creationId xmlns:a16="http://schemas.microsoft.com/office/drawing/2014/main" id="{B4A1921A-4DA4-414E-B4BA-EBE7A43BE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323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antes de consentir (16,67%)</a:t>
            </a:r>
          </a:p>
        </p:txBody>
      </p:sp>
      <p:sp>
        <p:nvSpPr>
          <p:cNvPr id="11" name="1.084">
            <a:extLst xmlns:a="http://schemas.openxmlformats.org/drawingml/2006/main">
              <a:ext uri="{FF2B5EF4-FFF2-40B4-BE49-F238E27FC236}">
                <a16:creationId xmlns:a16="http://schemas.microsoft.com/office/drawing/2014/main" id="{04FC4705-E661-40A6-BF08-65A25CD98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219700"/>
            <a:ext cx="323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95652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95652D"/>
                </a:solidFill>
                <a:latin typeface="Arial"/>
                <a:ea typeface="Arial"/>
                <a:cs typeface="Arial"/>
              </a:rPr>
              <a:t>1.084</a:t>
            </a:r>
          </a:p>
        </p:txBody>
      </p:sp>
      <p:sp>
        <p:nvSpPr>
          <p:cNvPr id="12" name="sem opt-out (8,28%)">
            <a:extLst xmlns:a="http://schemas.openxmlformats.org/drawingml/2006/main">
              <a:ext uri="{FF2B5EF4-FFF2-40B4-BE49-F238E27FC236}">
                <a16:creationId xmlns:a16="http://schemas.microsoft.com/office/drawing/2014/main" id="{0319431E-7032-4E41-803C-DE1330A74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772150"/>
            <a:ext cx="323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sem opt-out (8,28%)</a:t>
            </a:r>
          </a:p>
        </p:txBody>
      </p:sp>
      <p:sp>
        <p:nvSpPr>
          <p:cNvPr id="13" name="134">
            <a:extLst xmlns:a="http://schemas.openxmlformats.org/drawingml/2006/main">
              <a:ext uri="{FF2B5EF4-FFF2-40B4-BE49-F238E27FC236}">
                <a16:creationId xmlns:a16="http://schemas.microsoft.com/office/drawing/2014/main" id="{21FFFC06-BDCE-4DD8-9927-B3410219E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21970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69558B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69558B"/>
                </a:solidFill>
                <a:latin typeface="Arial"/>
                <a:ea typeface="Arial"/>
                <a:cs typeface="Arial"/>
              </a:rPr>
              <a:t>134</a:t>
            </a:r>
          </a:p>
        </p:txBody>
      </p:sp>
      <p:sp>
        <p:nvSpPr>
          <p:cNvPr id="14" name="enviam após a recusa">
            <a:extLst xmlns:a="http://schemas.openxmlformats.org/drawingml/2006/main">
              <a:ext uri="{FF2B5EF4-FFF2-40B4-BE49-F238E27FC236}">
                <a16:creationId xmlns:a16="http://schemas.microsoft.com/office/drawing/2014/main" id="{85377164-62D8-4CF0-B300-9FDB5B6DE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7721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enviam após a recusa</a:t>
            </a:r>
          </a:p>
        </p:txBody>
      </p:sp>
      <p:sp>
        <p:nvSpPr>
          <p:cNvPr id="15" name="Categorias sobrepostas. Tabela: % de cad">
            <a:extLst xmlns:a="http://schemas.openxmlformats.org/drawingml/2006/main">
              <a:ext uri="{FF2B5EF4-FFF2-40B4-BE49-F238E27FC236}">
                <a16:creationId xmlns:a16="http://schemas.microsoft.com/office/drawing/2014/main" id="{CE0E6F08-CA53-46EF-AC6E-63C0DBB91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Categorias sobrepostas. Tabela: % de cada coluna. Destaques abaixo: % dos 13.082 apps, conforme o artigo.</a:t>
            </a:r>
          </a:p>
        </p:txBody>
      </p:sp>
    </p:spTree>
    <p:extLst>
      <p:ext uri="{BB962C8B-B14F-4D97-AF65-F5344CB8AC3E}">
        <p14:creationId xmlns:p14="http://schemas.microsoft.com/office/powerpoint/2010/main" val="204213155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6F0CA6-225F-4CAB-83CA-62B580536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875"/>
          </a:solidFill>
          <a:ln xmlns:a="http://schemas.openxmlformats.org/drawingml/2006/main" w="0">
            <a:noFill/>
          </a:ln>
        </p:spPr>
      </p:sp>
      <p:sp>
        <p:nvSpPr>
          <p:cNvPr id="2" name="RESULTADOS">
            <a:extLst xmlns:a="http://schemas.openxmlformats.org/drawingml/2006/main">
              <a:ext uri="{FF2B5EF4-FFF2-40B4-BE49-F238E27FC236}">
                <a16:creationId xmlns:a16="http://schemas.microsoft.com/office/drawing/2014/main" id="{A196C8C4-C31F-400A-A196-0A1B8EFC3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RESULTADOS</a:t>
            </a:r>
          </a:p>
        </p:txBody>
      </p:sp>
      <p:sp>
        <p:nvSpPr>
          <p:cNvPr id="3" name="Envio sem aviso: destinos e tipo de dado">
            <a:extLst xmlns:a="http://schemas.openxmlformats.org/drawingml/2006/main">
              <a:ext uri="{FF2B5EF4-FFF2-40B4-BE49-F238E27FC236}">
                <a16:creationId xmlns:a16="http://schemas.microsoft.com/office/drawing/2014/main" id="{DCCC9F5C-6956-473C-BC21-47F9CA3E7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2324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324F"/>
                </a:solidFill>
                <a:latin typeface="Arial"/>
                <a:ea typeface="Arial"/>
                <a:cs typeface="Arial"/>
              </a:rPr>
              <a:t>Envio sem aviso: destinos e tipo de dado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82CDB5-5B88-473C-81F8-C887834A5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B76271-BE7F-4CA8-99C8-15AF66F70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6" name="Nguyen, Backes e Stock (2022), Figura 5,">
            <a:extLst xmlns:a="http://schemas.openxmlformats.org/drawingml/2006/main">
              <a:ext uri="{FF2B5EF4-FFF2-40B4-BE49-F238E27FC236}">
                <a16:creationId xmlns:a16="http://schemas.microsoft.com/office/drawing/2014/main" id="{455A753C-E177-4220-BB7D-2BA5C7365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Nguyen, Backes e Stock (2022), Figura 5, p. 9, e Tabela 4, p. 11. Um app pode enviar dados a vários domínios.</a:t>
            </a:r>
          </a:p>
        </p:txBody>
      </p:sp>
      <p:sp>
        <p:nvSpPr>
          <p:cNvPr id="7" name="17 / 23">
            <a:extLst xmlns:a="http://schemas.openxmlformats.org/drawingml/2006/main">
              <a:ext uri="{FF2B5EF4-FFF2-40B4-BE49-F238E27FC236}">
                <a16:creationId xmlns:a16="http://schemas.microsoft.com/office/drawing/2014/main" id="{9A14CA18-2D53-4CFE-B3EC-EA8054272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7700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17 / 23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8848577bc04e1c"/>
          <a:stretch xmlns:a="http://schemas.openxmlformats.org/drawingml/2006/main"/>
        </p:blipFill>
        <p:spPr>
          <a:xfrm xmlns:a="http://schemas.openxmlformats.org/drawingml/2006/main">
            <a:off x="609600" y="2065676"/>
            <a:ext cx="7067550" cy="3012398"/>
          </a:xfrm>
          <a:prstGeom xmlns:a="http://schemas.openxmlformats.org/drawingml/2006/main" prst="rect">
            <a:avLst/>
          </a:prstGeom>
        </p:spPr>
      </p:pic>
      <p:sp>
        <p:nvSpPr>
          <p:cNvPr id="9" name="Figura 5 do artigo: dez domínios publici">
            <a:extLst xmlns:a="http://schemas.openxmlformats.org/drawingml/2006/main">
              <a:ext uri="{FF2B5EF4-FFF2-40B4-BE49-F238E27FC236}">
                <a16:creationId xmlns:a16="http://schemas.microsoft.com/office/drawing/2014/main" id="{A0CCE998-810A-4270-B5F8-A0B0E2B7E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7067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Figura 5 do artigo: dez domínios publicitários que receberam</a:t>
            </a:r>
          </a:p>
          <a:p xmlns:a="http://schemas.openxmlformats.org/drawingml/2006/main">
            <a:pPr algn="l">
              <a:defRPr sz="17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dados dos 30.160 aplicativos sem aviso identificado.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F06DE4-D0FE-40B4-A696-E42DABE08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952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11" name="14.420">
            <a:extLst xmlns:a="http://schemas.openxmlformats.org/drawingml/2006/main">
              <a:ext uri="{FF2B5EF4-FFF2-40B4-BE49-F238E27FC236}">
                <a16:creationId xmlns:a16="http://schemas.microsoft.com/office/drawing/2014/main" id="{C8EAE9DA-3B7A-4227-968E-013686229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1962150"/>
            <a:ext cx="3133725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14.420</a:t>
            </a:r>
          </a:p>
        </p:txBody>
      </p:sp>
      <p:sp>
        <p:nvSpPr>
          <p:cNvPr id="12" name="apps enviaram dados&#10;para facebook.com&#10;(4">
            <a:extLst xmlns:a="http://schemas.openxmlformats.org/drawingml/2006/main">
              <a:ext uri="{FF2B5EF4-FFF2-40B4-BE49-F238E27FC236}">
                <a16:creationId xmlns:a16="http://schemas.microsoft.com/office/drawing/2014/main" id="{8F84CC78-B518-4142-9480-42B7BA763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809875"/>
            <a:ext cx="313372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apps enviaram dados</a:t>
            </a:r>
          </a:p>
          <a:p xmlns:a="http://schemas.openxmlformats.org/drawingml/2006/main">
            <a:pPr algn="l">
              <a:defRPr sz="202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para facebook.com</a:t>
            </a:r>
          </a:p>
          <a:p xmlns:a="http://schemas.openxmlformats.org/drawingml/2006/main">
            <a:pPr algn="l">
              <a:defRPr sz="202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(47,81% de 30.160).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874A4E-AF45-4370-AA75-D4E6E28A9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076700"/>
            <a:ext cx="31337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14" name="29.952">
            <a:extLst xmlns:a="http://schemas.openxmlformats.org/drawingml/2006/main">
              <a:ext uri="{FF2B5EF4-FFF2-40B4-BE49-F238E27FC236}">
                <a16:creationId xmlns:a16="http://schemas.microsoft.com/office/drawing/2014/main" id="{FDECACBB-406D-4265-8B79-501417B42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343400"/>
            <a:ext cx="3133725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29.952</a:t>
            </a:r>
          </a:p>
        </p:txBody>
      </p:sp>
      <p:sp>
        <p:nvSpPr>
          <p:cNvPr id="15" name="enviaram o AAID.&#10;99,31% dos 30.160 apps&#10;">
            <a:extLst xmlns:a="http://schemas.openxmlformats.org/drawingml/2006/main">
              <a:ext uri="{FF2B5EF4-FFF2-40B4-BE49-F238E27FC236}">
                <a16:creationId xmlns:a16="http://schemas.microsoft.com/office/drawing/2014/main" id="{0A0CF09E-1072-468E-A0A2-21CDC420D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210175"/>
            <a:ext cx="313372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enviaram o AAID.</a:t>
            </a:r>
          </a:p>
          <a:p xmlns:a="http://schemas.openxmlformats.org/drawingml/2006/main">
            <a:pPr algn="l">
              <a:defRPr sz="1950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99,31% dos 30.160 apps</a:t>
            </a:r>
          </a:p>
          <a:p xmlns:a="http://schemas.openxmlformats.org/drawingml/2006/main">
            <a:pPr algn="l">
              <a:defRPr sz="1950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sem aviso.</a:t>
            </a:r>
          </a:p>
        </p:txBody>
      </p:sp>
    </p:spTree>
    <p:extLst>
      <p:ext uri="{BB962C8B-B14F-4D97-AF65-F5344CB8AC3E}">
        <p14:creationId xmlns:p14="http://schemas.microsoft.com/office/powerpoint/2010/main" val="209692039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3CF0B4F-0DBA-4040-A8EF-29D9AE268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875"/>
          </a:solidFill>
          <a:ln xmlns:a="http://schemas.openxmlformats.org/drawingml/2006/main" w="0">
            <a:noFill/>
          </a:ln>
        </p:spPr>
      </p:sp>
      <p:sp>
        <p:nvSpPr>
          <p:cNvPr id="2" name="ANÁLISE DA SEÇÃO 5">
            <a:extLst xmlns:a="http://schemas.openxmlformats.org/drawingml/2006/main">
              <a:ext uri="{FF2B5EF4-FFF2-40B4-BE49-F238E27FC236}">
                <a16:creationId xmlns:a16="http://schemas.microsoft.com/office/drawing/2014/main" id="{B8D8AA52-9931-47F1-AE57-9B6212E8C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ANÁLISE DA SEÇÃO 5</a:t>
            </a:r>
          </a:p>
        </p:txBody>
      </p:sp>
      <p:sp>
        <p:nvSpPr>
          <p:cNvPr id="3" name="Notificação: respostas e mudanças observ">
            <a:extLst xmlns:a="http://schemas.openxmlformats.org/drawingml/2006/main">
              <a:ext uri="{FF2B5EF4-FFF2-40B4-BE49-F238E27FC236}">
                <a16:creationId xmlns:a16="http://schemas.microsoft.com/office/drawing/2014/main" id="{64484EB8-36A9-4D73-93ED-A4258121B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2324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324F"/>
                </a:solidFill>
                <a:latin typeface="Arial"/>
                <a:ea typeface="Arial"/>
                <a:cs typeface="Arial"/>
              </a:rPr>
              <a:t>Notificação: respostas e mudanças observadas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BE5C4D-4408-4798-B1B4-156FE3A3B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CA6463-42A4-4840-91D2-09AB730FB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6" name="Nguyen, Backes e Stock (2022), Seção 5, ">
            <a:extLst xmlns:a="http://schemas.openxmlformats.org/drawingml/2006/main">
              <a:ext uri="{FF2B5EF4-FFF2-40B4-BE49-F238E27FC236}">
                <a16:creationId xmlns:a16="http://schemas.microsoft.com/office/drawing/2014/main" id="{B2C1BF42-6E81-4B24-ABFD-F2FFB450D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Nguyen, Backes e Stock (2022), Seção 5, p. 11–12. Denominadores variam conforme a pergunta respondida.</a:t>
            </a:r>
          </a:p>
        </p:txBody>
      </p:sp>
      <p:sp>
        <p:nvSpPr>
          <p:cNvPr id="7" name="18 / 23">
            <a:extLst xmlns:a="http://schemas.openxmlformats.org/drawingml/2006/main">
              <a:ext uri="{FF2B5EF4-FFF2-40B4-BE49-F238E27FC236}">
                <a16:creationId xmlns:a16="http://schemas.microsoft.com/office/drawing/2014/main" id="{8313FD87-FADE-480F-8478-87289185D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7700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18 / 23</a:t>
            </a:r>
          </a:p>
        </p:txBody>
      </p:sp>
      <p:sp>
        <p:nvSpPr>
          <p:cNvPr id="8" name="1.127">
            <a:extLst xmlns:a="http://schemas.openxmlformats.org/drawingml/2006/main">
              <a:ext uri="{FF2B5EF4-FFF2-40B4-BE49-F238E27FC236}">
                <a16:creationId xmlns:a16="http://schemas.microsoft.com/office/drawing/2014/main" id="{728803D6-BDFD-45D2-B0DA-33A27E74F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32480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1.127</a:t>
            </a:r>
          </a:p>
        </p:txBody>
      </p:sp>
      <p:sp>
        <p:nvSpPr>
          <p:cNvPr id="9" name="desenvolvedores notificados">
            <a:extLst xmlns:a="http://schemas.openxmlformats.org/drawingml/2006/main">
              <a:ext uri="{FF2B5EF4-FFF2-40B4-BE49-F238E27FC236}">
                <a16:creationId xmlns:a16="http://schemas.microsoft.com/office/drawing/2014/main" id="{383820DC-1939-4695-A086-D851BE042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43175"/>
            <a:ext cx="32480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desenvolvedores notificados</a:t>
            </a:r>
          </a:p>
        </p:txBody>
      </p:sp>
      <p:sp>
        <p:nvSpPr>
          <p:cNvPr id="10" name="1.859">
            <a:extLst xmlns:a="http://schemas.openxmlformats.org/drawingml/2006/main">
              <a:ext uri="{FF2B5EF4-FFF2-40B4-BE49-F238E27FC236}">
                <a16:creationId xmlns:a16="http://schemas.microsoft.com/office/drawing/2014/main" id="{7FAAAE4B-FF51-433F-AD06-A07AA4583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676400"/>
            <a:ext cx="32480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1.859</a:t>
            </a:r>
          </a:p>
        </p:txBody>
      </p:sp>
      <p:sp>
        <p:nvSpPr>
          <p:cNvPr id="11" name="aplicativos abrangidos">
            <a:extLst xmlns:a="http://schemas.openxmlformats.org/drawingml/2006/main">
              <a:ext uri="{FF2B5EF4-FFF2-40B4-BE49-F238E27FC236}">
                <a16:creationId xmlns:a16="http://schemas.microsoft.com/office/drawing/2014/main" id="{1E8D894D-312F-40FB-9937-3E4A6A074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543175"/>
            <a:ext cx="32480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aplicativos abrangidos</a:t>
            </a:r>
          </a:p>
        </p:txBody>
      </p:sp>
      <p:sp>
        <p:nvSpPr>
          <p:cNvPr id="12" name="43">
            <a:extLst xmlns:a="http://schemas.openxmlformats.org/drawingml/2006/main">
              <a:ext uri="{FF2B5EF4-FFF2-40B4-BE49-F238E27FC236}">
                <a16:creationId xmlns:a16="http://schemas.microsoft.com/office/drawing/2014/main" id="{A8E17D1F-712C-4BF2-9153-1C102E1BE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676400"/>
            <a:ext cx="32480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13" name="desenvolvedores responderam">
            <a:extLst xmlns:a="http://schemas.openxmlformats.org/drawingml/2006/main">
              <a:ext uri="{FF2B5EF4-FFF2-40B4-BE49-F238E27FC236}">
                <a16:creationId xmlns:a16="http://schemas.microsoft.com/office/drawing/2014/main" id="{4A576837-5C32-4CA2-94B0-4537F1510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543175"/>
            <a:ext cx="32480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desenvolvedores responderam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C077D0-DDE2-45B3-B753-FC309D666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575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15" name="9/14">
            <a:extLst xmlns:a="http://schemas.openxmlformats.org/drawingml/2006/main">
              <a:ext uri="{FF2B5EF4-FFF2-40B4-BE49-F238E27FC236}">
                <a16:creationId xmlns:a16="http://schemas.microsoft.com/office/drawing/2014/main" id="{976A80E0-55D1-46E5-90F3-C9F9FAD53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33775"/>
            <a:ext cx="11620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8796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87967"/>
                </a:solidFill>
                <a:latin typeface="Arial"/>
                <a:ea typeface="Arial"/>
                <a:cs typeface="Arial"/>
              </a:rPr>
              <a:t>9/14</a:t>
            </a:r>
          </a:p>
        </p:txBody>
      </p:sp>
      <p:sp>
        <p:nvSpPr>
          <p:cNvPr id="16" name="não conheciam os tipos de dado coletados">
            <a:extLst xmlns:a="http://schemas.openxmlformats.org/drawingml/2006/main">
              <a:ext uri="{FF2B5EF4-FFF2-40B4-BE49-F238E27FC236}">
                <a16:creationId xmlns:a16="http://schemas.microsoft.com/office/drawing/2014/main" id="{E42D3469-F2AB-4553-A85E-7FF697C30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590925"/>
            <a:ext cx="96583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não conheciam os tipos de dado coletados.</a:t>
            </a:r>
          </a:p>
        </p:txBody>
      </p:sp>
      <p:sp>
        <p:nvSpPr>
          <p:cNvPr id="17" name="9/13">
            <a:extLst xmlns:a="http://schemas.openxmlformats.org/drawingml/2006/main">
              <a:ext uri="{FF2B5EF4-FFF2-40B4-BE49-F238E27FC236}">
                <a16:creationId xmlns:a16="http://schemas.microsoft.com/office/drawing/2014/main" id="{A9E3C397-8691-4874-9D13-A60826D89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11620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8796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87967"/>
                </a:solidFill>
                <a:latin typeface="Arial"/>
                <a:ea typeface="Arial"/>
                <a:cs typeface="Arial"/>
              </a:rPr>
              <a:t>9/13</a:t>
            </a:r>
          </a:p>
        </p:txBody>
      </p:sp>
      <p:sp>
        <p:nvSpPr>
          <p:cNvPr id="18" name="declararam conhecer os requisitos de con">
            <a:extLst xmlns:a="http://schemas.openxmlformats.org/drawingml/2006/main">
              <a:ext uri="{FF2B5EF4-FFF2-40B4-BE49-F238E27FC236}">
                <a16:creationId xmlns:a16="http://schemas.microsoft.com/office/drawing/2014/main" id="{43C6748C-4490-495F-AB94-7E4F7AA05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286250"/>
            <a:ext cx="96583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declararam conhecer os requisitos de consentimento.</a:t>
            </a:r>
          </a:p>
        </p:txBody>
      </p:sp>
      <p:sp>
        <p:nvSpPr>
          <p:cNvPr id="19" name="6/7">
            <a:extLst xmlns:a="http://schemas.openxmlformats.org/drawingml/2006/main">
              <a:ext uri="{FF2B5EF4-FFF2-40B4-BE49-F238E27FC236}">
                <a16:creationId xmlns:a16="http://schemas.microsoft.com/office/drawing/2014/main" id="{D4414AF9-29A0-4780-B1CC-B4390CE0D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24425"/>
            <a:ext cx="11620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8796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87967"/>
                </a:solidFill>
                <a:latin typeface="Arial"/>
                <a:ea typeface="Arial"/>
                <a:cs typeface="Arial"/>
              </a:rPr>
              <a:t>6/7</a:t>
            </a:r>
          </a:p>
        </p:txBody>
      </p:sp>
      <p:sp>
        <p:nvSpPr>
          <p:cNvPr id="20" name="queriam uma ferramenta automatizada de a">
            <a:extLst xmlns:a="http://schemas.openxmlformats.org/drawingml/2006/main">
              <a:ext uri="{FF2B5EF4-FFF2-40B4-BE49-F238E27FC236}">
                <a16:creationId xmlns:a16="http://schemas.microsoft.com/office/drawing/2014/main" id="{4B4725CB-77F7-47BD-B49F-B5CFE5CED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981575"/>
            <a:ext cx="96583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queriam uma ferramenta automatizada de análise.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202A387-2B07-45E3-A0FE-D7452F575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22" name="147 apps atualizados">
            <a:extLst xmlns:a="http://schemas.openxmlformats.org/drawingml/2006/main">
              <a:ext uri="{FF2B5EF4-FFF2-40B4-BE49-F238E27FC236}">
                <a16:creationId xmlns:a16="http://schemas.microsoft.com/office/drawing/2014/main" id="{2E05ECEE-3CD7-4CA3-9D44-F76305FE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86450"/>
            <a:ext cx="33718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2324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2324F"/>
                </a:solidFill>
                <a:latin typeface="Arial"/>
                <a:ea typeface="Arial"/>
                <a:cs typeface="Arial"/>
              </a:rPr>
              <a:t>147 apps atualizados</a:t>
            </a:r>
          </a:p>
        </p:txBody>
      </p:sp>
      <p:sp>
        <p:nvSpPr>
          <p:cNvPr id="23" name="63 corrigiram os problemas">
            <a:extLst xmlns:a="http://schemas.openxmlformats.org/drawingml/2006/main">
              <a:ext uri="{FF2B5EF4-FFF2-40B4-BE49-F238E27FC236}">
                <a16:creationId xmlns:a16="http://schemas.microsoft.com/office/drawing/2014/main" id="{AC189D7B-EB40-4407-8B0E-FA8007609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5886450"/>
            <a:ext cx="36385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8796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87967"/>
                </a:solidFill>
                <a:latin typeface="Arial"/>
                <a:ea typeface="Arial"/>
                <a:cs typeface="Arial"/>
              </a:rPr>
              <a:t>63 corrigiram os problemas</a:t>
            </a:r>
          </a:p>
        </p:txBody>
      </p:sp>
      <p:sp>
        <p:nvSpPr>
          <p:cNvPr id="24" name="84 com potencial violação">
            <a:extLst xmlns:a="http://schemas.openxmlformats.org/drawingml/2006/main">
              <a:ext uri="{FF2B5EF4-FFF2-40B4-BE49-F238E27FC236}">
                <a16:creationId xmlns:a16="http://schemas.microsoft.com/office/drawing/2014/main" id="{9060F8EF-B169-4033-BE78-C58F958BB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886450"/>
            <a:ext cx="3314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AC4C4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AC4C45"/>
                </a:solidFill>
                <a:latin typeface="Arial"/>
                <a:ea typeface="Arial"/>
                <a:cs typeface="Arial"/>
              </a:rPr>
              <a:t>84 com potencial violação</a:t>
            </a:r>
          </a:p>
        </p:txBody>
      </p:sp>
    </p:spTree>
    <p:extLst>
      <p:ext uri="{BB962C8B-B14F-4D97-AF65-F5344CB8AC3E}">
        <p14:creationId xmlns:p14="http://schemas.microsoft.com/office/powerpoint/2010/main" val="179642517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01B77E-9FD6-4D8F-9242-AABB7DBBA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875"/>
          </a:solidFill>
          <a:ln xmlns:a="http://schemas.openxmlformats.org/drawingml/2006/main" w="0">
            <a:noFill/>
          </a:ln>
        </p:spPr>
      </p:sp>
      <p:sp>
        <p:nvSpPr>
          <p:cNvPr id="2" name="ANÁLISE DA SEÇÃO 6">
            <a:extLst xmlns:a="http://schemas.openxmlformats.org/drawingml/2006/main">
              <a:ext uri="{FF2B5EF4-FFF2-40B4-BE49-F238E27FC236}">
                <a16:creationId xmlns:a16="http://schemas.microsoft.com/office/drawing/2014/main" id="{0B62CD06-C3F3-4828-AC5C-B9E85B17B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ANÁLISE DA SEÇÃO 6</a:t>
            </a:r>
          </a:p>
        </p:txBody>
      </p:sp>
      <p:sp>
        <p:nvSpPr>
          <p:cNvPr id="3" name="Discussão: alcance e implicações dos ach">
            <a:extLst xmlns:a="http://schemas.openxmlformats.org/drawingml/2006/main">
              <a:ext uri="{FF2B5EF4-FFF2-40B4-BE49-F238E27FC236}">
                <a16:creationId xmlns:a16="http://schemas.microsoft.com/office/drawing/2014/main" id="{33482436-C2A9-458A-81E8-FACEE8CC5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2324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324F"/>
                </a:solidFill>
                <a:latin typeface="Arial"/>
                <a:ea typeface="Arial"/>
                <a:cs typeface="Arial"/>
              </a:rPr>
              <a:t>Discussão: alcance e implicações dos achados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57FCEA-AE6F-4182-BAFA-71EA40D66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42EFE9-07C9-4B09-A739-8D5984761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6" name="Nguyen, Backes e Stock (2022), Seções 6.">
            <a:extLst xmlns:a="http://schemas.openxmlformats.org/drawingml/2006/main">
              <a:ext uri="{FF2B5EF4-FFF2-40B4-BE49-F238E27FC236}">
                <a16:creationId xmlns:a16="http://schemas.microsoft.com/office/drawing/2014/main" id="{9E77CDF3-8C38-4C39-999D-C63D31F9F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Nguyen, Backes e Stock (2022), Seções 6.1–6.3, p. 12–13. Funções argumentativas: análise do seminário.</a:t>
            </a:r>
          </a:p>
        </p:txBody>
      </p:sp>
      <p:sp>
        <p:nvSpPr>
          <p:cNvPr id="7" name="19 / 23">
            <a:extLst xmlns:a="http://schemas.openxmlformats.org/drawingml/2006/main">
              <a:ext uri="{FF2B5EF4-FFF2-40B4-BE49-F238E27FC236}">
                <a16:creationId xmlns:a16="http://schemas.microsoft.com/office/drawing/2014/main" id="{DE99FF24-3BAE-4710-976C-8B8AF4CD6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7700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19 / 23</a:t>
            </a:r>
          </a:p>
        </p:txBody>
      </p:sp>
      <p:sp>
        <p:nvSpPr>
          <p:cNvPr id="8" name="6.1  Alcance das potenciais violações">
            <a:extLst xmlns:a="http://schemas.openxmlformats.org/drawingml/2006/main">
              <a:ext uri="{FF2B5EF4-FFF2-40B4-BE49-F238E27FC236}">
                <a16:creationId xmlns:a16="http://schemas.microsoft.com/office/drawing/2014/main" id="{29C5559B-BEE3-424B-960C-FB80EEF9A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81175"/>
            <a:ext cx="5676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6.1  Alcance das potenciais violações</a:t>
            </a:r>
          </a:p>
        </p:txBody>
      </p:sp>
      <p:sp>
        <p:nvSpPr>
          <p:cNvPr id="9" name="Relaciona os achados empíricos&#10;às prátic">
            <a:extLst xmlns:a="http://schemas.openxmlformats.org/drawingml/2006/main">
              <a:ext uri="{FF2B5EF4-FFF2-40B4-BE49-F238E27FC236}">
                <a16:creationId xmlns:a16="http://schemas.microsoft.com/office/drawing/2014/main" id="{D8416E1A-BC0A-4EB7-AB3C-ED19EFD9D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81225"/>
            <a:ext cx="561975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Relaciona os achados empíricos</a:t>
            </a:r>
          </a:p>
          <a:p xmlns:a="http://schemas.openxmlformats.org/drawingml/2006/main">
            <a:pPr algn="l">
              <a:defRPr sz="202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às práticas discutidas na literatura.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0409A3-2CEF-4600-8813-AD9A6DC5E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81325"/>
            <a:ext cx="5448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11" name="6.2  Transparência do tratamento">
            <a:extLst xmlns:a="http://schemas.openxmlformats.org/drawingml/2006/main">
              <a:ext uri="{FF2B5EF4-FFF2-40B4-BE49-F238E27FC236}">
                <a16:creationId xmlns:a16="http://schemas.microsoft.com/office/drawing/2014/main" id="{09D14DAF-B3CB-4400-BEA7-191D3DCB3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52775"/>
            <a:ext cx="5676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6.2  Transparência do tratamento</a:t>
            </a:r>
          </a:p>
        </p:txBody>
      </p:sp>
      <p:sp>
        <p:nvSpPr>
          <p:cNvPr id="12" name="Discute a dificuldade de saber&#10;quem rece">
            <a:extLst xmlns:a="http://schemas.openxmlformats.org/drawingml/2006/main">
              <a:ext uri="{FF2B5EF4-FFF2-40B4-BE49-F238E27FC236}">
                <a16:creationId xmlns:a16="http://schemas.microsoft.com/office/drawing/2014/main" id="{A6BA3B68-A9B2-47D9-8B50-6486FD99B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561975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Discute a dificuldade de saber</a:t>
            </a:r>
          </a:p>
          <a:p xmlns:a="http://schemas.openxmlformats.org/drawingml/2006/main">
            <a:pPr algn="l">
              <a:defRPr sz="202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quem recebe e processa os dados.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990F5F-1BA2-47ED-A169-57CECDF03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52925"/>
            <a:ext cx="5448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14" name="6.3  Suporte aos desenvolvedores">
            <a:extLst xmlns:a="http://schemas.openxmlformats.org/drawingml/2006/main">
              <a:ext uri="{FF2B5EF4-FFF2-40B4-BE49-F238E27FC236}">
                <a16:creationId xmlns:a16="http://schemas.microsoft.com/office/drawing/2014/main" id="{961D7986-E5A2-4B41-A363-BAE71DE70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5676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8796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87967"/>
                </a:solidFill>
                <a:latin typeface="Arial"/>
                <a:ea typeface="Arial"/>
                <a:cs typeface="Arial"/>
              </a:rPr>
              <a:t>6.3  Suporte aos desenvolvedores</a:t>
            </a:r>
          </a:p>
        </p:txBody>
      </p:sp>
      <p:sp>
        <p:nvSpPr>
          <p:cNvPr id="15" name="Defende documentação clara&#10;e ferramentas">
            <a:extLst xmlns:a="http://schemas.openxmlformats.org/drawingml/2006/main">
              <a:ext uri="{FF2B5EF4-FFF2-40B4-BE49-F238E27FC236}">
                <a16:creationId xmlns:a16="http://schemas.microsoft.com/office/drawing/2014/main" id="{AD8EFFEA-2851-4A8B-988F-EC5EC5BDD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24425"/>
            <a:ext cx="561975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Defende documentação clara</a:t>
            </a:r>
          </a:p>
          <a:p xmlns:a="http://schemas.openxmlformats.org/drawingml/2006/main">
            <a:pPr algn="l">
              <a:defRPr sz="202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e ferramentas de verificação.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42AB26-DCF5-453B-B655-70787A07C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752600"/>
            <a:ext cx="9525" cy="418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17" name="EN">
            <a:extLst xmlns:a="http://schemas.openxmlformats.org/drawingml/2006/main">
              <a:ext uri="{FF2B5EF4-FFF2-40B4-BE49-F238E27FC236}">
                <a16:creationId xmlns:a16="http://schemas.microsoft.com/office/drawing/2014/main" id="{EE7DABB9-0D1B-4CDD-8E52-C8EA5DB02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181927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8796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87967"/>
                </a:solidFill>
                <a:latin typeface="Arial"/>
                <a:ea typeface="Arial"/>
                <a:cs typeface="Arial"/>
              </a:rPr>
              <a:t>EN</a:t>
            </a:r>
          </a:p>
        </p:txBody>
      </p:sp>
      <p:sp>
        <p:nvSpPr>
          <p:cNvPr id="18" name="“there is a clear need for better inform">
            <a:extLst xmlns:a="http://schemas.openxmlformats.org/drawingml/2006/main">
              <a:ext uri="{FF2B5EF4-FFF2-40B4-BE49-F238E27FC236}">
                <a16:creationId xmlns:a16="http://schemas.microsoft.com/office/drawing/2014/main" id="{5BAA5A13-096F-4EE8-9410-E962C02B2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1790700"/>
            <a:ext cx="4086225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“there is a clear need for better information and documentation from third-party services and assurance tools”</a:t>
            </a:r>
          </a:p>
        </p:txBody>
      </p:sp>
      <p:sp>
        <p:nvSpPr>
          <p:cNvPr id="19" name="PT">
            <a:extLst xmlns:a="http://schemas.openxmlformats.org/drawingml/2006/main">
              <a:ext uri="{FF2B5EF4-FFF2-40B4-BE49-F238E27FC236}">
                <a16:creationId xmlns:a16="http://schemas.microsoft.com/office/drawing/2014/main" id="{48154AF2-45AC-47C8-9707-7742B4BA2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362902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8796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87967"/>
                </a:solidFill>
                <a:latin typeface="Arial"/>
                <a:ea typeface="Arial"/>
                <a:cs typeface="Arial"/>
              </a:rPr>
              <a:t>PT</a:t>
            </a:r>
          </a:p>
        </p:txBody>
      </p:sp>
      <p:sp>
        <p:nvSpPr>
          <p:cNvPr id="20" name="Há uma necessidade clara de melhores inf">
            <a:extLst xmlns:a="http://schemas.openxmlformats.org/drawingml/2006/main">
              <a:ext uri="{FF2B5EF4-FFF2-40B4-BE49-F238E27FC236}">
                <a16:creationId xmlns:a16="http://schemas.microsoft.com/office/drawing/2014/main" id="{465C6B9D-C3A7-45BD-9FC2-E09339694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3600450"/>
            <a:ext cx="4086225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87967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87967"/>
                </a:solidFill>
                <a:latin typeface="Arial"/>
                <a:ea typeface="Arial"/>
                <a:cs typeface="Arial"/>
              </a:rPr>
              <a:t>Há uma necessidade clara de melhores informações e documentação dos serviços de terceiros e de ferramentas de verificação.</a:t>
            </a:r>
          </a:p>
        </p:txBody>
      </p:sp>
      <p:sp>
        <p:nvSpPr>
          <p:cNvPr id="21" name="Análise: os autores discutem também as&#10;d">
            <a:extLst xmlns:a="http://schemas.openxmlformats.org/drawingml/2006/main">
              <a:ext uri="{FF2B5EF4-FFF2-40B4-BE49-F238E27FC236}">
                <a16:creationId xmlns:a16="http://schemas.microsoft.com/office/drawing/2014/main" id="{7BABFBE6-FB50-4F96-9B7B-5FB91DB41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5476875"/>
            <a:ext cx="45053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Análise: os autores discutem também as</a:t>
            </a:r>
          </a:p>
          <a:p xmlns:a="http://schemas.openxmlformats.org/drawingml/2006/main">
            <a:pPr algn="l">
              <a:defRPr sz="17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dificuldades de implementação, sem</a:t>
            </a:r>
          </a:p>
          <a:p xmlns:a="http://schemas.openxmlformats.org/drawingml/2006/main">
            <a:pPr algn="l">
              <a:defRPr sz="17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atribuir uma causa única aos resultados.</a:t>
            </a:r>
          </a:p>
        </p:txBody>
      </p:sp>
    </p:spTree>
    <p:extLst>
      <p:ext uri="{BB962C8B-B14F-4D97-AF65-F5344CB8AC3E}">
        <p14:creationId xmlns:p14="http://schemas.microsoft.com/office/powerpoint/2010/main" val="109877009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A34C11-0E6B-4582-8B8D-6AE6AAB7D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875"/>
          </a:solidFill>
          <a:ln xmlns:a="http://schemas.openxmlformats.org/drawingml/2006/main" w="0">
            <a:noFill/>
          </a:ln>
        </p:spPr>
      </p:sp>
      <p:sp>
        <p:nvSpPr>
          <p:cNvPr id="2" name="ANÁLISE METODOLÓGICA">
            <a:extLst xmlns:a="http://schemas.openxmlformats.org/drawingml/2006/main">
              <a:ext uri="{FF2B5EF4-FFF2-40B4-BE49-F238E27FC236}">
                <a16:creationId xmlns:a16="http://schemas.microsoft.com/office/drawing/2014/main" id="{E249576C-6A53-45DD-AD00-C3A20B50F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ANÁLISE METODOLÓGICA</a:t>
            </a:r>
          </a:p>
        </p:txBody>
      </p:sp>
      <p:sp>
        <p:nvSpPr>
          <p:cNvPr id="3" name="Limites da evidência e da generalização">
            <a:extLst xmlns:a="http://schemas.openxmlformats.org/drawingml/2006/main">
              <a:ext uri="{FF2B5EF4-FFF2-40B4-BE49-F238E27FC236}">
                <a16:creationId xmlns:a16="http://schemas.microsoft.com/office/drawing/2014/main" id="{BABD8FDB-CCC8-4A9F-B8D2-215DFC1C9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2324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324F"/>
                </a:solidFill>
                <a:latin typeface="Arial"/>
                <a:ea typeface="Arial"/>
                <a:cs typeface="Arial"/>
              </a:rPr>
              <a:t>Limites da evidência e da generalização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7D9547-DF65-4FAD-BEC5-89690EC8B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C7C60F-61C1-4ACF-8685-A5E86602F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6" name="Nguyen, Backes e Stock (2022), Seções 4.">
            <a:extLst xmlns:a="http://schemas.openxmlformats.org/drawingml/2006/main">
              <a:ext uri="{FF2B5EF4-FFF2-40B4-BE49-F238E27FC236}">
                <a16:creationId xmlns:a16="http://schemas.microsoft.com/office/drawing/2014/main" id="{447A5118-7A8F-4235-8262-E5A2E7A69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Nguyen, Backes e Stock (2022), Seções 4.1–4.3 e 4.4.1, p. 6–9. Limitações aparecem dentro da análise empírica.</a:t>
            </a:r>
          </a:p>
        </p:txBody>
      </p:sp>
      <p:sp>
        <p:nvSpPr>
          <p:cNvPr id="7" name="20 / 23">
            <a:extLst xmlns:a="http://schemas.openxmlformats.org/drawingml/2006/main">
              <a:ext uri="{FF2B5EF4-FFF2-40B4-BE49-F238E27FC236}">
                <a16:creationId xmlns:a16="http://schemas.microsoft.com/office/drawing/2014/main" id="{62D36516-2313-4013-8EAF-389E1E73C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7700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20 / 23</a:t>
            </a:r>
          </a:p>
        </p:txBody>
      </p:sp>
      <p:sp>
        <p:nvSpPr>
          <p:cNvPr id="8" name="CORPUS">
            <a:extLst xmlns:a="http://schemas.openxmlformats.org/drawingml/2006/main">
              <a:ext uri="{FF2B5EF4-FFF2-40B4-BE49-F238E27FC236}">
                <a16:creationId xmlns:a16="http://schemas.microsoft.com/office/drawing/2014/main" id="{127DE0BF-4409-4EE0-93F8-964243215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5652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5652D"/>
                </a:solidFill>
                <a:latin typeface="Arial"/>
                <a:ea typeface="Arial"/>
                <a:cs typeface="Arial"/>
              </a:rPr>
              <a:t>CORPUS</a:t>
            </a:r>
          </a:p>
        </p:txBody>
      </p:sp>
      <p:sp>
        <p:nvSpPr>
          <p:cNvPr id="9" name="Somente aplicativos gratuitos que atendi">
            <a:extLst xmlns:a="http://schemas.openxmlformats.org/drawingml/2006/main">
              <a:ext uri="{FF2B5EF4-FFF2-40B4-BE49-F238E27FC236}">
                <a16:creationId xmlns:a16="http://schemas.microsoft.com/office/drawing/2014/main" id="{97ED2B93-01AD-4B93-86CD-E7B1A59A3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1695450"/>
            <a:ext cx="88487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Somente aplicativos gratuitos que atendiam aos filtros.</a:t>
            </a:r>
          </a:p>
          <a:p xmlns:a="http://schemas.openxmlformats.org/drawingml/2006/main">
            <a:pPr algn="l">
              <a:defRPr sz="202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Os resultados não representam automaticamente todos os apps Android.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109FC3-0FA5-4F39-94A9-702182476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11" name="EXECUÇÃO">
            <a:extLst xmlns:a="http://schemas.openxmlformats.org/drawingml/2006/main">
              <a:ext uri="{FF2B5EF4-FFF2-40B4-BE49-F238E27FC236}">
                <a16:creationId xmlns:a16="http://schemas.microsoft.com/office/drawing/2014/main" id="{87458310-251F-4E1D-80B2-27AA5FF30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90825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5652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5652D"/>
                </a:solidFill>
                <a:latin typeface="Arial"/>
                <a:ea typeface="Arial"/>
                <a:cs typeface="Arial"/>
              </a:rPr>
              <a:t>EXECUÇÃO</a:t>
            </a:r>
          </a:p>
        </p:txBody>
      </p:sp>
      <p:sp>
        <p:nvSpPr>
          <p:cNvPr id="12" name="11.591 apps não puderam ser analisados p">
            <a:extLst xmlns:a="http://schemas.openxmlformats.org/drawingml/2006/main">
              <a:ext uri="{FF2B5EF4-FFF2-40B4-BE49-F238E27FC236}">
                <a16:creationId xmlns:a16="http://schemas.microsoft.com/office/drawing/2014/main" id="{1C8A193F-51B5-40B0-BD1B-DFCD9F06C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2752725"/>
            <a:ext cx="88487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11.591 apps não puderam ser analisados por falhas</a:t>
            </a:r>
          </a:p>
          <a:p xmlns:a="http://schemas.openxmlformats.org/drawingml/2006/main">
            <a:pPr algn="l">
              <a:defRPr sz="202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ou detecção do ambiente de teste.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4DAD1D-4788-4695-9CD6-1252E1A7C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86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14" name="IDIOMA E OCR">
            <a:extLst xmlns:a="http://schemas.openxmlformats.org/drawingml/2006/main">
              <a:ext uri="{FF2B5EF4-FFF2-40B4-BE49-F238E27FC236}">
                <a16:creationId xmlns:a16="http://schemas.microsoft.com/office/drawing/2014/main" id="{06C85EB6-9F65-4064-A5CB-4A06595FA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5652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5652D"/>
                </a:solidFill>
                <a:latin typeface="Arial"/>
                <a:ea typeface="Arial"/>
                <a:cs typeface="Arial"/>
              </a:rPr>
              <a:t>IDIOMA E OCR</a:t>
            </a:r>
          </a:p>
        </p:txBody>
      </p:sp>
      <p:sp>
        <p:nvSpPr>
          <p:cNvPr id="15" name="1.996 interfaces relacionadas à privacid">
            <a:extLst xmlns:a="http://schemas.openxmlformats.org/drawingml/2006/main">
              <a:ext uri="{FF2B5EF4-FFF2-40B4-BE49-F238E27FC236}">
                <a16:creationId xmlns:a16="http://schemas.microsoft.com/office/drawing/2014/main" id="{362A3349-2423-4E7F-AF10-C5A6147B6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3810000"/>
            <a:ext cx="88487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1.996 interfaces relacionadas à privacidade ficaram fora</a:t>
            </a:r>
          </a:p>
          <a:p xmlns:a="http://schemas.openxmlformats.org/drawingml/2006/main">
            <a:pPr algn="l">
              <a:defRPr sz="202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por não estarem em inglês. O OCR pode perder conteúdo.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3579DB-8B45-4C72-8978-317B56B47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43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17" name="OBSERVAÇÃO">
            <a:extLst xmlns:a="http://schemas.openxmlformats.org/drawingml/2006/main">
              <a:ext uri="{FF2B5EF4-FFF2-40B4-BE49-F238E27FC236}">
                <a16:creationId xmlns:a16="http://schemas.microsoft.com/office/drawing/2014/main" id="{DFAD5E0D-2A05-48B8-A0E2-D6BF886C4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5652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5652D"/>
                </a:solidFill>
                <a:latin typeface="Arial"/>
                <a:ea typeface="Arial"/>
                <a:cs typeface="Arial"/>
              </a:rPr>
              <a:t>OBSERVAÇÃO</a:t>
            </a:r>
          </a:p>
        </p:txBody>
      </p:sp>
      <p:sp>
        <p:nvSpPr>
          <p:cNvPr id="18" name="Execuções de até 150 s e foco em 45 domí">
            <a:extLst xmlns:a="http://schemas.openxmlformats.org/drawingml/2006/main">
              <a:ext uri="{FF2B5EF4-FFF2-40B4-BE49-F238E27FC236}">
                <a16:creationId xmlns:a16="http://schemas.microsoft.com/office/drawing/2014/main" id="{39AD9246-1DC1-477D-B74C-0AEF80C2E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867275"/>
            <a:ext cx="88487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Execuções de até 150 s e foco em 45 domínios publicitários.</a:t>
            </a:r>
          </a:p>
          <a:p xmlns:a="http://schemas.openxmlformats.org/drawingml/2006/main">
            <a:pPr algn="l">
              <a:defRPr sz="202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Comportamentos fora desse recorte podem não aparecer.</a:t>
            </a:r>
          </a:p>
        </p:txBody>
      </p:sp>
      <p:sp>
        <p:nvSpPr>
          <p:cNvPr id="19" name="Análise do seminário: uma falha não obse">
            <a:extLst xmlns:a="http://schemas.openxmlformats.org/drawingml/2006/main">
              <a:ext uri="{FF2B5EF4-FFF2-40B4-BE49-F238E27FC236}">
                <a16:creationId xmlns:a16="http://schemas.microsoft.com/office/drawing/2014/main" id="{FFB28A5C-33F3-44C1-9E2A-C33E494AE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38850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Análise do seminário: uma falha não observada no experimento não equivale à ausência de falha.</a:t>
            </a:r>
          </a:p>
        </p:txBody>
      </p:sp>
    </p:spTree>
    <p:extLst>
      <p:ext uri="{BB962C8B-B14F-4D97-AF65-F5344CB8AC3E}">
        <p14:creationId xmlns:p14="http://schemas.microsoft.com/office/powerpoint/2010/main" val="189363934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098F3A-78DC-4840-A513-EC2642D19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875"/>
          </a:solidFill>
          <a:ln xmlns:a="http://schemas.openxmlformats.org/drawingml/2006/main" w="0">
            <a:noFill/>
          </a:ln>
        </p:spPr>
      </p:sp>
      <p:sp>
        <p:nvSpPr>
          <p:cNvPr id="2" name="ANÁLISE DA SEÇÃO 8">
            <a:extLst xmlns:a="http://schemas.openxmlformats.org/drawingml/2006/main">
              <a:ext uri="{FF2B5EF4-FFF2-40B4-BE49-F238E27FC236}">
                <a16:creationId xmlns:a16="http://schemas.microsoft.com/office/drawing/2014/main" id="{17AEACE6-19B1-4092-AC36-702BE181A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ANÁLISE DA SEÇÃO 8</a:t>
            </a:r>
          </a:p>
        </p:txBody>
      </p:sp>
      <p:sp>
        <p:nvSpPr>
          <p:cNvPr id="3" name="Conclusão: retomada do objetivo e dos nú">
            <a:extLst xmlns:a="http://schemas.openxmlformats.org/drawingml/2006/main">
              <a:ext uri="{FF2B5EF4-FFF2-40B4-BE49-F238E27FC236}">
                <a16:creationId xmlns:a16="http://schemas.microsoft.com/office/drawing/2014/main" id="{0637AE2F-B8D9-4CE4-87BD-7131BFD83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2324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324F"/>
                </a:solidFill>
                <a:latin typeface="Arial"/>
                <a:ea typeface="Arial"/>
                <a:cs typeface="Arial"/>
              </a:rPr>
              <a:t>Conclusão: retomada do objetivo e dos números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276B0E-9A00-43D0-A923-59771263F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AEBFA1-80CB-475A-9523-874FFE8CF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6" name="Nguyen, Backes e Stock (2022), Seção 8, ">
            <a:extLst xmlns:a="http://schemas.openxmlformats.org/drawingml/2006/main">
              <a:ext uri="{FF2B5EF4-FFF2-40B4-BE49-F238E27FC236}">
                <a16:creationId xmlns:a16="http://schemas.microsoft.com/office/drawing/2014/main" id="{96C4B19E-DFCE-44D4-89F3-5D4AC3568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Nguyen, Backes e Stock (2022), Seção 8, p. 13. Recorte integral da conclusão, sem agradecimentos ou referências.</a:t>
            </a:r>
          </a:p>
        </p:txBody>
      </p:sp>
      <p:sp>
        <p:nvSpPr>
          <p:cNvPr id="7" name="21 / 23">
            <a:extLst xmlns:a="http://schemas.openxmlformats.org/drawingml/2006/main">
              <a:ext uri="{FF2B5EF4-FFF2-40B4-BE49-F238E27FC236}">
                <a16:creationId xmlns:a16="http://schemas.microsoft.com/office/drawing/2014/main" id="{5C8E7AE7-B917-4C92-B554-73B1C5C39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7700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21 / 23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a4ee96d8a74861"/>
          <a:stretch xmlns:a="http://schemas.openxmlformats.org/drawingml/2006/main"/>
        </p:blipFill>
        <p:spPr>
          <a:xfrm xmlns:a="http://schemas.openxmlformats.org/drawingml/2006/main">
            <a:off x="609600" y="1728924"/>
            <a:ext cx="4267200" cy="3762103"/>
          </a:xfrm>
          <a:prstGeom xmlns:a="http://schemas.openxmlformats.org/drawingml/2006/main" prst="rect">
            <a:avLst/>
          </a:prstGeom>
        </p:spPr>
      </p:pic>
      <p:sp>
        <p:nvSpPr>
          <p:cNvPr id="9" name="Seção 8 do artigo, reproduzida integralm">
            <a:extLst xmlns:a="http://schemas.openxmlformats.org/drawingml/2006/main">
              <a:ext uri="{FF2B5EF4-FFF2-40B4-BE49-F238E27FC236}">
                <a16:creationId xmlns:a16="http://schemas.microsoft.com/office/drawing/2014/main" id="{C3D18B39-BC9C-4BA5-B29C-0EDCBF5FF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42672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Seção 8 do artigo, reproduzida integralmente.</a:t>
            </a:r>
          </a:p>
        </p:txBody>
      </p:sp>
      <p:sp>
        <p:nvSpPr>
          <p:cNvPr id="10" name="EN">
            <a:extLst xmlns:a="http://schemas.openxmlformats.org/drawingml/2006/main">
              <a:ext uri="{FF2B5EF4-FFF2-40B4-BE49-F238E27FC236}">
                <a16:creationId xmlns:a16="http://schemas.microsoft.com/office/drawing/2014/main" id="{A9C94A0B-A3D2-4EB0-AA7F-74BFA5B4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73355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EN</a:t>
            </a:r>
          </a:p>
        </p:txBody>
      </p:sp>
      <p:sp>
        <p:nvSpPr>
          <p:cNvPr id="11" name="“we performed a systematic study into co">
            <a:extLst xmlns:a="http://schemas.openxmlformats.org/drawingml/2006/main">
              <a:ext uri="{FF2B5EF4-FFF2-40B4-BE49-F238E27FC236}">
                <a16:creationId xmlns:a16="http://schemas.microsoft.com/office/drawing/2014/main" id="{810D7C08-401C-4E73-921B-C22BE949E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1704975"/>
            <a:ext cx="5829300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“we performed a systematic study into consent notices of third-party tracking in 239,381 Android apps”</a:t>
            </a:r>
          </a:p>
        </p:txBody>
      </p:sp>
      <p:sp>
        <p:nvSpPr>
          <p:cNvPr id="12" name="PT">
            <a:extLst xmlns:a="http://schemas.openxmlformats.org/drawingml/2006/main">
              <a:ext uri="{FF2B5EF4-FFF2-40B4-BE49-F238E27FC236}">
                <a16:creationId xmlns:a16="http://schemas.microsoft.com/office/drawing/2014/main" id="{7D5358BF-C862-4C7F-A1C9-DA8F3E301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03847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PT</a:t>
            </a:r>
          </a:p>
        </p:txBody>
      </p:sp>
      <p:sp>
        <p:nvSpPr>
          <p:cNvPr id="13" name="Realizamos um estudo sistemático dos avi">
            <a:extLst xmlns:a="http://schemas.openxmlformats.org/drawingml/2006/main">
              <a:ext uri="{FF2B5EF4-FFF2-40B4-BE49-F238E27FC236}">
                <a16:creationId xmlns:a16="http://schemas.microsoft.com/office/drawing/2014/main" id="{5F368096-4B11-45AA-AE6B-F26E12195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009900"/>
            <a:ext cx="5829300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4875"/>
                </a:solidFill>
                <a:latin typeface="Arial"/>
                <a:ea typeface="Arial"/>
                <a:cs typeface="Arial"/>
              </a:rPr>
              <a:t>Realizamos um estudo sistemático dos avisos de consentimento para rastreamento de terceiros em 239.381 apps Android.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A97425-C25B-450B-A527-B425EF5A5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419600"/>
            <a:ext cx="6248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15" name="30.160">
            <a:extLst xmlns:a="http://schemas.openxmlformats.org/drawingml/2006/main">
              <a:ext uri="{FF2B5EF4-FFF2-40B4-BE49-F238E27FC236}">
                <a16:creationId xmlns:a16="http://schemas.microsoft.com/office/drawing/2014/main" id="{528BFB61-BE5A-45AE-88F2-BCFCF770B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667250"/>
            <a:ext cx="2647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30.160</a:t>
            </a:r>
          </a:p>
        </p:txBody>
      </p:sp>
      <p:sp>
        <p:nvSpPr>
          <p:cNvPr id="16" name="apps sem aviso que&#10;enviaram dados">
            <a:extLst xmlns:a="http://schemas.openxmlformats.org/drawingml/2006/main">
              <a:ext uri="{FF2B5EF4-FFF2-40B4-BE49-F238E27FC236}">
                <a16:creationId xmlns:a16="http://schemas.microsoft.com/office/drawing/2014/main" id="{117DC15B-3CFE-48E2-AE69-01AF2FFB2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400675"/>
            <a:ext cx="2876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apps sem aviso que</a:t>
            </a:r>
          </a:p>
          <a:p xmlns:a="http://schemas.openxmlformats.org/drawingml/2006/main">
            <a:pPr algn="l">
              <a:defRPr sz="187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enviaram dados</a:t>
            </a:r>
          </a:p>
        </p:txBody>
      </p:sp>
      <p:sp>
        <p:nvSpPr>
          <p:cNvPr id="17" name="2.688 (20,54%)">
            <a:extLst xmlns:a="http://schemas.openxmlformats.org/drawingml/2006/main">
              <a:ext uri="{FF2B5EF4-FFF2-40B4-BE49-F238E27FC236}">
                <a16:creationId xmlns:a16="http://schemas.microsoft.com/office/drawing/2014/main" id="{5430658D-1F14-46DE-BC6E-89E2B0C53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705350"/>
            <a:ext cx="3162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AC4C45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AC4C45"/>
                </a:solidFill>
                <a:latin typeface="Arial"/>
                <a:ea typeface="Arial"/>
                <a:cs typeface="Arial"/>
              </a:rPr>
              <a:t>2.688 (20,54%)</a:t>
            </a:r>
          </a:p>
        </p:txBody>
      </p:sp>
      <p:sp>
        <p:nvSpPr>
          <p:cNvPr id="18" name="dos 13.082 apps com aviso,&#10;com potencial">
            <a:extLst xmlns:a="http://schemas.openxmlformats.org/drawingml/2006/main">
              <a:ext uri="{FF2B5EF4-FFF2-40B4-BE49-F238E27FC236}">
                <a16:creationId xmlns:a16="http://schemas.microsoft.com/office/drawing/2014/main" id="{9B1D243D-8264-40C5-A82B-C9810EAF7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400675"/>
            <a:ext cx="3162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dos 13.082 apps com aviso,</a:t>
            </a:r>
          </a:p>
          <a:p xmlns:a="http://schemas.openxmlformats.org/drawingml/2006/main">
            <a:pPr algn="l">
              <a:defRPr sz="187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com potencial violação</a:t>
            </a:r>
          </a:p>
        </p:txBody>
      </p:sp>
    </p:spTree>
    <p:extLst>
      <p:ext uri="{BB962C8B-B14F-4D97-AF65-F5344CB8AC3E}">
        <p14:creationId xmlns:p14="http://schemas.microsoft.com/office/powerpoint/2010/main" val="85303040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E12884-5742-4F93-83C5-2DAF5105B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875"/>
          </a:solidFill>
          <a:ln xmlns:a="http://schemas.openxmlformats.org/drawingml/2006/main" w="0">
            <a:noFill/>
          </a:ln>
        </p:spPr>
      </p:sp>
      <p:sp>
        <p:nvSpPr>
          <p:cNvPr id="2" name="ANÁLISE DA SEÇÃO 8">
            <a:extLst xmlns:a="http://schemas.openxmlformats.org/drawingml/2006/main">
              <a:ext uri="{FF2B5EF4-FFF2-40B4-BE49-F238E27FC236}">
                <a16:creationId xmlns:a16="http://schemas.microsoft.com/office/drawing/2014/main" id="{35BE1372-B7CF-4D54-9ADD-C7B0C5C75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ANÁLISE DA SEÇÃO 8</a:t>
            </a:r>
          </a:p>
        </p:txBody>
      </p:sp>
      <p:sp>
        <p:nvSpPr>
          <p:cNvPr id="3" name="Conclusão: transparência, suporte e caut">
            <a:extLst xmlns:a="http://schemas.openxmlformats.org/drawingml/2006/main">
              <a:ext uri="{FF2B5EF4-FFF2-40B4-BE49-F238E27FC236}">
                <a16:creationId xmlns:a16="http://schemas.microsoft.com/office/drawing/2014/main" id="{5056431F-8543-4A00-AAB5-D77167BCE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2324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324F"/>
                </a:solidFill>
                <a:latin typeface="Arial"/>
                <a:ea typeface="Arial"/>
                <a:cs typeface="Arial"/>
              </a:rPr>
              <a:t>Conclusão: transparência, suporte e cautela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2C7315-1F34-43FB-AD5C-BD68E0636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5CA1A9-0435-4B28-BDA5-7124388BE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6" name="Nguyen, Backes e Stock (2022), Abstract,">
            <a:extLst xmlns:a="http://schemas.openxmlformats.org/drawingml/2006/main">
              <a:ext uri="{FF2B5EF4-FFF2-40B4-BE49-F238E27FC236}">
                <a16:creationId xmlns:a16="http://schemas.microsoft.com/office/drawing/2014/main" id="{0AF4DB65-F06E-463B-B67E-7EB5A6724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Nguyen, Backes e Stock (2022), Abstract, p. 1, nota 1, p. 2–3, e Conclusion, p. 13.</a:t>
            </a:r>
          </a:p>
        </p:txBody>
      </p:sp>
      <p:sp>
        <p:nvSpPr>
          <p:cNvPr id="7" name="22 / 23">
            <a:extLst xmlns:a="http://schemas.openxmlformats.org/drawingml/2006/main">
              <a:ext uri="{FF2B5EF4-FFF2-40B4-BE49-F238E27FC236}">
                <a16:creationId xmlns:a16="http://schemas.microsoft.com/office/drawing/2014/main" id="{BC1984B1-39E9-4B6C-BE57-8BD7D5971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7700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22 / 23</a:t>
            </a:r>
          </a:p>
        </p:txBody>
      </p:sp>
      <p:sp>
        <p:nvSpPr>
          <p:cNvPr id="8" name="EN">
            <a:extLst xmlns:a="http://schemas.openxmlformats.org/drawingml/2006/main">
              <a:ext uri="{FF2B5EF4-FFF2-40B4-BE49-F238E27FC236}">
                <a16:creationId xmlns:a16="http://schemas.microsoft.com/office/drawing/2014/main" id="{9F9E50CC-0BE4-4663-B926-5382DF25E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8796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87967"/>
                </a:solidFill>
                <a:latin typeface="Arial"/>
                <a:ea typeface="Arial"/>
                <a:cs typeface="Arial"/>
              </a:rPr>
              <a:t>EN</a:t>
            </a:r>
          </a:p>
        </p:txBody>
      </p:sp>
      <p:sp>
        <p:nvSpPr>
          <p:cNvPr id="9" name="“Our study showed the urgent need for mo">
            <a:extLst xmlns:a="http://schemas.openxmlformats.org/drawingml/2006/main">
              <a:ext uri="{FF2B5EF4-FFF2-40B4-BE49-F238E27FC236}">
                <a16:creationId xmlns:a16="http://schemas.microsoft.com/office/drawing/2014/main" id="{62FFA6F4-A8D4-4899-81AF-0D5CA85BE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733550"/>
            <a:ext cx="105537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“Our study showed the urgent need for more transparent processing of personal data and supporting developers”</a:t>
            </a:r>
          </a:p>
        </p:txBody>
      </p:sp>
      <p:sp>
        <p:nvSpPr>
          <p:cNvPr id="10" name="PT">
            <a:extLst xmlns:a="http://schemas.openxmlformats.org/drawingml/2006/main">
              <a:ext uri="{FF2B5EF4-FFF2-40B4-BE49-F238E27FC236}">
                <a16:creationId xmlns:a16="http://schemas.microsoft.com/office/drawing/2014/main" id="{E9C09381-5BD9-4BFB-9750-42DA34F6E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8796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87967"/>
                </a:solidFill>
                <a:latin typeface="Arial"/>
                <a:ea typeface="Arial"/>
                <a:cs typeface="Arial"/>
              </a:rPr>
              <a:t>PT</a:t>
            </a:r>
          </a:p>
        </p:txBody>
      </p:sp>
      <p:sp>
        <p:nvSpPr>
          <p:cNvPr id="11" name="Nosso estudo mostrou a necessidade urgen">
            <a:extLst xmlns:a="http://schemas.openxmlformats.org/drawingml/2006/main">
              <a:ext uri="{FF2B5EF4-FFF2-40B4-BE49-F238E27FC236}">
                <a16:creationId xmlns:a16="http://schemas.microsoft.com/office/drawing/2014/main" id="{D9445AB7-9DBB-481F-86D2-BC91F2B65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19375"/>
            <a:ext cx="105537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287967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7967"/>
                </a:solidFill>
                <a:latin typeface="Arial"/>
                <a:ea typeface="Arial"/>
                <a:cs typeface="Arial"/>
              </a:rPr>
              <a:t>Nosso estudo mostrou a necessidade urgente de maior transparência no tratamento de dados pessoais e de apoio aos desenvolvedores.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D1ADF3-2517-4C59-9709-AD9BB1342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13" name="ABSTRACT">
            <a:extLst xmlns:a="http://schemas.openxmlformats.org/drawingml/2006/main">
              <a:ext uri="{FF2B5EF4-FFF2-40B4-BE49-F238E27FC236}">
                <a16:creationId xmlns:a16="http://schemas.microsoft.com/office/drawing/2014/main" id="{FDD826E9-41AA-4F9B-8762-E29C300F4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516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C4C4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AC4C45"/>
                </a:solidFill>
                <a:latin typeface="Arial"/>
                <a:ea typeface="Arial"/>
                <a:cs typeface="Arial"/>
              </a:rPr>
              <a:t>ABSTRACT</a:t>
            </a:r>
          </a:p>
        </p:txBody>
      </p:sp>
      <p:sp>
        <p:nvSpPr>
          <p:cNvPr id="14" name="EN  “apps violate”">
            <a:extLst xmlns:a="http://schemas.openxmlformats.org/drawingml/2006/main">
              <a:ext uri="{FF2B5EF4-FFF2-40B4-BE49-F238E27FC236}">
                <a16:creationId xmlns:a16="http://schemas.microsoft.com/office/drawing/2014/main" id="{2B0E9D44-9396-49AD-9195-BF5D5962A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5162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4384A"/>
                </a:solidFill>
                <a:latin typeface="Arial"/>
                <a:ea typeface="Arial"/>
                <a:cs typeface="Arial"/>
              </a:rPr>
              <a:t>EN  “apps violate”</a:t>
            </a:r>
          </a:p>
        </p:txBody>
      </p:sp>
      <p:sp>
        <p:nvSpPr>
          <p:cNvPr id="15" name="PT  aplicativos violam">
            <a:extLst xmlns:a="http://schemas.openxmlformats.org/drawingml/2006/main">
              <a:ext uri="{FF2B5EF4-FFF2-40B4-BE49-F238E27FC236}">
                <a16:creationId xmlns:a16="http://schemas.microsoft.com/office/drawing/2014/main" id="{7D3F5D75-D0EE-4AB2-980F-72FE1D724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5162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AC4C4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AC4C45"/>
                </a:solidFill>
                <a:latin typeface="Arial"/>
                <a:ea typeface="Arial"/>
                <a:cs typeface="Arial"/>
              </a:rPr>
              <a:t>PT  aplicativos violam</a:t>
            </a:r>
          </a:p>
        </p:txBody>
      </p:sp>
      <p:sp>
        <p:nvSpPr>
          <p:cNvPr id="16" name="CONCLUSION">
            <a:extLst xmlns:a="http://schemas.openxmlformats.org/drawingml/2006/main">
              <a:ext uri="{FF2B5EF4-FFF2-40B4-BE49-F238E27FC236}">
                <a16:creationId xmlns:a16="http://schemas.microsoft.com/office/drawing/2014/main" id="{9805F545-1F7E-494A-A429-88D80D57D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09575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CONCLUSION</a:t>
            </a:r>
          </a:p>
        </p:txBody>
      </p:sp>
      <p:sp>
        <p:nvSpPr>
          <p:cNvPr id="17" name="EN  “apps potentially violate”">
            <a:extLst xmlns:a="http://schemas.openxmlformats.org/drawingml/2006/main">
              <a:ext uri="{FF2B5EF4-FFF2-40B4-BE49-F238E27FC236}">
                <a16:creationId xmlns:a16="http://schemas.microsoft.com/office/drawing/2014/main" id="{1F3799FA-71F2-4C6B-BA69-7C65521FA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495800"/>
            <a:ext cx="514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4384A"/>
                </a:solidFill>
                <a:latin typeface="Arial"/>
                <a:ea typeface="Arial"/>
                <a:cs typeface="Arial"/>
              </a:rPr>
              <a:t>EN  “apps potentially violate”</a:t>
            </a:r>
          </a:p>
        </p:txBody>
      </p:sp>
      <p:sp>
        <p:nvSpPr>
          <p:cNvPr id="18" name="PT  aplicativos potencialmente violam">
            <a:extLst xmlns:a="http://schemas.openxmlformats.org/drawingml/2006/main">
              <a:ext uri="{FF2B5EF4-FFF2-40B4-BE49-F238E27FC236}">
                <a16:creationId xmlns:a16="http://schemas.microsoft.com/office/drawing/2014/main" id="{D6493568-19D7-452E-87AE-CC5ABC34B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010150"/>
            <a:ext cx="5143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4875"/>
                </a:solidFill>
                <a:latin typeface="Arial"/>
                <a:ea typeface="Arial"/>
                <a:cs typeface="Arial"/>
              </a:rPr>
              <a:t>PT  aplicativos potencialmente violam</a:t>
            </a:r>
          </a:p>
        </p:txBody>
      </p:sp>
      <p:sp>
        <p:nvSpPr>
          <p:cNvPr id="19" name="Análise do seminário: “potentially” expl">
            <a:extLst xmlns:a="http://schemas.openxmlformats.org/drawingml/2006/main">
              <a:ext uri="{FF2B5EF4-FFF2-40B4-BE49-F238E27FC236}">
                <a16:creationId xmlns:a16="http://schemas.microsoft.com/office/drawing/2014/main" id="{5250573B-B9EC-4180-941E-7AB840FE4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864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2324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2324F"/>
                </a:solidFill>
                <a:latin typeface="Arial"/>
                <a:ea typeface="Arial"/>
                <a:cs typeface="Arial"/>
              </a:rPr>
              <a:t>Análise do seminário: “potentially” explicita no fechamento a cautela anunciada na nota 1.</a:t>
            </a:r>
          </a:p>
        </p:txBody>
      </p:sp>
    </p:spTree>
    <p:extLst>
      <p:ext uri="{BB962C8B-B14F-4D97-AF65-F5344CB8AC3E}">
        <p14:creationId xmlns:p14="http://schemas.microsoft.com/office/powerpoint/2010/main" val="179645755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2630D6-E6DA-4DE8-91B1-2518437B6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875"/>
          </a:solidFill>
          <a:ln xmlns:a="http://schemas.openxmlformats.org/drawingml/2006/main" w="0">
            <a:noFill/>
          </a:ln>
        </p:spPr>
      </p:sp>
      <p:sp>
        <p:nvSpPr>
          <p:cNvPr id="2" name="APLICAÇÃO AO PROJETO">
            <a:extLst xmlns:a="http://schemas.openxmlformats.org/drawingml/2006/main">
              <a:ext uri="{FF2B5EF4-FFF2-40B4-BE49-F238E27FC236}">
                <a16:creationId xmlns:a16="http://schemas.microsoft.com/office/drawing/2014/main" id="{810283CA-8C6F-43B6-9B8B-27DB5CBBE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APLICAÇÃO AO PROJETO</a:t>
            </a:r>
          </a:p>
        </p:txBody>
      </p:sp>
      <p:sp>
        <p:nvSpPr>
          <p:cNvPr id="3" name="Contribuições para o meu TCC">
            <a:extLst xmlns:a="http://schemas.openxmlformats.org/drawingml/2006/main">
              <a:ext uri="{FF2B5EF4-FFF2-40B4-BE49-F238E27FC236}">
                <a16:creationId xmlns:a16="http://schemas.microsoft.com/office/drawing/2014/main" id="{FE6972CA-FFBD-4D1C-A7BE-AC4B58CF7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2324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324F"/>
                </a:solidFill>
                <a:latin typeface="Arial"/>
                <a:ea typeface="Arial"/>
                <a:cs typeface="Arial"/>
              </a:rPr>
              <a:t>Contribuições para o meu TCC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836EF4-28ED-4501-BA16-AEEDDE930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F5E4D3-7065-4E1A-A5DA-BAED1FBF6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6" name="Fontes: artigo de Nguyen et al. (2022) e">
            <a:extLst xmlns:a="http://schemas.openxmlformats.org/drawingml/2006/main">
              <a:ext uri="{FF2B5EF4-FFF2-40B4-BE49-F238E27FC236}">
                <a16:creationId xmlns:a16="http://schemas.microsoft.com/office/drawing/2014/main" id="{465AFB4D-829D-443D-A85E-76A2D5C08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Fontes: artigo de Nguyen et al. (2022) e proposta N3 no repositório ClaudioAMF1/TCC.</a:t>
            </a:r>
          </a:p>
        </p:txBody>
      </p:sp>
      <p:sp>
        <p:nvSpPr>
          <p:cNvPr id="7" name="23 / 23">
            <a:extLst xmlns:a="http://schemas.openxmlformats.org/drawingml/2006/main">
              <a:ext uri="{FF2B5EF4-FFF2-40B4-BE49-F238E27FC236}">
                <a16:creationId xmlns:a16="http://schemas.microsoft.com/office/drawing/2014/main" id="{24256ACC-CA0E-4F54-85AD-B94DC52A3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7700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23 / 23</a:t>
            </a:r>
          </a:p>
        </p:txBody>
      </p:sp>
      <p:sp>
        <p:nvSpPr>
          <p:cNvPr id="8" name="MÉTODO">
            <a:extLst xmlns:a="http://schemas.openxmlformats.org/drawingml/2006/main">
              <a:ext uri="{FF2B5EF4-FFF2-40B4-BE49-F238E27FC236}">
                <a16:creationId xmlns:a16="http://schemas.microsoft.com/office/drawing/2014/main" id="{987BE798-94DB-44C8-BE57-8D860CC44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81175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8796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87967"/>
                </a:solidFill>
                <a:latin typeface="Arial"/>
                <a:ea typeface="Arial"/>
                <a:cs typeface="Arial"/>
              </a:rPr>
              <a:t>MÉTODO</a:t>
            </a:r>
          </a:p>
        </p:txBody>
      </p:sp>
      <p:sp>
        <p:nvSpPr>
          <p:cNvPr id="9" name="Relacionar as interfaces e declarações d">
            <a:extLst xmlns:a="http://schemas.openxmlformats.org/drawingml/2006/main">
              <a:ext uri="{FF2B5EF4-FFF2-40B4-BE49-F238E27FC236}">
                <a16:creationId xmlns:a16="http://schemas.microsoft.com/office/drawing/2014/main" id="{D7D62BD1-3873-4A3B-8279-A19B19032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1752600"/>
            <a:ext cx="8858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Relacionar as interfaces e declarações do app</a:t>
            </a:r>
          </a:p>
          <a:p xmlns:a="http://schemas.openxmlformats.org/drawingml/2006/main">
            <a:pPr algn="l">
              <a:defRPr sz="217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a evidências do comportamento observado no tráfego.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4EFF40-3D8F-4C56-A00D-678EDA730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11" name="ESCRITA">
            <a:extLst xmlns:a="http://schemas.openxmlformats.org/drawingml/2006/main">
              <a:ext uri="{FF2B5EF4-FFF2-40B4-BE49-F238E27FC236}">
                <a16:creationId xmlns:a16="http://schemas.microsoft.com/office/drawing/2014/main" id="{7ED1CD50-8770-438E-B664-DFEF18AB2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9085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ESCRITA</a:t>
            </a:r>
          </a:p>
        </p:txBody>
      </p:sp>
      <p:sp>
        <p:nvSpPr>
          <p:cNvPr id="12" name="Informar perdas da análise, limitações e">
            <a:extLst xmlns:a="http://schemas.openxmlformats.org/drawingml/2006/main">
              <a:ext uri="{FF2B5EF4-FFF2-40B4-BE49-F238E27FC236}">
                <a16:creationId xmlns:a16="http://schemas.microsoft.com/office/drawing/2014/main" id="{FA5DD38D-A5CC-4336-91D2-E71963A2E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2962275"/>
            <a:ext cx="8858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Informar perdas da análise, limitações e denominadores.</a:t>
            </a:r>
          </a:p>
          <a:p xmlns:a="http://schemas.openxmlformats.org/drawingml/2006/main">
            <a:pPr algn="l">
              <a:defRPr sz="217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Distinguir indícios técnicos de conclusões jurídicas.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FBC8BF-BF10-4144-AE46-DAD9442F8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90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14" name="RECORTE">
            <a:extLst xmlns:a="http://schemas.openxmlformats.org/drawingml/2006/main">
              <a:ext uri="{FF2B5EF4-FFF2-40B4-BE49-F238E27FC236}">
                <a16:creationId xmlns:a16="http://schemas.microsoft.com/office/drawing/2014/main" id="{D69F150C-A379-479D-B5A6-4E2B40DEF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525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9558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9558B"/>
                </a:solidFill>
                <a:latin typeface="Arial"/>
                <a:ea typeface="Arial"/>
                <a:cs typeface="Arial"/>
              </a:rPr>
              <a:t>RECORTE</a:t>
            </a:r>
          </a:p>
        </p:txBody>
      </p:sp>
      <p:sp>
        <p:nvSpPr>
          <p:cNvPr id="15" name="Investigar aplicativos governamentais br">
            <a:extLst xmlns:a="http://schemas.openxmlformats.org/drawingml/2006/main">
              <a:ext uri="{FF2B5EF4-FFF2-40B4-BE49-F238E27FC236}">
                <a16:creationId xmlns:a16="http://schemas.microsoft.com/office/drawing/2014/main" id="{42DF2115-5100-4980-95A6-ABA531F14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4171950"/>
            <a:ext cx="8858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Investigar aplicativos governamentais brasileiros</a:t>
            </a:r>
          </a:p>
          <a:p xmlns:a="http://schemas.openxmlformats.org/drawingml/2006/main">
            <a:pPr algn="l">
              <a:defRPr sz="217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e compará-los com um grupo comercial pareado.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5D68F0-1924-4712-A54D-8A2F386BA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875"/>
          </a:solidFill>
          <a:ln xmlns:a="http://schemas.openxmlformats.org/drawingml/2006/main" w="0">
            <a:noFill/>
          </a:ln>
        </p:spPr>
      </p:sp>
      <p:sp>
        <p:nvSpPr>
          <p:cNvPr id="17" name="Que dados os apps governamentais enviam ">
            <a:extLst xmlns:a="http://schemas.openxmlformats.org/drawingml/2006/main">
              <a:ext uri="{FF2B5EF4-FFF2-40B4-BE49-F238E27FC236}">
                <a16:creationId xmlns:a16="http://schemas.microsoft.com/office/drawing/2014/main" id="{EFC49491-FF9B-4722-874C-5F2A156FA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2324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2324F"/>
                </a:solidFill>
                <a:latin typeface="Arial"/>
                <a:ea typeface="Arial"/>
                <a:cs typeface="Arial"/>
              </a:rPr>
              <a:t>Que dados os apps governamentais enviam a terceiros,</a:t>
            </a:r>
          </a:p>
          <a:p xmlns:a="http://schemas.openxmlformats.org/drawingml/2006/main">
            <a:pPr algn="l">
              <a:defRPr sz="2175" b="1">
                <a:solidFill>
                  <a:srgbClr val="12324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2324F"/>
                </a:solidFill>
                <a:latin typeface="Arial"/>
                <a:ea typeface="Arial"/>
                <a:cs typeface="Arial"/>
              </a:rPr>
              <a:t>e como esse comportamento difere do controle comercial?</a:t>
            </a:r>
          </a:p>
        </p:txBody>
      </p:sp>
    </p:spTree>
    <p:extLst>
      <p:ext uri="{BB962C8B-B14F-4D97-AF65-F5344CB8AC3E}">
        <p14:creationId xmlns:p14="http://schemas.microsoft.com/office/powerpoint/2010/main" val="694015968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D6A911-C830-49C7-9B99-55220AE61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875"/>
          </a:solidFill>
          <a:ln xmlns:a="http://schemas.openxmlformats.org/drawingml/2006/main" w="0">
            <a:noFill/>
          </a:ln>
        </p:spPr>
      </p:sp>
      <p:sp>
        <p:nvSpPr>
          <p:cNvPr id="2" name="APOIO: SELEÇÃO">
            <a:extLst xmlns:a="http://schemas.openxmlformats.org/drawingml/2006/main">
              <a:ext uri="{FF2B5EF4-FFF2-40B4-BE49-F238E27FC236}">
                <a16:creationId xmlns:a16="http://schemas.microsoft.com/office/drawing/2014/main" id="{B1DB46F5-7790-4CC3-BEEA-512F65F25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APOIO: SELEÇÃO</a:t>
            </a:r>
          </a:p>
        </p:txBody>
      </p:sp>
      <p:sp>
        <p:nvSpPr>
          <p:cNvPr id="3" name="Os cinco finalistas da seleção">
            <a:extLst xmlns:a="http://schemas.openxmlformats.org/drawingml/2006/main">
              <a:ext uri="{FF2B5EF4-FFF2-40B4-BE49-F238E27FC236}">
                <a16:creationId xmlns:a16="http://schemas.microsoft.com/office/drawing/2014/main" id="{991BD424-A571-446E-B3D4-54EF09391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2324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324F"/>
                </a:solidFill>
                <a:latin typeface="Arial"/>
                <a:ea typeface="Arial"/>
                <a:cs typeface="Arial"/>
              </a:rPr>
              <a:t>Os cinco finalistas da seleção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C325B8-C96A-4A41-8922-92AD92A93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2F1935-A882-4766-A3D3-75935D031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6" name="Fonte: registro de busca do TCC, Scopus ">
            <a:extLst xmlns:a="http://schemas.openxmlformats.org/drawingml/2006/main">
              <a:ext uri="{FF2B5EF4-FFF2-40B4-BE49-F238E27FC236}">
                <a16:creationId xmlns:a16="http://schemas.microsoft.com/office/drawing/2014/main" id="{D83EB5C6-AA41-4434-A2AE-4D8FDC297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Fonte: registro de busca do TCC, Scopus via CAPES/CAFe, 21/09/2026. Citações na data registrada.</a:t>
            </a:r>
          </a:p>
        </p:txBody>
      </p:sp>
      <p:sp>
        <p:nvSpPr>
          <p:cNvPr id="7" name="APOIO 1">
            <a:extLst xmlns:a="http://schemas.openxmlformats.org/drawingml/2006/main">
              <a:ext uri="{FF2B5EF4-FFF2-40B4-BE49-F238E27FC236}">
                <a16:creationId xmlns:a16="http://schemas.microsoft.com/office/drawing/2014/main" id="{488E4215-E99E-4719-8EF8-75023A691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7700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APOIO 1</a:t>
            </a:r>
          </a:p>
        </p:txBody>
      </p:sp>
      <p:graphicFrame>
        <p:nvGraphicFramePr>
          <p:cNvPr id="17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36576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4667250"/>
                <a:gridCol w="2152650"/>
                <a:gridCol w="1095375"/>
                <a:gridCol w="3057525"/>
              </a:tblGrid>
              <a:tr h="609600"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l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Artigo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174875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Veículo / ano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174875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Citações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174875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Decisão registrada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174875"/>
                    </a:solidFill>
                  </a:tcPr>
                </a:tc>
              </a:tr>
              <a:tr h="609600"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Freely Given Consent?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EDF3F8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CCS / 2022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EDF3F8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EDF3F8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Selecionado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EDF3F8"/>
                    </a:solidFill>
                  </a:tcPr>
                </a:tc>
              </a:tr>
              <a:tr h="609600"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A fait accompli?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SOUPS / 2021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34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Menor prioridade na seleção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A Comprehensive Study on</a:t>
                      </a:r>
                    </a:p>
                    <a:p>
                      <a:pPr algn="l"/>
                      <a:r>
                        <a:rPr sz="1650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Third-Party User Tracking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EDF3F8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ACM ICPS / 2023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EDF3F8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EDF3F8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Menos citado na busca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EDF3F8"/>
                    </a:solidFill>
                  </a:tcPr>
                </a:tc>
              </a:tr>
              <a:tr h="609600"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Protecting privacy on the web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Online Information</a:t>
                      </a:r>
                    </a:p>
                    <a:p>
                      <a:pPr algn="ctr"/>
                      <a:r>
                        <a:rPr sz="1650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Review / 2018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23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Recorte web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WhisperTest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EDF3F8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CCS / 2025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EDF3F8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EDF3F8"/>
                    </a:solidFill>
                  </a:tcPr>
                </a:tc>
                <a:tc>
                  <a:txBody>
                    <a:bodyPr wrap="square" lIns="114300" tIns="95250" rIns="114300" bIns="9525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24384A"/>
                          </a:solidFill>
                          <a:latin typeface="Arial"/>
                          <a:ea typeface="Arial"/>
                          <a:cs typeface="Arial"/>
                        </a:rPr>
                        <a:t>Recorte iOS</a:t>
                      </a:r>
                    </a:p>
                  </a:txBody>
                  <a:tcPr marL="91440" marR="91440" marT="45720" marB="45720" anchor="ctr">
                    <a:lnB w="6350" cap="flat" cmpd="sng" algn="ctr">
                      <a:solidFill>
                        <a:srgbClr val="C5D1DB"/>
                      </a:solidFill>
                      <a:prstDash val="solid"/>
                    </a:lnB>
                    <a:lnT w="6350" cap="flat" cmpd="sng" algn="ctr">
                      <a:solidFill>
                        <a:srgbClr val="C5D1DB"/>
                      </a:solidFill>
                      <a:prstDash val="solid"/>
                    </a:lnT>
                    <a:lnR w="6350" cap="flat" cmpd="sng" algn="ctr">
                      <a:solidFill>
                        <a:srgbClr val="C5D1DB"/>
                      </a:solidFill>
                      <a:prstDash val="solid"/>
                    </a:lnR>
                    <a:lnL w="6350" cap="flat" cmpd="sng" algn="ctr">
                      <a:solidFill>
                        <a:srgbClr val="C5D1DB"/>
                      </a:solidFill>
                      <a:prstDash val="solid"/>
                    </a:lnL>
                    <a:solidFill>
                      <a:srgbClr val="EDF3F8"/>
                    </a:solidFill>
                  </a:tcPr>
                </a:tc>
              </a:tr>
            </a:tbl>
          </a:graphicData>
        </a:graphic>
      </p:graphicFrame>
      <p:sp>
        <p:nvSpPr>
          <p:cNvPr id="9" name="Citações e classificação complementam a ">
            <a:extLst xmlns:a="http://schemas.openxmlformats.org/drawingml/2006/main">
              <a:ext uri="{FF2B5EF4-FFF2-40B4-BE49-F238E27FC236}">
                <a16:creationId xmlns:a16="http://schemas.microsoft.com/office/drawing/2014/main" id="{A1A22BA3-0165-448D-9F2B-8AA38C525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4360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Citações e classificação complementam a análise da aderência temática e do método.</a:t>
            </a:r>
          </a:p>
        </p:txBody>
      </p:sp>
    </p:spTree>
    <p:extLst>
      <p:ext uri="{BB962C8B-B14F-4D97-AF65-F5344CB8AC3E}">
        <p14:creationId xmlns:p14="http://schemas.microsoft.com/office/powerpoint/2010/main" val="1747210580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304AC3-359F-4232-8A59-EE01F2AE9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875"/>
          </a:solidFill>
          <a:ln xmlns:a="http://schemas.openxmlformats.org/drawingml/2006/main" w="0">
            <a:noFill/>
          </a:ln>
        </p:spPr>
      </p:sp>
      <p:sp>
        <p:nvSpPr>
          <p:cNvPr id="2" name="APOIO: FONTES">
            <a:extLst xmlns:a="http://schemas.openxmlformats.org/drawingml/2006/main">
              <a:ext uri="{FF2B5EF4-FFF2-40B4-BE49-F238E27FC236}">
                <a16:creationId xmlns:a16="http://schemas.microsoft.com/office/drawing/2014/main" id="{A0BF9D0D-7656-4E04-A8B8-0828A9AF9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APOIO: FONTES</a:t>
            </a:r>
          </a:p>
        </p:txBody>
      </p:sp>
      <p:sp>
        <p:nvSpPr>
          <p:cNvPr id="3" name="Referências e rastreabilidade">
            <a:extLst xmlns:a="http://schemas.openxmlformats.org/drawingml/2006/main">
              <a:ext uri="{FF2B5EF4-FFF2-40B4-BE49-F238E27FC236}">
                <a16:creationId xmlns:a16="http://schemas.microsoft.com/office/drawing/2014/main" id="{A17595E3-7049-43B4-8A70-175A11BA8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2324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324F"/>
                </a:solidFill>
                <a:latin typeface="Arial"/>
                <a:ea typeface="Arial"/>
                <a:cs typeface="Arial"/>
              </a:rPr>
              <a:t>Referências e rastreabilidade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FD6CA9-CDF7-4A9E-B061-64204F486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A3E91D-B8E8-4CEE-BBCE-64A9717D4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</a:ln>
        </p:spPr>
      </p:sp>
      <p:sp>
        <p:nvSpPr>
          <p:cNvPr id="6" name="As páginas indicadas nos slides seguem a">
            <a:extLst xmlns:a="http://schemas.openxmlformats.org/drawingml/2006/main">
              <a:ext uri="{FF2B5EF4-FFF2-40B4-BE49-F238E27FC236}">
                <a16:creationId xmlns:a16="http://schemas.microsoft.com/office/drawing/2014/main" id="{B87E4882-76B9-4571-8CAA-B990EA462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As páginas indicadas nos slides seguem a numeração do PDF do artigo fornecido, de 1 a 15.</a:t>
            </a:r>
          </a:p>
        </p:txBody>
      </p:sp>
      <p:sp>
        <p:nvSpPr>
          <p:cNvPr id="7" name="APOIO 2">
            <a:extLst xmlns:a="http://schemas.openxmlformats.org/drawingml/2006/main">
              <a:ext uri="{FF2B5EF4-FFF2-40B4-BE49-F238E27FC236}">
                <a16:creationId xmlns:a16="http://schemas.microsoft.com/office/drawing/2014/main" id="{9086619C-400E-4222-AC17-F91531F1B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7700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9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B7A"/>
                </a:solidFill>
                <a:latin typeface="Arial"/>
                <a:ea typeface="Arial"/>
                <a:cs typeface="Arial"/>
              </a:rPr>
              <a:t>APOIO 2</a:t>
            </a:r>
          </a:p>
        </p:txBody>
      </p:sp>
      <p:sp>
        <p:nvSpPr>
          <p:cNvPr id="8" name="ARTIGO ANALISADO">
            <a:extLst xmlns:a="http://schemas.openxmlformats.org/drawingml/2006/main">
              <a:ext uri="{FF2B5EF4-FFF2-40B4-BE49-F238E27FC236}">
                <a16:creationId xmlns:a16="http://schemas.microsoft.com/office/drawing/2014/main" id="{3A76430D-D9C5-405F-AB06-B2C98053E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ARTIGO ANALISADO</a:t>
            </a:r>
          </a:p>
        </p:txBody>
      </p:sp>
      <p:sp>
        <p:nvSpPr>
          <p:cNvPr id="9" name="NGUYEN, Trung Tin; BACKES, Michael; STOC">
            <a:extLst xmlns:a="http://schemas.openxmlformats.org/drawingml/2006/main">
              <a:ext uri="{FF2B5EF4-FFF2-40B4-BE49-F238E27FC236}">
                <a16:creationId xmlns:a16="http://schemas.microsoft.com/office/drawing/2014/main" id="{9FAC6DFA-C359-449A-AA84-BED55381F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10972800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NGUYEN, Trung Tin; BACKES, Michael; STOCK, Ben. Freely Given Consent?</a:t>
            </a:r>
          </a:p>
          <a:p xmlns:a="http://schemas.openxmlformats.org/drawingml/2006/main">
            <a:pPr algn="l">
              <a:defRPr sz="187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Studying Consent Notice of Third-Party Tracking and Its Violations of GDPR</a:t>
            </a:r>
          </a:p>
          <a:p xmlns:a="http://schemas.openxmlformats.org/drawingml/2006/main">
            <a:pPr algn="l">
              <a:defRPr sz="187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in Android Apps. ACM CCS, 2022, p. 2369–2383.</a:t>
            </a:r>
          </a:p>
        </p:txBody>
      </p:sp>
      <p:sp>
        <p:nvSpPr>
          <p:cNvPr id="10" name="https://doi.org/10.1145/3548606.3560564">
            <a:extLst xmlns:a="http://schemas.openxmlformats.org/drawingml/2006/main">
              <a:ext uri="{FF2B5EF4-FFF2-40B4-BE49-F238E27FC236}">
                <a16:creationId xmlns:a16="http://schemas.microsoft.com/office/drawing/2014/main" id="{F69EB03E-C102-498F-BBEC-EC8713E07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4875"/>
                </a:solidFill>
                <a:latin typeface="Arial"/>
                <a:ea typeface="Arial"/>
                <a:cs typeface="Arial"/>
              </a:rPr>
              <a:t>https://doi.org/10.1145/3548606.3560564</a:t>
            </a:r>
          </a:p>
        </p:txBody>
      </p:sp>
      <p:sp>
        <p:nvSpPr>
          <p:cNvPr id="11" name="PROJETO E REGISTRO DA SELEÇÃO">
            <a:extLst xmlns:a="http://schemas.openxmlformats.org/drawingml/2006/main">
              <a:ext uri="{FF2B5EF4-FFF2-40B4-BE49-F238E27FC236}">
                <a16:creationId xmlns:a16="http://schemas.microsoft.com/office/drawing/2014/main" id="{A719DE27-1651-4EB8-BF9B-F266D6C16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PROJETO E REGISTRO DA SELEÇÃO</a:t>
            </a:r>
          </a:p>
        </p:txBody>
      </p:sp>
      <p:sp>
        <p:nvSpPr>
          <p:cNvPr id="12" name="github.com/ClaudioAMF1/TCC&#10;Proposta N3, ">
            <a:extLst xmlns:a="http://schemas.openxmlformats.org/drawingml/2006/main">
              <a:ext uri="{FF2B5EF4-FFF2-40B4-BE49-F238E27FC236}">
                <a16:creationId xmlns:a16="http://schemas.microsoft.com/office/drawing/2014/main" id="{374F73A1-7814-4549-AA2A-6C83DB5E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109728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github.com/ClaudioAMF1/TCC</a:t>
            </a:r>
          </a:p>
          <a:p xmlns:a="http://schemas.openxmlformats.org/drawingml/2006/main">
            <a:pPr algn="l">
              <a:defRPr sz="187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Proposta N3, enunciado da atividade e registro da busca no Scopus.</a:t>
            </a:r>
          </a:p>
        </p:txBody>
      </p:sp>
      <p:sp>
        <p:nvSpPr>
          <p:cNvPr id="13" name="MÉTRICAS E CLASSIFICAÇÃO">
            <a:extLst xmlns:a="http://schemas.openxmlformats.org/drawingml/2006/main">
              <a:ext uri="{FF2B5EF4-FFF2-40B4-BE49-F238E27FC236}">
                <a16:creationId xmlns:a16="http://schemas.microsoft.com/office/drawing/2014/main" id="{506835C1-9403-45CB-8C3B-211A6514A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6255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487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875"/>
                </a:solidFill>
                <a:latin typeface="Arial"/>
                <a:ea typeface="Arial"/>
                <a:cs typeface="Arial"/>
              </a:rPr>
              <a:t>MÉTRICAS E CLASSIFICAÇÃO</a:t>
            </a:r>
          </a:p>
        </p:txBody>
      </p:sp>
      <p:sp>
        <p:nvSpPr>
          <p:cNvPr id="14" name="ICORE Conference Portal, registro CCS, e">
            <a:extLst xmlns:a="http://schemas.openxmlformats.org/drawingml/2006/main">
              <a:ext uri="{FF2B5EF4-FFF2-40B4-BE49-F238E27FC236}">
                <a16:creationId xmlns:a16="http://schemas.microsoft.com/office/drawing/2014/main" id="{F8E18381-3DE9-49FA-A3CD-2A69ED644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ICORE Conference Portal, registro CCS, edição 2026. Consulta: 22/09/2026.</a:t>
            </a:r>
          </a:p>
          <a:p xmlns:a="http://schemas.openxmlformats.org/drawingml/2006/main">
            <a:pPr algn="l">
              <a:defRPr sz="172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CAPES. Documento técnico do Qualis Periódicos. Brasília, 2023.</a:t>
            </a:r>
          </a:p>
          <a:p xmlns:a="http://schemas.openxmlformats.org/drawingml/2006/main">
            <a:pPr algn="l">
              <a:defRPr sz="1725" b="0">
                <a:solidFill>
                  <a:srgbClr val="24384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84A"/>
                </a:solidFill>
                <a:latin typeface="Arial"/>
                <a:ea typeface="Arial"/>
                <a:cs typeface="Arial"/>
              </a:rPr>
              <a:t>h5 e mediana: valores do material original, sem nova confirmação na fonte.</a:t>
            </a:r>
          </a:p>
        </p:txBody>
      </p:sp>
    </p:spTree>
    <p:extLst>
      <p:ext uri="{BB962C8B-B14F-4D97-AF65-F5344CB8AC3E}">
        <p14:creationId xmlns:p14="http://schemas.microsoft.com/office/powerpoint/2010/main" val="204467467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2026-09-22T19:21:38.5560000Z</dcterms:created>
  <dcterms:modified xsi:type="dcterms:W3CDTF">2026-09-22T19:21:38.5570000Z</dcterms:modified>
</coreProperties>
</file>