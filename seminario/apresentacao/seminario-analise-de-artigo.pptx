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9607630d3884ac4" /><Relationship Type="http://schemas.openxmlformats.org/officeDocument/2006/relationships/extended-properties" Target="/docProps/app.xml" Id="Rd6d3feb073ee4734" /><Relationship Type="http://schemas.openxmlformats.org/officeDocument/2006/relationships/officeDocument" Target="/ppt/presentation.xml" Id="R8f806a1e5dd4461f" /></Relationships>
</file>

<file path=ppt/presentation.xml><?xml version="1.0" encoding="utf-8"?>
<p:presentation xmlns:p="http://schemas.openxmlformats.org/presentationml/2006/main">
  <p:sldMasterIdLst>
    <p:sldMasterId xmlns:r="http://schemas.openxmlformats.org/officeDocument/2006/relationships" id="2147483648" r:id="Re4ab5222c0644d1b"/>
  </p:sldMasterIdLst>
  <p:notesMasterIdLst>
    <p:notesMasterId xmlns:r="http://schemas.openxmlformats.org/officeDocument/2006/relationships" r:id="Rccc5fa9f101a45f1"/>
  </p:notesMasterIdLst>
  <p:sldIdLst>
    <p:sldId xmlns:r="http://schemas.openxmlformats.org/officeDocument/2006/relationships" id="256" r:id="Rda373d23d197469c"/>
    <p:sldId xmlns:r="http://schemas.openxmlformats.org/officeDocument/2006/relationships" id="257" r:id="R45356b48f77c4c65"/>
    <p:sldId xmlns:r="http://schemas.openxmlformats.org/officeDocument/2006/relationships" id="258" r:id="R50ca950d42984063"/>
    <p:sldId xmlns:r="http://schemas.openxmlformats.org/officeDocument/2006/relationships" id="259" r:id="R5fdb6139c9324f93"/>
    <p:sldId xmlns:r="http://schemas.openxmlformats.org/officeDocument/2006/relationships" id="260" r:id="R41835390f7de436c"/>
    <p:sldId xmlns:r="http://schemas.openxmlformats.org/officeDocument/2006/relationships" id="261" r:id="R1619ae2d7a5b4b39"/>
    <p:sldId xmlns:r="http://schemas.openxmlformats.org/officeDocument/2006/relationships" id="262" r:id="Rf92173408e1349f6"/>
    <p:sldId xmlns:r="http://schemas.openxmlformats.org/officeDocument/2006/relationships" id="263" r:id="R3b0667f8103f42f4"/>
    <p:sldId xmlns:r="http://schemas.openxmlformats.org/officeDocument/2006/relationships" id="264" r:id="Rc4f66faaf5824957"/>
    <p:sldId xmlns:r="http://schemas.openxmlformats.org/officeDocument/2006/relationships" id="265" r:id="R6b39357b9d504289"/>
    <p:sldId xmlns:r="http://schemas.openxmlformats.org/officeDocument/2006/relationships" id="266" r:id="Rfc0eea783e7a42c8"/>
    <p:sldId xmlns:r="http://schemas.openxmlformats.org/officeDocument/2006/relationships" id="267" r:id="Rbff3b31b82464818"/>
    <p:sldId xmlns:r="http://schemas.openxmlformats.org/officeDocument/2006/relationships" id="268" r:id="R496b27de0bc846c4"/>
    <p:sldId xmlns:r="http://schemas.openxmlformats.org/officeDocument/2006/relationships" id="269" r:id="Rcfa0d4328a8f4553"/>
    <p:sldId xmlns:r="http://schemas.openxmlformats.org/officeDocument/2006/relationships" id="270" r:id="Rb7913d62a65b4d36"/>
    <p:sldId xmlns:r="http://schemas.openxmlformats.org/officeDocument/2006/relationships" id="271" r:id="R23ab3d97c02a4115"/>
    <p:sldId xmlns:r="http://schemas.openxmlformats.org/officeDocument/2006/relationships" id="272" r:id="Rf7e1524315be4ace"/>
    <p:sldId xmlns:r="http://schemas.openxmlformats.org/officeDocument/2006/relationships" id="273" r:id="Rfd287c23ad7a4c78"/>
    <p:sldId xmlns:r="http://schemas.openxmlformats.org/officeDocument/2006/relationships" id="274" r:id="Rb886cc92560645d3"/>
    <p:sldId xmlns:r="http://schemas.openxmlformats.org/officeDocument/2006/relationships" id="275" r:id="R282e4940cef848e9"/>
    <p:sldId xmlns:r="http://schemas.openxmlformats.org/officeDocument/2006/relationships" id="276" r:id="Re4d8b090892749d3"/>
    <p:sldId xmlns:r="http://schemas.openxmlformats.org/officeDocument/2006/relationships" id="277" r:id="R3538ae9152f643de"/>
    <p:sldId xmlns:r="http://schemas.openxmlformats.org/officeDocument/2006/relationships" id="278" r:id="R0095e8aec2a54e62"/>
    <p:sldId xmlns:r="http://schemas.openxmlformats.org/officeDocument/2006/relationships" id="279" r:id="R3242b2dd4e9c474f"/>
    <p:sldId xmlns:r="http://schemas.openxmlformats.org/officeDocument/2006/relationships" id="280" r:id="Rbb1fd1d98ae5462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8f844c3e0cf4887" /><Relationship Type="http://schemas.openxmlformats.org/officeDocument/2006/relationships/slideMaster" Target="/ppt/slideMasters/slideMaster1.xml" Id="Re4ab5222c0644d1b" /><Relationship Type="http://schemas.openxmlformats.org/officeDocument/2006/relationships/notesMaster" Target="/ppt/notesMasters/notesMaster1.xml" Id="Rccc5fa9f101a45f1" /><Relationship Type="http://schemas.openxmlformats.org/officeDocument/2006/relationships/presProps" Target="/ppt/presProps.xml" Id="R9261ce468482411c" /><Relationship Type="http://schemas.openxmlformats.org/officeDocument/2006/relationships/tableStyles" Target="/ppt/tableStyles.xml" Id="R483270a9f4a64207" /><Relationship Type="http://schemas.openxmlformats.org/officeDocument/2006/relationships/slide" Target="/ppt/slides/slide1.xml" Id="Rda373d23d197469c" /><Relationship Type="http://schemas.openxmlformats.org/officeDocument/2006/relationships/slide" Target="/ppt/slides/slide2.xml" Id="R45356b48f77c4c65" /><Relationship Type="http://schemas.openxmlformats.org/officeDocument/2006/relationships/slide" Target="/ppt/slides/slide3.xml" Id="R50ca950d42984063" /><Relationship Type="http://schemas.openxmlformats.org/officeDocument/2006/relationships/slide" Target="/ppt/slides/slide4.xml" Id="R5fdb6139c9324f93" /><Relationship Type="http://schemas.openxmlformats.org/officeDocument/2006/relationships/slide" Target="/ppt/slides/slide5.xml" Id="R41835390f7de436c" /><Relationship Type="http://schemas.openxmlformats.org/officeDocument/2006/relationships/slide" Target="/ppt/slides/slide6.xml" Id="R1619ae2d7a5b4b39" /><Relationship Type="http://schemas.openxmlformats.org/officeDocument/2006/relationships/slide" Target="/ppt/slides/slide7.xml" Id="Rf92173408e1349f6" /><Relationship Type="http://schemas.openxmlformats.org/officeDocument/2006/relationships/slide" Target="/ppt/slides/slide8.xml" Id="R3b0667f8103f42f4" /><Relationship Type="http://schemas.openxmlformats.org/officeDocument/2006/relationships/slide" Target="/ppt/slides/slide9.xml" Id="Rc4f66faaf5824957" /><Relationship Type="http://schemas.openxmlformats.org/officeDocument/2006/relationships/slide" Target="/ppt/slides/slide10.xml" Id="R6b39357b9d504289" /><Relationship Type="http://schemas.openxmlformats.org/officeDocument/2006/relationships/slide" Target="/ppt/slides/slide11.xml" Id="Rfc0eea783e7a42c8" /><Relationship Type="http://schemas.openxmlformats.org/officeDocument/2006/relationships/slide" Target="/ppt/slides/slide12.xml" Id="Rbff3b31b82464818" /><Relationship Type="http://schemas.openxmlformats.org/officeDocument/2006/relationships/slide" Target="/ppt/slides/slide13.xml" Id="R496b27de0bc846c4" /><Relationship Type="http://schemas.openxmlformats.org/officeDocument/2006/relationships/slide" Target="/ppt/slides/slide14.xml" Id="Rcfa0d4328a8f4553" /><Relationship Type="http://schemas.openxmlformats.org/officeDocument/2006/relationships/slide" Target="/ppt/slides/slide15.xml" Id="Rb7913d62a65b4d36" /><Relationship Type="http://schemas.openxmlformats.org/officeDocument/2006/relationships/slide" Target="/ppt/slides/slide16.xml" Id="R23ab3d97c02a4115" /><Relationship Type="http://schemas.openxmlformats.org/officeDocument/2006/relationships/slide" Target="/ppt/slides/slide17.xml" Id="Rf7e1524315be4ace" /><Relationship Type="http://schemas.openxmlformats.org/officeDocument/2006/relationships/slide" Target="/ppt/slides/slide18.xml" Id="Rfd287c23ad7a4c78" /><Relationship Type="http://schemas.openxmlformats.org/officeDocument/2006/relationships/slide" Target="/ppt/slides/slide19.xml" Id="Rb886cc92560645d3" /><Relationship Type="http://schemas.openxmlformats.org/officeDocument/2006/relationships/slide" Target="/ppt/slides/slide20.xml" Id="R282e4940cef848e9" /><Relationship Type="http://schemas.openxmlformats.org/officeDocument/2006/relationships/slide" Target="/ppt/slides/slide21.xml" Id="Re4d8b090892749d3" /><Relationship Type="http://schemas.openxmlformats.org/officeDocument/2006/relationships/slide" Target="/ppt/slides/slide22.xml" Id="R3538ae9152f643de" /><Relationship Type="http://schemas.openxmlformats.org/officeDocument/2006/relationships/slide" Target="/ppt/slides/slide23.xml" Id="R0095e8aec2a54e62" /><Relationship Type="http://schemas.openxmlformats.org/officeDocument/2006/relationships/slide" Target="/ppt/slides/slide24.xml" Id="R3242b2dd4e9c474f" /><Relationship Type="http://schemas.openxmlformats.org/officeDocument/2006/relationships/slide" Target="/ppt/slides/slide25.xml" Id="Rbb1fd1d98ae5462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18070295a79430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92df57a2bd4b07" /><Relationship Type="http://schemas.openxmlformats.org/officeDocument/2006/relationships/notesMaster" Target="/ppt/notesMasters/notesMaster1.xml" Id="R6a48a20b2e0c4a1d" /></Relationships>
</file>

<file path=ppt/notesSlides/_rels/notesSlide2.xml.rels>&#65279;<?xml version="1.0" encoding="utf-8"?><Relationships xmlns="http://schemas.openxmlformats.org/package/2006/relationships"><Relationship Type="http://schemas.openxmlformats.org/officeDocument/2006/relationships/slide" Target="/ppt/slides/slide2.xml" Id="Rbec11039a9504ec6" /><Relationship Type="http://schemas.openxmlformats.org/officeDocument/2006/relationships/notesMaster" Target="/ppt/notesMasters/notesMaster1.xml" Id="Rbe17a1bb22e44429" /></Relationships>
</file>

<file path=ppt/notesSlides/_rels/notesSlide3.xml.rels>&#65279;<?xml version="1.0" encoding="utf-8"?><Relationships xmlns="http://schemas.openxmlformats.org/package/2006/relationships"><Relationship Type="http://schemas.openxmlformats.org/officeDocument/2006/relationships/slide" Target="/ppt/slides/slide3.xml" Id="R48ec5fe1f3f14ede" /><Relationship Type="http://schemas.openxmlformats.org/officeDocument/2006/relationships/notesMaster" Target="/ppt/notesMasters/notesMaster1.xml" Id="R940229afd15143b2" /></Relationships>
</file>

<file path=ppt/notesSlides/_rels/notesSlide4.xml.rels>&#65279;<?xml version="1.0" encoding="utf-8"?><Relationships xmlns="http://schemas.openxmlformats.org/package/2006/relationships"><Relationship Type="http://schemas.openxmlformats.org/officeDocument/2006/relationships/slide" Target="/ppt/slides/slide4.xml" Id="R428fbe013d2c4b7c" /><Relationship Type="http://schemas.openxmlformats.org/officeDocument/2006/relationships/notesMaster" Target="/ppt/notesMasters/notesMaster1.xml" Id="R277cc443316b43c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8d9e5561acc4523" /><Relationship Type="http://schemas.openxmlformats.org/officeDocument/2006/relationships/notesMaster" Target="/ppt/notesMasters/notesMaster1.xml" Id="R8344a26dd3ac47e7" /></Relationships>
</file>

<file path=ppt/notesSlides/_rels/notesSlide6.xml.rels>&#65279;<?xml version="1.0" encoding="utf-8"?><Relationships xmlns="http://schemas.openxmlformats.org/package/2006/relationships"><Relationship Type="http://schemas.openxmlformats.org/officeDocument/2006/relationships/slide" Target="/ppt/slides/slide6.xml" Id="Rec9579883f114493" /><Relationship Type="http://schemas.openxmlformats.org/officeDocument/2006/relationships/notesMaster" Target="/ppt/notesMasters/notesMaster1.xml" Id="R061f7e1c93e1445a" /></Relationships>
</file>

<file path=ppt/notesSlides/_rels/notesSlide7.xml.rels>&#65279;<?xml version="1.0" encoding="utf-8"?><Relationships xmlns="http://schemas.openxmlformats.org/package/2006/relationships"><Relationship Type="http://schemas.openxmlformats.org/officeDocument/2006/relationships/slide" Target="/ppt/slides/slide7.xml" Id="R10b6103806b24b98" /><Relationship Type="http://schemas.openxmlformats.org/officeDocument/2006/relationships/notesMaster" Target="/ppt/notesMasters/notesMaster1.xml" Id="Re5c7f80d90094b72" /></Relationships>
</file>

<file path=ppt/notesSlides/_rels/notesSlide8.xml.rels>&#65279;<?xml version="1.0" encoding="utf-8"?><Relationships xmlns="http://schemas.openxmlformats.org/package/2006/relationships"><Relationship Type="http://schemas.openxmlformats.org/officeDocument/2006/relationships/slide" Target="/ppt/slides/slide8.xml" Id="R529d7b0489f84ff7" /><Relationship Type="http://schemas.openxmlformats.org/officeDocument/2006/relationships/notesMaster" Target="/ppt/notesMasters/notesMaster1.xml" Id="Ra52b69d0dabd4618" /></Relationships>
</file>

<file path=ppt/notesSlides/_rels/notesSlide9.xml.rels>&#65279;<?xml version="1.0" encoding="utf-8"?><Relationships xmlns="http://schemas.openxmlformats.org/package/2006/relationships"><Relationship Type="http://schemas.openxmlformats.org/officeDocument/2006/relationships/slide" Target="/ppt/slides/slide9.xml" Id="R23a3bc0ae949433a" /><Relationship Type="http://schemas.openxmlformats.org/officeDocument/2006/relationships/notesMaster" Target="/ppt/notesMasters/notesMaster1.xml" Id="R7b1e65f975d6440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df5c78076d547e2" /><Relationship Type="http://schemas.openxmlformats.org/officeDocument/2006/relationships/notesMaster" Target="/ppt/notesMasters/notesMaster1.xml" Id="R5223b4a93abc4e7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aa5123248b843e1" /><Relationship Type="http://schemas.openxmlformats.org/officeDocument/2006/relationships/notesMaster" Target="/ppt/notesMasters/notesMaster1.xml" Id="Rfe5ef556388b41a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b359eacbd9848af" /><Relationship Type="http://schemas.openxmlformats.org/officeDocument/2006/relationships/notesMaster" Target="/ppt/notesMasters/notesMaster1.xml" Id="Re4b160cc214d492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73c3cefb64f447c" /><Relationship Type="http://schemas.openxmlformats.org/officeDocument/2006/relationships/notesMaster" Target="/ppt/notesMasters/notesMaster1.xml" Id="Rc76a860a36634a7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a4aa179b8b14350" /><Relationship Type="http://schemas.openxmlformats.org/officeDocument/2006/relationships/notesMaster" Target="/ppt/notesMasters/notesMaster1.xml" Id="R19ad05a2fa2c4e8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a3093b5cc8e4959" /><Relationship Type="http://schemas.openxmlformats.org/officeDocument/2006/relationships/notesMaster" Target="/ppt/notesMasters/notesMaster1.xml" Id="R89ec08b279cd442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e5e6c5ce13c4861" /><Relationship Type="http://schemas.openxmlformats.org/officeDocument/2006/relationships/notesMaster" Target="/ppt/notesMasters/notesMaster1.xml" Id="Rdddff4524a614a8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f2579031a9a48b5" /><Relationship Type="http://schemas.openxmlformats.org/officeDocument/2006/relationships/notesMaster" Target="/ppt/notesMasters/notesMaster1.xml" Id="Rf2741bda9aed401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36976a57d5c4762" /><Relationship Type="http://schemas.openxmlformats.org/officeDocument/2006/relationships/notesMaster" Target="/ppt/notesMasters/notesMaster1.xml" Id="Rdff3bd79e4474f9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bdae6fd21cd4581" /><Relationship Type="http://schemas.openxmlformats.org/officeDocument/2006/relationships/notesMaster" Target="/ppt/notesMasters/notesMaster1.xml" Id="Raf1ee3b1464b4a0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5b30432fa9648ba" /><Relationship Type="http://schemas.openxmlformats.org/officeDocument/2006/relationships/notesMaster" Target="/ppt/notesMasters/notesMaster1.xml" Id="R056b7140cc774ec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9936ab051ee4d6b" /><Relationship Type="http://schemas.openxmlformats.org/officeDocument/2006/relationships/notesMaster" Target="/ppt/notesMasters/notesMaster1.xml" Id="R293a55deaf1d407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b3c9d9b1a5c4cfa" /><Relationship Type="http://schemas.openxmlformats.org/officeDocument/2006/relationships/notesMaster" Target="/ppt/notesMasters/notesMaster1.xml" Id="Ra6209a7f0a264c7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95981b3cafc4e87" /><Relationship Type="http://schemas.openxmlformats.org/officeDocument/2006/relationships/notesMaster" Target="/ppt/notesMasters/notesMaster1.xml" Id="R49d0a9ef08e54c2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aa8451f9ac946e3" /><Relationship Type="http://schemas.openxmlformats.org/officeDocument/2006/relationships/notesMaster" Target="/ppt/notesMasters/notesMaster1.xml" Id="Rf2de574f4416429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7d9932af492437a" /><Relationship Type="http://schemas.openxmlformats.org/officeDocument/2006/relationships/notesMaster" Target="/ppt/notesMasters/notesMaster1.xml" Id="Rd13203dc385045f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20 segundos.</a:t>
            </a:r>
          </a:p>
          <a:p xmlns:a="http://schemas.openxmlformats.org/drawingml/2006/main">
            <a:r>
              <a:t/>
            </a:r>
          </a:p>
          <a:p xmlns:a="http://schemas.openxmlformats.org/drawingml/2006/main">
            <a:r>
              <a:t>Apresento a seleção do artigo, as métricas do veículo e a função das seções na construção da pesquisa. O estudo combina interfaces de consentimento com observação de tráfego em aplicativos Android.</a:t>
            </a:r>
          </a:p>
          <a:p xmlns:a="http://schemas.openxmlformats.org/drawingml/2006/main">
            <a:r>
              <a:t/>
            </a:r>
          </a:p>
          <a:p xmlns:a="http://schemas.openxmlformats.org/drawingml/2006/main">
            <a:r>
              <a:t>Fontes: Artigo fornecido, p. 1. DOI: https://doi.org/10.1145/3548606.3560564.</a:t>
            </a:r>
          </a:p>
          <a:p xmlns:a="http://schemas.openxmlformats.org/drawingml/2006/main">
            <a:r>
              <a:t>Trechos EN entre aspas reproduzem o original. PT indica tradução do apresentador. Análises identificadas no slide são interpretações do seminário. As páginas indicadas são as páginas internas do PDF da ACM 3548606.3560564 (1 a 15), equivalentes às páginas 2369–2383 dos anais.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45 segundos.</a:t>
            </a:r>
          </a:p>
          <a:p xmlns:a="http://schemas.openxmlformats.org/drawingml/2006/main">
            <a:r>
              <a:t/>
            </a:r>
          </a:p>
          <a:p xmlns:a="http://schemas.openxmlformats.org/drawingml/2006/main">
            <a:r>
              <a:t>Acesse o Portal de Periódicos da CAPES, entre pela CAFe com a instituição IDP e abra a base Scopus. A busca em título, resumo e palavras-chave, em 21/09/2026, gerou 131 resultados. Ano, área e tipo de documento reduziram o conjunto a 70. As palavras-chave Third Parties e Third-party Tracking levaram a 39. Acrescentar consent à expressão e ajustar o período para 2018–2025 levou a cinco. A passagem de 39 a cinco é uma decisão metodológica: o consentimento é o recorte do TCC. Por fim, a leitura de títulos e resumos priorizou Android, consentimento, escala e aderência ao projeto. Os cinco finalistas estão no slide de apoio.</a:t>
            </a:r>
          </a:p>
          <a:p xmlns:a="http://schemas.openxmlformats.org/drawingml/2006/main">
            <a:r>
              <a:t/>
            </a:r>
          </a:p>
          <a:p xmlns:a="http://schemas.openxmlformats.org/drawingml/2006/main">
            <a:r>
              <a:t>Fontes: https://github.com/ClaudioAMF1/TCC/blob/main/seminario/pesquisa/README.md. Capturas funil-1 a funil-4 em pesquisa/recortes-para-slide/. Acesso documentado em pesquisa/0-acesso/.</a:t>
            </a:r>
          </a:p>
          <a:p xmlns:a="http://schemas.openxmlformats.org/drawingml/2006/main">
            <a:r>
              <a:t>Trechos EN entre aspas reproduzem o original. PT indica tradução do apresentador. Análises identificadas no slide são interpretações do seminário. As páginas indicadas são as páginas internas do PDF da ACM 3548606.3560564 (1 a 15), equivalentes às páginas 2369–2383 dos anais.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35 segundos.</a:t>
            </a:r>
          </a:p>
          <a:p xmlns:a="http://schemas.openxmlformats.org/drawingml/2006/main">
            <a:r>
              <a:t/>
            </a:r>
          </a:p>
          <a:p xmlns:a="http://schemas.openxmlformats.org/drawingml/2006/main">
            <a:r>
              <a:t>A originalidade está nos novos dados empíricos e no desenvolvimento do instrumento. A ACM identifica o trabalho como RESEARCH-ARTICLE. Os autores descrevem a contribuição como o primeiro estudo em larga escala de avisos de consentimento nesse recorte; essa afirmação é deles. As contagens registradas em 17/09/2026 são 42 citações na ACM, 52 no Scopus e 99 no Google Acadêmico. São bases com cobertura diferente; não se somam os valores. No TCC, o método inspira a confirmação do comportamento observado, mas o corpus governamental e o controle comercial pertencem ao meu projeto.</a:t>
            </a:r>
          </a:p>
          <a:p xmlns:a="http://schemas.openxmlformats.org/drawingml/2006/main">
            <a:r>
              <a:t/>
            </a:r>
          </a:p>
          <a:p xmlns:a="http://schemas.openxmlformats.org/drawingml/2006/main">
            <a:r>
              <a:t>Fontes: Artigo ACM, p. 1–2. https://github.com/ClaudioAMF1/TCC/blob/main/desenhos/N3-proposta-formal.md. Capturas 01, 02, 04 e 05 em seminario/pesquisa/metricas/.</a:t>
            </a:r>
          </a:p>
          <a:p xmlns:a="http://schemas.openxmlformats.org/drawingml/2006/main">
            <a:r>
              <a:t>Trechos EN entre aspas reproduzem o original. PT indica tradução do apresentador. Análises identificadas no slide são interpretações do seminário. As páginas indicadas são as páginas internas do PDF da ACM 3548606.3560564 (1 a 15), equivalentes às páginas 2369–2383 dos anais.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40 segundos.</a:t>
            </a:r>
          </a:p>
          <a:p xmlns:a="http://schemas.openxmlformats.org/drawingml/2006/main">
            <a:r>
              <a:t/>
            </a:r>
          </a:p>
          <a:p xmlns:a="http://schemas.openxmlformats.org/drawingml/2006/main">
            <a:r>
              <a:t>O h5 é 90 e a mediana h5 é 146 na consulta registrada. O ICORE informa A* na edição 2026. A classificação A1 agora está comprovada na planilha oficial do Qualis Eventos 2021–2024, período que inclui 2022. O recorte no slide vem da página 6 do relatório oficial e coincide com a linha 90 da planilha. O relatório esclarece que a classificação foi elaborada em 2025. Ele usa h5 e avaliação qualitativa, mas o h5 registrado em setembro de 2026 não é a mesma edição do indicador usada pela comissão. Qualis Eventos permanece distinto de Qualis Periódicos.</a:t>
            </a:r>
          </a:p>
          <a:p xmlns:a="http://schemas.openxmlformats.org/drawingml/2006/main">
            <a:r>
              <a:t/>
            </a:r>
          </a:p>
          <a:p xmlns:a="http://schemas.openxmlformats.org/drawingml/2006/main">
            <a:r>
              <a:t>Fontes: CAPES/Sucupira: https://sucupira-legado.capes.gov.br/sucupira/public/consultas/coleta/qualisEventos/listaQualisEventos.xhtml. Evento de classificação: Classificação de trabalho em anais 2025; Área: COMPUTAÇÃO. Planilha oficial, linha 90: CCS, ACM Symposium on Computer and Communications Security, A1. Relatório da Comissão de Qualis Eventos, p. 1: quadriênio 2021–2024; p. 2: critérios; p. 6: CCS, A1. Consulta e download: 28/09/2026. Google Scholar e ICORE: registros de 17/09/2026.</a:t>
            </a:r>
          </a:p>
          <a:p xmlns:a="http://schemas.openxmlformats.org/drawingml/2006/main">
            <a:r>
              <a:t>Trechos EN entre aspas reproduzem o original. PT indica tradução do apresentador. Análises identificadas no slide são interpretações do seminário. As páginas indicadas são as páginas internas do PDF da ACM 3548606.3560564 (1 a 15), equivalentes às páginas 2369–2383 dos anais.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35 segundos.</a:t>
            </a:r>
          </a:p>
          <a:p xmlns:a="http://schemas.openxmlformats.org/drawingml/2006/main">
            <a:r>
              <a:t/>
            </a:r>
          </a:p>
          <a:p xmlns:a="http://schemas.openxmlformats.org/drawingml/2006/main">
            <a:r>
              <a:t>A organização distingue construção do método e aplicação empírica. A introdução já posiciona o estudo na literatura, enquanto a revisão detalhada fica na Seção 7. A notificação de desenvolvedores tem seção própria porque responde à terceira pergunta de pesquisa. A análise do seminário destaca a função de cada parte, além de enumerar os títulos.</a:t>
            </a:r>
          </a:p>
          <a:p xmlns:a="http://schemas.openxmlformats.org/drawingml/2006/main">
            <a:r>
              <a:t/>
            </a:r>
          </a:p>
          <a:p xmlns:a="http://schemas.openxmlformats.org/drawingml/2006/main">
            <a:r>
              <a:t>Fontes: Artigo, seções 1 a 8, p. 1–13.</a:t>
            </a:r>
          </a:p>
          <a:p xmlns:a="http://schemas.openxmlformats.org/drawingml/2006/main">
            <a:r>
              <a:t>Trechos EN entre aspas reproduzem o original. PT indica tradução do apresentador. Análises identificadas no slide são interpretações do seminário. As páginas indicadas são as páginas internas do PDF da ACM 3548606.3560564 (1 a 15), equivalentes às páginas 2369–2383 dos anais.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40 segundos.</a:t>
            </a:r>
          </a:p>
          <a:p xmlns:a="http://schemas.openxmlformats.org/drawingml/2006/main">
            <a:r>
              <a:t/>
            </a:r>
          </a:p>
          <a:p xmlns:a="http://schemas.openxmlformats.org/drawingml/2006/main">
            <a:r>
              <a:t>GDPR é a sigla em inglês para Regulamento Geral de Proteção de Dados da União Europeia. No artigo, o rastreamento de terceiros envolve serviços externos ao aplicativo. O resumo começa pelo padrão de consentimento usado no estudo. Em seguida, delimita a lacuna na análise sistemática das interfaces e apresenta o objetivo. A afirmação de pioneirismo pertence aos autores e se refere ao recorte e ao momento da publicação. As cores apenas distinguem as funções argumentativas.</a:t>
            </a:r>
          </a:p>
          <a:p xmlns:a="http://schemas.openxmlformats.org/drawingml/2006/main">
            <a:r>
              <a:t/>
            </a:r>
          </a:p>
          <a:p xmlns:a="http://schemas.openxmlformats.org/drawingml/2006/main">
            <a:r>
              <a:t>Fontes: Artigo, Abstract, p. 1.</a:t>
            </a:r>
          </a:p>
          <a:p xmlns:a="http://schemas.openxmlformats.org/drawingml/2006/main">
            <a:r>
              <a:t>Trechos EN entre aspas reproduzem o original. PT indica tradução do apresentador. Análises identificadas no slide são interpretações do seminário. As páginas indicadas são as páginas internas do PDF da ACM 3548606.3560564 (1 a 15), equivalentes às páginas 2369–2383 dos anais.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35 segundos.</a:t>
            </a:r>
          </a:p>
          <a:p xmlns:a="http://schemas.openxmlformats.org/drawingml/2006/main">
            <a:r>
              <a:t/>
            </a:r>
          </a:p>
          <a:p xmlns:a="http://schemas.openxmlformats.org/drawingml/2006/main">
            <a:r>
              <a:t>O resumo condensa o procedimento, os números e a implicação. Neste trecho literal, os autores escrevem violate, sem potentially. Preservo a citação como está e, ao analisar os resultados, uso a qualificação de potencial violação, consistente com a nota de rodapé e com a conclusão. A comparação volta no fechamento.</a:t>
            </a:r>
          </a:p>
          <a:p xmlns:a="http://schemas.openxmlformats.org/drawingml/2006/main">
            <a:r>
              <a:t/>
            </a:r>
          </a:p>
          <a:p xmlns:a="http://schemas.openxmlformats.org/drawingml/2006/main">
            <a:r>
              <a:t>Fontes: Artigo, Abstract, p. 1. Comparação com nota 1, p. 2–3, e Conclusion, p. 13.</a:t>
            </a:r>
          </a:p>
          <a:p xmlns:a="http://schemas.openxmlformats.org/drawingml/2006/main">
            <a:r>
              <a:t>Trechos EN entre aspas reproduzem o original. PT indica tradução do apresentador. Análises identificadas no slide são interpretações do seminário. As páginas indicadas são as páginas internas do PDF da ACM 3548606.3560564 (1 a 15), equivalentes às páginas 2369–2383 dos anais.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45 segundos.</a:t>
            </a:r>
          </a:p>
          <a:p xmlns:a="http://schemas.openxmlformats.org/drawingml/2006/main">
            <a:r>
              <a:t/>
            </a:r>
          </a:p>
          <a:p xmlns:a="http://schemas.openxmlformats.org/drawingml/2006/main">
            <a:r>
              <a:t>A introdução transforma o tema em questões investigáveis. A primeira exige observar e classificar interfaces. A segunda exige relacionar interface e tráfego sob critérios definidos pelos autores. A terceira exige ouvir desenvolvedores e explica a presença da Seção 5. A segunda pergunta transcreve literalmente a versão da ACM: Can these implemented consent notices be legally justified under GDPR?</a:t>
            </a:r>
          </a:p>
          <a:p xmlns:a="http://schemas.openxmlformats.org/drawingml/2006/main">
            <a:r>
              <a:t/>
            </a:r>
          </a:p>
          <a:p xmlns:a="http://schemas.openxmlformats.org/drawingml/2006/main">
            <a:r>
              <a:t>Fontes: Artigo ACM 3548606.3560564, Seção 1, p. 2.</a:t>
            </a:r>
          </a:p>
          <a:p xmlns:a="http://schemas.openxmlformats.org/drawingml/2006/main">
            <a:r>
              <a:t>Trechos EN entre aspas reproduzem o original. PT indica tradução do apresentador. Análises identificadas no slide são interpretações do seminário. As páginas indicadas são as páginas internas do PDF da ACM 3548606.3560564 (1 a 15), equivalentes às páginas 2369–2383 dos anais.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35 segundos.</a:t>
            </a:r>
          </a:p>
          <a:p xmlns:a="http://schemas.openxmlformats.org/drawingml/2006/main">
            <a:r>
              <a:t/>
            </a:r>
          </a:p>
          <a:p xmlns:a="http://schemas.openxmlformats.org/drawingml/2006/main">
            <a:r>
              <a:t>Os três exemplos ampliam a primeira metade da Figura 1. A introdução cita a, b e c como exemplos de confirmation-only. A evidência visual permite discutir a opção oferecida ao usuário. Para caracterizar o envio de dados, o artigo ainda precisa da análise de tráfego.</a:t>
            </a:r>
          </a:p>
          <a:p xmlns:a="http://schemas.openxmlformats.org/drawingml/2006/main">
            <a:r>
              <a:t/>
            </a:r>
          </a:p>
          <a:p xmlns:a="http://schemas.openxmlformats.org/drawingml/2006/main">
            <a:r>
              <a:t>Fontes: Artigo, Figura 1 (a), (b), (c), e introdução, p. 2. Seção 2.2.3 e abertura da Seção 3, p. 4.</a:t>
            </a:r>
          </a:p>
          <a:p xmlns:a="http://schemas.openxmlformats.org/drawingml/2006/main">
            <a:r>
              <a:t>Trechos EN entre aspas reproduzem o original. PT indica tradução do apresentador. Análises identificadas no slide são interpretações do seminário. As páginas indicadas são as páginas internas do PDF da ACM 3548606.3560564 (1 a 15), equivalentes às páginas 2369–2383 dos anais.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30 segundos.</a:t>
            </a:r>
          </a:p>
          <a:p xmlns:a="http://schemas.openxmlformats.org/drawingml/2006/main">
            <a:r>
              <a:t/>
            </a:r>
          </a:p>
          <a:p xmlns:a="http://schemas.openxmlformats.org/drawingml/2006/main">
            <a:r>
              <a:t>A segunda metade mostra alternativas de escolha e o mecanismo complexo do exemplo f. Em d, a recusa pode se limitar à publicidade personalizada. Em e, há aceitar e recusar. A existência de uma opção visual, por si, ainda não demonstra que a recusa seja respeitada tecnicamente.</a:t>
            </a:r>
          </a:p>
          <a:p xmlns:a="http://schemas.openxmlformats.org/drawingml/2006/main">
            <a:r>
              <a:t/>
            </a:r>
          </a:p>
          <a:p xmlns:a="http://schemas.openxmlformats.org/drawingml/2006/main">
            <a:r>
              <a:t>Fontes: Artigo, Figura 1, p. 2. Introdução, p. 2, e Seção 3, p. 4.</a:t>
            </a:r>
          </a:p>
          <a:p xmlns:a="http://schemas.openxmlformats.org/drawingml/2006/main">
            <a:r>
              <a:t>Trechos EN entre aspas reproduzem o original. PT indica tradução do apresentador. Análises identificadas no slide são interpretações do seminário. As páginas indicadas são as páginas internas do PDF da ACM 3548606.3560564 (1 a 15), equivalentes às páginas 2369–2383 dos anais.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35 segundos.</a:t>
            </a:r>
          </a:p>
          <a:p xmlns:a="http://schemas.openxmlformats.org/drawingml/2006/main">
            <a:r>
              <a:t/>
            </a:r>
          </a:p>
          <a:p xmlns:a="http://schemas.openxmlformats.org/drawingml/2006/main">
            <a:r>
              <a:t>A fundamentação transforma o conceito de consentimento em categorias de observação. Os autores restringem a análise de potenciais violações ao compartilhamento com controladores publicitários selecionados. A nota 1 explicita a cautela: os resultados técnicos não constituem uma decisão judicial. O slide descreve o enquadramento empregado no artigo de 2022.</a:t>
            </a:r>
          </a:p>
          <a:p xmlns:a="http://schemas.openxmlformats.org/drawingml/2006/main">
            <a:r>
              <a:t/>
            </a:r>
          </a:p>
          <a:p xmlns:a="http://schemas.openxmlformats.org/drawingml/2006/main">
            <a:r>
              <a:t>Fontes: Artigo, Seções 2.1 e 2.2, p. 3–4. Nota 1, iniciada na p. 2 e concluída na p. 3.</a:t>
            </a:r>
          </a:p>
          <a:p xmlns:a="http://schemas.openxmlformats.org/drawingml/2006/main">
            <a:r>
              <a:t>Trechos EN entre aspas reproduzem o original. PT indica tradução do apresentador. Análises identificadas no slide são interpretações do seminário. As páginas indicadas são as páginas internas do PDF da ACM 3548606.3560564 (1 a 15), equivalentes às páginas 2369–2383 dos anais.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55 segundos.</a:t>
            </a:r>
          </a:p>
          <a:p xmlns:a="http://schemas.openxmlformats.org/drawingml/2006/main">
            <a:r>
              <a:t/>
            </a:r>
          </a:p>
          <a:p xmlns:a="http://schemas.openxmlformats.org/drawingml/2006/main">
            <a:r>
              <a:t>A lista do AndroZoo contém 5,8 milhões de nomes. Os filtros e a obtenção na Google Play resultam em 250.972 apps. A captura tem sucesso em 239.381, ou 95,38%. O OCR e as palavras-chave encontram 20.542 interfaces relacionadas à privacidade. O NLP usa correção, normalização, lematização, bag-of-words, WordNet e TF-IDF. O clustering hierárquico usa Ward. A inspeção dos 44 grupos e depois das interfaces nos 36 grupos restantes identifica 13.082 avisos. O estudo usa seis dispositivos Pixel com root, Android 9 ou 12.</a:t>
            </a:r>
          </a:p>
          <a:p xmlns:a="http://schemas.openxmlformats.org/drawingml/2006/main">
            <a:r>
              <a:t/>
            </a:r>
          </a:p>
          <a:p xmlns:a="http://schemas.openxmlformats.org/drawingml/2006/main">
            <a:r>
              <a:t>Fontes: Artigo, Figura 2, p. 6; Seção 3, p. 4–6; 4.1, p. 6; 4.2, p. 6–7.</a:t>
            </a:r>
          </a:p>
          <a:p xmlns:a="http://schemas.openxmlformats.org/drawingml/2006/main">
            <a:r>
              <a:t>Trechos EN entre aspas reproduzem o original. PT indica tradução do apresentador. Análises identificadas no slide são interpretações do seminário. As páginas indicadas são as páginas internas do PDF da ACM 3548606.3560564 (1 a 15), equivalentes às páginas 2369–2383 dos anais.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55 segundos.</a:t>
            </a:r>
          </a:p>
          <a:p xmlns:a="http://schemas.openxmlformats.org/drawingml/2006/main">
            <a:r>
              <a:t/>
            </a:r>
          </a:p>
          <a:p xmlns:a="http://schemas.openxmlformats.org/drawingml/2006/main">
            <a:r>
              <a:t>As condições são execuções separadas. Entre elas, a equipe desinstala o app e remove seus dados para exibir novamente o aviso. Tno-consent mede sem interação, Tconfirm mede após aceitar e Treject após recusar, quando o aviso oferece esse caminho. Cada execução dura até 150 segundos. O estudo instrumenta TLS com mitmproxy, usa Objection contra pinning e DroidBot para eventos de interface. Os apps sem aviso também passam por análise de tráfego.</a:t>
            </a:r>
          </a:p>
          <a:p xmlns:a="http://schemas.openxmlformats.org/drawingml/2006/main">
            <a:r>
              <a:t/>
            </a:r>
          </a:p>
          <a:p xmlns:a="http://schemas.openxmlformats.org/drawingml/2006/main">
            <a:r>
              <a:t>Fontes: Artigo, Seção 4.3 e Figura 4, p. 8.</a:t>
            </a:r>
          </a:p>
          <a:p xmlns:a="http://schemas.openxmlformats.org/drawingml/2006/main">
            <a:r>
              <a:t>Trechos EN entre aspas reproduzem o original. PT indica tradução do apresentador. Análises identificadas no slide são interpretações do seminário. As páginas indicadas são as páginas internas do PDF da ACM 3548606.3560564 (1 a 15), equivalentes às páginas 2369–2383 dos anais.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40 segundos.</a:t>
            </a:r>
          </a:p>
          <a:p xmlns:a="http://schemas.openxmlformats.org/drawingml/2006/main">
            <a:r>
              <a:t/>
            </a:r>
          </a:p>
          <a:p xmlns:a="http://schemas.openxmlformats.org/drawingml/2006/main">
            <a:r>
              <a:t>Esta seção apresenta evidências para a primeira pergunta: quais avisos existem e quais são suas características? As categorias descrevem as opções da interface. Quase 44% dos avisos são de confirmação única. A recusa de personalização, presente em cerca de 30%, não necessariamente bloqueia o rastreamento. Os percentuais do artigo foram mantidos; por arredondamento, sua soma difere ligeiramente de 100%. Todas as contagens somam os 13.082 avisos.</a:t>
            </a:r>
          </a:p>
          <a:p xmlns:a="http://schemas.openxmlformats.org/drawingml/2006/main">
            <a:r>
              <a:t/>
            </a:r>
          </a:p>
          <a:p xmlns:a="http://schemas.openxmlformats.org/drawingml/2006/main">
            <a:r>
              <a:t>Fontes: Artigo, Seção 4.2 e Figura 3, p. 7. Contagens: 5.740 + 3.949 + 2.871 + 522 = 13.082.</a:t>
            </a:r>
          </a:p>
          <a:p xmlns:a="http://schemas.openxmlformats.org/drawingml/2006/main">
            <a:r>
              <a:t>Trechos EN entre aspas reproduzem o original. PT indica tradução do apresentador. Análises identificadas no slide são interpretações do seminário. As páginas indicadas são as páginas internas do PDF da ACM 3548606.3560564 (1 a 15), equivalentes às páginas 2369–2383 dos anais.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40 segundos.</a:t>
            </a:r>
          </a:p>
          <a:p xmlns:a="http://schemas.openxmlformats.org/drawingml/2006/main">
            <a:r>
              <a:t/>
            </a:r>
          </a:p>
          <a:p xmlns:a="http://schemas.openxmlformats.org/drawingml/2006/main">
            <a:r>
              <a:t>Os denominadores são diferentes. Os 2.688 pertencem ao grupo de 13.082 com aviso, e pelo menos uma categoria de potencial violação foi observada. Os 30.160 são apps sem aviso identificado que enviaram dados a controladores publicitários. Não se trata simplesmente de todos os apps sem aviso do corpus. O texto usa 32.341 como base da comparação de envio a domínios publicitários, dos quais 30.160 não apresentavam aviso.</a:t>
            </a:r>
          </a:p>
          <a:p xmlns:a="http://schemas.openxmlformats.org/drawingml/2006/main">
            <a:r>
              <a:t/>
            </a:r>
          </a:p>
          <a:p xmlns:a="http://schemas.openxmlformats.org/drawingml/2006/main">
            <a:r>
              <a:t>Fontes: Artigo, Seção 4.4.2, p. 9, e 4.4.6, p. 10.</a:t>
            </a:r>
          </a:p>
          <a:p xmlns:a="http://schemas.openxmlformats.org/drawingml/2006/main">
            <a:r>
              <a:t>Trechos EN entre aspas reproduzem o original. PT indica tradução do apresentador. Análises identificadas no slide são interpretações do seminário. As páginas indicadas são as páginas internas do PDF da ACM 3548606.3560564 (1 a 15), equivalentes às páginas 2369–2383 dos anais.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45 segundos.</a:t>
            </a:r>
          </a:p>
          <a:p xmlns:a="http://schemas.openxmlformats.org/drawingml/2006/main">
            <a:r>
              <a:t/>
            </a:r>
          </a:p>
          <a:p xmlns:a="http://schemas.openxmlformats.org/drawingml/2006/main">
            <a:r>
              <a:t>A tabela organiza as evidências para a segunda pergunta, aplicando os critérios definidos na fundamentação. Os percentuais da tabela usam o total de cada coluna. No total de 13.082 apps, 2.181 correspondem a 16,67% e 1.084 a 8,28%, conforme o artigo. Os 134 continuaram enviando dados após a recusa. As categorias se sobrepõem: um mesmo app pode aparecer em mais de uma coluna, portanto não se somam para obter o total de 2.688. A divisão 1.084/13.082 é aproximadamente 8,29% pelo arredondamento usual; o artigo informa 8,28%, preservado no slide por fidelidade à fonte.</a:t>
            </a:r>
          </a:p>
          <a:p xmlns:a="http://schemas.openxmlformats.org/drawingml/2006/main">
            <a:r>
              <a:t/>
            </a:r>
          </a:p>
          <a:p xmlns:a="http://schemas.openxmlformats.org/drawingml/2006/main">
            <a:r>
              <a:t>Fontes: Artigo, Tabela 3, p. 10. Seções 4.4.3–4.4.6, p. 9–10.</a:t>
            </a:r>
          </a:p>
          <a:p xmlns:a="http://schemas.openxmlformats.org/drawingml/2006/main">
            <a:r>
              <a:t>Trechos EN entre aspas reproduzem o original. PT indica tradução do apresentador. Análises identificadas no slide são interpretações do seminário. As páginas indicadas são as páginas internas do PDF da ACM 3548606.3560564 (1 a 15), equivalentes às páginas 2369–2383 dos anais.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30 segundos.</a:t>
            </a:r>
          </a:p>
          <a:p xmlns:a="http://schemas.openxmlformats.org/drawingml/2006/main">
            <a:r>
              <a:t/>
            </a:r>
          </a:p>
          <a:p xmlns:a="http://schemas.openxmlformats.org/drawingml/2006/main">
            <a:r>
              <a:t>O gráfico preserva os valores e os nomes de domínio publicados no artigo. As barras não são grupos mutuamente exclusivos. O AAID é o Android Advertising ID e aparece em 29.952 dos 30.160 apps da categoria sem aviso. O dado de AAID é da tabela de tipos de informação e não apenas dos apps que contataram facebook.com.</a:t>
            </a:r>
          </a:p>
          <a:p xmlns:a="http://schemas.openxmlformats.org/drawingml/2006/main">
            <a:r>
              <a:t/>
            </a:r>
          </a:p>
          <a:p xmlns:a="http://schemas.openxmlformats.org/drawingml/2006/main">
            <a:r>
              <a:t>Fontes: Artigo, Figura 5, p. 9, e Tabela 4, p. 11.</a:t>
            </a:r>
          </a:p>
          <a:p xmlns:a="http://schemas.openxmlformats.org/drawingml/2006/main">
            <a:r>
              <a:t>Trechos EN entre aspas reproduzem o original. PT indica tradução do apresentador. Análises identificadas no slide são interpretações do seminário. As páginas indicadas são as páginas internas do PDF da ACM 3548606.3560564 (1 a 15), equivalentes às páginas 2369–2383 dos anais.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40 segundos.</a:t>
            </a:r>
          </a:p>
          <a:p xmlns:a="http://schemas.openxmlformats.org/drawingml/2006/main">
            <a:r>
              <a:t/>
            </a:r>
          </a:p>
          <a:p xmlns:a="http://schemas.openxmlformats.org/drawingml/2006/main">
            <a:r>
              <a:t>A seção responde à terceira pergunta, sobre o conhecimento dos desenvolvedores, e acompanha mudanças nas implementações. As respostas descrevem os participantes, sem representar automaticamente todos os desenvolvedores. Após excluir apps removidos ou atualizados desde a coleta, os autores notificaram 1.127 desenvolvedores responsáveis por 1.859 apps. Houve 43 respondentes, mas nem todos responderam a cada questão. Por isso, as frações são 9/14, 9/13 e 6/7. Entre 266 apps cujos desenvolvedores acessaram algum relatório, 147 foram atualizados. Desses, 63 corrigiram o problema e 84 ainda apresentavam pelo menos uma potencial violação. Isso não prova causalidade da notificação.</a:t>
            </a:r>
          </a:p>
          <a:p xmlns:a="http://schemas.openxmlformats.org/drawingml/2006/main">
            <a:r>
              <a:t/>
            </a:r>
          </a:p>
          <a:p xmlns:a="http://schemas.openxmlformats.org/drawingml/2006/main">
            <a:r>
              <a:t>Fontes: Artigo, Seções 5.1–5.3, p. 11–12. Notificação em 04/04/2022, acompanhamento até 26/04/2022.</a:t>
            </a:r>
          </a:p>
          <a:p xmlns:a="http://schemas.openxmlformats.org/drawingml/2006/main">
            <a:r>
              <a:t>Trechos EN entre aspas reproduzem o original. PT indica tradução do apresentador. Análises identificadas no slide são interpretações do seminário. As páginas indicadas são as páginas internas do PDF da ACM 3548606.3560564 (1 a 15), equivalentes às páginas 2369–2383 dos anais.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35 segundos.</a:t>
            </a:r>
          </a:p>
          <a:p xmlns:a="http://schemas.openxmlformats.org/drawingml/2006/main">
            <a:r>
              <a:t/>
            </a:r>
          </a:p>
          <a:p xmlns:a="http://schemas.openxmlformats.org/drawingml/2006/main">
            <a:r>
              <a:t>A discussão interpreta os resultados e se apoia nas respostas de desenvolvedores. Ela aborda o alcance do problema, a transparência para usuários e o suporte técnico. O artigo não estabelece que todas as ocorrências tenham a mesma motivação. As respostas ajudam a levantar explicações plausíveis, sem provar a causa de cada caso.</a:t>
            </a:r>
          </a:p>
          <a:p xmlns:a="http://schemas.openxmlformats.org/drawingml/2006/main">
            <a:r>
              <a:t/>
            </a:r>
          </a:p>
          <a:p xmlns:a="http://schemas.openxmlformats.org/drawingml/2006/main">
            <a:r>
              <a:t>Fontes: Artigo, Seção 6, p. 12–13. Citação de 6.3, p. 13.</a:t>
            </a:r>
          </a:p>
          <a:p xmlns:a="http://schemas.openxmlformats.org/drawingml/2006/main">
            <a:r>
              <a:t>Trechos EN entre aspas reproduzem o original. PT indica tradução do apresentador. Análises identificadas no slide são interpretações do seminário. As páginas indicadas são as páginas internas do PDF da ACM 3548606.3560564 (1 a 15), equivalentes às páginas 2369–2383 dos anais.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35 segundos.</a:t>
            </a:r>
          </a:p>
          <a:p xmlns:a="http://schemas.openxmlformats.org/drawingml/2006/main">
            <a:r>
              <a:t/>
            </a:r>
          </a:p>
          <a:p xmlns:a="http://schemas.openxmlformats.org/drawingml/2006/main">
            <a:r>
              <a:t>Os autores relatam as perdas do processo e delimitam o alcance. A categoria sem aviso depende da interface observada, e o próprio artigo reconhece possíveis falsos negativos. A amostra de verificação manual de cem apps não sinalizados encontrou um aviso não detectado, quatro falhas e 95 sem aviso. O estudo não se generaliza para apps pagos. As limitações e o comentário ético aparecem no corpo de outras seções, sem seção autônoma dedicada.</a:t>
            </a:r>
          </a:p>
          <a:p xmlns:a="http://schemas.openxmlformats.org/drawingml/2006/main">
            <a:r>
              <a:t/>
            </a:r>
          </a:p>
          <a:p xmlns:a="http://schemas.openxmlformats.org/drawingml/2006/main">
            <a:r>
              <a:t>Fontes: Artigo, 4.1 e 4.2, p. 6–7; limitações na p. 7; 4.3, p. 8; 4.4.1, p. 9.</a:t>
            </a:r>
          </a:p>
          <a:p xmlns:a="http://schemas.openxmlformats.org/drawingml/2006/main">
            <a:r>
              <a:t>Trechos EN entre aspas reproduzem o original. PT indica tradução do apresentador. Análises identificadas no slide são interpretações do seminário. As páginas indicadas são as páginas internas do PDF da ACM 3548606.3560564 (1 a 15), equivalentes às páginas 2369–2383 dos anais.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40 segundos.</a:t>
            </a:r>
          </a:p>
          <a:p xmlns:a="http://schemas.openxmlformats.org/drawingml/2006/main">
            <a:r>
              <a:t/>
            </a:r>
          </a:p>
          <a:p xmlns:a="http://schemas.openxmlformats.org/drawingml/2006/main">
            <a:r>
              <a:t>A conclusão retoma o objetivo e a escala de 239.381 apps, recupera os quatro mecanismos e concentra os resultados principais. O recorte preserva toda a seção, mas os trechos centrais estão transcritos para permitir a leitura em sala. Os 30.160 pertencem à categoria sem aviso e os 2.688 à categoria com aviso e pelo menos uma potencial violação.</a:t>
            </a:r>
          </a:p>
          <a:p xmlns:a="http://schemas.openxmlformats.org/drawingml/2006/main">
            <a:r>
              <a:t/>
            </a:r>
          </a:p>
          <a:p xmlns:a="http://schemas.openxmlformats.org/drawingml/2006/main">
            <a:r>
              <a:t>Fontes: Artigo, Seção 8, p. 13.</a:t>
            </a:r>
          </a:p>
          <a:p xmlns:a="http://schemas.openxmlformats.org/drawingml/2006/main">
            <a:r>
              <a:t>Trechos EN entre aspas reproduzem o original. PT indica tradução do apresentador. Análises identificadas no slide são interpretações do seminário. As páginas indicadas são as páginas internas do PDF da ACM 3548606.3560564 (1 a 15), equivalentes às páginas 2369–2383 dos anais.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35 segundos.</a:t>
            </a:r>
          </a:p>
          <a:p xmlns:a="http://schemas.openxmlformats.org/drawingml/2006/main">
            <a:r>
              <a:t/>
            </a:r>
          </a:p>
          <a:p xmlns:a="http://schemas.openxmlformats.org/drawingml/2006/main">
            <a:r>
              <a:t>O fechamento converte os números em uma implicação: transparência e suporte para que usuários possam fazer escolhas livres e informadas. A comparação textual mostra uma diferença real. O resumo usa violate; a conclusão usa potentially violate. A última formulação expressa a cautela descrita na nota 1. A observação é sobre a precisão da redação, sem substituir a avaliação técnica ou jurídica.</a:t>
            </a:r>
          </a:p>
          <a:p xmlns:a="http://schemas.openxmlformats.org/drawingml/2006/main">
            <a:r>
              <a:t/>
            </a:r>
          </a:p>
          <a:p xmlns:a="http://schemas.openxmlformats.org/drawingml/2006/main">
            <a:r>
              <a:t>Fontes: Artigo, Abstract, p. 1; nota 1, p. 2–3; Conclusion, p. 13.</a:t>
            </a:r>
          </a:p>
          <a:p xmlns:a="http://schemas.openxmlformats.org/drawingml/2006/main">
            <a:r>
              <a:t>Trechos EN entre aspas reproduzem o original. PT indica tradução do apresentador. Análises identificadas no slide são interpretações do seminário. As páginas indicadas são as páginas internas do PDF da ACM 3548606.3560564 (1 a 15), equivalentes às páginas 2369–2383 dos anais.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30 segundos.</a:t>
            </a:r>
          </a:p>
          <a:p xmlns:a="http://schemas.openxmlformats.org/drawingml/2006/main">
            <a:r>
              <a:t/>
            </a:r>
          </a:p>
          <a:p xmlns:a="http://schemas.openxmlformats.org/drawingml/2006/main">
            <a:r>
              <a:t>O repositório registra um corpus preliminar de 396 apps e 71 publicadores. Esse contexto pertence ao projeto do TCC, não ao artigo. A contribuição metodológica é confirmar comportamento, além de identificar componentes. O recorte governamental e a comparação pareada são escolhas do TCC. A ausência declarada de anúncios na loja não basta para concluir que não exista rastreamento ou finalidade comercial.</a:t>
            </a:r>
          </a:p>
          <a:p xmlns:a="http://schemas.openxmlformats.org/drawingml/2006/main">
            <a:r>
              <a:t/>
            </a:r>
          </a:p>
          <a:p xmlns:a="http://schemas.openxmlformats.org/drawingml/2006/main">
            <a:r>
              <a:t>Fontes: https://github.com/ClaudioAMF1/TCC/blob/main/desenhos/N3-proposta-formal.md. Versão consultada em 22/09/2026.</a:t>
            </a:r>
          </a:p>
          <a:p xmlns:a="http://schemas.openxmlformats.org/drawingml/2006/main">
            <a:r>
              <a:t>Trechos EN entre aspas reproduzem o original. PT indica tradução do apresentador. Análises identificadas no slide são interpretações do seminário. As páginas indicadas são as páginas internas do PDF da ACM 3548606.3560564 (1 a 15), equivalentes às páginas 2369–2383 dos anais.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de apoio, fora do percurso principal de 15 minutos.</a:t>
            </a:r>
          </a:p>
          <a:p xmlns:a="http://schemas.openxmlformats.org/drawingml/2006/main">
            <a:r>
              <a:t/>
            </a:r>
          </a:p>
          <a:p xmlns:a="http://schemas.openxmlformats.org/drawingml/2006/main">
            <a:r>
              <a:t>Títulos abreviados para leitura. O quinto título desta tabela é An Empirical Measurement of Cookie Banners Potential Legal Violations in EU vs US Websites, LNCS, 2025, zero citações no registro. Ele substitui WhisperTest, que aparecia em outras buscas, mas não entre estes cinco finalistas. A classificação do SOUPS foi atualizada para A na edição ICORE2026, conforme o portal oficial e a captura fornecida. O ano 2021 na coluna Veículo / ano é o de publicação do artigo. As edições CORE2021 e CORE2023 registravam B, mas a comparação nesta apresentação usa a edição 2026, também adotada para o CCS no slide 4. A contagem de citações representa o registro da sessão de busca, não uma atualização em tempo real. A seleção também considerou Android, consentimento, método e escala. Não se infere qualidade do artigo apenas pelo número de citações.</a:t>
            </a:r>
          </a:p>
          <a:p xmlns:a="http://schemas.openxmlformats.org/drawingml/2006/main">
            <a:r>
              <a:t/>
            </a:r>
          </a:p>
          <a:p xmlns:a="http://schemas.openxmlformats.org/drawingml/2006/main">
            <a:r>
              <a:t>Fontes: https://github.com/ClaudioAMF1/TCC/blob/main/seminario/pesquisa/README.md e capturas 23 e 24 de pesquisa/busca-3/. ICORE, registro SOUPS: https://portal.core.edu.au/conf-ranks/2167/. Consulta e captura fornecida em 22/09/2026.</a:t>
            </a:r>
          </a:p>
          <a:p xmlns:a="http://schemas.openxmlformats.org/drawingml/2006/main">
            <a:r>
              <a:t>Trechos EN entre aspas reproduzem o original. PT indica tradução do apresentador. Análises identificadas no slide são interpretações do seminário. As páginas indicadas são as páginas internas do PDF da ACM 3548606.3560564 (1 a 15), equivalentes às páginas 2369–2383 dos anais.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de apoio, fora do percurso principal de 15 minutos.</a:t>
            </a:r>
          </a:p>
          <a:p xmlns:a="http://schemas.openxmlformats.org/drawingml/2006/main">
            <a:r>
              <a:t/>
            </a:r>
          </a:p>
          <a:p xmlns:a="http://schemas.openxmlformats.org/drawingml/2006/main">
            <a:r>
              <a:t>As traduções em português são do apresentador. Todas as figuras foram extraídas do PDF da ACM fornecido nesta revisão. Os dados do projeto e da busca são identificados separadamente das conclusões dos autores. As consultas de métricas em 17/09/2026 são documentadas pelas capturas; a planilha e o relatório CAPES 2021–2024 foram baixados da Sucupira em 28/09/2026. Qualis Eventos e Qualis Periódicos são identificados separadamente, sem conversão inferida do h5.</a:t>
            </a:r>
          </a:p>
          <a:p xmlns:a="http://schemas.openxmlformats.org/drawingml/2006/main">
            <a:r>
              <a:t/>
            </a:r>
          </a:p>
          <a:p xmlns:a="http://schemas.openxmlformats.org/drawingml/2006/main">
            <a:r>
              <a:t>Fontes: Artigo ACM fornecido: https://doi.org/10.1145/3548606.3560564. Repositório: https://github.com/ClaudioAMF1/TCC. Google Scholar Metrics: Computer Security &amp; Cryptography, captura 06 em seminario/pesquisa/metricas/. ICORE, CCS: https://portal.core.edu.au/conf-ranks/12/. ICORE, SOUPS: https://portal.core.edu.au/conf-ranks/2167/ (consulta em 22/09/2026). CAPES Eventos: https://sucupira-legado.capes.gov.br/sucupira/public/consultas/coleta/qualisEventos/listaQualisEventos.xhtml. Classificação de trabalho em anais 2025, área COMPUTAÇÃO, planilha linha 90 e relatório p. 1–2. Consulta: 28/09/2026. CAPES Periódicos: https://www.gov.br/capes/pt-br/centrais-de-conteudo/documentos/avaliacao/avaliacao-quadrienal-2017/DocumentotcnicoQualisPeridicosfinal.pdf.</a:t>
            </a:r>
          </a:p>
          <a:p xmlns:a="http://schemas.openxmlformats.org/drawingml/2006/main">
            <a:r>
              <a:t>Trechos EN entre aspas reproduzem o original. PT indica tradução do apresentador. Análises identificadas no slide são interpretações do seminário. As páginas indicadas são as páginas internas do PDF da ACM 3548606.3560564 (1 a 15), equivalentes às páginas 2369–2383 dos anais.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569aa86f95404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6b1777683c431a" /><Relationship Type="http://schemas.openxmlformats.org/officeDocument/2006/relationships/slideLayout" Target="/ppt/slideLayouts/slideLayout1.xml" Id="Rf778cc5e57ba420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778cc5e57ba420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3ae0349aa704a32" /><Relationship Type="http://schemas.openxmlformats.org/officeDocument/2006/relationships/notesSlide" Target="/ppt/notesSlides/notesSlide1.xml" Id="R9eb5cb37455b46a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3bf967d43b44faf" /><Relationship Type="http://schemas.openxmlformats.org/officeDocument/2006/relationships/image" Target="/ppt/media/image.jpeg" Id="Ra012af651c3740dc" /><Relationship Type="http://schemas.openxmlformats.org/officeDocument/2006/relationships/image" Target="/ppt/media/image2.jpeg" Id="Ra8ba26ad515e4b0e" /><Relationship Type="http://schemas.openxmlformats.org/officeDocument/2006/relationships/image" Target="/ppt/media/image3.jpeg" Id="Red807158090a44f2" /><Relationship Type="http://schemas.openxmlformats.org/officeDocument/2006/relationships/image" Target="/ppt/media/image4.jpeg" Id="R1a91ad69f12049e5" /><Relationship Type="http://schemas.openxmlformats.org/officeDocument/2006/relationships/notesSlide" Target="/ppt/notesSlides/notesSlide2.xml" Id="R866e9705d80947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29af10834c5448f" /><Relationship Type="http://schemas.openxmlformats.org/officeDocument/2006/relationships/image" Target="/ppt/media/image.png" Id="R656f1e96f885439c" /><Relationship Type="http://schemas.openxmlformats.org/officeDocument/2006/relationships/notesSlide" Target="/ppt/notesSlides/notesSlide3.xml" Id="Rac23e02a86a2446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528834b59d24a22" /><Relationship Type="http://schemas.openxmlformats.org/officeDocument/2006/relationships/image" Target="/ppt/media/image2.png" Id="R080771f189bd419a" /><Relationship Type="http://schemas.openxmlformats.org/officeDocument/2006/relationships/notesSlide" Target="/ppt/notesSlides/notesSlide4.xml" Id="R8952d680a8084a3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a0721e9f19e4b18" /><Relationship Type="http://schemas.openxmlformats.org/officeDocument/2006/relationships/notesSlide" Target="/ppt/notesSlides/notesSlide5.xml" Id="R3c73ff53fd174d9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1e6a5614b644988" /><Relationship Type="http://schemas.openxmlformats.org/officeDocument/2006/relationships/notesSlide" Target="/ppt/notesSlides/notesSlide6.xml" Id="R03eef3f0c4d048d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0b79bcdd8464caa" /><Relationship Type="http://schemas.openxmlformats.org/officeDocument/2006/relationships/notesSlide" Target="/ppt/notesSlides/notesSlide7.xml" Id="R8f667d40cc8f47e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d993f4fc2e44152" /><Relationship Type="http://schemas.openxmlformats.org/officeDocument/2006/relationships/notesSlide" Target="/ppt/notesSlides/notesSlide8.xml" Id="R0fe00c7273c14c5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ca2dce93deb47f1" /><Relationship Type="http://schemas.openxmlformats.org/officeDocument/2006/relationships/image" Target="/ppt/media/image3.png" Id="R1bbeccceebd847a5" /><Relationship Type="http://schemas.openxmlformats.org/officeDocument/2006/relationships/image" Target="/ppt/media/image4.png" Id="R41c2216c355941d6" /><Relationship Type="http://schemas.openxmlformats.org/officeDocument/2006/relationships/image" Target="/ppt/media/image5.png" Id="Rdea151243c164508" /><Relationship Type="http://schemas.openxmlformats.org/officeDocument/2006/relationships/notesSlide" Target="/ppt/notesSlides/notesSlide9.xml" Id="R6c14aaf0491e484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6b53d2a122341aa" /><Relationship Type="http://schemas.openxmlformats.org/officeDocument/2006/relationships/image" Target="/ppt/media/image6.png" Id="R9e9624f223d2476b" /><Relationship Type="http://schemas.openxmlformats.org/officeDocument/2006/relationships/image" Target="/ppt/media/image7.png" Id="R8292f32e217641c6" /><Relationship Type="http://schemas.openxmlformats.org/officeDocument/2006/relationships/image" Target="/ppt/media/image8.png" Id="R62f26e9df52041a7" /><Relationship Type="http://schemas.openxmlformats.org/officeDocument/2006/relationships/notesSlide" Target="/ppt/notesSlides/notesSlide10.xml" Id="R67f963c6301942b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b7cc6b03cc74bbf" /><Relationship Type="http://schemas.openxmlformats.org/officeDocument/2006/relationships/notesSlide" Target="/ppt/notesSlides/notesSlide11.xml" Id="Rf8269115b638409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e4eedb6d5234750" /><Relationship Type="http://schemas.openxmlformats.org/officeDocument/2006/relationships/image" Target="/ppt/media/image9.png" Id="R921cd49305ba4f55" /><Relationship Type="http://schemas.openxmlformats.org/officeDocument/2006/relationships/notesSlide" Target="/ppt/notesSlides/notesSlide12.xml" Id="R40585d741e7f4b9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be787e998174b18" /><Relationship Type="http://schemas.openxmlformats.org/officeDocument/2006/relationships/image" Target="/ppt/media/image10.png" Id="R11c547413aed4496" /><Relationship Type="http://schemas.openxmlformats.org/officeDocument/2006/relationships/notesSlide" Target="/ppt/notesSlides/notesSlide13.xml" Id="Re40c9c6be64449a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8e31a518caf48f6" /><Relationship Type="http://schemas.openxmlformats.org/officeDocument/2006/relationships/image" Target="/ppt/media/image11.png" Id="R75a7fa5bc38a4805" /><Relationship Type="http://schemas.openxmlformats.org/officeDocument/2006/relationships/notesSlide" Target="/ppt/notesSlides/notesSlide14.xml" Id="R89e1eb6421a943a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85be36315064447" /><Relationship Type="http://schemas.openxmlformats.org/officeDocument/2006/relationships/notesSlide" Target="/ppt/notesSlides/notesSlide15.xml" Id="R5b0a7b5229654f1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ebab986a872416b" /><Relationship Type="http://schemas.openxmlformats.org/officeDocument/2006/relationships/notesSlide" Target="/ppt/notesSlides/notesSlide16.xml" Id="R4ea7a234dbfe41e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b57ca8ead9a4dd8" /><Relationship Type="http://schemas.openxmlformats.org/officeDocument/2006/relationships/image" Target="/ppt/media/image12.png" Id="Re7fd406c784c4c15" /><Relationship Type="http://schemas.openxmlformats.org/officeDocument/2006/relationships/notesSlide" Target="/ppt/notesSlides/notesSlide17.xml" Id="R70daf0cdc1a0419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2a9a55919d84f92" /><Relationship Type="http://schemas.openxmlformats.org/officeDocument/2006/relationships/notesSlide" Target="/ppt/notesSlides/notesSlide18.xml" Id="Rdb7c8c4c12514ff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4c90906e692409c" /><Relationship Type="http://schemas.openxmlformats.org/officeDocument/2006/relationships/notesSlide" Target="/ppt/notesSlides/notesSlide19.xml" Id="Rf3164c36ce584e4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9856f7a171f4f64" /><Relationship Type="http://schemas.openxmlformats.org/officeDocument/2006/relationships/notesSlide" Target="/ppt/notesSlides/notesSlide20.xml" Id="Rdbfbcff704294fd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45f1fe480b34e74" /><Relationship Type="http://schemas.openxmlformats.org/officeDocument/2006/relationships/image" Target="/ppt/media/image13.png" Id="R572fa5a25a994f55" /><Relationship Type="http://schemas.openxmlformats.org/officeDocument/2006/relationships/notesSlide" Target="/ppt/notesSlides/notesSlide21.xml" Id="Rf77e1a059b534bd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5e1ce6dd05142fa" /><Relationship Type="http://schemas.openxmlformats.org/officeDocument/2006/relationships/notesSlide" Target="/ppt/notesSlides/notesSlide22.xml" Id="R2b240e65fa5b4e6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beae05e8ef744bf" /><Relationship Type="http://schemas.openxmlformats.org/officeDocument/2006/relationships/notesSlide" Target="/ppt/notesSlides/notesSlide23.xml" Id="R29392a6804ba4cd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77ca5c192a04f11" /><Relationship Type="http://schemas.openxmlformats.org/officeDocument/2006/relationships/notesSlide" Target="/ppt/notesSlides/notesSlide24.xml" Id="Ra818d31099d2474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e1ae493df2846c8" /><Relationship Type="http://schemas.openxmlformats.org/officeDocument/2006/relationships/notesSlide" Target="/ppt/notesSlides/notesSlide25.xml" Id="R5ed5c5065f384ae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90CFA38-1539-4817-9F4F-F1418041BE71}"/>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174875"/>
          </a:solidFill>
          <a:ln xmlns:a="http://schemas.openxmlformats.org/drawingml/2006/main" w="0">
            <a:noFill/>
          </a:ln>
        </p:spPr>
      </p:sp>
      <p:sp>
        <p:nvSpPr>
          <p:cNvPr id="2" name="ANÁLISE DE ARTIGO CIENTÍFICO">
            <a:extLst xmlns:a="http://schemas.openxmlformats.org/drawingml/2006/main">
              <a:ext uri="{FF2B5EF4-FFF2-40B4-BE49-F238E27FC236}">
                <a16:creationId xmlns:a16="http://schemas.microsoft.com/office/drawing/2014/main" id="{FDD5CD12-49CE-43E9-9C76-FB65129F7EB2}"/>
              </a:ext>
            </a:extLst>
          </p:cNvPr>
          <p:cNvSpPr>
            <a:spLocks xmlns:a="http://schemas.openxmlformats.org/drawingml/2006/main" noGrp="1"/>
          </p:cNvSpPr>
          <p:nvPr/>
        </p:nvSpPr>
        <p:spPr>
          <a:xfrm xmlns:a="http://schemas.openxmlformats.org/drawingml/2006/main">
            <a:off x="609600" y="5238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174875"/>
                </a:solidFill>
                <a:latin typeface="Arial"/>
                <a:ea typeface="Arial"/>
                <a:cs typeface="Arial"/>
              </a:defRPr>
            </a:pPr>
            <a:r>
              <a:rPr sz="1500" b="1">
                <a:solidFill>
                  <a:srgbClr val="174875"/>
                </a:solidFill>
                <a:latin typeface="Arial"/>
                <a:ea typeface="Arial"/>
                <a:cs typeface="Arial"/>
              </a:rPr>
              <a:t>ANÁLISE DE ARTIGO CIENTÍFICO</a:t>
            </a:r>
          </a:p>
        </p:txBody>
      </p:sp>
      <p:sp>
        <p:nvSpPr>
          <p:cNvPr id="3" name="Freely Given Consent?">
            <a:extLst xmlns:a="http://schemas.openxmlformats.org/drawingml/2006/main">
              <a:ext uri="{FF2B5EF4-FFF2-40B4-BE49-F238E27FC236}">
                <a16:creationId xmlns:a16="http://schemas.microsoft.com/office/drawing/2014/main" id="{140028CA-FB9B-41D0-925D-6EA9A5057BD4}"/>
              </a:ext>
            </a:extLst>
          </p:cNvPr>
          <p:cNvSpPr>
            <a:spLocks xmlns:a="http://schemas.openxmlformats.org/drawingml/2006/main" noGrp="1"/>
          </p:cNvSpPr>
          <p:nvPr/>
        </p:nvSpPr>
        <p:spPr>
          <a:xfrm xmlns:a="http://schemas.openxmlformats.org/drawingml/2006/main">
            <a:off x="609600" y="13335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12324F"/>
                </a:solidFill>
                <a:latin typeface="Arial"/>
                <a:ea typeface="Arial"/>
                <a:cs typeface="Arial"/>
              </a:defRPr>
            </a:pPr>
            <a:r>
              <a:rPr sz="4800" b="1">
                <a:solidFill>
                  <a:srgbClr val="12324F"/>
                </a:solidFill>
                <a:latin typeface="Arial"/>
                <a:ea typeface="Arial"/>
                <a:cs typeface="Arial"/>
              </a:rPr>
              <a:t>Freely Given Consent?</a:t>
            </a:r>
          </a:p>
        </p:txBody>
      </p:sp>
      <p:sp>
        <p:nvSpPr>
          <p:cNvPr id="4" name="Studying Consent Notice of Third-Party T">
            <a:extLst xmlns:a="http://schemas.openxmlformats.org/drawingml/2006/main">
              <a:ext uri="{FF2B5EF4-FFF2-40B4-BE49-F238E27FC236}">
                <a16:creationId xmlns:a16="http://schemas.microsoft.com/office/drawing/2014/main" id="{3F1CA7D5-5ECD-4949-827A-C10D597552B7}"/>
              </a:ext>
            </a:extLst>
          </p:cNvPr>
          <p:cNvSpPr>
            <a:spLocks xmlns:a="http://schemas.openxmlformats.org/drawingml/2006/main" noGrp="1"/>
          </p:cNvSpPr>
          <p:nvPr/>
        </p:nvSpPr>
        <p:spPr>
          <a:xfrm xmlns:a="http://schemas.openxmlformats.org/drawingml/2006/main">
            <a:off x="609600" y="238125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4384A"/>
                </a:solidFill>
                <a:latin typeface="Arial"/>
                <a:ea typeface="Arial"/>
                <a:cs typeface="Arial"/>
              </a:defRPr>
            </a:pPr>
            <a:r>
              <a:rPr sz="2550" b="1">
                <a:solidFill>
                  <a:srgbClr val="24384A"/>
                </a:solidFill>
                <a:latin typeface="Arial"/>
                <a:ea typeface="Arial"/>
                <a:cs typeface="Arial"/>
              </a:rPr>
              <a:t>Studying Consent Notice of Third-Party Tracking</a:t>
            </a:r>
          </a:p>
          <a:p xmlns:a="http://schemas.openxmlformats.org/drawingml/2006/main">
            <a:pPr algn="l">
              <a:defRPr sz="2550" b="1">
                <a:solidFill>
                  <a:srgbClr val="24384A"/>
                </a:solidFill>
                <a:latin typeface="Arial"/>
                <a:ea typeface="Arial"/>
                <a:cs typeface="Arial"/>
              </a:defRPr>
            </a:pPr>
            <a:r>
              <a:rPr sz="2550" b="1">
                <a:solidFill>
                  <a:srgbClr val="24384A"/>
                </a:solidFill>
                <a:latin typeface="Arial"/>
                <a:ea typeface="Arial"/>
                <a:cs typeface="Arial"/>
              </a:rPr>
              <a:t>and Its Violations of GDPR in Android Apps</a:t>
            </a:r>
          </a:p>
        </p:txBody>
      </p:sp>
      <p:sp>
        <p:nvSpPr>
          <p:cNvPr id="5" name="PT">
            <a:extLst xmlns:a="http://schemas.openxmlformats.org/drawingml/2006/main">
              <a:ext uri="{FF2B5EF4-FFF2-40B4-BE49-F238E27FC236}">
                <a16:creationId xmlns:a16="http://schemas.microsoft.com/office/drawing/2014/main" id="{7273A1EB-B304-44EA-9D1F-722138FE2E2E}"/>
              </a:ext>
            </a:extLst>
          </p:cNvPr>
          <p:cNvSpPr>
            <a:spLocks xmlns:a="http://schemas.openxmlformats.org/drawingml/2006/main" noGrp="1"/>
          </p:cNvSpPr>
          <p:nvPr/>
        </p:nvSpPr>
        <p:spPr>
          <a:xfrm xmlns:a="http://schemas.openxmlformats.org/drawingml/2006/main">
            <a:off x="609600" y="3552825"/>
            <a:ext cx="342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74875"/>
                </a:solidFill>
                <a:latin typeface="Arial"/>
                <a:ea typeface="Arial"/>
                <a:cs typeface="Arial"/>
              </a:defRPr>
            </a:pPr>
            <a:r>
              <a:rPr sz="1350" b="1">
                <a:solidFill>
                  <a:srgbClr val="174875"/>
                </a:solidFill>
                <a:latin typeface="Arial"/>
                <a:ea typeface="Arial"/>
                <a:cs typeface="Arial"/>
              </a:rPr>
              <a:t>PT</a:t>
            </a:r>
          </a:p>
        </p:txBody>
      </p:sp>
      <p:sp>
        <p:nvSpPr>
          <p:cNvPr id="6" name="Consentimento dado livremente? Estudo do">
            <a:extLst xmlns:a="http://schemas.openxmlformats.org/drawingml/2006/main">
              <a:ext uri="{FF2B5EF4-FFF2-40B4-BE49-F238E27FC236}">
                <a16:creationId xmlns:a16="http://schemas.microsoft.com/office/drawing/2014/main" id="{89A97001-706D-441F-9DA0-39F398BC5CA7}"/>
              </a:ext>
            </a:extLst>
          </p:cNvPr>
          <p:cNvSpPr>
            <a:spLocks xmlns:a="http://schemas.openxmlformats.org/drawingml/2006/main" noGrp="1"/>
          </p:cNvSpPr>
          <p:nvPr/>
        </p:nvSpPr>
        <p:spPr>
          <a:xfrm xmlns:a="http://schemas.openxmlformats.org/drawingml/2006/main">
            <a:off x="1019175" y="3514725"/>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74875"/>
                </a:solidFill>
                <a:latin typeface="Arial"/>
                <a:ea typeface="Arial"/>
                <a:cs typeface="Arial"/>
              </a:defRPr>
            </a:pPr>
            <a:r>
              <a:rPr sz="1950" b="0">
                <a:solidFill>
                  <a:srgbClr val="174875"/>
                </a:solidFill>
                <a:latin typeface="Arial"/>
                <a:ea typeface="Arial"/>
                <a:cs typeface="Arial"/>
              </a:rPr>
              <a:t>Consentimento dado livremente? Estudo dos avisos de consentimento</a:t>
            </a:r>
          </a:p>
          <a:p xmlns:a="http://schemas.openxmlformats.org/drawingml/2006/main">
            <a:pPr algn="l">
              <a:defRPr sz="1950" b="0">
                <a:solidFill>
                  <a:srgbClr val="174875"/>
                </a:solidFill>
                <a:latin typeface="Arial"/>
                <a:ea typeface="Arial"/>
                <a:cs typeface="Arial"/>
              </a:defRPr>
            </a:pPr>
            <a:r>
              <a:rPr sz="1950" b="0">
                <a:solidFill>
                  <a:srgbClr val="174875"/>
                </a:solidFill>
                <a:latin typeface="Arial"/>
                <a:ea typeface="Arial"/>
                <a:cs typeface="Arial"/>
              </a:rPr>
              <a:t>para rastreamento de terceiros e suas violações do GDPR em apps Android</a:t>
            </a:r>
          </a:p>
        </p:txBody>
      </p:sp>
      <p:sp>
        <p:nvSpPr>
          <p:cNvPr id="7" name="">
            <a:extLst xmlns:a="http://schemas.openxmlformats.org/drawingml/2006/main">
              <a:ext uri="{FF2B5EF4-FFF2-40B4-BE49-F238E27FC236}">
                <a16:creationId xmlns:a16="http://schemas.microsoft.com/office/drawing/2014/main" id="{F5245925-E796-45DA-AD15-1ADBFD70239A}"/>
              </a:ext>
            </a:extLst>
          </p:cNvPr>
          <p:cNvSpPr>
            <a:spLocks xmlns:a="http://schemas.openxmlformats.org/drawingml/2006/main" noGrp="1"/>
          </p:cNvSpPr>
          <p:nvPr/>
        </p:nvSpPr>
        <p:spPr>
          <a:xfrm xmlns:a="http://schemas.openxmlformats.org/drawingml/2006/main">
            <a:off x="609600" y="4638675"/>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8" name="Trung Tin Nguyen, Michael Backes e Ben S">
            <a:extLst xmlns:a="http://schemas.openxmlformats.org/drawingml/2006/main">
              <a:ext uri="{FF2B5EF4-FFF2-40B4-BE49-F238E27FC236}">
                <a16:creationId xmlns:a16="http://schemas.microsoft.com/office/drawing/2014/main" id="{D3AF4EE8-A034-473F-8B74-5385629E033A}"/>
              </a:ext>
            </a:extLst>
          </p:cNvPr>
          <p:cNvSpPr>
            <a:spLocks xmlns:a="http://schemas.openxmlformats.org/drawingml/2006/main" noGrp="1"/>
          </p:cNvSpPr>
          <p:nvPr/>
        </p:nvSpPr>
        <p:spPr>
          <a:xfrm xmlns:a="http://schemas.openxmlformats.org/drawingml/2006/main">
            <a:off x="609600" y="48768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4384A"/>
                </a:solidFill>
                <a:latin typeface="Arial"/>
                <a:ea typeface="Arial"/>
                <a:cs typeface="Arial"/>
              </a:defRPr>
            </a:pPr>
            <a:r>
              <a:rPr sz="1800" b="1">
                <a:solidFill>
                  <a:srgbClr val="24384A"/>
                </a:solidFill>
                <a:latin typeface="Arial"/>
                <a:ea typeface="Arial"/>
                <a:cs typeface="Arial"/>
              </a:rPr>
              <a:t>Trung Tin Nguyen, Michael Backes e Ben Stock</a:t>
            </a:r>
          </a:p>
        </p:txBody>
      </p:sp>
      <p:sp>
        <p:nvSpPr>
          <p:cNvPr id="9" name="ACM CCS 2022, p. 2369–2383. DOI: 10.1145">
            <a:extLst xmlns:a="http://schemas.openxmlformats.org/drawingml/2006/main">
              <a:ext uri="{FF2B5EF4-FFF2-40B4-BE49-F238E27FC236}">
                <a16:creationId xmlns:a16="http://schemas.microsoft.com/office/drawing/2014/main" id="{0CB89FF0-2950-456A-BDB2-3BF8CE48D282}"/>
              </a:ext>
            </a:extLst>
          </p:cNvPr>
          <p:cNvSpPr>
            <a:spLocks xmlns:a="http://schemas.openxmlformats.org/drawingml/2006/main" noGrp="1"/>
          </p:cNvSpPr>
          <p:nvPr/>
        </p:nvSpPr>
        <p:spPr>
          <a:xfrm xmlns:a="http://schemas.openxmlformats.org/drawingml/2006/main">
            <a:off x="609600" y="527685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96B7A"/>
                </a:solidFill>
                <a:latin typeface="Arial"/>
                <a:ea typeface="Arial"/>
                <a:cs typeface="Arial"/>
              </a:defRPr>
            </a:pPr>
            <a:r>
              <a:rPr sz="1500" b="0">
                <a:solidFill>
                  <a:srgbClr val="596B7A"/>
                </a:solidFill>
                <a:latin typeface="Arial"/>
                <a:ea typeface="Arial"/>
                <a:cs typeface="Arial"/>
              </a:rPr>
              <a:t>ACM CCS 2022, p. 2369–2383. DOI: 10.1145/3548606.3560564</a:t>
            </a:r>
          </a:p>
        </p:txBody>
      </p:sp>
      <p:sp>
        <p:nvSpPr>
          <p:cNvPr id="10" name="Claudio Meireles">
            <a:extLst xmlns:a="http://schemas.openxmlformats.org/drawingml/2006/main">
              <a:ext uri="{FF2B5EF4-FFF2-40B4-BE49-F238E27FC236}">
                <a16:creationId xmlns:a16="http://schemas.microsoft.com/office/drawing/2014/main" id="{6F32C597-F004-4B0B-918C-1FF263894313}"/>
              </a:ext>
            </a:extLst>
          </p:cNvPr>
          <p:cNvSpPr>
            <a:spLocks xmlns:a="http://schemas.openxmlformats.org/drawingml/2006/main" noGrp="1"/>
          </p:cNvSpPr>
          <p:nvPr/>
        </p:nvSpPr>
        <p:spPr>
          <a:xfrm xmlns:a="http://schemas.openxmlformats.org/drawingml/2006/main">
            <a:off x="609600" y="6048375"/>
            <a:ext cx="4953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2324F"/>
                </a:solidFill>
                <a:latin typeface="Arial"/>
                <a:ea typeface="Arial"/>
                <a:cs typeface="Arial"/>
              </a:defRPr>
            </a:pPr>
            <a:r>
              <a:rPr sz="1725" b="1">
                <a:solidFill>
                  <a:srgbClr val="12324F"/>
                </a:solidFill>
                <a:latin typeface="Arial"/>
                <a:ea typeface="Arial"/>
                <a:cs typeface="Arial"/>
              </a:rPr>
              <a:t>Claudio Meireles</a:t>
            </a:r>
          </a:p>
        </p:txBody>
      </p:sp>
      <p:sp>
        <p:nvSpPr>
          <p:cNvPr id="11" name="Projeto Capstone I · IDP · 29/09/2026">
            <a:extLst xmlns:a="http://schemas.openxmlformats.org/drawingml/2006/main">
              <a:ext uri="{FF2B5EF4-FFF2-40B4-BE49-F238E27FC236}">
                <a16:creationId xmlns:a16="http://schemas.microsoft.com/office/drawing/2014/main" id="{A660C991-9212-420F-A167-AA1509D480D8}"/>
              </a:ext>
            </a:extLst>
          </p:cNvPr>
          <p:cNvSpPr>
            <a:spLocks xmlns:a="http://schemas.openxmlformats.org/drawingml/2006/main" noGrp="1"/>
          </p:cNvSpPr>
          <p:nvPr/>
        </p:nvSpPr>
        <p:spPr>
          <a:xfrm xmlns:a="http://schemas.openxmlformats.org/drawingml/2006/main">
            <a:off x="6334125" y="6057900"/>
            <a:ext cx="5248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75" b="0">
                <a:solidFill>
                  <a:srgbClr val="596B7A"/>
                </a:solidFill>
                <a:latin typeface="Arial"/>
                <a:ea typeface="Arial"/>
                <a:cs typeface="Arial"/>
              </a:defRPr>
            </a:pPr>
            <a:r>
              <a:rPr sz="1575" b="0">
                <a:solidFill>
                  <a:srgbClr val="596B7A"/>
                </a:solidFill>
                <a:latin typeface="Arial"/>
                <a:ea typeface="Arial"/>
                <a:cs typeface="Arial"/>
              </a:rPr>
              <a:t>Projeto Capstone I · IDP · 29/09/2026</a:t>
            </a:r>
          </a:p>
        </p:txBody>
      </p:sp>
      <p:sp>
        <p:nvSpPr>
          <p:cNvPr id="12" name="01 / 23">
            <a:extLst xmlns:a="http://schemas.openxmlformats.org/drawingml/2006/main">
              <a:ext uri="{FF2B5EF4-FFF2-40B4-BE49-F238E27FC236}">
                <a16:creationId xmlns:a16="http://schemas.microsoft.com/office/drawing/2014/main" id="{D6AB57DA-3A94-44CB-B0BA-2362666A64D4}"/>
              </a:ext>
            </a:extLst>
          </p:cNvPr>
          <p:cNvSpPr>
            <a:spLocks xmlns:a="http://schemas.openxmlformats.org/drawingml/2006/main" noGrp="1"/>
          </p:cNvSpPr>
          <p:nvPr/>
        </p:nvSpPr>
        <p:spPr>
          <a:xfrm xmlns:a="http://schemas.openxmlformats.org/drawingml/2006/main">
            <a:off x="10668000" y="64770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96B7A"/>
                </a:solidFill>
                <a:latin typeface="Arial"/>
                <a:ea typeface="Arial"/>
                <a:cs typeface="Arial"/>
              </a:defRPr>
            </a:pPr>
            <a:r>
              <a:rPr sz="1200" b="0">
                <a:solidFill>
                  <a:srgbClr val="596B7A"/>
                </a:solidFill>
                <a:latin typeface="Arial"/>
                <a:ea typeface="Arial"/>
                <a:cs typeface="Arial"/>
              </a:rPr>
              <a:t>01 / 23</a:t>
            </a:r>
          </a:p>
        </p:txBody>
      </p:sp>
    </p:spTree>
    <p:extLst>
      <p:ext uri="{BB962C8B-B14F-4D97-AF65-F5344CB8AC3E}">
        <p14:creationId xmlns:p14="http://schemas.microsoft.com/office/powerpoint/2010/main" val="97256973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E8790434-CDDC-4FF3-B773-DFD1D0E0E07F}"/>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174875"/>
          </a:solidFill>
          <a:ln xmlns:a="http://schemas.openxmlformats.org/drawingml/2006/main" w="0">
            <a:noFill/>
          </a:ln>
        </p:spPr>
      </p:sp>
      <p:sp>
        <p:nvSpPr>
          <p:cNvPr id="2" name="SELEÇÃO">
            <a:extLst xmlns:a="http://schemas.openxmlformats.org/drawingml/2006/main">
              <a:ext uri="{FF2B5EF4-FFF2-40B4-BE49-F238E27FC236}">
                <a16:creationId xmlns:a16="http://schemas.microsoft.com/office/drawing/2014/main" id="{E2DC25A8-5B72-4D04-B7B9-5446FBA8CD66}"/>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74875"/>
                </a:solidFill>
                <a:latin typeface="Arial"/>
                <a:ea typeface="Arial"/>
                <a:cs typeface="Arial"/>
              </a:defRPr>
            </a:pPr>
            <a:r>
              <a:rPr sz="1275" b="1">
                <a:solidFill>
                  <a:srgbClr val="174875"/>
                </a:solidFill>
                <a:latin typeface="Arial"/>
                <a:ea typeface="Arial"/>
                <a:cs typeface="Arial"/>
              </a:rPr>
              <a:t>SELEÇÃO</a:t>
            </a:r>
          </a:p>
        </p:txBody>
      </p:sp>
      <p:sp>
        <p:nvSpPr>
          <p:cNvPr id="3" name="Seleção do artigo no Scopus">
            <a:extLst xmlns:a="http://schemas.openxmlformats.org/drawingml/2006/main">
              <a:ext uri="{FF2B5EF4-FFF2-40B4-BE49-F238E27FC236}">
                <a16:creationId xmlns:a16="http://schemas.microsoft.com/office/drawing/2014/main" id="{813779D1-2C07-419A-91FC-3C25AD85A93C}"/>
              </a:ext>
            </a:extLst>
          </p:cNvPr>
          <p:cNvSpPr>
            <a:spLocks xmlns:a="http://schemas.openxmlformats.org/drawingml/2006/main" noGrp="1"/>
          </p:cNvSpPr>
          <p:nvPr/>
        </p:nvSpPr>
        <p:spPr>
          <a:xfrm xmlns:a="http://schemas.openxmlformats.org/drawingml/2006/main">
            <a:off x="609600" y="7048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2324F"/>
                </a:solidFill>
                <a:latin typeface="Arial"/>
                <a:ea typeface="Arial"/>
                <a:cs typeface="Arial"/>
              </a:defRPr>
            </a:pPr>
            <a:r>
              <a:rPr sz="3150" b="1">
                <a:solidFill>
                  <a:srgbClr val="12324F"/>
                </a:solidFill>
                <a:latin typeface="Arial"/>
                <a:ea typeface="Arial"/>
                <a:cs typeface="Arial"/>
              </a:rPr>
              <a:t>Seleção do artigo no Scopus</a:t>
            </a:r>
          </a:p>
        </p:txBody>
      </p:sp>
      <p:sp>
        <p:nvSpPr>
          <p:cNvPr id="4" name="">
            <a:extLst xmlns:a="http://schemas.openxmlformats.org/drawingml/2006/main">
              <a:ext uri="{FF2B5EF4-FFF2-40B4-BE49-F238E27FC236}">
                <a16:creationId xmlns:a16="http://schemas.microsoft.com/office/drawing/2014/main" id="{F6B9BE53-A224-476E-9D5C-B8A2A43D0639}"/>
              </a:ext>
            </a:extLst>
          </p:cNvPr>
          <p:cNvSpPr>
            <a:spLocks xmlns:a="http://schemas.openxmlformats.org/drawingml/2006/main" noGrp="1"/>
          </p:cNvSpPr>
          <p:nvPr/>
        </p:nvSpPr>
        <p:spPr>
          <a:xfrm xmlns:a="http://schemas.openxmlformats.org/drawingml/2006/main">
            <a:off x="609600" y="1390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B43D21F-54B4-4044-83F3-6569282B7E86}"/>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6" name="Fonte: registro da busca no TCC, 21/09/2">
            <a:extLst xmlns:a="http://schemas.openxmlformats.org/drawingml/2006/main">
              <a:ext uri="{FF2B5EF4-FFF2-40B4-BE49-F238E27FC236}">
                <a16:creationId xmlns:a16="http://schemas.microsoft.com/office/drawing/2014/main" id="{1C944BC0-5CB4-4E3D-B341-DE6157BA7F35}"/>
              </a:ext>
            </a:extLst>
          </p:cNvPr>
          <p:cNvSpPr>
            <a:spLocks xmlns:a="http://schemas.openxmlformats.org/drawingml/2006/main" noGrp="1"/>
          </p:cNvSpPr>
          <p:nvPr/>
        </p:nvSpPr>
        <p:spPr>
          <a:xfrm xmlns:a="http://schemas.openxmlformats.org/drawingml/2006/main">
            <a:off x="609600" y="6477000"/>
            <a:ext cx="9982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96B7A"/>
                </a:solidFill>
                <a:latin typeface="Arial"/>
                <a:ea typeface="Arial"/>
                <a:cs typeface="Arial"/>
              </a:defRPr>
            </a:pPr>
            <a:r>
              <a:rPr sz="1200" b="0">
                <a:solidFill>
                  <a:srgbClr val="596B7A"/>
                </a:solidFill>
                <a:latin typeface="Arial"/>
                <a:ea typeface="Arial"/>
                <a:cs typeface="Arial"/>
              </a:rPr>
              <a:t>Fonte: registro da busca no TCC, 21/09/2026. Acesso ao Scopus pela CAPES via CAFe.</a:t>
            </a:r>
          </a:p>
        </p:txBody>
      </p:sp>
      <p:sp>
        <p:nvSpPr>
          <p:cNvPr id="7" name="02 / 23">
            <a:extLst xmlns:a="http://schemas.openxmlformats.org/drawingml/2006/main">
              <a:ext uri="{FF2B5EF4-FFF2-40B4-BE49-F238E27FC236}">
                <a16:creationId xmlns:a16="http://schemas.microsoft.com/office/drawing/2014/main" id="{3C00645C-8A2A-40DF-8C36-C682C13D03A3}"/>
              </a:ext>
            </a:extLst>
          </p:cNvPr>
          <p:cNvSpPr>
            <a:spLocks xmlns:a="http://schemas.openxmlformats.org/drawingml/2006/main" noGrp="1"/>
          </p:cNvSpPr>
          <p:nvPr/>
        </p:nvSpPr>
        <p:spPr>
          <a:xfrm xmlns:a="http://schemas.openxmlformats.org/drawingml/2006/main">
            <a:off x="10668000" y="64770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96B7A"/>
                </a:solidFill>
                <a:latin typeface="Arial"/>
                <a:ea typeface="Arial"/>
                <a:cs typeface="Arial"/>
              </a:defRPr>
            </a:pPr>
            <a:r>
              <a:rPr sz="1200" b="0">
                <a:solidFill>
                  <a:srgbClr val="596B7A"/>
                </a:solidFill>
                <a:latin typeface="Arial"/>
                <a:ea typeface="Arial"/>
                <a:cs typeface="Arial"/>
              </a:rPr>
              <a:t>02 / 23</a:t>
            </a:r>
          </a:p>
        </p:txBody>
      </p:sp>
      <p:sp>
        <p:nvSpPr>
          <p:cNvPr id="8" name="Busca: “third-party tracking”">
            <a:extLst xmlns:a="http://schemas.openxmlformats.org/drawingml/2006/main">
              <a:ext uri="{FF2B5EF4-FFF2-40B4-BE49-F238E27FC236}">
                <a16:creationId xmlns:a16="http://schemas.microsoft.com/office/drawing/2014/main" id="{C2FED849-477A-418D-9B24-08EFFF145B12}"/>
              </a:ext>
            </a:extLst>
          </p:cNvPr>
          <p:cNvSpPr>
            <a:spLocks xmlns:a="http://schemas.openxmlformats.org/drawingml/2006/main" noGrp="1"/>
          </p:cNvSpPr>
          <p:nvPr/>
        </p:nvSpPr>
        <p:spPr>
          <a:xfrm xmlns:a="http://schemas.openxmlformats.org/drawingml/2006/main">
            <a:off x="609600" y="1657350"/>
            <a:ext cx="657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2324F"/>
                </a:solidFill>
                <a:latin typeface="Arial"/>
                <a:ea typeface="Arial"/>
                <a:cs typeface="Arial"/>
              </a:defRPr>
            </a:pPr>
            <a:r>
              <a:rPr sz="2175" b="1">
                <a:solidFill>
                  <a:srgbClr val="12324F"/>
                </a:solidFill>
                <a:latin typeface="Arial"/>
                <a:ea typeface="Arial"/>
                <a:cs typeface="Arial"/>
              </a:rPr>
              <a:t>Busca: “third-party tracking”</a:t>
            </a:r>
          </a:p>
        </p:txBody>
      </p:sp>
      <p:sp>
        <p:nvSpPr>
          <p:cNvPr id="9" name="CAPES / CAFe (IDP) → Scopus · Campo: tít">
            <a:extLst xmlns:a="http://schemas.openxmlformats.org/drawingml/2006/main">
              <a:ext uri="{FF2B5EF4-FFF2-40B4-BE49-F238E27FC236}">
                <a16:creationId xmlns:a16="http://schemas.microsoft.com/office/drawing/2014/main" id="{6A6F6DFC-8295-4561-927B-96E6A9878620}"/>
              </a:ext>
            </a:extLst>
          </p:cNvPr>
          <p:cNvSpPr>
            <a:spLocks xmlns:a="http://schemas.openxmlformats.org/drawingml/2006/main" noGrp="1"/>
          </p:cNvSpPr>
          <p:nvPr/>
        </p:nvSpPr>
        <p:spPr>
          <a:xfrm xmlns:a="http://schemas.openxmlformats.org/drawingml/2006/main">
            <a:off x="609600" y="20478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96B7A"/>
                </a:solidFill>
                <a:latin typeface="Arial"/>
                <a:ea typeface="Arial"/>
                <a:cs typeface="Arial"/>
              </a:defRPr>
            </a:pPr>
            <a:r>
              <a:rPr sz="1725" b="0">
                <a:solidFill>
                  <a:srgbClr val="596B7A"/>
                </a:solidFill>
                <a:latin typeface="Arial"/>
                <a:ea typeface="Arial"/>
                <a:cs typeface="Arial"/>
              </a:rPr>
              <a:t>CAPES / CAFe (IDP) → Scopus · Campo: título, resumo e palavras-chave</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a012af651c3740dc"/>
          <a:stretch xmlns:a="http://schemas.openxmlformats.org/drawingml/2006/main"/>
        </p:blipFill>
        <p:spPr>
          <a:xfrm xmlns:a="http://schemas.openxmlformats.org/drawingml/2006/main">
            <a:off x="609600" y="2449449"/>
            <a:ext cx="2514600" cy="1454277"/>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a8ba26ad515e4b0e"/>
          <a:stretch xmlns:a="http://schemas.openxmlformats.org/drawingml/2006/main"/>
        </p:blipFill>
        <p:spPr>
          <a:xfrm xmlns:a="http://schemas.openxmlformats.org/drawingml/2006/main">
            <a:off x="3429000" y="2449449"/>
            <a:ext cx="2514600" cy="1454277"/>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ed807158090a44f2"/>
          <a:stretch xmlns:a="http://schemas.openxmlformats.org/drawingml/2006/main"/>
        </p:blipFill>
        <p:spPr>
          <a:xfrm xmlns:a="http://schemas.openxmlformats.org/drawingml/2006/main">
            <a:off x="6248400" y="2449449"/>
            <a:ext cx="2514600" cy="1454277"/>
          </a:xfrm>
          <a:prstGeom xmlns:a="http://schemas.openxmlformats.org/drawingml/2006/main" prst="rect">
            <a:avLst/>
          </a:prstGeom>
        </p:spPr>
      </p:pic>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1a91ad69f12049e5"/>
          <a:stretch xmlns:a="http://schemas.openxmlformats.org/drawingml/2006/main"/>
        </p:blipFill>
        <p:spPr>
          <a:xfrm xmlns:a="http://schemas.openxmlformats.org/drawingml/2006/main">
            <a:off x="9067800" y="2449449"/>
            <a:ext cx="2514600" cy="1454277"/>
          </a:xfrm>
          <a:prstGeom xmlns:a="http://schemas.openxmlformats.org/drawingml/2006/main" prst="rect">
            <a:avLst/>
          </a:prstGeom>
        </p:spPr>
      </p:pic>
      <p:sp>
        <p:nvSpPr>
          <p:cNvPr id="14" name="131">
            <a:extLst xmlns:a="http://schemas.openxmlformats.org/drawingml/2006/main">
              <a:ext uri="{FF2B5EF4-FFF2-40B4-BE49-F238E27FC236}">
                <a16:creationId xmlns:a16="http://schemas.microsoft.com/office/drawing/2014/main" id="{ED556128-302F-4D19-AF55-FE171A2F3D69}"/>
              </a:ext>
            </a:extLst>
          </p:cNvPr>
          <p:cNvSpPr>
            <a:spLocks xmlns:a="http://schemas.openxmlformats.org/drawingml/2006/main" noGrp="1"/>
          </p:cNvSpPr>
          <p:nvPr/>
        </p:nvSpPr>
        <p:spPr>
          <a:xfrm xmlns:a="http://schemas.openxmlformats.org/drawingml/2006/main">
            <a:off x="609600" y="4057650"/>
            <a:ext cx="2514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4875"/>
                </a:solidFill>
                <a:latin typeface="Arial"/>
                <a:ea typeface="Arial"/>
                <a:cs typeface="Arial"/>
              </a:defRPr>
            </a:pPr>
            <a:r>
              <a:rPr sz="3450" b="1">
                <a:solidFill>
                  <a:srgbClr val="174875"/>
                </a:solidFill>
                <a:latin typeface="Arial"/>
                <a:ea typeface="Arial"/>
                <a:cs typeface="Arial"/>
              </a:rPr>
              <a:t>131</a:t>
            </a:r>
          </a:p>
        </p:txBody>
      </p:sp>
      <p:sp>
        <p:nvSpPr>
          <p:cNvPr id="15" name="frase entre aspas,&#10;sem filtros">
            <a:extLst xmlns:a="http://schemas.openxmlformats.org/drawingml/2006/main">
              <a:ext uri="{FF2B5EF4-FFF2-40B4-BE49-F238E27FC236}">
                <a16:creationId xmlns:a16="http://schemas.microsoft.com/office/drawing/2014/main" id="{A504700C-E039-42AC-A096-617CF0851421}"/>
              </a:ext>
            </a:extLst>
          </p:cNvPr>
          <p:cNvSpPr>
            <a:spLocks xmlns:a="http://schemas.openxmlformats.org/drawingml/2006/main" noGrp="1"/>
          </p:cNvSpPr>
          <p:nvPr/>
        </p:nvSpPr>
        <p:spPr>
          <a:xfrm xmlns:a="http://schemas.openxmlformats.org/drawingml/2006/main">
            <a:off x="609600" y="4676775"/>
            <a:ext cx="251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4384A"/>
                </a:solidFill>
                <a:latin typeface="Arial"/>
                <a:ea typeface="Arial"/>
                <a:cs typeface="Arial"/>
              </a:defRPr>
            </a:pPr>
            <a:r>
              <a:rPr sz="1575" b="0">
                <a:solidFill>
                  <a:srgbClr val="24384A"/>
                </a:solidFill>
                <a:latin typeface="Arial"/>
                <a:ea typeface="Arial"/>
                <a:cs typeface="Arial"/>
              </a:rPr>
              <a:t>frase entre aspas,</a:t>
            </a:r>
          </a:p>
          <a:p xmlns:a="http://schemas.openxmlformats.org/drawingml/2006/main">
            <a:pPr algn="l">
              <a:defRPr sz="1575" b="0">
                <a:solidFill>
                  <a:srgbClr val="24384A"/>
                </a:solidFill>
                <a:latin typeface="Arial"/>
                <a:ea typeface="Arial"/>
                <a:cs typeface="Arial"/>
              </a:defRPr>
            </a:pPr>
            <a:r>
              <a:rPr sz="1575" b="0">
                <a:solidFill>
                  <a:srgbClr val="24384A"/>
                </a:solidFill>
                <a:latin typeface="Arial"/>
                <a:ea typeface="Arial"/>
                <a:cs typeface="Arial"/>
              </a:rPr>
              <a:t>sem filtros</a:t>
            </a:r>
          </a:p>
        </p:txBody>
      </p:sp>
      <p:sp>
        <p:nvSpPr>
          <p:cNvPr id="16" name="">
            <a:extLst xmlns:a="http://schemas.openxmlformats.org/drawingml/2006/main">
              <a:ext uri="{FF2B5EF4-FFF2-40B4-BE49-F238E27FC236}">
                <a16:creationId xmlns:a16="http://schemas.microsoft.com/office/drawing/2014/main" id="{ADB66A87-4A34-4317-ADBC-93A8358D8582}"/>
              </a:ext>
            </a:extLst>
          </p:cNvPr>
          <p:cNvSpPr>
            <a:spLocks xmlns:a="http://schemas.openxmlformats.org/drawingml/2006/main" noGrp="1"/>
          </p:cNvSpPr>
          <p:nvPr/>
        </p:nvSpPr>
        <p:spPr>
          <a:xfrm xmlns:a="http://schemas.openxmlformats.org/drawingml/2006/main">
            <a:off x="3200400" y="4238625"/>
            <a:ext cx="152400" cy="152400"/>
          </a:xfrm>
          <a:prstGeom xmlns:a="http://schemas.openxmlformats.org/drawingml/2006/main" prst="rightArrow">
            <a:avLst/>
          </a:prstGeom>
          <a:solidFill xmlns:a="http://schemas.openxmlformats.org/drawingml/2006/main">
            <a:srgbClr val="174875"/>
          </a:solidFill>
          <a:ln xmlns:a="http://schemas.openxmlformats.org/drawingml/2006/main" w="0">
            <a:noFill/>
          </a:ln>
        </p:spPr>
      </p:sp>
      <p:sp>
        <p:nvSpPr>
          <p:cNvPr id="17" name="70">
            <a:extLst xmlns:a="http://schemas.openxmlformats.org/drawingml/2006/main">
              <a:ext uri="{FF2B5EF4-FFF2-40B4-BE49-F238E27FC236}">
                <a16:creationId xmlns:a16="http://schemas.microsoft.com/office/drawing/2014/main" id="{49D60611-8354-4A40-99F1-D93C11C7CF9F}"/>
              </a:ext>
            </a:extLst>
          </p:cNvPr>
          <p:cNvSpPr>
            <a:spLocks xmlns:a="http://schemas.openxmlformats.org/drawingml/2006/main" noGrp="1"/>
          </p:cNvSpPr>
          <p:nvPr/>
        </p:nvSpPr>
        <p:spPr>
          <a:xfrm xmlns:a="http://schemas.openxmlformats.org/drawingml/2006/main">
            <a:off x="3429000" y="4057650"/>
            <a:ext cx="2514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4875"/>
                </a:solidFill>
                <a:latin typeface="Arial"/>
                <a:ea typeface="Arial"/>
                <a:cs typeface="Arial"/>
              </a:defRPr>
            </a:pPr>
            <a:r>
              <a:rPr sz="3450" b="1">
                <a:solidFill>
                  <a:srgbClr val="174875"/>
                </a:solidFill>
                <a:latin typeface="Arial"/>
                <a:ea typeface="Arial"/>
                <a:cs typeface="Arial"/>
              </a:rPr>
              <a:t>70</a:t>
            </a:r>
          </a:p>
        </p:txBody>
      </p:sp>
      <p:sp>
        <p:nvSpPr>
          <p:cNvPr id="18" name="2018–2026, Computação,&#10;artigos e conferê">
            <a:extLst xmlns:a="http://schemas.openxmlformats.org/drawingml/2006/main">
              <a:ext uri="{FF2B5EF4-FFF2-40B4-BE49-F238E27FC236}">
                <a16:creationId xmlns:a16="http://schemas.microsoft.com/office/drawing/2014/main" id="{FB16EC49-6E78-4D2C-8968-FCE1EE43661B}"/>
              </a:ext>
            </a:extLst>
          </p:cNvPr>
          <p:cNvSpPr>
            <a:spLocks xmlns:a="http://schemas.openxmlformats.org/drawingml/2006/main" noGrp="1"/>
          </p:cNvSpPr>
          <p:nvPr/>
        </p:nvSpPr>
        <p:spPr>
          <a:xfrm xmlns:a="http://schemas.openxmlformats.org/drawingml/2006/main">
            <a:off x="3429000" y="4676775"/>
            <a:ext cx="251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4384A"/>
                </a:solidFill>
                <a:latin typeface="Arial"/>
                <a:ea typeface="Arial"/>
                <a:cs typeface="Arial"/>
              </a:defRPr>
            </a:pPr>
            <a:r>
              <a:rPr sz="1575" b="0">
                <a:solidFill>
                  <a:srgbClr val="24384A"/>
                </a:solidFill>
                <a:latin typeface="Arial"/>
                <a:ea typeface="Arial"/>
                <a:cs typeface="Arial"/>
              </a:rPr>
              <a:t>2018–2026, Computação,</a:t>
            </a:r>
          </a:p>
          <a:p xmlns:a="http://schemas.openxmlformats.org/drawingml/2006/main">
            <a:pPr algn="l">
              <a:defRPr sz="1575" b="0">
                <a:solidFill>
                  <a:srgbClr val="24384A"/>
                </a:solidFill>
                <a:latin typeface="Arial"/>
                <a:ea typeface="Arial"/>
                <a:cs typeface="Arial"/>
              </a:defRPr>
            </a:pPr>
            <a:r>
              <a:rPr sz="1575" b="0">
                <a:solidFill>
                  <a:srgbClr val="24384A"/>
                </a:solidFill>
                <a:latin typeface="Arial"/>
                <a:ea typeface="Arial"/>
                <a:cs typeface="Arial"/>
              </a:rPr>
              <a:t>artigos e conferências</a:t>
            </a:r>
          </a:p>
        </p:txBody>
      </p:sp>
      <p:sp>
        <p:nvSpPr>
          <p:cNvPr id="19" name="">
            <a:extLst xmlns:a="http://schemas.openxmlformats.org/drawingml/2006/main">
              <a:ext uri="{FF2B5EF4-FFF2-40B4-BE49-F238E27FC236}">
                <a16:creationId xmlns:a16="http://schemas.microsoft.com/office/drawing/2014/main" id="{1A0E4B1A-F65D-4D2D-B4C7-8EF34EEB6540}"/>
              </a:ext>
            </a:extLst>
          </p:cNvPr>
          <p:cNvSpPr>
            <a:spLocks xmlns:a="http://schemas.openxmlformats.org/drawingml/2006/main" noGrp="1"/>
          </p:cNvSpPr>
          <p:nvPr/>
        </p:nvSpPr>
        <p:spPr>
          <a:xfrm xmlns:a="http://schemas.openxmlformats.org/drawingml/2006/main">
            <a:off x="6019800" y="4238625"/>
            <a:ext cx="152400" cy="152400"/>
          </a:xfrm>
          <a:prstGeom xmlns:a="http://schemas.openxmlformats.org/drawingml/2006/main" prst="rightArrow">
            <a:avLst/>
          </a:prstGeom>
          <a:solidFill xmlns:a="http://schemas.openxmlformats.org/drawingml/2006/main">
            <a:srgbClr val="174875"/>
          </a:solidFill>
          <a:ln xmlns:a="http://schemas.openxmlformats.org/drawingml/2006/main" w="0">
            <a:noFill/>
          </a:ln>
        </p:spPr>
      </p:sp>
      <p:sp>
        <p:nvSpPr>
          <p:cNvPr id="20" name="39">
            <a:extLst xmlns:a="http://schemas.openxmlformats.org/drawingml/2006/main">
              <a:ext uri="{FF2B5EF4-FFF2-40B4-BE49-F238E27FC236}">
                <a16:creationId xmlns:a16="http://schemas.microsoft.com/office/drawing/2014/main" id="{47B902EC-D828-4077-88FC-6C4DDCFCFF08}"/>
              </a:ext>
            </a:extLst>
          </p:cNvPr>
          <p:cNvSpPr>
            <a:spLocks xmlns:a="http://schemas.openxmlformats.org/drawingml/2006/main" noGrp="1"/>
          </p:cNvSpPr>
          <p:nvPr/>
        </p:nvSpPr>
        <p:spPr>
          <a:xfrm xmlns:a="http://schemas.openxmlformats.org/drawingml/2006/main">
            <a:off x="6248400" y="4057650"/>
            <a:ext cx="2514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4875"/>
                </a:solidFill>
                <a:latin typeface="Arial"/>
                <a:ea typeface="Arial"/>
                <a:cs typeface="Arial"/>
              </a:defRPr>
            </a:pPr>
            <a:r>
              <a:rPr sz="3450" b="1">
                <a:solidFill>
                  <a:srgbClr val="174875"/>
                </a:solidFill>
                <a:latin typeface="Arial"/>
                <a:ea typeface="Arial"/>
                <a:cs typeface="Arial"/>
              </a:rPr>
              <a:t>39</a:t>
            </a:r>
          </a:p>
        </p:txBody>
      </p:sp>
      <p:sp>
        <p:nvSpPr>
          <p:cNvPr id="21" name="palavras-chave&#10;Third Parties e&#10;Third-par">
            <a:extLst xmlns:a="http://schemas.openxmlformats.org/drawingml/2006/main">
              <a:ext uri="{FF2B5EF4-FFF2-40B4-BE49-F238E27FC236}">
                <a16:creationId xmlns:a16="http://schemas.microsoft.com/office/drawing/2014/main" id="{F5AB2780-83B1-4F70-95DD-C2D64C46DC4D}"/>
              </a:ext>
            </a:extLst>
          </p:cNvPr>
          <p:cNvSpPr>
            <a:spLocks xmlns:a="http://schemas.openxmlformats.org/drawingml/2006/main" noGrp="1"/>
          </p:cNvSpPr>
          <p:nvPr/>
        </p:nvSpPr>
        <p:spPr>
          <a:xfrm xmlns:a="http://schemas.openxmlformats.org/drawingml/2006/main">
            <a:off x="6248400" y="4676775"/>
            <a:ext cx="251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4384A"/>
                </a:solidFill>
                <a:latin typeface="Arial"/>
                <a:ea typeface="Arial"/>
                <a:cs typeface="Arial"/>
              </a:defRPr>
            </a:pPr>
            <a:r>
              <a:rPr sz="1575" b="0">
                <a:solidFill>
                  <a:srgbClr val="24384A"/>
                </a:solidFill>
                <a:latin typeface="Arial"/>
                <a:ea typeface="Arial"/>
                <a:cs typeface="Arial"/>
              </a:rPr>
              <a:t>palavras-chave</a:t>
            </a:r>
          </a:p>
          <a:p xmlns:a="http://schemas.openxmlformats.org/drawingml/2006/main">
            <a:pPr algn="l">
              <a:defRPr sz="1575" b="0">
                <a:solidFill>
                  <a:srgbClr val="24384A"/>
                </a:solidFill>
                <a:latin typeface="Arial"/>
                <a:ea typeface="Arial"/>
                <a:cs typeface="Arial"/>
              </a:defRPr>
            </a:pPr>
            <a:r>
              <a:rPr sz="1575" b="0">
                <a:solidFill>
                  <a:srgbClr val="24384A"/>
                </a:solidFill>
                <a:latin typeface="Arial"/>
                <a:ea typeface="Arial"/>
                <a:cs typeface="Arial"/>
              </a:rPr>
              <a:t>Third Parties e</a:t>
            </a:r>
          </a:p>
          <a:p xmlns:a="http://schemas.openxmlformats.org/drawingml/2006/main">
            <a:pPr algn="l">
              <a:defRPr sz="1575" b="0">
                <a:solidFill>
                  <a:srgbClr val="24384A"/>
                </a:solidFill>
                <a:latin typeface="Arial"/>
                <a:ea typeface="Arial"/>
                <a:cs typeface="Arial"/>
              </a:defRPr>
            </a:pPr>
            <a:r>
              <a:rPr sz="1575" b="0">
                <a:solidFill>
                  <a:srgbClr val="24384A"/>
                </a:solidFill>
                <a:latin typeface="Arial"/>
                <a:ea typeface="Arial"/>
                <a:cs typeface="Arial"/>
              </a:rPr>
              <a:t>Third-party Tracking</a:t>
            </a:r>
          </a:p>
        </p:txBody>
      </p:sp>
      <p:sp>
        <p:nvSpPr>
          <p:cNvPr id="22" name="">
            <a:extLst xmlns:a="http://schemas.openxmlformats.org/drawingml/2006/main">
              <a:ext uri="{FF2B5EF4-FFF2-40B4-BE49-F238E27FC236}">
                <a16:creationId xmlns:a16="http://schemas.microsoft.com/office/drawing/2014/main" id="{0BD2C656-BF1E-41B5-8F8F-A1ACA8D5EA04}"/>
              </a:ext>
            </a:extLst>
          </p:cNvPr>
          <p:cNvSpPr>
            <a:spLocks xmlns:a="http://schemas.openxmlformats.org/drawingml/2006/main" noGrp="1"/>
          </p:cNvSpPr>
          <p:nvPr/>
        </p:nvSpPr>
        <p:spPr>
          <a:xfrm xmlns:a="http://schemas.openxmlformats.org/drawingml/2006/main">
            <a:off x="8839200" y="4238625"/>
            <a:ext cx="152400" cy="152400"/>
          </a:xfrm>
          <a:prstGeom xmlns:a="http://schemas.openxmlformats.org/drawingml/2006/main" prst="rightArrow">
            <a:avLst/>
          </a:prstGeom>
          <a:solidFill xmlns:a="http://schemas.openxmlformats.org/drawingml/2006/main">
            <a:srgbClr val="174875"/>
          </a:solidFill>
          <a:ln xmlns:a="http://schemas.openxmlformats.org/drawingml/2006/main" w="0">
            <a:noFill/>
          </a:ln>
        </p:spPr>
      </p:sp>
      <p:sp>
        <p:nvSpPr>
          <p:cNvPr id="23" name="5">
            <a:extLst xmlns:a="http://schemas.openxmlformats.org/drawingml/2006/main">
              <a:ext uri="{FF2B5EF4-FFF2-40B4-BE49-F238E27FC236}">
                <a16:creationId xmlns:a16="http://schemas.microsoft.com/office/drawing/2014/main" id="{1D5E07E9-696D-4CE1-A307-166544E2D693}"/>
              </a:ext>
            </a:extLst>
          </p:cNvPr>
          <p:cNvSpPr>
            <a:spLocks xmlns:a="http://schemas.openxmlformats.org/drawingml/2006/main" noGrp="1"/>
          </p:cNvSpPr>
          <p:nvPr/>
        </p:nvSpPr>
        <p:spPr>
          <a:xfrm xmlns:a="http://schemas.openxmlformats.org/drawingml/2006/main">
            <a:off x="9067800" y="4057650"/>
            <a:ext cx="2514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4875"/>
                </a:solidFill>
                <a:latin typeface="Arial"/>
                <a:ea typeface="Arial"/>
                <a:cs typeface="Arial"/>
              </a:defRPr>
            </a:pPr>
            <a:r>
              <a:rPr sz="3450" b="1">
                <a:solidFill>
                  <a:srgbClr val="174875"/>
                </a:solidFill>
                <a:latin typeface="Arial"/>
                <a:ea typeface="Arial"/>
                <a:cs typeface="Arial"/>
              </a:rPr>
              <a:t>5</a:t>
            </a:r>
          </a:p>
        </p:txBody>
      </p:sp>
      <p:sp>
        <p:nvSpPr>
          <p:cNvPr id="24" name="+ termo consent na busca,&#10;período 2018–2">
            <a:extLst xmlns:a="http://schemas.openxmlformats.org/drawingml/2006/main">
              <a:ext uri="{FF2B5EF4-FFF2-40B4-BE49-F238E27FC236}">
                <a16:creationId xmlns:a16="http://schemas.microsoft.com/office/drawing/2014/main" id="{D311843B-BD0C-4FD3-8824-C4849440B126}"/>
              </a:ext>
            </a:extLst>
          </p:cNvPr>
          <p:cNvSpPr>
            <a:spLocks xmlns:a="http://schemas.openxmlformats.org/drawingml/2006/main" noGrp="1"/>
          </p:cNvSpPr>
          <p:nvPr/>
        </p:nvSpPr>
        <p:spPr>
          <a:xfrm xmlns:a="http://schemas.openxmlformats.org/drawingml/2006/main">
            <a:off x="9067800" y="4676775"/>
            <a:ext cx="251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4384A"/>
                </a:solidFill>
                <a:latin typeface="Arial"/>
                <a:ea typeface="Arial"/>
                <a:cs typeface="Arial"/>
              </a:defRPr>
            </a:pPr>
            <a:r>
              <a:rPr sz="1575" b="0">
                <a:solidFill>
                  <a:srgbClr val="24384A"/>
                </a:solidFill>
                <a:latin typeface="Arial"/>
                <a:ea typeface="Arial"/>
                <a:cs typeface="Arial"/>
              </a:rPr>
              <a:t>+ termo consent na busca,</a:t>
            </a:r>
          </a:p>
          <a:p xmlns:a="http://schemas.openxmlformats.org/drawingml/2006/main">
            <a:pPr algn="l">
              <a:defRPr sz="1575" b="0">
                <a:solidFill>
                  <a:srgbClr val="24384A"/>
                </a:solidFill>
                <a:latin typeface="Arial"/>
                <a:ea typeface="Arial"/>
                <a:cs typeface="Arial"/>
              </a:defRPr>
            </a:pPr>
            <a:r>
              <a:rPr sz="1575" b="0">
                <a:solidFill>
                  <a:srgbClr val="24384A"/>
                </a:solidFill>
                <a:latin typeface="Arial"/>
                <a:ea typeface="Arial"/>
                <a:cs typeface="Arial"/>
              </a:rPr>
              <a:t>período 2018–2025</a:t>
            </a:r>
          </a:p>
        </p:txBody>
      </p:sp>
      <p:sp>
        <p:nvSpPr>
          <p:cNvPr id="25" name="">
            <a:extLst xmlns:a="http://schemas.openxmlformats.org/drawingml/2006/main">
              <a:ext uri="{FF2B5EF4-FFF2-40B4-BE49-F238E27FC236}">
                <a16:creationId xmlns:a16="http://schemas.microsoft.com/office/drawing/2014/main" id="{9E912FB5-36FC-408D-8275-D4DB768C6180}"/>
              </a:ext>
            </a:extLst>
          </p:cNvPr>
          <p:cNvSpPr>
            <a:spLocks xmlns:a="http://schemas.openxmlformats.org/drawingml/2006/main" noGrp="1"/>
          </p:cNvSpPr>
          <p:nvPr/>
        </p:nvSpPr>
        <p:spPr>
          <a:xfrm xmlns:a="http://schemas.openxmlformats.org/drawingml/2006/main">
            <a:off x="609600" y="541020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26" name="1 artigo selecionado">
            <a:extLst xmlns:a="http://schemas.openxmlformats.org/drawingml/2006/main">
              <a:ext uri="{FF2B5EF4-FFF2-40B4-BE49-F238E27FC236}">
                <a16:creationId xmlns:a16="http://schemas.microsoft.com/office/drawing/2014/main" id="{1BE4B7F0-77D2-4E57-B731-B2D39A1EBAAC}"/>
              </a:ext>
            </a:extLst>
          </p:cNvPr>
          <p:cNvSpPr>
            <a:spLocks xmlns:a="http://schemas.openxmlformats.org/drawingml/2006/main" noGrp="1"/>
          </p:cNvSpPr>
          <p:nvPr/>
        </p:nvSpPr>
        <p:spPr>
          <a:xfrm xmlns:a="http://schemas.openxmlformats.org/drawingml/2006/main">
            <a:off x="609600" y="5543550"/>
            <a:ext cx="361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2324F"/>
                </a:solidFill>
                <a:latin typeface="Arial"/>
                <a:ea typeface="Arial"/>
                <a:cs typeface="Arial"/>
              </a:defRPr>
            </a:pPr>
            <a:r>
              <a:rPr sz="2400" b="1">
                <a:solidFill>
                  <a:srgbClr val="12324F"/>
                </a:solidFill>
                <a:latin typeface="Arial"/>
                <a:ea typeface="Arial"/>
                <a:cs typeface="Arial"/>
              </a:rPr>
              <a:t>1 artigo selecionado</a:t>
            </a:r>
          </a:p>
        </p:txBody>
      </p:sp>
      <p:sp>
        <p:nvSpPr>
          <p:cNvPr id="27" name="Consent delimita o aspecto analisado par">
            <a:extLst xmlns:a="http://schemas.openxmlformats.org/drawingml/2006/main">
              <a:ext uri="{FF2B5EF4-FFF2-40B4-BE49-F238E27FC236}">
                <a16:creationId xmlns:a16="http://schemas.microsoft.com/office/drawing/2014/main" id="{4C167829-D02E-4786-AFD0-99F41A8A502C}"/>
              </a:ext>
            </a:extLst>
          </p:cNvPr>
          <p:cNvSpPr>
            <a:spLocks xmlns:a="http://schemas.openxmlformats.org/drawingml/2006/main" noGrp="1"/>
          </p:cNvSpPr>
          <p:nvPr/>
        </p:nvSpPr>
        <p:spPr>
          <a:xfrm xmlns:a="http://schemas.openxmlformats.org/drawingml/2006/main">
            <a:off x="4286250" y="5572125"/>
            <a:ext cx="72961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4384A"/>
                </a:solidFill>
                <a:latin typeface="Arial"/>
                <a:ea typeface="Arial"/>
                <a:cs typeface="Arial"/>
              </a:defRPr>
            </a:pPr>
            <a:r>
              <a:rPr sz="1800" b="0">
                <a:solidFill>
                  <a:srgbClr val="24384A"/>
                </a:solidFill>
                <a:latin typeface="Arial"/>
                <a:ea typeface="Arial"/>
                <a:cs typeface="Arial"/>
              </a:rPr>
              <a:t>Consent delimita o aspecto analisado para o TCC.</a:t>
            </a:r>
          </a:p>
          <a:p xmlns:a="http://schemas.openxmlformats.org/drawingml/2006/main">
            <a:pPr algn="l">
              <a:defRPr sz="1800" b="0">
                <a:solidFill>
                  <a:srgbClr val="24384A"/>
                </a:solidFill>
                <a:latin typeface="Arial"/>
                <a:ea typeface="Arial"/>
                <a:cs typeface="Arial"/>
              </a:defRPr>
            </a:pPr>
            <a:r>
              <a:rPr sz="1800" b="0">
                <a:solidFill>
                  <a:srgbClr val="24384A"/>
                </a:solidFill>
                <a:latin typeface="Arial"/>
                <a:ea typeface="Arial"/>
                <a:cs typeface="Arial"/>
              </a:rPr>
              <a:t>Depois, leitura de títulos e resumos dos finalistas.</a:t>
            </a:r>
          </a:p>
        </p:txBody>
      </p:sp>
    </p:spTree>
    <p:extLst>
      <p:ext uri="{BB962C8B-B14F-4D97-AF65-F5344CB8AC3E}">
        <p14:creationId xmlns:p14="http://schemas.microsoft.com/office/powerpoint/2010/main" val="170171766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42C7824-9459-4EA6-8A1C-0C830B6553B9}"/>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174875"/>
          </a:solidFill>
          <a:ln xmlns:a="http://schemas.openxmlformats.org/drawingml/2006/main" w="0">
            <a:noFill/>
          </a:ln>
        </p:spPr>
      </p:sp>
      <p:sp>
        <p:nvSpPr>
          <p:cNvPr id="2" name="SELEÇÃO">
            <a:extLst xmlns:a="http://schemas.openxmlformats.org/drawingml/2006/main">
              <a:ext uri="{FF2B5EF4-FFF2-40B4-BE49-F238E27FC236}">
                <a16:creationId xmlns:a16="http://schemas.microsoft.com/office/drawing/2014/main" id="{D67AAF6F-BFDB-4EAA-B021-F51F1B73F534}"/>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74875"/>
                </a:solidFill>
                <a:latin typeface="Arial"/>
                <a:ea typeface="Arial"/>
                <a:cs typeface="Arial"/>
              </a:defRPr>
            </a:pPr>
            <a:r>
              <a:rPr sz="1275" b="1">
                <a:solidFill>
                  <a:srgbClr val="174875"/>
                </a:solidFill>
                <a:latin typeface="Arial"/>
                <a:ea typeface="Arial"/>
                <a:cs typeface="Arial"/>
              </a:rPr>
              <a:t>SELEÇÃO</a:t>
            </a:r>
          </a:p>
        </p:txBody>
      </p:sp>
      <p:sp>
        <p:nvSpPr>
          <p:cNvPr id="3" name="Originalidade e relevância para o TCC">
            <a:extLst xmlns:a="http://schemas.openxmlformats.org/drawingml/2006/main">
              <a:ext uri="{FF2B5EF4-FFF2-40B4-BE49-F238E27FC236}">
                <a16:creationId xmlns:a16="http://schemas.microsoft.com/office/drawing/2014/main" id="{F22BF09B-0EDA-4346-9772-6AA103243086}"/>
              </a:ext>
            </a:extLst>
          </p:cNvPr>
          <p:cNvSpPr>
            <a:spLocks xmlns:a="http://schemas.openxmlformats.org/drawingml/2006/main" noGrp="1"/>
          </p:cNvSpPr>
          <p:nvPr/>
        </p:nvSpPr>
        <p:spPr>
          <a:xfrm xmlns:a="http://schemas.openxmlformats.org/drawingml/2006/main">
            <a:off x="609600" y="7048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2324F"/>
                </a:solidFill>
                <a:latin typeface="Arial"/>
                <a:ea typeface="Arial"/>
                <a:cs typeface="Arial"/>
              </a:defRPr>
            </a:pPr>
            <a:r>
              <a:rPr sz="3150" b="1">
                <a:solidFill>
                  <a:srgbClr val="12324F"/>
                </a:solidFill>
                <a:latin typeface="Arial"/>
                <a:ea typeface="Arial"/>
                <a:cs typeface="Arial"/>
              </a:rPr>
              <a:t>Originalidade e relevância para o TCC</a:t>
            </a:r>
          </a:p>
        </p:txBody>
      </p:sp>
      <p:sp>
        <p:nvSpPr>
          <p:cNvPr id="4" name="">
            <a:extLst xmlns:a="http://schemas.openxmlformats.org/drawingml/2006/main">
              <a:ext uri="{FF2B5EF4-FFF2-40B4-BE49-F238E27FC236}">
                <a16:creationId xmlns:a16="http://schemas.microsoft.com/office/drawing/2014/main" id="{62D7F620-7BF0-45D6-BD74-A95391FC2B50}"/>
              </a:ext>
            </a:extLst>
          </p:cNvPr>
          <p:cNvSpPr>
            <a:spLocks xmlns:a="http://schemas.openxmlformats.org/drawingml/2006/main" noGrp="1"/>
          </p:cNvSpPr>
          <p:nvPr/>
        </p:nvSpPr>
        <p:spPr>
          <a:xfrm xmlns:a="http://schemas.openxmlformats.org/drawingml/2006/main">
            <a:off x="609600" y="1390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5231506-2650-41F7-8547-40B9D2853D05}"/>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6" name="Nguyen, Backes e Stock (2022), p. 1–2. C">
            <a:extLst xmlns:a="http://schemas.openxmlformats.org/drawingml/2006/main">
              <a:ext uri="{FF2B5EF4-FFF2-40B4-BE49-F238E27FC236}">
                <a16:creationId xmlns:a16="http://schemas.microsoft.com/office/drawing/2014/main" id="{1945F650-C060-43E9-86D7-2B7FA40489B4}"/>
              </a:ext>
            </a:extLst>
          </p:cNvPr>
          <p:cNvSpPr>
            <a:spLocks xmlns:a="http://schemas.openxmlformats.org/drawingml/2006/main" noGrp="1"/>
          </p:cNvSpPr>
          <p:nvPr/>
        </p:nvSpPr>
        <p:spPr>
          <a:xfrm xmlns:a="http://schemas.openxmlformats.org/drawingml/2006/main">
            <a:off x="609600" y="6477000"/>
            <a:ext cx="9982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96B7A"/>
                </a:solidFill>
                <a:latin typeface="Arial"/>
                <a:ea typeface="Arial"/>
                <a:cs typeface="Arial"/>
              </a:defRPr>
            </a:pPr>
            <a:r>
              <a:rPr sz="1200" b="0">
                <a:solidFill>
                  <a:srgbClr val="596B7A"/>
                </a:solidFill>
                <a:latin typeface="Arial"/>
                <a:ea typeface="Arial"/>
                <a:cs typeface="Arial"/>
              </a:rPr>
              <a:t>Nguyen, Backes e Stock (2022), p. 1–2. Contexto do TCC: proposta N3 no repositório ClaudioAMF1/TCC.</a:t>
            </a:r>
          </a:p>
        </p:txBody>
      </p:sp>
      <p:sp>
        <p:nvSpPr>
          <p:cNvPr id="7" name="03 / 23">
            <a:extLst xmlns:a="http://schemas.openxmlformats.org/drawingml/2006/main">
              <a:ext uri="{FF2B5EF4-FFF2-40B4-BE49-F238E27FC236}">
                <a16:creationId xmlns:a16="http://schemas.microsoft.com/office/drawing/2014/main" id="{CA98393C-DAE8-47BB-8D3E-B1C9B9220A04}"/>
              </a:ext>
            </a:extLst>
          </p:cNvPr>
          <p:cNvSpPr>
            <a:spLocks xmlns:a="http://schemas.openxmlformats.org/drawingml/2006/main" noGrp="1"/>
          </p:cNvSpPr>
          <p:nvPr/>
        </p:nvSpPr>
        <p:spPr>
          <a:xfrm xmlns:a="http://schemas.openxmlformats.org/drawingml/2006/main">
            <a:off x="10668000" y="64770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96B7A"/>
                </a:solidFill>
                <a:latin typeface="Arial"/>
                <a:ea typeface="Arial"/>
                <a:cs typeface="Arial"/>
              </a:defRPr>
            </a:pPr>
            <a:r>
              <a:rPr sz="1200" b="0">
                <a:solidFill>
                  <a:srgbClr val="596B7A"/>
                </a:solidFill>
                <a:latin typeface="Arial"/>
                <a:ea typeface="Arial"/>
                <a:cs typeface="Arial"/>
              </a:rPr>
              <a:t>03 / 23</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656f1e96f885439c"/>
          <a:stretch xmlns:a="http://schemas.openxmlformats.org/drawingml/2006/main"/>
        </p:blipFill>
        <p:spPr>
          <a:xfrm xmlns:a="http://schemas.openxmlformats.org/drawingml/2006/main">
            <a:off x="803289" y="1666875"/>
            <a:ext cx="6165822" cy="1362075"/>
          </a:xfrm>
          <a:prstGeom xmlns:a="http://schemas.openxmlformats.org/drawingml/2006/main" prst="rect">
            <a:avLst/>
          </a:prstGeom>
        </p:spPr>
      </p:pic>
      <p:sp>
        <p:nvSpPr>
          <p:cNvPr id="9" name="239.381">
            <a:extLst xmlns:a="http://schemas.openxmlformats.org/drawingml/2006/main">
              <a:ext uri="{FF2B5EF4-FFF2-40B4-BE49-F238E27FC236}">
                <a16:creationId xmlns:a16="http://schemas.microsoft.com/office/drawing/2014/main" id="{4846F817-AE4F-4490-B692-41FDCDC8052E}"/>
              </a:ext>
            </a:extLst>
          </p:cNvPr>
          <p:cNvSpPr>
            <a:spLocks xmlns:a="http://schemas.openxmlformats.org/drawingml/2006/main" noGrp="1"/>
          </p:cNvSpPr>
          <p:nvPr/>
        </p:nvSpPr>
        <p:spPr>
          <a:xfrm xmlns:a="http://schemas.openxmlformats.org/drawingml/2006/main">
            <a:off x="7696200" y="1743075"/>
            <a:ext cx="3886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74875"/>
                </a:solidFill>
                <a:latin typeface="Arial"/>
                <a:ea typeface="Arial"/>
                <a:cs typeface="Arial"/>
              </a:defRPr>
            </a:pPr>
            <a:r>
              <a:rPr sz="4500" b="1">
                <a:solidFill>
                  <a:srgbClr val="174875"/>
                </a:solidFill>
                <a:latin typeface="Arial"/>
                <a:ea typeface="Arial"/>
                <a:cs typeface="Arial"/>
              </a:rPr>
              <a:t>239.381</a:t>
            </a:r>
          </a:p>
        </p:txBody>
      </p:sp>
      <p:sp>
        <p:nvSpPr>
          <p:cNvPr id="10" name="aplicativos Android analisados">
            <a:extLst xmlns:a="http://schemas.openxmlformats.org/drawingml/2006/main">
              <a:ext uri="{FF2B5EF4-FFF2-40B4-BE49-F238E27FC236}">
                <a16:creationId xmlns:a16="http://schemas.microsoft.com/office/drawing/2014/main" id="{3B424771-EB64-484B-9BE9-54D92BA102F9}"/>
              </a:ext>
            </a:extLst>
          </p:cNvPr>
          <p:cNvSpPr>
            <a:spLocks xmlns:a="http://schemas.openxmlformats.org/drawingml/2006/main" noGrp="1"/>
          </p:cNvSpPr>
          <p:nvPr/>
        </p:nvSpPr>
        <p:spPr>
          <a:xfrm xmlns:a="http://schemas.openxmlformats.org/drawingml/2006/main">
            <a:off x="7696200" y="2562225"/>
            <a:ext cx="3790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4384A"/>
                </a:solidFill>
                <a:latin typeface="Arial"/>
                <a:ea typeface="Arial"/>
                <a:cs typeface="Arial"/>
              </a:defRPr>
            </a:pPr>
            <a:r>
              <a:rPr sz="1875" b="0">
                <a:solidFill>
                  <a:srgbClr val="24384A"/>
                </a:solidFill>
                <a:latin typeface="Arial"/>
                <a:ea typeface="Arial"/>
                <a:cs typeface="Arial"/>
              </a:rPr>
              <a:t>aplicativos Android analisados</a:t>
            </a:r>
          </a:p>
        </p:txBody>
      </p:sp>
      <p:sp>
        <p:nvSpPr>
          <p:cNvPr id="11" name="">
            <a:extLst xmlns:a="http://schemas.openxmlformats.org/drawingml/2006/main">
              <a:ext uri="{FF2B5EF4-FFF2-40B4-BE49-F238E27FC236}">
                <a16:creationId xmlns:a16="http://schemas.microsoft.com/office/drawing/2014/main" id="{02940BB8-BBC7-4A99-8E06-060F625A84F7}"/>
              </a:ext>
            </a:extLst>
          </p:cNvPr>
          <p:cNvSpPr>
            <a:spLocks xmlns:a="http://schemas.openxmlformats.org/drawingml/2006/main" noGrp="1"/>
          </p:cNvSpPr>
          <p:nvPr/>
        </p:nvSpPr>
        <p:spPr>
          <a:xfrm xmlns:a="http://schemas.openxmlformats.org/drawingml/2006/main">
            <a:off x="609600" y="3305175"/>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12" name="PESQUISA ORIGINAL">
            <a:extLst xmlns:a="http://schemas.openxmlformats.org/drawingml/2006/main">
              <a:ext uri="{FF2B5EF4-FFF2-40B4-BE49-F238E27FC236}">
                <a16:creationId xmlns:a16="http://schemas.microsoft.com/office/drawing/2014/main" id="{34B0ED20-8689-4C60-A906-D94E668DBD58}"/>
              </a:ext>
            </a:extLst>
          </p:cNvPr>
          <p:cNvSpPr>
            <a:spLocks xmlns:a="http://schemas.openxmlformats.org/drawingml/2006/main" noGrp="1"/>
          </p:cNvSpPr>
          <p:nvPr/>
        </p:nvSpPr>
        <p:spPr>
          <a:xfrm xmlns:a="http://schemas.openxmlformats.org/drawingml/2006/main">
            <a:off x="609600" y="3571875"/>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74875"/>
                </a:solidFill>
                <a:latin typeface="Arial"/>
                <a:ea typeface="Arial"/>
                <a:cs typeface="Arial"/>
              </a:defRPr>
            </a:pPr>
            <a:r>
              <a:rPr sz="1350" b="1">
                <a:solidFill>
                  <a:srgbClr val="174875"/>
                </a:solidFill>
                <a:latin typeface="Arial"/>
                <a:ea typeface="Arial"/>
                <a:cs typeface="Arial"/>
              </a:rPr>
              <a:t>PESQUISA ORIGINAL</a:t>
            </a:r>
          </a:p>
        </p:txBody>
      </p:sp>
      <p:sp>
        <p:nvSpPr>
          <p:cNvPr id="13" name="Os autores constroem um corpus de avisos">
            <a:extLst xmlns:a="http://schemas.openxmlformats.org/drawingml/2006/main">
              <a:ext uri="{FF2B5EF4-FFF2-40B4-BE49-F238E27FC236}">
                <a16:creationId xmlns:a16="http://schemas.microsoft.com/office/drawing/2014/main" id="{8AD7FE5A-AD07-4F28-9ED9-ABF759873CB2}"/>
              </a:ext>
            </a:extLst>
          </p:cNvPr>
          <p:cNvSpPr>
            <a:spLocks xmlns:a="http://schemas.openxmlformats.org/drawingml/2006/main" noGrp="1"/>
          </p:cNvSpPr>
          <p:nvPr/>
        </p:nvSpPr>
        <p:spPr>
          <a:xfrm xmlns:a="http://schemas.openxmlformats.org/drawingml/2006/main">
            <a:off x="609600" y="3971925"/>
            <a:ext cx="5191125"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4384A"/>
                </a:solidFill>
                <a:latin typeface="Arial"/>
                <a:ea typeface="Arial"/>
                <a:cs typeface="Arial"/>
              </a:defRPr>
            </a:pPr>
            <a:r>
              <a:rPr sz="2100" b="0">
                <a:solidFill>
                  <a:srgbClr val="24384A"/>
                </a:solidFill>
                <a:latin typeface="Arial"/>
                <a:ea typeface="Arial"/>
                <a:cs typeface="Arial"/>
              </a:rPr>
              <a:t>Os autores constroem um corpus de avisos</a:t>
            </a:r>
          </a:p>
          <a:p xmlns:a="http://schemas.openxmlformats.org/drawingml/2006/main">
            <a:pPr algn="l">
              <a:defRPr sz="2100" b="0">
                <a:solidFill>
                  <a:srgbClr val="24384A"/>
                </a:solidFill>
                <a:latin typeface="Arial"/>
                <a:ea typeface="Arial"/>
                <a:cs typeface="Arial"/>
              </a:defRPr>
            </a:pPr>
            <a:r>
              <a:rPr sz="2100" b="0">
                <a:solidFill>
                  <a:srgbClr val="24384A"/>
                </a:solidFill>
                <a:latin typeface="Arial"/>
                <a:ea typeface="Arial"/>
                <a:cs typeface="Arial"/>
              </a:rPr>
              <a:t>e uma ferramenta de análise de tráfego.</a:t>
            </a:r>
          </a:p>
          <a:p xmlns:a="http://schemas.openxmlformats.org/drawingml/2006/main">
            <a:pPr algn="l">
              <a:defRPr sz="2100" b="0">
                <a:solidFill>
                  <a:srgbClr val="24384A"/>
                </a:solidFill>
                <a:latin typeface="Arial"/>
                <a:ea typeface="Arial"/>
                <a:cs typeface="Arial"/>
              </a:defRPr>
            </a:pPr>
            <a:r>
              <a:rPr sz="2100" b="0">
                <a:solidFill>
                  <a:srgbClr val="24384A"/>
                </a:solidFill>
                <a:latin typeface="Arial"/>
                <a:ea typeface="Arial"/>
                <a:cs typeface="Arial"/>
              </a:rPr>
              <a:t>Apresentam dados empíricos próprios.</a:t>
            </a:r>
          </a:p>
        </p:txBody>
      </p:sp>
      <p:sp>
        <p:nvSpPr>
          <p:cNvPr id="14" name="RELAÇÃO COM O TCC">
            <a:extLst xmlns:a="http://schemas.openxmlformats.org/drawingml/2006/main">
              <a:ext uri="{FF2B5EF4-FFF2-40B4-BE49-F238E27FC236}">
                <a16:creationId xmlns:a16="http://schemas.microsoft.com/office/drawing/2014/main" id="{C116CDC9-DF36-405A-982D-6779D74CD06E}"/>
              </a:ext>
            </a:extLst>
          </p:cNvPr>
          <p:cNvSpPr>
            <a:spLocks xmlns:a="http://schemas.openxmlformats.org/drawingml/2006/main" noGrp="1"/>
          </p:cNvSpPr>
          <p:nvPr/>
        </p:nvSpPr>
        <p:spPr>
          <a:xfrm xmlns:a="http://schemas.openxmlformats.org/drawingml/2006/main">
            <a:off x="6305550" y="3571875"/>
            <a:ext cx="5276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74875"/>
                </a:solidFill>
                <a:latin typeface="Arial"/>
                <a:ea typeface="Arial"/>
                <a:cs typeface="Arial"/>
              </a:defRPr>
            </a:pPr>
            <a:r>
              <a:rPr sz="1350" b="1">
                <a:solidFill>
                  <a:srgbClr val="174875"/>
                </a:solidFill>
                <a:latin typeface="Arial"/>
                <a:ea typeface="Arial"/>
                <a:cs typeface="Arial"/>
              </a:rPr>
              <a:t>RELAÇÃO COM O TCC</a:t>
            </a:r>
          </a:p>
        </p:txBody>
      </p:sp>
      <p:sp>
        <p:nvSpPr>
          <p:cNvPr id="15" name="O TCC investiga rastreamento de terceiro">
            <a:extLst xmlns:a="http://schemas.openxmlformats.org/drawingml/2006/main">
              <a:ext uri="{FF2B5EF4-FFF2-40B4-BE49-F238E27FC236}">
                <a16:creationId xmlns:a16="http://schemas.microsoft.com/office/drawing/2014/main" id="{A8B5E4AE-760C-4BCC-A158-04759E6A9244}"/>
              </a:ext>
            </a:extLst>
          </p:cNvPr>
          <p:cNvSpPr>
            <a:spLocks xmlns:a="http://schemas.openxmlformats.org/drawingml/2006/main" noGrp="1"/>
          </p:cNvSpPr>
          <p:nvPr/>
        </p:nvSpPr>
        <p:spPr>
          <a:xfrm xmlns:a="http://schemas.openxmlformats.org/drawingml/2006/main">
            <a:off x="6305550" y="3971925"/>
            <a:ext cx="52768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4384A"/>
                </a:solidFill>
                <a:latin typeface="Arial"/>
                <a:ea typeface="Arial"/>
                <a:cs typeface="Arial"/>
              </a:defRPr>
            </a:pPr>
            <a:r>
              <a:rPr sz="2100" b="0">
                <a:solidFill>
                  <a:srgbClr val="24384A"/>
                </a:solidFill>
                <a:latin typeface="Arial"/>
                <a:ea typeface="Arial"/>
                <a:cs typeface="Arial"/>
              </a:rPr>
              <a:t>O TCC investiga rastreamento de terceiros</a:t>
            </a:r>
          </a:p>
          <a:p xmlns:a="http://schemas.openxmlformats.org/drawingml/2006/main">
            <a:pPr algn="l">
              <a:defRPr sz="2100" b="0">
                <a:solidFill>
                  <a:srgbClr val="24384A"/>
                </a:solidFill>
                <a:latin typeface="Arial"/>
                <a:ea typeface="Arial"/>
                <a:cs typeface="Arial"/>
              </a:defRPr>
            </a:pPr>
            <a:r>
              <a:rPr sz="2100" b="0">
                <a:solidFill>
                  <a:srgbClr val="24384A"/>
                </a:solidFill>
                <a:latin typeface="Arial"/>
                <a:ea typeface="Arial"/>
                <a:cs typeface="Arial"/>
              </a:rPr>
              <a:t>em aplicativos governamentais brasileiros</a:t>
            </a:r>
          </a:p>
          <a:p xmlns:a="http://schemas.openxmlformats.org/drawingml/2006/main">
            <a:pPr algn="l">
              <a:defRPr sz="2100" b="0">
                <a:solidFill>
                  <a:srgbClr val="24384A"/>
                </a:solidFill>
                <a:latin typeface="Arial"/>
                <a:ea typeface="Arial"/>
                <a:cs typeface="Arial"/>
              </a:defRPr>
            </a:pPr>
            <a:r>
              <a:rPr sz="2100" b="0">
                <a:solidFill>
                  <a:srgbClr val="24384A"/>
                </a:solidFill>
                <a:latin typeface="Arial"/>
                <a:ea typeface="Arial"/>
                <a:cs typeface="Arial"/>
              </a:rPr>
              <a:t>e prevê comparação com apps comerciais.</a:t>
            </a:r>
          </a:p>
        </p:txBody>
      </p:sp>
      <p:sp>
        <p:nvSpPr>
          <p:cNvPr id="16" name="Contribuição central: comparar as escolh">
            <a:extLst xmlns:a="http://schemas.openxmlformats.org/drawingml/2006/main">
              <a:ext uri="{FF2B5EF4-FFF2-40B4-BE49-F238E27FC236}">
                <a16:creationId xmlns:a16="http://schemas.microsoft.com/office/drawing/2014/main" id="{279BBED1-232A-468D-940A-04A8FC768E1F}"/>
              </a:ext>
            </a:extLst>
          </p:cNvPr>
          <p:cNvSpPr>
            <a:spLocks xmlns:a="http://schemas.openxmlformats.org/drawingml/2006/main" noGrp="1"/>
          </p:cNvSpPr>
          <p:nvPr/>
        </p:nvSpPr>
        <p:spPr>
          <a:xfrm xmlns:a="http://schemas.openxmlformats.org/drawingml/2006/main">
            <a:off x="609600" y="53911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4875"/>
                </a:solidFill>
                <a:latin typeface="Arial"/>
                <a:ea typeface="Arial"/>
                <a:cs typeface="Arial"/>
              </a:defRPr>
            </a:pPr>
            <a:r>
              <a:rPr sz="1950" b="1">
                <a:solidFill>
                  <a:srgbClr val="174875"/>
                </a:solidFill>
                <a:latin typeface="Arial"/>
                <a:ea typeface="Arial"/>
                <a:cs typeface="Arial"/>
              </a:rPr>
              <a:t>Contribuição central: comparar as escolhas da interface com o envio efetivo de dados.</a:t>
            </a:r>
          </a:p>
        </p:txBody>
      </p:sp>
      <p:sp>
        <p:nvSpPr>
          <p:cNvPr id="17" name="Citações em 17/09/2026: 42 na ACM Digita">
            <a:extLst xmlns:a="http://schemas.openxmlformats.org/drawingml/2006/main">
              <a:ext uri="{FF2B5EF4-FFF2-40B4-BE49-F238E27FC236}">
                <a16:creationId xmlns:a16="http://schemas.microsoft.com/office/drawing/2014/main" id="{E845677B-BA81-4871-BDF3-8ED610AF577A}"/>
              </a:ext>
            </a:extLst>
          </p:cNvPr>
          <p:cNvSpPr>
            <a:spLocks xmlns:a="http://schemas.openxmlformats.org/drawingml/2006/main" noGrp="1"/>
          </p:cNvSpPr>
          <p:nvPr/>
        </p:nvSpPr>
        <p:spPr>
          <a:xfrm xmlns:a="http://schemas.openxmlformats.org/drawingml/2006/main">
            <a:off x="609600" y="59912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96B7A"/>
                </a:solidFill>
                <a:latin typeface="Arial"/>
                <a:ea typeface="Arial"/>
                <a:cs typeface="Arial"/>
              </a:defRPr>
            </a:pPr>
            <a:r>
              <a:rPr sz="1575" b="0">
                <a:solidFill>
                  <a:srgbClr val="596B7A"/>
                </a:solidFill>
                <a:latin typeface="Arial"/>
                <a:ea typeface="Arial"/>
                <a:cs typeface="Arial"/>
              </a:rPr>
              <a:t>Citações em 17/09/2026: 42 na ACM Digital Library · 52 no Scopus · 99 no Google Acadêmico</a:t>
            </a:r>
          </a:p>
        </p:txBody>
      </p:sp>
    </p:spTree>
    <p:extLst>
      <p:ext uri="{BB962C8B-B14F-4D97-AF65-F5344CB8AC3E}">
        <p14:creationId xmlns:p14="http://schemas.microsoft.com/office/powerpoint/2010/main" val="47782310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876020E-A920-4CA2-B9AA-9EB4F15BCFBD}"/>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174875"/>
          </a:solidFill>
          <a:ln xmlns:a="http://schemas.openxmlformats.org/drawingml/2006/main" w="0">
            <a:noFill/>
          </a:ln>
        </p:spPr>
      </p:sp>
      <p:sp>
        <p:nvSpPr>
          <p:cNvPr id="2" name="MÉTRICAS">
            <a:extLst xmlns:a="http://schemas.openxmlformats.org/drawingml/2006/main">
              <a:ext uri="{FF2B5EF4-FFF2-40B4-BE49-F238E27FC236}">
                <a16:creationId xmlns:a16="http://schemas.microsoft.com/office/drawing/2014/main" id="{A5AFAA03-E22B-41E9-A47C-82DD3433F23E}"/>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74875"/>
                </a:solidFill>
                <a:latin typeface="Arial"/>
                <a:ea typeface="Arial"/>
                <a:cs typeface="Arial"/>
              </a:defRPr>
            </a:pPr>
            <a:r>
              <a:rPr sz="1275" b="1">
                <a:solidFill>
                  <a:srgbClr val="174875"/>
                </a:solidFill>
                <a:latin typeface="Arial"/>
                <a:ea typeface="Arial"/>
                <a:cs typeface="Arial"/>
              </a:rPr>
              <a:t>MÉTRICAS</a:t>
            </a:r>
          </a:p>
        </p:txBody>
      </p:sp>
      <p:sp>
        <p:nvSpPr>
          <p:cNvPr id="3" name="Métricas do veículo: ACM CCS">
            <a:extLst xmlns:a="http://schemas.openxmlformats.org/drawingml/2006/main">
              <a:ext uri="{FF2B5EF4-FFF2-40B4-BE49-F238E27FC236}">
                <a16:creationId xmlns:a16="http://schemas.microsoft.com/office/drawing/2014/main" id="{90F2B350-0893-4AAE-BA93-12AF556A0027}"/>
              </a:ext>
            </a:extLst>
          </p:cNvPr>
          <p:cNvSpPr>
            <a:spLocks xmlns:a="http://schemas.openxmlformats.org/drawingml/2006/main" noGrp="1"/>
          </p:cNvSpPr>
          <p:nvPr/>
        </p:nvSpPr>
        <p:spPr>
          <a:xfrm xmlns:a="http://schemas.openxmlformats.org/drawingml/2006/main">
            <a:off x="609600" y="7048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2324F"/>
                </a:solidFill>
                <a:latin typeface="Arial"/>
                <a:ea typeface="Arial"/>
                <a:cs typeface="Arial"/>
              </a:defRPr>
            </a:pPr>
            <a:r>
              <a:rPr sz="3150" b="1">
                <a:solidFill>
                  <a:srgbClr val="12324F"/>
                </a:solidFill>
                <a:latin typeface="Arial"/>
                <a:ea typeface="Arial"/>
                <a:cs typeface="Arial"/>
              </a:rPr>
              <a:t>Métricas do veículo: ACM CCS</a:t>
            </a:r>
          </a:p>
        </p:txBody>
      </p:sp>
      <p:sp>
        <p:nvSpPr>
          <p:cNvPr id="4" name="">
            <a:extLst xmlns:a="http://schemas.openxmlformats.org/drawingml/2006/main">
              <a:ext uri="{FF2B5EF4-FFF2-40B4-BE49-F238E27FC236}">
                <a16:creationId xmlns:a16="http://schemas.microsoft.com/office/drawing/2014/main" id="{AFCB806A-4B3F-45A5-8B19-48349EEC172D}"/>
              </a:ext>
            </a:extLst>
          </p:cNvPr>
          <p:cNvSpPr>
            <a:spLocks xmlns:a="http://schemas.openxmlformats.org/drawingml/2006/main" noGrp="1"/>
          </p:cNvSpPr>
          <p:nvPr/>
        </p:nvSpPr>
        <p:spPr>
          <a:xfrm xmlns:a="http://schemas.openxmlformats.org/drawingml/2006/main">
            <a:off x="609600" y="1390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15A7026-FE2C-406D-894D-B5A2247BEF32}"/>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6" name="Fontes: Google Scholar Metrics e ICORE, ">
            <a:extLst xmlns:a="http://schemas.openxmlformats.org/drawingml/2006/main">
              <a:ext uri="{FF2B5EF4-FFF2-40B4-BE49-F238E27FC236}">
                <a16:creationId xmlns:a16="http://schemas.microsoft.com/office/drawing/2014/main" id="{B26001CC-C6F4-4D7E-BC4D-B33C07B79C31}"/>
              </a:ext>
            </a:extLst>
          </p:cNvPr>
          <p:cNvSpPr>
            <a:spLocks xmlns:a="http://schemas.openxmlformats.org/drawingml/2006/main" noGrp="1"/>
          </p:cNvSpPr>
          <p:nvPr/>
        </p:nvSpPr>
        <p:spPr>
          <a:xfrm xmlns:a="http://schemas.openxmlformats.org/drawingml/2006/main">
            <a:off x="609600" y="6477000"/>
            <a:ext cx="9982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96B7A"/>
                </a:solidFill>
                <a:latin typeface="Arial"/>
                <a:ea typeface="Arial"/>
                <a:cs typeface="Arial"/>
              </a:defRPr>
            </a:pPr>
            <a:r>
              <a:rPr sz="1200" b="0">
                <a:solidFill>
                  <a:srgbClr val="596B7A"/>
                </a:solidFill>
                <a:latin typeface="Arial"/>
                <a:ea typeface="Arial"/>
                <a:cs typeface="Arial"/>
              </a:rPr>
              <a:t>Fontes: Google Scholar Metrics e ICORE, consulta em 17/09/2026; CAPES/Sucupira, Qualis Eventos 2021–2024, consulta em 28/09/2026.</a:t>
            </a:r>
          </a:p>
        </p:txBody>
      </p:sp>
      <p:sp>
        <p:nvSpPr>
          <p:cNvPr id="7" name="04 / 23">
            <a:extLst xmlns:a="http://schemas.openxmlformats.org/drawingml/2006/main">
              <a:ext uri="{FF2B5EF4-FFF2-40B4-BE49-F238E27FC236}">
                <a16:creationId xmlns:a16="http://schemas.microsoft.com/office/drawing/2014/main" id="{BB91F976-EBDD-4912-BE10-AD1DE8A0F090}"/>
              </a:ext>
            </a:extLst>
          </p:cNvPr>
          <p:cNvSpPr>
            <a:spLocks xmlns:a="http://schemas.openxmlformats.org/drawingml/2006/main" noGrp="1"/>
          </p:cNvSpPr>
          <p:nvPr/>
        </p:nvSpPr>
        <p:spPr>
          <a:xfrm xmlns:a="http://schemas.openxmlformats.org/drawingml/2006/main">
            <a:off x="10668000" y="64770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96B7A"/>
                </a:solidFill>
                <a:latin typeface="Arial"/>
                <a:ea typeface="Arial"/>
                <a:cs typeface="Arial"/>
              </a:defRPr>
            </a:pPr>
            <a:r>
              <a:rPr sz="1200" b="0">
                <a:solidFill>
                  <a:srgbClr val="596B7A"/>
                </a:solidFill>
                <a:latin typeface="Arial"/>
                <a:ea typeface="Arial"/>
                <a:cs typeface="Arial"/>
              </a:rPr>
              <a:t>04 / 23</a:t>
            </a:r>
          </a:p>
        </p:txBody>
      </p:sp>
      <p:sp>
        <p:nvSpPr>
          <p:cNvPr id="8" name="GOOGLE SCHOLAR METRICS">
            <a:extLst xmlns:a="http://schemas.openxmlformats.org/drawingml/2006/main">
              <a:ext uri="{FF2B5EF4-FFF2-40B4-BE49-F238E27FC236}">
                <a16:creationId xmlns:a16="http://schemas.microsoft.com/office/drawing/2014/main" id="{653E458A-B2B9-4622-B351-133277BCAE25}"/>
              </a:ext>
            </a:extLst>
          </p:cNvPr>
          <p:cNvSpPr>
            <a:spLocks xmlns:a="http://schemas.openxmlformats.org/drawingml/2006/main" noGrp="1"/>
          </p:cNvSpPr>
          <p:nvPr/>
        </p:nvSpPr>
        <p:spPr>
          <a:xfrm xmlns:a="http://schemas.openxmlformats.org/drawingml/2006/main">
            <a:off x="609600" y="1752600"/>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74875"/>
                </a:solidFill>
                <a:latin typeface="Arial"/>
                <a:ea typeface="Arial"/>
                <a:cs typeface="Arial"/>
              </a:defRPr>
            </a:pPr>
            <a:r>
              <a:rPr sz="1350" b="1">
                <a:solidFill>
                  <a:srgbClr val="174875"/>
                </a:solidFill>
                <a:latin typeface="Arial"/>
                <a:ea typeface="Arial"/>
                <a:cs typeface="Arial"/>
              </a:rPr>
              <a:t>GOOGLE SCHOLAR METRICS</a:t>
            </a:r>
          </a:p>
        </p:txBody>
      </p:sp>
      <p:sp>
        <p:nvSpPr>
          <p:cNvPr id="9" name="90">
            <a:extLst xmlns:a="http://schemas.openxmlformats.org/drawingml/2006/main">
              <a:ext uri="{FF2B5EF4-FFF2-40B4-BE49-F238E27FC236}">
                <a16:creationId xmlns:a16="http://schemas.microsoft.com/office/drawing/2014/main" id="{0983DA16-9C67-41AE-BDF8-4EA790C934AB}"/>
              </a:ext>
            </a:extLst>
          </p:cNvPr>
          <p:cNvSpPr>
            <a:spLocks xmlns:a="http://schemas.openxmlformats.org/drawingml/2006/main" noGrp="1"/>
          </p:cNvSpPr>
          <p:nvPr/>
        </p:nvSpPr>
        <p:spPr>
          <a:xfrm xmlns:a="http://schemas.openxmlformats.org/drawingml/2006/main">
            <a:off x="609600" y="2152650"/>
            <a:ext cx="266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174875"/>
                </a:solidFill>
                <a:latin typeface="Arial"/>
                <a:ea typeface="Arial"/>
                <a:cs typeface="Arial"/>
              </a:defRPr>
            </a:pPr>
            <a:r>
              <a:rPr sz="5250" b="1">
                <a:solidFill>
                  <a:srgbClr val="174875"/>
                </a:solidFill>
                <a:latin typeface="Arial"/>
                <a:ea typeface="Arial"/>
                <a:cs typeface="Arial"/>
              </a:rPr>
              <a:t>90</a:t>
            </a:r>
          </a:p>
        </p:txBody>
      </p:sp>
      <p:sp>
        <p:nvSpPr>
          <p:cNvPr id="10" name="índice h5&#10;mediana h5: 146">
            <a:extLst xmlns:a="http://schemas.openxmlformats.org/drawingml/2006/main">
              <a:ext uri="{FF2B5EF4-FFF2-40B4-BE49-F238E27FC236}">
                <a16:creationId xmlns:a16="http://schemas.microsoft.com/office/drawing/2014/main" id="{F7AB11DF-505F-46CD-AF09-F3206335EDF4}"/>
              </a:ext>
            </a:extLst>
          </p:cNvPr>
          <p:cNvSpPr>
            <a:spLocks xmlns:a="http://schemas.openxmlformats.org/drawingml/2006/main" noGrp="1"/>
          </p:cNvSpPr>
          <p:nvPr/>
        </p:nvSpPr>
        <p:spPr>
          <a:xfrm xmlns:a="http://schemas.openxmlformats.org/drawingml/2006/main">
            <a:off x="609600" y="3105150"/>
            <a:ext cx="476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4384A"/>
                </a:solidFill>
                <a:latin typeface="Arial"/>
                <a:ea typeface="Arial"/>
                <a:cs typeface="Arial"/>
              </a:defRPr>
            </a:pPr>
            <a:r>
              <a:rPr sz="2100" b="0">
                <a:solidFill>
                  <a:srgbClr val="24384A"/>
                </a:solidFill>
                <a:latin typeface="Arial"/>
                <a:ea typeface="Arial"/>
                <a:cs typeface="Arial"/>
              </a:rPr>
              <a:t>índice h5</a:t>
            </a:r>
          </a:p>
          <a:p xmlns:a="http://schemas.openxmlformats.org/drawingml/2006/main">
            <a:pPr algn="l">
              <a:defRPr sz="2100" b="0">
                <a:solidFill>
                  <a:srgbClr val="24384A"/>
                </a:solidFill>
                <a:latin typeface="Arial"/>
                <a:ea typeface="Arial"/>
                <a:cs typeface="Arial"/>
              </a:defRPr>
            </a:pPr>
            <a:r>
              <a:rPr sz="2100" b="0">
                <a:solidFill>
                  <a:srgbClr val="24384A"/>
                </a:solidFill>
                <a:latin typeface="Arial"/>
                <a:ea typeface="Arial"/>
                <a:cs typeface="Arial"/>
              </a:rPr>
              <a:t>mediana h5: 146</a:t>
            </a:r>
          </a:p>
        </p:txBody>
      </p:sp>
      <p:sp>
        <p:nvSpPr>
          <p:cNvPr id="11" name="Computer Security &amp; Cryptography: posiçã">
            <a:extLst xmlns:a="http://schemas.openxmlformats.org/drawingml/2006/main">
              <a:ext uri="{FF2B5EF4-FFF2-40B4-BE49-F238E27FC236}">
                <a16:creationId xmlns:a16="http://schemas.microsoft.com/office/drawing/2014/main" id="{5FAE5E31-96F8-43A5-8DCC-54ED9BCCDDA5}"/>
              </a:ext>
            </a:extLst>
          </p:cNvPr>
          <p:cNvSpPr>
            <a:spLocks xmlns:a="http://schemas.openxmlformats.org/drawingml/2006/main" noGrp="1"/>
          </p:cNvSpPr>
          <p:nvPr/>
        </p:nvSpPr>
        <p:spPr>
          <a:xfrm xmlns:a="http://schemas.openxmlformats.org/drawingml/2006/main">
            <a:off x="609600" y="3905250"/>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96B7A"/>
                </a:solidFill>
                <a:latin typeface="Arial"/>
                <a:ea typeface="Arial"/>
                <a:cs typeface="Arial"/>
              </a:defRPr>
            </a:pPr>
            <a:r>
              <a:rPr sz="1575" b="0">
                <a:solidFill>
                  <a:srgbClr val="596B7A"/>
                </a:solidFill>
                <a:latin typeface="Arial"/>
                <a:ea typeface="Arial"/>
                <a:cs typeface="Arial"/>
              </a:rPr>
              <a:t>Computer Security &amp; Cryptography: posição 5.</a:t>
            </a:r>
          </a:p>
          <a:p xmlns:a="http://schemas.openxmlformats.org/drawingml/2006/main">
            <a:pPr algn="l">
              <a:defRPr sz="1575" b="0">
                <a:solidFill>
                  <a:srgbClr val="596B7A"/>
                </a:solidFill>
                <a:latin typeface="Arial"/>
                <a:ea typeface="Arial"/>
                <a:cs typeface="Arial"/>
              </a:defRPr>
            </a:pPr>
            <a:r>
              <a:rPr sz="1575" b="0">
                <a:solidFill>
                  <a:srgbClr val="596B7A"/>
                </a:solidFill>
                <a:latin typeface="Arial"/>
                <a:ea typeface="Arial"/>
                <a:cs typeface="Arial"/>
              </a:rPr>
              <a:t>Entre as conferências da lista, é a 3ª.</a:t>
            </a:r>
          </a:p>
          <a:p xmlns:a="http://schemas.openxmlformats.org/drawingml/2006/main">
            <a:pPr algn="l">
              <a:defRPr sz="1575" b="0">
                <a:solidFill>
                  <a:srgbClr val="596B7A"/>
                </a:solidFill>
                <a:latin typeface="Arial"/>
                <a:ea typeface="Arial"/>
                <a:cs typeface="Arial"/>
              </a:defRPr>
            </a:pPr>
            <a:r>
              <a:rPr sz="1575" b="0">
                <a:solidFill>
                  <a:srgbClr val="596B7A"/>
                </a:solidFill>
                <a:latin typeface="Arial"/>
                <a:ea typeface="Arial"/>
                <a:cs typeface="Arial"/>
              </a:rPr>
              <a:t>Consulta: 17/09/2026.</a:t>
            </a:r>
          </a:p>
        </p:txBody>
      </p:sp>
      <p:sp>
        <p:nvSpPr>
          <p:cNvPr id="12" name="">
            <a:extLst xmlns:a="http://schemas.openxmlformats.org/drawingml/2006/main">
              <a:ext uri="{FF2B5EF4-FFF2-40B4-BE49-F238E27FC236}">
                <a16:creationId xmlns:a16="http://schemas.microsoft.com/office/drawing/2014/main" id="{9B1E04DD-1C16-4668-8661-14420B0E4781}"/>
              </a:ext>
            </a:extLst>
          </p:cNvPr>
          <p:cNvSpPr>
            <a:spLocks xmlns:a="http://schemas.openxmlformats.org/drawingml/2006/main" noGrp="1"/>
          </p:cNvSpPr>
          <p:nvPr/>
        </p:nvSpPr>
        <p:spPr>
          <a:xfrm xmlns:a="http://schemas.openxmlformats.org/drawingml/2006/main">
            <a:off x="6019800" y="1743075"/>
            <a:ext cx="9525" cy="280987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13" name="ICORE CONFERENCE PORTAL">
            <a:extLst xmlns:a="http://schemas.openxmlformats.org/drawingml/2006/main">
              <a:ext uri="{FF2B5EF4-FFF2-40B4-BE49-F238E27FC236}">
                <a16:creationId xmlns:a16="http://schemas.microsoft.com/office/drawing/2014/main" id="{4F64CCA4-46D4-406D-A966-1C5ED9CE6C23}"/>
              </a:ext>
            </a:extLst>
          </p:cNvPr>
          <p:cNvSpPr>
            <a:spLocks xmlns:a="http://schemas.openxmlformats.org/drawingml/2006/main" noGrp="1"/>
          </p:cNvSpPr>
          <p:nvPr/>
        </p:nvSpPr>
        <p:spPr>
          <a:xfrm xmlns:a="http://schemas.openxmlformats.org/drawingml/2006/main">
            <a:off x="6553200" y="1752600"/>
            <a:ext cx="502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74875"/>
                </a:solidFill>
                <a:latin typeface="Arial"/>
                <a:ea typeface="Arial"/>
                <a:cs typeface="Arial"/>
              </a:defRPr>
            </a:pPr>
            <a:r>
              <a:rPr sz="1350" b="1">
                <a:solidFill>
                  <a:srgbClr val="174875"/>
                </a:solidFill>
                <a:latin typeface="Arial"/>
                <a:ea typeface="Arial"/>
                <a:cs typeface="Arial"/>
              </a:rPr>
              <a:t>ICORE CONFERENCE PORTAL</a:t>
            </a:r>
          </a:p>
        </p:txBody>
      </p:sp>
      <p:sp>
        <p:nvSpPr>
          <p:cNvPr id="14" name="A*">
            <a:extLst xmlns:a="http://schemas.openxmlformats.org/drawingml/2006/main">
              <a:ext uri="{FF2B5EF4-FFF2-40B4-BE49-F238E27FC236}">
                <a16:creationId xmlns:a16="http://schemas.microsoft.com/office/drawing/2014/main" id="{C4CD8157-6426-41C7-89BD-38BF22A72F27}"/>
              </a:ext>
            </a:extLst>
          </p:cNvPr>
          <p:cNvSpPr>
            <a:spLocks xmlns:a="http://schemas.openxmlformats.org/drawingml/2006/main" noGrp="1"/>
          </p:cNvSpPr>
          <p:nvPr/>
        </p:nvSpPr>
        <p:spPr>
          <a:xfrm xmlns:a="http://schemas.openxmlformats.org/drawingml/2006/main">
            <a:off x="6553200" y="2152650"/>
            <a:ext cx="5029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174875"/>
                </a:solidFill>
                <a:latin typeface="Arial"/>
                <a:ea typeface="Arial"/>
                <a:cs typeface="Arial"/>
              </a:defRPr>
            </a:pPr>
            <a:r>
              <a:rPr sz="5250" b="1">
                <a:solidFill>
                  <a:srgbClr val="174875"/>
                </a:solidFill>
                <a:latin typeface="Arial"/>
                <a:ea typeface="Arial"/>
                <a:cs typeface="Arial"/>
              </a:rPr>
              <a:t>A*</a:t>
            </a:r>
          </a:p>
        </p:txBody>
      </p:sp>
      <p:sp>
        <p:nvSpPr>
          <p:cNvPr id="15" name="ACM CCS&#10;classificação ICORE 2026">
            <a:extLst xmlns:a="http://schemas.openxmlformats.org/drawingml/2006/main">
              <a:ext uri="{FF2B5EF4-FFF2-40B4-BE49-F238E27FC236}">
                <a16:creationId xmlns:a16="http://schemas.microsoft.com/office/drawing/2014/main" id="{29B398B5-4277-4A6F-AC34-40508A03D6ED}"/>
              </a:ext>
            </a:extLst>
          </p:cNvPr>
          <p:cNvSpPr>
            <a:spLocks xmlns:a="http://schemas.openxmlformats.org/drawingml/2006/main" noGrp="1"/>
          </p:cNvSpPr>
          <p:nvPr/>
        </p:nvSpPr>
        <p:spPr>
          <a:xfrm xmlns:a="http://schemas.openxmlformats.org/drawingml/2006/main">
            <a:off x="6553200" y="3105150"/>
            <a:ext cx="4953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4384A"/>
                </a:solidFill>
                <a:latin typeface="Arial"/>
                <a:ea typeface="Arial"/>
                <a:cs typeface="Arial"/>
              </a:defRPr>
            </a:pPr>
            <a:r>
              <a:rPr sz="2100" b="0">
                <a:solidFill>
                  <a:srgbClr val="24384A"/>
                </a:solidFill>
                <a:latin typeface="Arial"/>
                <a:ea typeface="Arial"/>
                <a:cs typeface="Arial"/>
              </a:rPr>
              <a:t>ACM CCS</a:t>
            </a:r>
          </a:p>
          <a:p xmlns:a="http://schemas.openxmlformats.org/drawingml/2006/main">
            <a:pPr algn="l">
              <a:defRPr sz="2100" b="0">
                <a:solidFill>
                  <a:srgbClr val="24384A"/>
                </a:solidFill>
                <a:latin typeface="Arial"/>
                <a:ea typeface="Arial"/>
                <a:cs typeface="Arial"/>
              </a:defRPr>
            </a:pPr>
            <a:r>
              <a:rPr sz="2100" b="0">
                <a:solidFill>
                  <a:srgbClr val="24384A"/>
                </a:solidFill>
                <a:latin typeface="Arial"/>
                <a:ea typeface="Arial"/>
                <a:cs typeface="Arial"/>
              </a:rPr>
              <a:t>classificação ICORE 2026</a:t>
            </a:r>
          </a:p>
        </p:txBody>
      </p:sp>
      <p:sp>
        <p:nvSpPr>
          <p:cNvPr id="16" name="Classificação registrada no portal.&#10;Cons">
            <a:extLst xmlns:a="http://schemas.openxmlformats.org/drawingml/2006/main">
              <a:ext uri="{FF2B5EF4-FFF2-40B4-BE49-F238E27FC236}">
                <a16:creationId xmlns:a16="http://schemas.microsoft.com/office/drawing/2014/main" id="{CBBDF912-A107-4F88-BF2B-3EAC8EBB9443}"/>
              </a:ext>
            </a:extLst>
          </p:cNvPr>
          <p:cNvSpPr>
            <a:spLocks xmlns:a="http://schemas.openxmlformats.org/drawingml/2006/main" noGrp="1"/>
          </p:cNvSpPr>
          <p:nvPr/>
        </p:nvSpPr>
        <p:spPr>
          <a:xfrm xmlns:a="http://schemas.openxmlformats.org/drawingml/2006/main">
            <a:off x="6553200" y="39433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96B7A"/>
                </a:solidFill>
                <a:latin typeface="Arial"/>
                <a:ea typeface="Arial"/>
                <a:cs typeface="Arial"/>
              </a:defRPr>
            </a:pPr>
            <a:r>
              <a:rPr sz="1575" b="0">
                <a:solidFill>
                  <a:srgbClr val="596B7A"/>
                </a:solidFill>
                <a:latin typeface="Arial"/>
                <a:ea typeface="Arial"/>
                <a:cs typeface="Arial"/>
              </a:rPr>
              <a:t>Classificação registrada no portal.</a:t>
            </a:r>
          </a:p>
          <a:p xmlns:a="http://schemas.openxmlformats.org/drawingml/2006/main">
            <a:pPr algn="l">
              <a:defRPr sz="1575" b="0">
                <a:solidFill>
                  <a:srgbClr val="596B7A"/>
                </a:solidFill>
                <a:latin typeface="Arial"/>
                <a:ea typeface="Arial"/>
                <a:cs typeface="Arial"/>
              </a:defRPr>
            </a:pPr>
            <a:r>
              <a:rPr sz="1575" b="0">
                <a:solidFill>
                  <a:srgbClr val="596B7A"/>
                </a:solidFill>
                <a:latin typeface="Arial"/>
                <a:ea typeface="Arial"/>
                <a:cs typeface="Arial"/>
              </a:rPr>
              <a:t>Consulta: 17/09/2026.</a:t>
            </a:r>
          </a:p>
        </p:txBody>
      </p:sp>
      <p:sp>
        <p:nvSpPr>
          <p:cNvPr id="17" name="">
            <a:extLst xmlns:a="http://schemas.openxmlformats.org/drawingml/2006/main">
              <a:ext uri="{FF2B5EF4-FFF2-40B4-BE49-F238E27FC236}">
                <a16:creationId xmlns:a16="http://schemas.microsoft.com/office/drawing/2014/main" id="{915A94BE-3E85-491C-9DF3-AA36079E2BA4}"/>
              </a:ext>
            </a:extLst>
          </p:cNvPr>
          <p:cNvSpPr>
            <a:spLocks xmlns:a="http://schemas.openxmlformats.org/drawingml/2006/main" noGrp="1"/>
          </p:cNvSpPr>
          <p:nvPr/>
        </p:nvSpPr>
        <p:spPr>
          <a:xfrm xmlns:a="http://schemas.openxmlformats.org/drawingml/2006/main">
            <a:off x="609600" y="4829175"/>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18" name="QUALIS CAPES">
            <a:extLst xmlns:a="http://schemas.openxmlformats.org/drawingml/2006/main">
              <a:ext uri="{FF2B5EF4-FFF2-40B4-BE49-F238E27FC236}">
                <a16:creationId xmlns:a16="http://schemas.microsoft.com/office/drawing/2014/main" id="{6CA66E99-1A36-4DD5-875B-312924A7D848}"/>
              </a:ext>
            </a:extLst>
          </p:cNvPr>
          <p:cNvSpPr>
            <a:spLocks xmlns:a="http://schemas.openxmlformats.org/drawingml/2006/main" noGrp="1"/>
          </p:cNvSpPr>
          <p:nvPr/>
        </p:nvSpPr>
        <p:spPr>
          <a:xfrm xmlns:a="http://schemas.openxmlformats.org/drawingml/2006/main">
            <a:off x="609600" y="5095875"/>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95652D"/>
                </a:solidFill>
                <a:latin typeface="Arial"/>
                <a:ea typeface="Arial"/>
                <a:cs typeface="Arial"/>
              </a:defRPr>
            </a:pPr>
            <a:r>
              <a:rPr sz="1350" b="1">
                <a:solidFill>
                  <a:srgbClr val="95652D"/>
                </a:solidFill>
                <a:latin typeface="Arial"/>
                <a:ea typeface="Arial"/>
                <a:cs typeface="Arial"/>
              </a:rPr>
              <a:t>QUALIS CAPES</a:t>
            </a:r>
          </a:p>
        </p:txBody>
      </p:sp>
      <p:sp>
        <p:nvSpPr>
          <p:cNvPr id="19" name="A1">
            <a:extLst xmlns:a="http://schemas.openxmlformats.org/drawingml/2006/main">
              <a:ext uri="{FF2B5EF4-FFF2-40B4-BE49-F238E27FC236}">
                <a16:creationId xmlns:a16="http://schemas.microsoft.com/office/drawing/2014/main" id="{DFB39244-0067-4B15-BE43-159CBD84BF7E}"/>
              </a:ext>
            </a:extLst>
          </p:cNvPr>
          <p:cNvSpPr>
            <a:spLocks xmlns:a="http://schemas.openxmlformats.org/drawingml/2006/main" noGrp="1"/>
          </p:cNvSpPr>
          <p:nvPr/>
        </p:nvSpPr>
        <p:spPr>
          <a:xfrm xmlns:a="http://schemas.openxmlformats.org/drawingml/2006/main">
            <a:off x="609600" y="5476875"/>
            <a:ext cx="1104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125" b="1">
                <a:solidFill>
                  <a:srgbClr val="174875"/>
                </a:solidFill>
                <a:latin typeface="Arial"/>
                <a:ea typeface="Arial"/>
                <a:cs typeface="Arial"/>
              </a:defRPr>
            </a:pPr>
            <a:r>
              <a:rPr sz="4125" b="1">
                <a:solidFill>
                  <a:srgbClr val="174875"/>
                </a:solidFill>
                <a:latin typeface="Arial"/>
                <a:ea typeface="Arial"/>
                <a:cs typeface="Arial"/>
              </a:rPr>
              <a:t>A1</a:t>
            </a:r>
          </a:p>
        </p:txBody>
      </p:sp>
      <p:sp>
        <p:nvSpPr>
          <p:cNvPr id="20" name="Qualis Eventos da Computação, quadriênio">
            <a:extLst xmlns:a="http://schemas.openxmlformats.org/drawingml/2006/main">
              <a:ext uri="{FF2B5EF4-FFF2-40B4-BE49-F238E27FC236}">
                <a16:creationId xmlns:a16="http://schemas.microsoft.com/office/drawing/2014/main" id="{900D0807-EB91-4B6F-AF53-87E17E9E0974}"/>
              </a:ext>
            </a:extLst>
          </p:cNvPr>
          <p:cNvSpPr>
            <a:spLocks xmlns:a="http://schemas.openxmlformats.org/drawingml/2006/main" noGrp="1"/>
          </p:cNvSpPr>
          <p:nvPr/>
        </p:nvSpPr>
        <p:spPr>
          <a:xfrm xmlns:a="http://schemas.openxmlformats.org/drawingml/2006/main">
            <a:off x="1857375" y="5353050"/>
            <a:ext cx="9725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24384A"/>
                </a:solidFill>
                <a:latin typeface="Arial"/>
                <a:ea typeface="Arial"/>
                <a:cs typeface="Arial"/>
              </a:defRPr>
            </a:pPr>
            <a:r>
              <a:rPr sz="1725" b="0">
                <a:solidFill>
                  <a:srgbClr val="24384A"/>
                </a:solidFill>
                <a:latin typeface="Arial"/>
                <a:ea typeface="Arial"/>
                <a:cs typeface="Arial"/>
              </a:rPr>
              <a:t>Qualis Eventos da Computação, quadriênio 2021–2024.</a:t>
            </a:r>
          </a:p>
          <a:p xmlns:a="http://schemas.openxmlformats.org/drawingml/2006/main">
            <a:pPr algn="l">
              <a:defRPr sz="1725" b="0">
                <a:solidFill>
                  <a:srgbClr val="24384A"/>
                </a:solidFill>
                <a:latin typeface="Arial"/>
                <a:ea typeface="Arial"/>
                <a:cs typeface="Arial"/>
              </a:defRPr>
            </a:pPr>
            <a:r>
              <a:rPr sz="1725" b="0">
                <a:solidFill>
                  <a:srgbClr val="24384A"/>
                </a:solidFill>
                <a:latin typeface="Arial"/>
                <a:ea typeface="Arial"/>
                <a:cs typeface="Arial"/>
              </a:rPr>
              <a:t>Relatório oficial, p. 6. Consulta à Sucupira em 28/09/2026.</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080771f189bd419a"/>
          <a:stretch xmlns:a="http://schemas.openxmlformats.org/drawingml/2006/main"/>
        </p:blipFill>
        <p:spPr>
          <a:xfrm xmlns:a="http://schemas.openxmlformats.org/drawingml/2006/main">
            <a:off x="1857375" y="5992054"/>
            <a:ext cx="9725025" cy="265043"/>
          </a:xfrm>
          <a:prstGeom xmlns:a="http://schemas.openxmlformats.org/drawingml/2006/main" prst="rect">
            <a:avLst/>
          </a:prstGeom>
        </p:spPr>
      </p:pic>
    </p:spTree>
    <p:extLst>
      <p:ext uri="{BB962C8B-B14F-4D97-AF65-F5344CB8AC3E}">
        <p14:creationId xmlns:p14="http://schemas.microsoft.com/office/powerpoint/2010/main" val="71061290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25E950A-49E5-4F63-84B3-641C95F5914D}"/>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174875"/>
          </a:solidFill>
          <a:ln xmlns:a="http://schemas.openxmlformats.org/drawingml/2006/main" w="0">
            <a:noFill/>
          </a:ln>
        </p:spPr>
      </p:sp>
      <p:sp>
        <p:nvSpPr>
          <p:cNvPr id="2" name="ESTRUTURA">
            <a:extLst xmlns:a="http://schemas.openxmlformats.org/drawingml/2006/main">
              <a:ext uri="{FF2B5EF4-FFF2-40B4-BE49-F238E27FC236}">
                <a16:creationId xmlns:a16="http://schemas.microsoft.com/office/drawing/2014/main" id="{4690D2C4-BDFF-4D7A-856D-78994FDA7C37}"/>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74875"/>
                </a:solidFill>
                <a:latin typeface="Arial"/>
                <a:ea typeface="Arial"/>
                <a:cs typeface="Arial"/>
              </a:defRPr>
            </a:pPr>
            <a:r>
              <a:rPr sz="1275" b="1">
                <a:solidFill>
                  <a:srgbClr val="174875"/>
                </a:solidFill>
                <a:latin typeface="Arial"/>
                <a:ea typeface="Arial"/>
                <a:cs typeface="Arial"/>
              </a:rPr>
              <a:t>ESTRUTURA</a:t>
            </a:r>
          </a:p>
        </p:txBody>
      </p:sp>
      <p:sp>
        <p:nvSpPr>
          <p:cNvPr id="3" name="Como o artigo organiza o argumento">
            <a:extLst xmlns:a="http://schemas.openxmlformats.org/drawingml/2006/main">
              <a:ext uri="{FF2B5EF4-FFF2-40B4-BE49-F238E27FC236}">
                <a16:creationId xmlns:a16="http://schemas.microsoft.com/office/drawing/2014/main" id="{A38ACF36-F82E-4033-8C6F-58787456334B}"/>
              </a:ext>
            </a:extLst>
          </p:cNvPr>
          <p:cNvSpPr>
            <a:spLocks xmlns:a="http://schemas.openxmlformats.org/drawingml/2006/main" noGrp="1"/>
          </p:cNvSpPr>
          <p:nvPr/>
        </p:nvSpPr>
        <p:spPr>
          <a:xfrm xmlns:a="http://schemas.openxmlformats.org/drawingml/2006/main">
            <a:off x="609600" y="7048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2324F"/>
                </a:solidFill>
                <a:latin typeface="Arial"/>
                <a:ea typeface="Arial"/>
                <a:cs typeface="Arial"/>
              </a:defRPr>
            </a:pPr>
            <a:r>
              <a:rPr sz="3150" b="1">
                <a:solidFill>
                  <a:srgbClr val="12324F"/>
                </a:solidFill>
                <a:latin typeface="Arial"/>
                <a:ea typeface="Arial"/>
                <a:cs typeface="Arial"/>
              </a:rPr>
              <a:t>Como o artigo organiza o argumento</a:t>
            </a:r>
          </a:p>
        </p:txBody>
      </p:sp>
      <p:sp>
        <p:nvSpPr>
          <p:cNvPr id="4" name="">
            <a:extLst xmlns:a="http://schemas.openxmlformats.org/drawingml/2006/main">
              <a:ext uri="{FF2B5EF4-FFF2-40B4-BE49-F238E27FC236}">
                <a16:creationId xmlns:a16="http://schemas.microsoft.com/office/drawing/2014/main" id="{DD9B5DD2-FB67-40FD-AF43-B27592622FDF}"/>
              </a:ext>
            </a:extLst>
          </p:cNvPr>
          <p:cNvSpPr>
            <a:spLocks xmlns:a="http://schemas.openxmlformats.org/drawingml/2006/main" noGrp="1"/>
          </p:cNvSpPr>
          <p:nvPr/>
        </p:nvSpPr>
        <p:spPr>
          <a:xfrm xmlns:a="http://schemas.openxmlformats.org/drawingml/2006/main">
            <a:off x="609600" y="1390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049C2B6-87C2-4BDD-A9CC-FC81B853C852}"/>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6" name="Nguyen, Backes e Stock (2022), p. 1–13. ">
            <a:extLst xmlns:a="http://schemas.openxmlformats.org/drawingml/2006/main">
              <a:ext uri="{FF2B5EF4-FFF2-40B4-BE49-F238E27FC236}">
                <a16:creationId xmlns:a16="http://schemas.microsoft.com/office/drawing/2014/main" id="{EEA6CF2B-61E0-4048-8EB9-B696E25ED652}"/>
              </a:ext>
            </a:extLst>
          </p:cNvPr>
          <p:cNvSpPr>
            <a:spLocks xmlns:a="http://schemas.openxmlformats.org/drawingml/2006/main" noGrp="1"/>
          </p:cNvSpPr>
          <p:nvPr/>
        </p:nvSpPr>
        <p:spPr>
          <a:xfrm xmlns:a="http://schemas.openxmlformats.org/drawingml/2006/main">
            <a:off x="609600" y="6477000"/>
            <a:ext cx="9982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96B7A"/>
                </a:solidFill>
                <a:latin typeface="Arial"/>
                <a:ea typeface="Arial"/>
                <a:cs typeface="Arial"/>
              </a:defRPr>
            </a:pPr>
            <a:r>
              <a:rPr sz="1200" b="0">
                <a:solidFill>
                  <a:srgbClr val="596B7A"/>
                </a:solidFill>
                <a:latin typeface="Arial"/>
                <a:ea typeface="Arial"/>
                <a:cs typeface="Arial"/>
              </a:rPr>
              <a:t>Nguyen, Backes e Stock (2022), p. 1–13. Funções das seções: interpretação do seminário.</a:t>
            </a:r>
          </a:p>
        </p:txBody>
      </p:sp>
      <p:sp>
        <p:nvSpPr>
          <p:cNvPr id="7" name="05 / 23">
            <a:extLst xmlns:a="http://schemas.openxmlformats.org/drawingml/2006/main">
              <a:ext uri="{FF2B5EF4-FFF2-40B4-BE49-F238E27FC236}">
                <a16:creationId xmlns:a16="http://schemas.microsoft.com/office/drawing/2014/main" id="{F42D107B-331E-4FAB-9494-EEDE2426277C}"/>
              </a:ext>
            </a:extLst>
          </p:cNvPr>
          <p:cNvSpPr>
            <a:spLocks xmlns:a="http://schemas.openxmlformats.org/drawingml/2006/main" noGrp="1"/>
          </p:cNvSpPr>
          <p:nvPr/>
        </p:nvSpPr>
        <p:spPr>
          <a:xfrm xmlns:a="http://schemas.openxmlformats.org/drawingml/2006/main">
            <a:off x="10668000" y="64770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96B7A"/>
                </a:solidFill>
                <a:latin typeface="Arial"/>
                <a:ea typeface="Arial"/>
                <a:cs typeface="Arial"/>
              </a:defRPr>
            </a:pPr>
            <a:r>
              <a:rPr sz="1200" b="0">
                <a:solidFill>
                  <a:srgbClr val="596B7A"/>
                </a:solidFill>
                <a:latin typeface="Arial"/>
                <a:ea typeface="Arial"/>
                <a:cs typeface="Arial"/>
              </a:rPr>
              <a:t>05 / 23</a:t>
            </a:r>
          </a:p>
        </p:txBody>
      </p:sp>
      <p:graphicFrame>
        <p:nvGraphicFramePr>
          <p:cNvPr id="17" name=""/>
          <p:cNvGraphicFramePr/>
          <p:nvPr/>
        </p:nvGraphicFramePr>
        <p:xfrm>
          <a:off xmlns:a="http://schemas.openxmlformats.org/drawingml/2006/main" x="609600" y="1685925"/>
          <a:ext xmlns:a="http://schemas.openxmlformats.org/drawingml/2006/main" cx="10972800" cy="4114800"/>
        </p:xfrm>
        <a:graphic xmlns:a="http://schemas.openxmlformats.org/drawingml/2006/main">
          <a:graphicData uri="http://schemas.openxmlformats.org/drawingml/2006/table">
            <a:tbl>
              <a:tblPr firstRow="0" bandRow="0"/>
              <a:tblGrid>
                <a:gridCol w="5400675"/>
                <a:gridCol w="5572125"/>
              </a:tblGrid>
              <a:tr h="457200">
                <a:tc>
                  <a:txBody>
                    <a:bodyPr wrap="square" lIns="114300" tIns="95250" rIns="114300" bIns="95250">
                      <a:noAutofit/>
                    </a:bodyPr>
                    <a:lstStyle/>
                    <a:p>
                      <a:pPr algn="l"/>
                      <a:r>
                        <a:rPr sz="1650" b="1">
                          <a:solidFill>
                            <a:srgbClr val="FFFFFF"/>
                          </a:solidFill>
                          <a:latin typeface="Arial"/>
                          <a:ea typeface="Arial"/>
                          <a:cs typeface="Arial"/>
                        </a:rPr>
                        <a:t>Parte do artigo</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174875"/>
                    </a:solidFill>
                  </a:tcPr>
                </a:tc>
                <a:tc>
                  <a:txBody>
                    <a:bodyPr wrap="square" lIns="114300" tIns="95250" rIns="114300" bIns="95250">
                      <a:noAutofit/>
                    </a:bodyPr>
                    <a:lstStyle/>
                    <a:p>
                      <a:pPr algn="ctr"/>
                      <a:r>
                        <a:rPr sz="1650" b="1">
                          <a:solidFill>
                            <a:srgbClr val="FFFFFF"/>
                          </a:solidFill>
                          <a:latin typeface="Arial"/>
                          <a:ea typeface="Arial"/>
                          <a:cs typeface="Arial"/>
                        </a:rPr>
                        <a:t>Função na pesquisa</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174875"/>
                    </a:solidFill>
                  </a:tcPr>
                </a:tc>
              </a:tr>
              <a:tr h="457200">
                <a:tc>
                  <a:txBody>
                    <a:bodyPr wrap="square" lIns="114300" tIns="95250" rIns="114300" bIns="95250">
                      <a:noAutofit/>
                    </a:bodyPr>
                    <a:lstStyle/>
                    <a:p>
                      <a:pPr algn="l"/>
                      <a:r>
                        <a:rPr sz="1650" b="0">
                          <a:solidFill>
                            <a:srgbClr val="24384A"/>
                          </a:solidFill>
                          <a:latin typeface="Arial"/>
                          <a:ea typeface="Arial"/>
                          <a:cs typeface="Arial"/>
                        </a:rPr>
                        <a:t>Abstract e 1 Introduction</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EDF3F8"/>
                    </a:solidFill>
                  </a:tcPr>
                </a:tc>
                <a:tc>
                  <a:txBody>
                    <a:bodyPr wrap="square" lIns="114300" tIns="95250" rIns="114300" bIns="95250">
                      <a:noAutofit/>
                    </a:bodyPr>
                    <a:lstStyle/>
                    <a:p>
                      <a:pPr algn="l"/>
                      <a:r>
                        <a:rPr sz="1650" b="0">
                          <a:solidFill>
                            <a:srgbClr val="24384A"/>
                          </a:solidFill>
                          <a:latin typeface="Arial"/>
                          <a:ea typeface="Arial"/>
                          <a:cs typeface="Arial"/>
                        </a:rPr>
                        <a:t>Contexto, lacuna, objetivo e contribuições</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EDF3F8"/>
                    </a:solidFill>
                  </a:tcPr>
                </a:tc>
              </a:tr>
              <a:tr h="457200">
                <a:tc>
                  <a:txBody>
                    <a:bodyPr wrap="square" lIns="114300" tIns="95250" rIns="114300" bIns="95250">
                      <a:noAutofit/>
                    </a:bodyPr>
                    <a:lstStyle/>
                    <a:p>
                      <a:pPr algn="l"/>
                      <a:r>
                        <a:rPr sz="1650" b="0">
                          <a:solidFill>
                            <a:srgbClr val="24384A"/>
                          </a:solidFill>
                          <a:latin typeface="Arial"/>
                          <a:ea typeface="Arial"/>
                          <a:cs typeface="Arial"/>
                        </a:rPr>
                        <a:t>2 Legal Background of GDPR Consent</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FFFFFF"/>
                    </a:solidFill>
                  </a:tcPr>
                </a:tc>
                <a:tc>
                  <a:txBody>
                    <a:bodyPr wrap="square" lIns="114300" tIns="95250" rIns="114300" bIns="95250">
                      <a:noAutofit/>
                    </a:bodyPr>
                    <a:lstStyle/>
                    <a:p>
                      <a:pPr algn="l"/>
                      <a:r>
                        <a:rPr sz="1650" b="0">
                          <a:solidFill>
                            <a:srgbClr val="24384A"/>
                          </a:solidFill>
                          <a:latin typeface="Arial"/>
                          <a:ea typeface="Arial"/>
                          <a:cs typeface="Arial"/>
                        </a:rPr>
                        <a:t>Critérios usados na análise das práticas</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FFFFFF"/>
                    </a:solidFill>
                  </a:tcPr>
                </a:tc>
              </a:tr>
              <a:tr h="457200">
                <a:tc>
                  <a:txBody>
                    <a:bodyPr wrap="square" lIns="114300" tIns="95250" rIns="114300" bIns="95250">
                      <a:noAutofit/>
                    </a:bodyPr>
                    <a:lstStyle/>
                    <a:p>
                      <a:pPr algn="l"/>
                      <a:r>
                        <a:rPr sz="1650" b="0">
                          <a:solidFill>
                            <a:srgbClr val="24384A"/>
                          </a:solidFill>
                          <a:latin typeface="Arial"/>
                          <a:ea typeface="Arial"/>
                          <a:cs typeface="Arial"/>
                        </a:rPr>
                        <a:t>3 Methodology</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EDF3F8"/>
                    </a:solidFill>
                  </a:tcPr>
                </a:tc>
                <a:tc>
                  <a:txBody>
                    <a:bodyPr wrap="square" lIns="114300" tIns="95250" rIns="114300" bIns="95250">
                      <a:noAutofit/>
                    </a:bodyPr>
                    <a:lstStyle/>
                    <a:p>
                      <a:pPr algn="l"/>
                      <a:r>
                        <a:rPr sz="1650" b="0">
                          <a:solidFill>
                            <a:srgbClr val="24384A"/>
                          </a:solidFill>
                          <a:latin typeface="Arial"/>
                          <a:ea typeface="Arial"/>
                          <a:cs typeface="Arial"/>
                        </a:rPr>
                        <a:t>Construção do método de identificação</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EDF3F8"/>
                    </a:solidFill>
                  </a:tcPr>
                </a:tc>
              </a:tr>
              <a:tr h="457200">
                <a:tc>
                  <a:txBody>
                    <a:bodyPr wrap="square" lIns="114300" tIns="95250" rIns="114300" bIns="95250">
                      <a:noAutofit/>
                    </a:bodyPr>
                    <a:lstStyle/>
                    <a:p>
                      <a:pPr algn="l"/>
                      <a:r>
                        <a:rPr sz="1650" b="0">
                          <a:solidFill>
                            <a:srgbClr val="24384A"/>
                          </a:solidFill>
                          <a:latin typeface="Arial"/>
                          <a:ea typeface="Arial"/>
                          <a:cs typeface="Arial"/>
                        </a:rPr>
                        <a:t>4 Large-Scale Analysis</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FFFFFF"/>
                    </a:solidFill>
                  </a:tcPr>
                </a:tc>
                <a:tc>
                  <a:txBody>
                    <a:bodyPr wrap="square" lIns="114300" tIns="95250" rIns="114300" bIns="95250">
                      <a:noAutofit/>
                    </a:bodyPr>
                    <a:lstStyle/>
                    <a:p>
                      <a:pPr algn="l"/>
                      <a:r>
                        <a:rPr sz="1650" b="0">
                          <a:solidFill>
                            <a:srgbClr val="24384A"/>
                          </a:solidFill>
                          <a:latin typeface="Arial"/>
                          <a:ea typeface="Arial"/>
                          <a:cs typeface="Arial"/>
                        </a:rPr>
                        <a:t>Aplicação do método e resultados empíricos</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FFFFFF"/>
                    </a:solidFill>
                  </a:tcPr>
                </a:tc>
              </a:tr>
              <a:tr h="457200">
                <a:tc>
                  <a:txBody>
                    <a:bodyPr wrap="square" lIns="114300" tIns="95250" rIns="114300" bIns="95250">
                      <a:noAutofit/>
                    </a:bodyPr>
                    <a:lstStyle/>
                    <a:p>
                      <a:pPr algn="l"/>
                      <a:r>
                        <a:rPr sz="1650" b="0">
                          <a:solidFill>
                            <a:srgbClr val="24384A"/>
                          </a:solidFill>
                          <a:latin typeface="Arial"/>
                          <a:ea typeface="Arial"/>
                          <a:cs typeface="Arial"/>
                        </a:rPr>
                        <a:t>5 Developer Notification</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EDF3F8"/>
                    </a:solidFill>
                  </a:tcPr>
                </a:tc>
                <a:tc>
                  <a:txBody>
                    <a:bodyPr wrap="square" lIns="114300" tIns="95250" rIns="114300" bIns="95250">
                      <a:noAutofit/>
                    </a:bodyPr>
                    <a:lstStyle/>
                    <a:p>
                      <a:pPr algn="l"/>
                      <a:r>
                        <a:rPr sz="1650" b="0">
                          <a:solidFill>
                            <a:srgbClr val="24384A"/>
                          </a:solidFill>
                          <a:latin typeface="Arial"/>
                          <a:ea typeface="Arial"/>
                          <a:cs typeface="Arial"/>
                        </a:rPr>
                        <a:t>Respostas e atualizações dos desenvolvedores</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EDF3F8"/>
                    </a:solidFill>
                  </a:tcPr>
                </a:tc>
              </a:tr>
              <a:tr h="457200">
                <a:tc>
                  <a:txBody>
                    <a:bodyPr wrap="square" lIns="114300" tIns="95250" rIns="114300" bIns="95250">
                      <a:noAutofit/>
                    </a:bodyPr>
                    <a:lstStyle/>
                    <a:p>
                      <a:pPr algn="l"/>
                      <a:r>
                        <a:rPr sz="1650" b="0">
                          <a:solidFill>
                            <a:srgbClr val="24384A"/>
                          </a:solidFill>
                          <a:latin typeface="Arial"/>
                          <a:ea typeface="Arial"/>
                          <a:cs typeface="Arial"/>
                        </a:rPr>
                        <a:t>6 Discussion</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FFFFFF"/>
                    </a:solidFill>
                  </a:tcPr>
                </a:tc>
                <a:tc>
                  <a:txBody>
                    <a:bodyPr wrap="square" lIns="114300" tIns="95250" rIns="114300" bIns="95250">
                      <a:noAutofit/>
                    </a:bodyPr>
                    <a:lstStyle/>
                    <a:p>
                      <a:pPr algn="l"/>
                      <a:r>
                        <a:rPr sz="1650" b="0">
                          <a:solidFill>
                            <a:srgbClr val="24384A"/>
                          </a:solidFill>
                          <a:latin typeface="Arial"/>
                          <a:ea typeface="Arial"/>
                          <a:cs typeface="Arial"/>
                        </a:rPr>
                        <a:t>Interpretação e implicações dos achados</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FFFFFF"/>
                    </a:solidFill>
                  </a:tcPr>
                </a:tc>
              </a:tr>
              <a:tr h="457200">
                <a:tc>
                  <a:txBody>
                    <a:bodyPr wrap="square" lIns="114300" tIns="95250" rIns="114300" bIns="95250">
                      <a:noAutofit/>
                    </a:bodyPr>
                    <a:lstStyle/>
                    <a:p>
                      <a:pPr algn="l"/>
                      <a:r>
                        <a:rPr sz="1650" b="0">
                          <a:solidFill>
                            <a:srgbClr val="24384A"/>
                          </a:solidFill>
                          <a:latin typeface="Arial"/>
                          <a:ea typeface="Arial"/>
                          <a:cs typeface="Arial"/>
                        </a:rPr>
                        <a:t>7 Related Work</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EDF3F8"/>
                    </a:solidFill>
                  </a:tcPr>
                </a:tc>
                <a:tc>
                  <a:txBody>
                    <a:bodyPr wrap="square" lIns="114300" tIns="95250" rIns="114300" bIns="95250">
                      <a:noAutofit/>
                    </a:bodyPr>
                    <a:lstStyle/>
                    <a:p>
                      <a:pPr algn="l"/>
                      <a:r>
                        <a:rPr sz="1650" b="0">
                          <a:solidFill>
                            <a:srgbClr val="24384A"/>
                          </a:solidFill>
                          <a:latin typeface="Arial"/>
                          <a:ea typeface="Arial"/>
                          <a:cs typeface="Arial"/>
                        </a:rPr>
                        <a:t>Comparação com estudos anteriores</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EDF3F8"/>
                    </a:solidFill>
                  </a:tcPr>
                </a:tc>
              </a:tr>
              <a:tr h="457200">
                <a:tc>
                  <a:txBody>
                    <a:bodyPr wrap="square" lIns="114300" tIns="95250" rIns="114300" bIns="95250">
                      <a:noAutofit/>
                    </a:bodyPr>
                    <a:lstStyle/>
                    <a:p>
                      <a:pPr algn="l"/>
                      <a:r>
                        <a:rPr sz="1650" b="0">
                          <a:solidFill>
                            <a:srgbClr val="24384A"/>
                          </a:solidFill>
                          <a:latin typeface="Arial"/>
                          <a:ea typeface="Arial"/>
                          <a:cs typeface="Arial"/>
                        </a:rPr>
                        <a:t>8 Conclusion</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FFFFFF"/>
                    </a:solidFill>
                  </a:tcPr>
                </a:tc>
                <a:tc>
                  <a:txBody>
                    <a:bodyPr wrap="square" lIns="114300" tIns="95250" rIns="114300" bIns="95250">
                      <a:noAutofit/>
                    </a:bodyPr>
                    <a:lstStyle/>
                    <a:p>
                      <a:pPr algn="l"/>
                      <a:r>
                        <a:rPr sz="1650" b="0">
                          <a:solidFill>
                            <a:srgbClr val="24384A"/>
                          </a:solidFill>
                          <a:latin typeface="Arial"/>
                          <a:ea typeface="Arial"/>
                          <a:cs typeface="Arial"/>
                        </a:rPr>
                        <a:t>Retomada do objetivo, síntese e implicações</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FFFFFF"/>
                    </a:solidFill>
                  </a:tcPr>
                </a:tc>
              </a:tr>
            </a:tbl>
          </a:graphicData>
        </a:graphic>
      </p:graphicFrame>
      <p:sp>
        <p:nvSpPr>
          <p:cNvPr id="9" name="A revisão detalhada de trabalhos relacio">
            <a:extLst xmlns:a="http://schemas.openxmlformats.org/drawingml/2006/main">
              <a:ext uri="{FF2B5EF4-FFF2-40B4-BE49-F238E27FC236}">
                <a16:creationId xmlns:a16="http://schemas.microsoft.com/office/drawing/2014/main" id="{24C09E47-8C3E-4AF5-814D-C07B96DE6F00}"/>
              </a:ext>
            </a:extLst>
          </p:cNvPr>
          <p:cNvSpPr>
            <a:spLocks xmlns:a="http://schemas.openxmlformats.org/drawingml/2006/main" noGrp="1"/>
          </p:cNvSpPr>
          <p:nvPr/>
        </p:nvSpPr>
        <p:spPr>
          <a:xfrm xmlns:a="http://schemas.openxmlformats.org/drawingml/2006/main">
            <a:off x="609600" y="59912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74875"/>
                </a:solidFill>
                <a:latin typeface="Arial"/>
                <a:ea typeface="Arial"/>
                <a:cs typeface="Arial"/>
              </a:defRPr>
            </a:pPr>
            <a:r>
              <a:rPr sz="1800" b="1">
                <a:solidFill>
                  <a:srgbClr val="174875"/>
                </a:solidFill>
                <a:latin typeface="Arial"/>
                <a:ea typeface="Arial"/>
                <a:cs typeface="Arial"/>
              </a:rPr>
              <a:t>A revisão detalhada de trabalhos relacionados aparece após a discussão.</a:t>
            </a:r>
          </a:p>
        </p:txBody>
      </p:sp>
    </p:spTree>
    <p:extLst>
      <p:ext uri="{BB962C8B-B14F-4D97-AF65-F5344CB8AC3E}">
        <p14:creationId xmlns:p14="http://schemas.microsoft.com/office/powerpoint/2010/main" val="29971873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105D1C3-FF42-4B34-B781-148AE2FAC672}"/>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174875"/>
          </a:solidFill>
          <a:ln xmlns:a="http://schemas.openxmlformats.org/drawingml/2006/main" w="0">
            <a:noFill/>
          </a:ln>
        </p:spPr>
      </p:sp>
      <p:sp>
        <p:nvSpPr>
          <p:cNvPr id="2" name="ANÁLISE DO ABSTRACT">
            <a:extLst xmlns:a="http://schemas.openxmlformats.org/drawingml/2006/main">
              <a:ext uri="{FF2B5EF4-FFF2-40B4-BE49-F238E27FC236}">
                <a16:creationId xmlns:a16="http://schemas.microsoft.com/office/drawing/2014/main" id="{6A431CA4-8A04-4E16-8C78-C6DD117FB5AF}"/>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74875"/>
                </a:solidFill>
                <a:latin typeface="Arial"/>
                <a:ea typeface="Arial"/>
                <a:cs typeface="Arial"/>
              </a:defRPr>
            </a:pPr>
            <a:r>
              <a:rPr sz="1275" b="1">
                <a:solidFill>
                  <a:srgbClr val="174875"/>
                </a:solidFill>
                <a:latin typeface="Arial"/>
                <a:ea typeface="Arial"/>
                <a:cs typeface="Arial"/>
              </a:rPr>
              <a:t>ANÁLISE DO ABSTRACT</a:t>
            </a:r>
          </a:p>
        </p:txBody>
      </p:sp>
      <p:sp>
        <p:nvSpPr>
          <p:cNvPr id="3" name="Resumo: contexto, lacuna e objetivo">
            <a:extLst xmlns:a="http://schemas.openxmlformats.org/drawingml/2006/main">
              <a:ext uri="{FF2B5EF4-FFF2-40B4-BE49-F238E27FC236}">
                <a16:creationId xmlns:a16="http://schemas.microsoft.com/office/drawing/2014/main" id="{98C2617F-970B-4D41-AD70-613CE7A3E241}"/>
              </a:ext>
            </a:extLst>
          </p:cNvPr>
          <p:cNvSpPr>
            <a:spLocks xmlns:a="http://schemas.openxmlformats.org/drawingml/2006/main" noGrp="1"/>
          </p:cNvSpPr>
          <p:nvPr/>
        </p:nvSpPr>
        <p:spPr>
          <a:xfrm xmlns:a="http://schemas.openxmlformats.org/drawingml/2006/main">
            <a:off x="609600" y="7048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2324F"/>
                </a:solidFill>
                <a:latin typeface="Arial"/>
                <a:ea typeface="Arial"/>
                <a:cs typeface="Arial"/>
              </a:defRPr>
            </a:pPr>
            <a:r>
              <a:rPr sz="3150" b="1">
                <a:solidFill>
                  <a:srgbClr val="12324F"/>
                </a:solidFill>
                <a:latin typeface="Arial"/>
                <a:ea typeface="Arial"/>
                <a:cs typeface="Arial"/>
              </a:rPr>
              <a:t>Resumo: contexto, lacuna e objetivo</a:t>
            </a:r>
          </a:p>
        </p:txBody>
      </p:sp>
      <p:sp>
        <p:nvSpPr>
          <p:cNvPr id="4" name="">
            <a:extLst xmlns:a="http://schemas.openxmlformats.org/drawingml/2006/main">
              <a:ext uri="{FF2B5EF4-FFF2-40B4-BE49-F238E27FC236}">
                <a16:creationId xmlns:a16="http://schemas.microsoft.com/office/drawing/2014/main" id="{8032A474-40CF-4E58-84F9-3EED2ED73C89}"/>
              </a:ext>
            </a:extLst>
          </p:cNvPr>
          <p:cNvSpPr>
            <a:spLocks xmlns:a="http://schemas.openxmlformats.org/drawingml/2006/main" noGrp="1"/>
          </p:cNvSpPr>
          <p:nvPr/>
        </p:nvSpPr>
        <p:spPr>
          <a:xfrm xmlns:a="http://schemas.openxmlformats.org/drawingml/2006/main">
            <a:off x="609600" y="1390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0BD0A7A-A403-4116-9AD7-FAA29CB108F4}"/>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6" name="Nguyen, Backes e Stock (2022), Abstract,">
            <a:extLst xmlns:a="http://schemas.openxmlformats.org/drawingml/2006/main">
              <a:ext uri="{FF2B5EF4-FFF2-40B4-BE49-F238E27FC236}">
                <a16:creationId xmlns:a16="http://schemas.microsoft.com/office/drawing/2014/main" id="{C61BF0DC-7A14-4B2B-851F-A3BD3D5EBBC7}"/>
              </a:ext>
            </a:extLst>
          </p:cNvPr>
          <p:cNvSpPr>
            <a:spLocks xmlns:a="http://schemas.openxmlformats.org/drawingml/2006/main" noGrp="1"/>
          </p:cNvSpPr>
          <p:nvPr/>
        </p:nvSpPr>
        <p:spPr>
          <a:xfrm xmlns:a="http://schemas.openxmlformats.org/drawingml/2006/main">
            <a:off x="609600" y="6477000"/>
            <a:ext cx="9982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96B7A"/>
                </a:solidFill>
                <a:latin typeface="Arial"/>
                <a:ea typeface="Arial"/>
                <a:cs typeface="Arial"/>
              </a:defRPr>
            </a:pPr>
            <a:r>
              <a:rPr sz="1200" b="0">
                <a:solidFill>
                  <a:srgbClr val="596B7A"/>
                </a:solidFill>
                <a:latin typeface="Arial"/>
                <a:ea typeface="Arial"/>
                <a:cs typeface="Arial"/>
              </a:rPr>
              <a:t>Nguyen, Backes e Stock (2022), Abstract, p. 1. EN: excertos literais. PT: tradução do apresentador.</a:t>
            </a:r>
          </a:p>
        </p:txBody>
      </p:sp>
      <p:sp>
        <p:nvSpPr>
          <p:cNvPr id="7" name="06 / 23">
            <a:extLst xmlns:a="http://schemas.openxmlformats.org/drawingml/2006/main">
              <a:ext uri="{FF2B5EF4-FFF2-40B4-BE49-F238E27FC236}">
                <a16:creationId xmlns:a16="http://schemas.microsoft.com/office/drawing/2014/main" id="{2FCAF904-4A60-4461-B644-6B22EA7EC6B3}"/>
              </a:ext>
            </a:extLst>
          </p:cNvPr>
          <p:cNvSpPr>
            <a:spLocks xmlns:a="http://schemas.openxmlformats.org/drawingml/2006/main" noGrp="1"/>
          </p:cNvSpPr>
          <p:nvPr/>
        </p:nvSpPr>
        <p:spPr>
          <a:xfrm xmlns:a="http://schemas.openxmlformats.org/drawingml/2006/main">
            <a:off x="10668000" y="64770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96B7A"/>
                </a:solidFill>
                <a:latin typeface="Arial"/>
                <a:ea typeface="Arial"/>
                <a:cs typeface="Arial"/>
              </a:defRPr>
            </a:pPr>
            <a:r>
              <a:rPr sz="1200" b="0">
                <a:solidFill>
                  <a:srgbClr val="596B7A"/>
                </a:solidFill>
                <a:latin typeface="Arial"/>
                <a:ea typeface="Arial"/>
                <a:cs typeface="Arial"/>
              </a:rPr>
              <a:t>06 / 23</a:t>
            </a:r>
          </a:p>
        </p:txBody>
      </p:sp>
      <p:sp>
        <p:nvSpPr>
          <p:cNvPr id="8" name="CONTEXTO">
            <a:extLst xmlns:a="http://schemas.openxmlformats.org/drawingml/2006/main">
              <a:ext uri="{FF2B5EF4-FFF2-40B4-BE49-F238E27FC236}">
                <a16:creationId xmlns:a16="http://schemas.microsoft.com/office/drawing/2014/main" id="{31BC30AF-7279-4D61-A4D5-BFA4A0F612E1}"/>
              </a:ext>
            </a:extLst>
          </p:cNvPr>
          <p:cNvSpPr>
            <a:spLocks xmlns:a="http://schemas.openxmlformats.org/drawingml/2006/main" noGrp="1"/>
          </p:cNvSpPr>
          <p:nvPr/>
        </p:nvSpPr>
        <p:spPr>
          <a:xfrm xmlns:a="http://schemas.openxmlformats.org/drawingml/2006/main">
            <a:off x="609600" y="171450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AC4C45"/>
                </a:solidFill>
                <a:latin typeface="Arial"/>
                <a:ea typeface="Arial"/>
                <a:cs typeface="Arial"/>
              </a:defRPr>
            </a:pPr>
            <a:r>
              <a:rPr sz="1350" b="1">
                <a:solidFill>
                  <a:srgbClr val="AC4C45"/>
                </a:solidFill>
                <a:latin typeface="Arial"/>
                <a:ea typeface="Arial"/>
                <a:cs typeface="Arial"/>
              </a:rPr>
              <a:t>CONTEXTO</a:t>
            </a:r>
          </a:p>
        </p:txBody>
      </p:sp>
      <p:sp>
        <p:nvSpPr>
          <p:cNvPr id="9" name="EN">
            <a:extLst xmlns:a="http://schemas.openxmlformats.org/drawingml/2006/main">
              <a:ext uri="{FF2B5EF4-FFF2-40B4-BE49-F238E27FC236}">
                <a16:creationId xmlns:a16="http://schemas.microsoft.com/office/drawing/2014/main" id="{CA949620-1B11-4864-BFC6-F46FC53088CF}"/>
              </a:ext>
            </a:extLst>
          </p:cNvPr>
          <p:cNvSpPr>
            <a:spLocks xmlns:a="http://schemas.openxmlformats.org/drawingml/2006/main" noGrp="1"/>
          </p:cNvSpPr>
          <p:nvPr/>
        </p:nvSpPr>
        <p:spPr>
          <a:xfrm xmlns:a="http://schemas.openxmlformats.org/drawingml/2006/main">
            <a:off x="2590800" y="17145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AC4C45"/>
                </a:solidFill>
                <a:latin typeface="Arial"/>
                <a:ea typeface="Arial"/>
                <a:cs typeface="Arial"/>
              </a:defRPr>
            </a:pPr>
            <a:r>
              <a:rPr sz="1200" b="1">
                <a:solidFill>
                  <a:srgbClr val="AC4C45"/>
                </a:solidFill>
                <a:latin typeface="Arial"/>
                <a:ea typeface="Arial"/>
                <a:cs typeface="Arial"/>
              </a:rPr>
              <a:t>EN</a:t>
            </a:r>
          </a:p>
        </p:txBody>
      </p:sp>
      <p:sp>
        <p:nvSpPr>
          <p:cNvPr id="10" name="“freely given, specific, informed, and u">
            <a:extLst xmlns:a="http://schemas.openxmlformats.org/drawingml/2006/main">
              <a:ext uri="{FF2B5EF4-FFF2-40B4-BE49-F238E27FC236}">
                <a16:creationId xmlns:a16="http://schemas.microsoft.com/office/drawing/2014/main" id="{380F7567-6406-4DB2-977B-EEC743BD23C4}"/>
              </a:ext>
            </a:extLst>
          </p:cNvPr>
          <p:cNvSpPr>
            <a:spLocks xmlns:a="http://schemas.openxmlformats.org/drawingml/2006/main" noGrp="1"/>
          </p:cNvSpPr>
          <p:nvPr/>
        </p:nvSpPr>
        <p:spPr>
          <a:xfrm xmlns:a="http://schemas.openxmlformats.org/drawingml/2006/main">
            <a:off x="3009900" y="1676400"/>
            <a:ext cx="857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4384A"/>
                </a:solidFill>
                <a:latin typeface="Arial"/>
                <a:ea typeface="Arial"/>
                <a:cs typeface="Arial"/>
              </a:defRPr>
            </a:pPr>
            <a:r>
              <a:rPr sz="1875" b="0">
                <a:solidFill>
                  <a:srgbClr val="24384A"/>
                </a:solidFill>
                <a:latin typeface="Arial"/>
                <a:ea typeface="Arial"/>
                <a:cs typeface="Arial"/>
              </a:rPr>
              <a:t>“freely given, specific, informed, and unambiguous”</a:t>
            </a:r>
          </a:p>
        </p:txBody>
      </p:sp>
      <p:sp>
        <p:nvSpPr>
          <p:cNvPr id="11" name="PT">
            <a:extLst xmlns:a="http://schemas.openxmlformats.org/drawingml/2006/main">
              <a:ext uri="{FF2B5EF4-FFF2-40B4-BE49-F238E27FC236}">
                <a16:creationId xmlns:a16="http://schemas.microsoft.com/office/drawing/2014/main" id="{3D43B041-C3AF-4E60-83EF-CB801F9354D3}"/>
              </a:ext>
            </a:extLst>
          </p:cNvPr>
          <p:cNvSpPr>
            <a:spLocks xmlns:a="http://schemas.openxmlformats.org/drawingml/2006/main" noGrp="1"/>
          </p:cNvSpPr>
          <p:nvPr/>
        </p:nvSpPr>
        <p:spPr>
          <a:xfrm xmlns:a="http://schemas.openxmlformats.org/drawingml/2006/main">
            <a:off x="2590800" y="24003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AC4C45"/>
                </a:solidFill>
                <a:latin typeface="Arial"/>
                <a:ea typeface="Arial"/>
                <a:cs typeface="Arial"/>
              </a:defRPr>
            </a:pPr>
            <a:r>
              <a:rPr sz="1200" b="1">
                <a:solidFill>
                  <a:srgbClr val="AC4C45"/>
                </a:solidFill>
                <a:latin typeface="Arial"/>
                <a:ea typeface="Arial"/>
                <a:cs typeface="Arial"/>
              </a:rPr>
              <a:t>PT</a:t>
            </a:r>
          </a:p>
        </p:txBody>
      </p:sp>
      <p:sp>
        <p:nvSpPr>
          <p:cNvPr id="12" name="Livre, específico, informado e inequívoc">
            <a:extLst xmlns:a="http://schemas.openxmlformats.org/drawingml/2006/main">
              <a:ext uri="{FF2B5EF4-FFF2-40B4-BE49-F238E27FC236}">
                <a16:creationId xmlns:a16="http://schemas.microsoft.com/office/drawing/2014/main" id="{588199F4-5CC8-40D4-8A38-E353A5DDDAC4}"/>
              </a:ext>
            </a:extLst>
          </p:cNvPr>
          <p:cNvSpPr>
            <a:spLocks xmlns:a="http://schemas.openxmlformats.org/drawingml/2006/main" noGrp="1"/>
          </p:cNvSpPr>
          <p:nvPr/>
        </p:nvSpPr>
        <p:spPr>
          <a:xfrm xmlns:a="http://schemas.openxmlformats.org/drawingml/2006/main">
            <a:off x="3009900" y="2343150"/>
            <a:ext cx="857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AC4C45"/>
                </a:solidFill>
                <a:latin typeface="Arial"/>
                <a:ea typeface="Arial"/>
                <a:cs typeface="Arial"/>
              </a:defRPr>
            </a:pPr>
            <a:r>
              <a:rPr sz="1875" b="0">
                <a:solidFill>
                  <a:srgbClr val="AC4C45"/>
                </a:solidFill>
                <a:latin typeface="Arial"/>
                <a:ea typeface="Arial"/>
                <a:cs typeface="Arial"/>
              </a:rPr>
              <a:t>Livre, específico, informado e inequívoco.</a:t>
            </a:r>
          </a:p>
        </p:txBody>
      </p:sp>
      <p:sp>
        <p:nvSpPr>
          <p:cNvPr id="13" name="">
            <a:extLst xmlns:a="http://schemas.openxmlformats.org/drawingml/2006/main">
              <a:ext uri="{FF2B5EF4-FFF2-40B4-BE49-F238E27FC236}">
                <a16:creationId xmlns:a16="http://schemas.microsoft.com/office/drawing/2014/main" id="{7FE3D621-569A-4BDC-B6F0-090413691FDA}"/>
              </a:ext>
            </a:extLst>
          </p:cNvPr>
          <p:cNvSpPr>
            <a:spLocks xmlns:a="http://schemas.openxmlformats.org/drawingml/2006/main" noGrp="1"/>
          </p:cNvSpPr>
          <p:nvPr/>
        </p:nvSpPr>
        <p:spPr>
          <a:xfrm xmlns:a="http://schemas.openxmlformats.org/drawingml/2006/main">
            <a:off x="609600" y="300990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14" name="LACUNA">
            <a:extLst xmlns:a="http://schemas.openxmlformats.org/drawingml/2006/main">
              <a:ext uri="{FF2B5EF4-FFF2-40B4-BE49-F238E27FC236}">
                <a16:creationId xmlns:a16="http://schemas.microsoft.com/office/drawing/2014/main" id="{88FCBE81-EC6D-4812-BAB9-B29579BDADC6}"/>
              </a:ext>
            </a:extLst>
          </p:cNvPr>
          <p:cNvSpPr>
            <a:spLocks xmlns:a="http://schemas.openxmlformats.org/drawingml/2006/main" noGrp="1"/>
          </p:cNvSpPr>
          <p:nvPr/>
        </p:nvSpPr>
        <p:spPr>
          <a:xfrm xmlns:a="http://schemas.openxmlformats.org/drawingml/2006/main">
            <a:off x="609600" y="31527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95652D"/>
                </a:solidFill>
                <a:latin typeface="Arial"/>
                <a:ea typeface="Arial"/>
                <a:cs typeface="Arial"/>
              </a:defRPr>
            </a:pPr>
            <a:r>
              <a:rPr sz="1350" b="1">
                <a:solidFill>
                  <a:srgbClr val="95652D"/>
                </a:solidFill>
                <a:latin typeface="Arial"/>
                <a:ea typeface="Arial"/>
                <a:cs typeface="Arial"/>
              </a:rPr>
              <a:t>LACUNA</a:t>
            </a:r>
          </a:p>
        </p:txBody>
      </p:sp>
      <p:sp>
        <p:nvSpPr>
          <p:cNvPr id="15" name="EN">
            <a:extLst xmlns:a="http://schemas.openxmlformats.org/drawingml/2006/main">
              <a:ext uri="{FF2B5EF4-FFF2-40B4-BE49-F238E27FC236}">
                <a16:creationId xmlns:a16="http://schemas.microsoft.com/office/drawing/2014/main" id="{49B30B5A-14D1-4523-AC51-65361778D91E}"/>
              </a:ext>
            </a:extLst>
          </p:cNvPr>
          <p:cNvSpPr>
            <a:spLocks xmlns:a="http://schemas.openxmlformats.org/drawingml/2006/main" noGrp="1"/>
          </p:cNvSpPr>
          <p:nvPr/>
        </p:nvSpPr>
        <p:spPr>
          <a:xfrm xmlns:a="http://schemas.openxmlformats.org/drawingml/2006/main">
            <a:off x="2590800" y="315277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95652D"/>
                </a:solidFill>
                <a:latin typeface="Arial"/>
                <a:ea typeface="Arial"/>
                <a:cs typeface="Arial"/>
              </a:defRPr>
            </a:pPr>
            <a:r>
              <a:rPr sz="1200" b="1">
                <a:solidFill>
                  <a:srgbClr val="95652D"/>
                </a:solidFill>
                <a:latin typeface="Arial"/>
                <a:ea typeface="Arial"/>
                <a:cs typeface="Arial"/>
              </a:rPr>
              <a:t>EN</a:t>
            </a:r>
          </a:p>
        </p:txBody>
      </p:sp>
      <p:sp>
        <p:nvSpPr>
          <p:cNvPr id="16" name="“no research has systematically studied ">
            <a:extLst xmlns:a="http://schemas.openxmlformats.org/drawingml/2006/main">
              <a:ext uri="{FF2B5EF4-FFF2-40B4-BE49-F238E27FC236}">
                <a16:creationId xmlns:a16="http://schemas.microsoft.com/office/drawing/2014/main" id="{F8B51F30-A123-4B95-BC18-3FFC8E54E699}"/>
              </a:ext>
            </a:extLst>
          </p:cNvPr>
          <p:cNvSpPr>
            <a:spLocks xmlns:a="http://schemas.openxmlformats.org/drawingml/2006/main" noGrp="1"/>
          </p:cNvSpPr>
          <p:nvPr/>
        </p:nvSpPr>
        <p:spPr>
          <a:xfrm xmlns:a="http://schemas.openxmlformats.org/drawingml/2006/main">
            <a:off x="3009900" y="3114675"/>
            <a:ext cx="857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4384A"/>
                </a:solidFill>
                <a:latin typeface="Arial"/>
                <a:ea typeface="Arial"/>
                <a:cs typeface="Arial"/>
              </a:defRPr>
            </a:pPr>
            <a:r>
              <a:rPr sz="1875" b="0">
                <a:solidFill>
                  <a:srgbClr val="24384A"/>
                </a:solidFill>
                <a:latin typeface="Arial"/>
                <a:ea typeface="Arial"/>
                <a:cs typeface="Arial"/>
              </a:rPr>
              <a:t>“no research has systematically studied how consent notices are currently implemented”</a:t>
            </a:r>
          </a:p>
        </p:txBody>
      </p:sp>
      <p:sp>
        <p:nvSpPr>
          <p:cNvPr id="17" name="PT">
            <a:extLst xmlns:a="http://schemas.openxmlformats.org/drawingml/2006/main">
              <a:ext uri="{FF2B5EF4-FFF2-40B4-BE49-F238E27FC236}">
                <a16:creationId xmlns:a16="http://schemas.microsoft.com/office/drawing/2014/main" id="{E2E6AC51-7C7E-4902-9D80-B834596A78DE}"/>
              </a:ext>
            </a:extLst>
          </p:cNvPr>
          <p:cNvSpPr>
            <a:spLocks xmlns:a="http://schemas.openxmlformats.org/drawingml/2006/main" noGrp="1"/>
          </p:cNvSpPr>
          <p:nvPr/>
        </p:nvSpPr>
        <p:spPr>
          <a:xfrm xmlns:a="http://schemas.openxmlformats.org/drawingml/2006/main">
            <a:off x="2590800" y="383857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95652D"/>
                </a:solidFill>
                <a:latin typeface="Arial"/>
                <a:ea typeface="Arial"/>
                <a:cs typeface="Arial"/>
              </a:defRPr>
            </a:pPr>
            <a:r>
              <a:rPr sz="1200" b="1">
                <a:solidFill>
                  <a:srgbClr val="95652D"/>
                </a:solidFill>
                <a:latin typeface="Arial"/>
                <a:ea typeface="Arial"/>
                <a:cs typeface="Arial"/>
              </a:rPr>
              <a:t>PT</a:t>
            </a:r>
          </a:p>
        </p:txBody>
      </p:sp>
      <p:sp>
        <p:nvSpPr>
          <p:cNvPr id="18" name="Nenhuma pesquisa havia estudado sistemat">
            <a:extLst xmlns:a="http://schemas.openxmlformats.org/drawingml/2006/main">
              <a:ext uri="{FF2B5EF4-FFF2-40B4-BE49-F238E27FC236}">
                <a16:creationId xmlns:a16="http://schemas.microsoft.com/office/drawing/2014/main" id="{5CAC9E98-DA93-4BD0-A505-E3FDCD9AAD72}"/>
              </a:ext>
            </a:extLst>
          </p:cNvPr>
          <p:cNvSpPr>
            <a:spLocks xmlns:a="http://schemas.openxmlformats.org/drawingml/2006/main" noGrp="1"/>
          </p:cNvSpPr>
          <p:nvPr/>
        </p:nvSpPr>
        <p:spPr>
          <a:xfrm xmlns:a="http://schemas.openxmlformats.org/drawingml/2006/main">
            <a:off x="3009900" y="3781425"/>
            <a:ext cx="857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95652D"/>
                </a:solidFill>
                <a:latin typeface="Arial"/>
                <a:ea typeface="Arial"/>
                <a:cs typeface="Arial"/>
              </a:defRPr>
            </a:pPr>
            <a:r>
              <a:rPr sz="1875" b="0">
                <a:solidFill>
                  <a:srgbClr val="95652D"/>
                </a:solidFill>
                <a:latin typeface="Arial"/>
                <a:ea typeface="Arial"/>
                <a:cs typeface="Arial"/>
              </a:rPr>
              <a:t>Nenhuma pesquisa havia estudado sistematicamente como os avisos de consentimento eram implementados.</a:t>
            </a:r>
          </a:p>
        </p:txBody>
      </p:sp>
      <p:sp>
        <p:nvSpPr>
          <p:cNvPr id="19" name="">
            <a:extLst xmlns:a="http://schemas.openxmlformats.org/drawingml/2006/main">
              <a:ext uri="{FF2B5EF4-FFF2-40B4-BE49-F238E27FC236}">
                <a16:creationId xmlns:a16="http://schemas.microsoft.com/office/drawing/2014/main" id="{E5CCEE44-1CC9-419A-B7B0-938D09AFB1DE}"/>
              </a:ext>
            </a:extLst>
          </p:cNvPr>
          <p:cNvSpPr>
            <a:spLocks xmlns:a="http://schemas.openxmlformats.org/drawingml/2006/main" noGrp="1"/>
          </p:cNvSpPr>
          <p:nvPr/>
        </p:nvSpPr>
        <p:spPr>
          <a:xfrm xmlns:a="http://schemas.openxmlformats.org/drawingml/2006/main">
            <a:off x="609600" y="4448175"/>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20" name="OBJETIVO">
            <a:extLst xmlns:a="http://schemas.openxmlformats.org/drawingml/2006/main">
              <a:ext uri="{FF2B5EF4-FFF2-40B4-BE49-F238E27FC236}">
                <a16:creationId xmlns:a16="http://schemas.microsoft.com/office/drawing/2014/main" id="{C2D9CFCD-ABD8-4523-A34C-BC9846EF57A3}"/>
              </a:ext>
            </a:extLst>
          </p:cNvPr>
          <p:cNvSpPr>
            <a:spLocks xmlns:a="http://schemas.openxmlformats.org/drawingml/2006/main" noGrp="1"/>
          </p:cNvSpPr>
          <p:nvPr/>
        </p:nvSpPr>
        <p:spPr>
          <a:xfrm xmlns:a="http://schemas.openxmlformats.org/drawingml/2006/main">
            <a:off x="609600" y="45910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74875"/>
                </a:solidFill>
                <a:latin typeface="Arial"/>
                <a:ea typeface="Arial"/>
                <a:cs typeface="Arial"/>
              </a:defRPr>
            </a:pPr>
            <a:r>
              <a:rPr sz="1350" b="1">
                <a:solidFill>
                  <a:srgbClr val="174875"/>
                </a:solidFill>
                <a:latin typeface="Arial"/>
                <a:ea typeface="Arial"/>
                <a:cs typeface="Arial"/>
              </a:rPr>
              <a:t>OBJETIVO</a:t>
            </a:r>
          </a:p>
        </p:txBody>
      </p:sp>
      <p:sp>
        <p:nvSpPr>
          <p:cNvPr id="21" name="EN">
            <a:extLst xmlns:a="http://schemas.openxmlformats.org/drawingml/2006/main">
              <a:ext uri="{FF2B5EF4-FFF2-40B4-BE49-F238E27FC236}">
                <a16:creationId xmlns:a16="http://schemas.microsoft.com/office/drawing/2014/main" id="{DF2693C8-3026-4256-B21D-5C5B2AF3369E}"/>
              </a:ext>
            </a:extLst>
          </p:cNvPr>
          <p:cNvSpPr>
            <a:spLocks xmlns:a="http://schemas.openxmlformats.org/drawingml/2006/main" noGrp="1"/>
          </p:cNvSpPr>
          <p:nvPr/>
        </p:nvSpPr>
        <p:spPr>
          <a:xfrm xmlns:a="http://schemas.openxmlformats.org/drawingml/2006/main">
            <a:off x="2590800" y="45910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174875"/>
                </a:solidFill>
                <a:latin typeface="Arial"/>
                <a:ea typeface="Arial"/>
                <a:cs typeface="Arial"/>
              </a:defRPr>
            </a:pPr>
            <a:r>
              <a:rPr sz="1200" b="1">
                <a:solidFill>
                  <a:srgbClr val="174875"/>
                </a:solidFill>
                <a:latin typeface="Arial"/>
                <a:ea typeface="Arial"/>
                <a:cs typeface="Arial"/>
              </a:rPr>
              <a:t>EN</a:t>
            </a:r>
          </a:p>
        </p:txBody>
      </p:sp>
      <p:sp>
        <p:nvSpPr>
          <p:cNvPr id="22" name="“we perform the first large-scale study ">
            <a:extLst xmlns:a="http://schemas.openxmlformats.org/drawingml/2006/main">
              <a:ext uri="{FF2B5EF4-FFF2-40B4-BE49-F238E27FC236}">
                <a16:creationId xmlns:a16="http://schemas.microsoft.com/office/drawing/2014/main" id="{7DBFA940-F3B0-4D4B-86DB-33ED019AFC38}"/>
              </a:ext>
            </a:extLst>
          </p:cNvPr>
          <p:cNvSpPr>
            <a:spLocks xmlns:a="http://schemas.openxmlformats.org/drawingml/2006/main" noGrp="1"/>
          </p:cNvSpPr>
          <p:nvPr/>
        </p:nvSpPr>
        <p:spPr>
          <a:xfrm xmlns:a="http://schemas.openxmlformats.org/drawingml/2006/main">
            <a:off x="3009900" y="4552950"/>
            <a:ext cx="857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4384A"/>
                </a:solidFill>
                <a:latin typeface="Arial"/>
                <a:ea typeface="Arial"/>
                <a:cs typeface="Arial"/>
              </a:defRPr>
            </a:pPr>
            <a:r>
              <a:rPr sz="1875" b="0">
                <a:solidFill>
                  <a:srgbClr val="24384A"/>
                </a:solidFill>
                <a:latin typeface="Arial"/>
                <a:ea typeface="Arial"/>
                <a:cs typeface="Arial"/>
              </a:rPr>
              <a:t>“we perform the first large-scale study into consent notices for third-party tracking in Android apps”</a:t>
            </a:r>
          </a:p>
        </p:txBody>
      </p:sp>
      <p:sp>
        <p:nvSpPr>
          <p:cNvPr id="23" name="PT">
            <a:extLst xmlns:a="http://schemas.openxmlformats.org/drawingml/2006/main">
              <a:ext uri="{FF2B5EF4-FFF2-40B4-BE49-F238E27FC236}">
                <a16:creationId xmlns:a16="http://schemas.microsoft.com/office/drawing/2014/main" id="{8411F8F4-2F00-4CBD-8262-7E321DDAF268}"/>
              </a:ext>
            </a:extLst>
          </p:cNvPr>
          <p:cNvSpPr>
            <a:spLocks xmlns:a="http://schemas.openxmlformats.org/drawingml/2006/main" noGrp="1"/>
          </p:cNvSpPr>
          <p:nvPr/>
        </p:nvSpPr>
        <p:spPr>
          <a:xfrm xmlns:a="http://schemas.openxmlformats.org/drawingml/2006/main">
            <a:off x="2590800" y="52768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174875"/>
                </a:solidFill>
                <a:latin typeface="Arial"/>
                <a:ea typeface="Arial"/>
                <a:cs typeface="Arial"/>
              </a:defRPr>
            </a:pPr>
            <a:r>
              <a:rPr sz="1200" b="1">
                <a:solidFill>
                  <a:srgbClr val="174875"/>
                </a:solidFill>
                <a:latin typeface="Arial"/>
                <a:ea typeface="Arial"/>
                <a:cs typeface="Arial"/>
              </a:rPr>
              <a:t>PT</a:t>
            </a:r>
          </a:p>
        </p:txBody>
      </p:sp>
      <p:sp>
        <p:nvSpPr>
          <p:cNvPr id="24" name="Realizamos o primeiro estudo em larga es">
            <a:extLst xmlns:a="http://schemas.openxmlformats.org/drawingml/2006/main">
              <a:ext uri="{FF2B5EF4-FFF2-40B4-BE49-F238E27FC236}">
                <a16:creationId xmlns:a16="http://schemas.microsoft.com/office/drawing/2014/main" id="{F96D9C07-63DE-480B-B99A-FE2188E15D2C}"/>
              </a:ext>
            </a:extLst>
          </p:cNvPr>
          <p:cNvSpPr>
            <a:spLocks xmlns:a="http://schemas.openxmlformats.org/drawingml/2006/main" noGrp="1"/>
          </p:cNvSpPr>
          <p:nvPr/>
        </p:nvSpPr>
        <p:spPr>
          <a:xfrm xmlns:a="http://schemas.openxmlformats.org/drawingml/2006/main">
            <a:off x="3009900" y="5219700"/>
            <a:ext cx="857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4875"/>
                </a:solidFill>
                <a:latin typeface="Arial"/>
                <a:ea typeface="Arial"/>
                <a:cs typeface="Arial"/>
              </a:defRPr>
            </a:pPr>
            <a:r>
              <a:rPr sz="1875" b="0">
                <a:solidFill>
                  <a:srgbClr val="174875"/>
                </a:solidFill>
                <a:latin typeface="Arial"/>
                <a:ea typeface="Arial"/>
                <a:cs typeface="Arial"/>
              </a:rPr>
              <a:t>Realizamos o primeiro estudo em larga escala sobre avisos de consentimento para rastreamento de terceiros em apps Android.</a:t>
            </a:r>
          </a:p>
        </p:txBody>
      </p:sp>
    </p:spTree>
    <p:extLst>
      <p:ext uri="{BB962C8B-B14F-4D97-AF65-F5344CB8AC3E}">
        <p14:creationId xmlns:p14="http://schemas.microsoft.com/office/powerpoint/2010/main" val="138639252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E362B36-55BD-444A-BB7B-5AFAC3B3FACE}"/>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174875"/>
          </a:solidFill>
          <a:ln xmlns:a="http://schemas.openxmlformats.org/drawingml/2006/main" w="0">
            <a:noFill/>
          </a:ln>
        </p:spPr>
      </p:sp>
      <p:sp>
        <p:nvSpPr>
          <p:cNvPr id="2" name="ANÁLISE DO ABSTRACT">
            <a:extLst xmlns:a="http://schemas.openxmlformats.org/drawingml/2006/main">
              <a:ext uri="{FF2B5EF4-FFF2-40B4-BE49-F238E27FC236}">
                <a16:creationId xmlns:a16="http://schemas.microsoft.com/office/drawing/2014/main" id="{A707FD7A-FB66-463D-9757-9FA9E2851735}"/>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74875"/>
                </a:solidFill>
                <a:latin typeface="Arial"/>
                <a:ea typeface="Arial"/>
                <a:cs typeface="Arial"/>
              </a:defRPr>
            </a:pPr>
            <a:r>
              <a:rPr sz="1275" b="1">
                <a:solidFill>
                  <a:srgbClr val="174875"/>
                </a:solidFill>
                <a:latin typeface="Arial"/>
                <a:ea typeface="Arial"/>
                <a:cs typeface="Arial"/>
              </a:rPr>
              <a:t>ANÁLISE DO ABSTRACT</a:t>
            </a:r>
          </a:p>
        </p:txBody>
      </p:sp>
      <p:sp>
        <p:nvSpPr>
          <p:cNvPr id="3" name="Resumo: método, resultado e implicação">
            <a:extLst xmlns:a="http://schemas.openxmlformats.org/drawingml/2006/main">
              <a:ext uri="{FF2B5EF4-FFF2-40B4-BE49-F238E27FC236}">
                <a16:creationId xmlns:a16="http://schemas.microsoft.com/office/drawing/2014/main" id="{F34FB287-970D-4414-BDA7-6BA6390F6703}"/>
              </a:ext>
            </a:extLst>
          </p:cNvPr>
          <p:cNvSpPr>
            <a:spLocks xmlns:a="http://schemas.openxmlformats.org/drawingml/2006/main" noGrp="1"/>
          </p:cNvSpPr>
          <p:nvPr/>
        </p:nvSpPr>
        <p:spPr>
          <a:xfrm xmlns:a="http://schemas.openxmlformats.org/drawingml/2006/main">
            <a:off x="609600" y="7048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2324F"/>
                </a:solidFill>
                <a:latin typeface="Arial"/>
                <a:ea typeface="Arial"/>
                <a:cs typeface="Arial"/>
              </a:defRPr>
            </a:pPr>
            <a:r>
              <a:rPr sz="3150" b="1">
                <a:solidFill>
                  <a:srgbClr val="12324F"/>
                </a:solidFill>
                <a:latin typeface="Arial"/>
                <a:ea typeface="Arial"/>
                <a:cs typeface="Arial"/>
              </a:rPr>
              <a:t>Resumo: método, resultado e implicação</a:t>
            </a:r>
          </a:p>
        </p:txBody>
      </p:sp>
      <p:sp>
        <p:nvSpPr>
          <p:cNvPr id="4" name="">
            <a:extLst xmlns:a="http://schemas.openxmlformats.org/drawingml/2006/main">
              <a:ext uri="{FF2B5EF4-FFF2-40B4-BE49-F238E27FC236}">
                <a16:creationId xmlns:a16="http://schemas.microsoft.com/office/drawing/2014/main" id="{7CD1ABA4-789A-400C-BF53-831ABA99EC6D}"/>
              </a:ext>
            </a:extLst>
          </p:cNvPr>
          <p:cNvSpPr>
            <a:spLocks xmlns:a="http://schemas.openxmlformats.org/drawingml/2006/main" noGrp="1"/>
          </p:cNvSpPr>
          <p:nvPr/>
        </p:nvSpPr>
        <p:spPr>
          <a:xfrm xmlns:a="http://schemas.openxmlformats.org/drawingml/2006/main">
            <a:off x="609600" y="1390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0720985-D306-4709-9A40-F626B2C580BB}"/>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6" name="Nguyen, Backes e Stock (2022), Abstract,">
            <a:extLst xmlns:a="http://schemas.openxmlformats.org/drawingml/2006/main">
              <a:ext uri="{FF2B5EF4-FFF2-40B4-BE49-F238E27FC236}">
                <a16:creationId xmlns:a16="http://schemas.microsoft.com/office/drawing/2014/main" id="{1151AB9B-E3E2-4662-9E84-0E7BC8E3BC5F}"/>
              </a:ext>
            </a:extLst>
          </p:cNvPr>
          <p:cNvSpPr>
            <a:spLocks xmlns:a="http://schemas.openxmlformats.org/drawingml/2006/main" noGrp="1"/>
          </p:cNvSpPr>
          <p:nvPr/>
        </p:nvSpPr>
        <p:spPr>
          <a:xfrm xmlns:a="http://schemas.openxmlformats.org/drawingml/2006/main">
            <a:off x="609600" y="6477000"/>
            <a:ext cx="9982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96B7A"/>
                </a:solidFill>
                <a:latin typeface="Arial"/>
                <a:ea typeface="Arial"/>
                <a:cs typeface="Arial"/>
              </a:defRPr>
            </a:pPr>
            <a:r>
              <a:rPr sz="1200" b="0">
                <a:solidFill>
                  <a:srgbClr val="596B7A"/>
                </a:solidFill>
                <a:latin typeface="Arial"/>
                <a:ea typeface="Arial"/>
                <a:cs typeface="Arial"/>
              </a:rPr>
              <a:t>Nguyen, Backes e Stock (2022), Abstract, p. 1. Os excertos mantêm os termos usados pelos autores.</a:t>
            </a:r>
          </a:p>
        </p:txBody>
      </p:sp>
      <p:sp>
        <p:nvSpPr>
          <p:cNvPr id="7" name="07 / 23">
            <a:extLst xmlns:a="http://schemas.openxmlformats.org/drawingml/2006/main">
              <a:ext uri="{FF2B5EF4-FFF2-40B4-BE49-F238E27FC236}">
                <a16:creationId xmlns:a16="http://schemas.microsoft.com/office/drawing/2014/main" id="{C82BFB5C-8F36-4F35-9096-B4713C3AE9C2}"/>
              </a:ext>
            </a:extLst>
          </p:cNvPr>
          <p:cNvSpPr>
            <a:spLocks xmlns:a="http://schemas.openxmlformats.org/drawingml/2006/main" noGrp="1"/>
          </p:cNvSpPr>
          <p:nvPr/>
        </p:nvSpPr>
        <p:spPr>
          <a:xfrm xmlns:a="http://schemas.openxmlformats.org/drawingml/2006/main">
            <a:off x="10668000" y="64770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96B7A"/>
                </a:solidFill>
                <a:latin typeface="Arial"/>
                <a:ea typeface="Arial"/>
                <a:cs typeface="Arial"/>
              </a:defRPr>
            </a:pPr>
            <a:r>
              <a:rPr sz="1200" b="0">
                <a:solidFill>
                  <a:srgbClr val="596B7A"/>
                </a:solidFill>
                <a:latin typeface="Arial"/>
                <a:ea typeface="Arial"/>
                <a:cs typeface="Arial"/>
              </a:rPr>
              <a:t>07 / 23</a:t>
            </a:r>
          </a:p>
        </p:txBody>
      </p:sp>
      <p:sp>
        <p:nvSpPr>
          <p:cNvPr id="8" name="MÉTODO">
            <a:extLst xmlns:a="http://schemas.openxmlformats.org/drawingml/2006/main">
              <a:ext uri="{FF2B5EF4-FFF2-40B4-BE49-F238E27FC236}">
                <a16:creationId xmlns:a16="http://schemas.microsoft.com/office/drawing/2014/main" id="{E5D234E3-C87B-46E4-B0BF-6C61E1264812}"/>
              </a:ext>
            </a:extLst>
          </p:cNvPr>
          <p:cNvSpPr>
            <a:spLocks xmlns:a="http://schemas.openxmlformats.org/drawingml/2006/main" noGrp="1"/>
          </p:cNvSpPr>
          <p:nvPr/>
        </p:nvSpPr>
        <p:spPr>
          <a:xfrm xmlns:a="http://schemas.openxmlformats.org/drawingml/2006/main">
            <a:off x="609600" y="171450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287967"/>
                </a:solidFill>
                <a:latin typeface="Arial"/>
                <a:ea typeface="Arial"/>
                <a:cs typeface="Arial"/>
              </a:defRPr>
            </a:pPr>
            <a:r>
              <a:rPr sz="1350" b="1">
                <a:solidFill>
                  <a:srgbClr val="287967"/>
                </a:solidFill>
                <a:latin typeface="Arial"/>
                <a:ea typeface="Arial"/>
                <a:cs typeface="Arial"/>
              </a:rPr>
              <a:t>MÉTODO</a:t>
            </a:r>
          </a:p>
        </p:txBody>
      </p:sp>
      <p:sp>
        <p:nvSpPr>
          <p:cNvPr id="9" name="EN">
            <a:extLst xmlns:a="http://schemas.openxmlformats.org/drawingml/2006/main">
              <a:ext uri="{FF2B5EF4-FFF2-40B4-BE49-F238E27FC236}">
                <a16:creationId xmlns:a16="http://schemas.microsoft.com/office/drawing/2014/main" id="{215926B4-2D1E-44EB-AE0F-012C1A7100EA}"/>
              </a:ext>
            </a:extLst>
          </p:cNvPr>
          <p:cNvSpPr>
            <a:spLocks xmlns:a="http://schemas.openxmlformats.org/drawingml/2006/main" noGrp="1"/>
          </p:cNvSpPr>
          <p:nvPr/>
        </p:nvSpPr>
        <p:spPr>
          <a:xfrm xmlns:a="http://schemas.openxmlformats.org/drawingml/2006/main">
            <a:off x="2590800" y="17145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287967"/>
                </a:solidFill>
                <a:latin typeface="Arial"/>
                <a:ea typeface="Arial"/>
                <a:cs typeface="Arial"/>
              </a:defRPr>
            </a:pPr>
            <a:r>
              <a:rPr sz="1200" b="1">
                <a:solidFill>
                  <a:srgbClr val="287967"/>
                </a:solidFill>
                <a:latin typeface="Arial"/>
                <a:ea typeface="Arial"/>
                <a:cs typeface="Arial"/>
              </a:rPr>
              <a:t>EN</a:t>
            </a:r>
          </a:p>
        </p:txBody>
      </p:sp>
      <p:sp>
        <p:nvSpPr>
          <p:cNvPr id="10" name="“a mostly automated and scalable approac">
            <a:extLst xmlns:a="http://schemas.openxmlformats.org/drawingml/2006/main">
              <a:ext uri="{FF2B5EF4-FFF2-40B4-BE49-F238E27FC236}">
                <a16:creationId xmlns:a16="http://schemas.microsoft.com/office/drawing/2014/main" id="{9E04337D-0E75-4F42-9FCF-12567E183B01}"/>
              </a:ext>
            </a:extLst>
          </p:cNvPr>
          <p:cNvSpPr>
            <a:spLocks xmlns:a="http://schemas.openxmlformats.org/drawingml/2006/main" noGrp="1"/>
          </p:cNvSpPr>
          <p:nvPr/>
        </p:nvSpPr>
        <p:spPr>
          <a:xfrm xmlns:a="http://schemas.openxmlformats.org/drawingml/2006/main">
            <a:off x="3009900" y="1676400"/>
            <a:ext cx="857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4384A"/>
                </a:solidFill>
                <a:latin typeface="Arial"/>
                <a:ea typeface="Arial"/>
                <a:cs typeface="Arial"/>
              </a:defRPr>
            </a:pPr>
            <a:r>
              <a:rPr sz="1875" b="0">
                <a:solidFill>
                  <a:srgbClr val="24384A"/>
                </a:solidFill>
                <a:latin typeface="Arial"/>
                <a:ea typeface="Arial"/>
                <a:cs typeface="Arial"/>
              </a:rPr>
              <a:t>“a mostly automated and scalable approach”</a:t>
            </a:r>
          </a:p>
        </p:txBody>
      </p:sp>
      <p:sp>
        <p:nvSpPr>
          <p:cNvPr id="11" name="PT">
            <a:extLst xmlns:a="http://schemas.openxmlformats.org/drawingml/2006/main">
              <a:ext uri="{FF2B5EF4-FFF2-40B4-BE49-F238E27FC236}">
                <a16:creationId xmlns:a16="http://schemas.microsoft.com/office/drawing/2014/main" id="{C34BABD2-7E45-4F02-813F-790CC135EC09}"/>
              </a:ext>
            </a:extLst>
          </p:cNvPr>
          <p:cNvSpPr>
            <a:spLocks xmlns:a="http://schemas.openxmlformats.org/drawingml/2006/main" noGrp="1"/>
          </p:cNvSpPr>
          <p:nvPr/>
        </p:nvSpPr>
        <p:spPr>
          <a:xfrm xmlns:a="http://schemas.openxmlformats.org/drawingml/2006/main">
            <a:off x="2590800" y="240030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287967"/>
                </a:solidFill>
                <a:latin typeface="Arial"/>
                <a:ea typeface="Arial"/>
                <a:cs typeface="Arial"/>
              </a:defRPr>
            </a:pPr>
            <a:r>
              <a:rPr sz="1200" b="1">
                <a:solidFill>
                  <a:srgbClr val="287967"/>
                </a:solidFill>
                <a:latin typeface="Arial"/>
                <a:ea typeface="Arial"/>
                <a:cs typeface="Arial"/>
              </a:rPr>
              <a:t>PT</a:t>
            </a:r>
          </a:p>
        </p:txBody>
      </p:sp>
      <p:sp>
        <p:nvSpPr>
          <p:cNvPr id="12" name="Uma abordagem majoritariamente automatiz">
            <a:extLst xmlns:a="http://schemas.openxmlformats.org/drawingml/2006/main">
              <a:ext uri="{FF2B5EF4-FFF2-40B4-BE49-F238E27FC236}">
                <a16:creationId xmlns:a16="http://schemas.microsoft.com/office/drawing/2014/main" id="{35E56F4A-87F2-4D7B-8B08-591DF370973A}"/>
              </a:ext>
            </a:extLst>
          </p:cNvPr>
          <p:cNvSpPr>
            <a:spLocks xmlns:a="http://schemas.openxmlformats.org/drawingml/2006/main" noGrp="1"/>
          </p:cNvSpPr>
          <p:nvPr/>
        </p:nvSpPr>
        <p:spPr>
          <a:xfrm xmlns:a="http://schemas.openxmlformats.org/drawingml/2006/main">
            <a:off x="3009900" y="2352675"/>
            <a:ext cx="857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87967"/>
                </a:solidFill>
                <a:latin typeface="Arial"/>
                <a:ea typeface="Arial"/>
                <a:cs typeface="Arial"/>
              </a:defRPr>
            </a:pPr>
            <a:r>
              <a:rPr sz="1875" b="0">
                <a:solidFill>
                  <a:srgbClr val="287967"/>
                </a:solidFill>
                <a:latin typeface="Arial"/>
                <a:ea typeface="Arial"/>
                <a:cs typeface="Arial"/>
              </a:rPr>
              <a:t>Uma abordagem majoritariamente automatizada e escalável.</a:t>
            </a:r>
          </a:p>
        </p:txBody>
      </p:sp>
      <p:sp>
        <p:nvSpPr>
          <p:cNvPr id="13" name="">
            <a:extLst xmlns:a="http://schemas.openxmlformats.org/drawingml/2006/main">
              <a:ext uri="{FF2B5EF4-FFF2-40B4-BE49-F238E27FC236}">
                <a16:creationId xmlns:a16="http://schemas.microsoft.com/office/drawing/2014/main" id="{67CE2EEB-AC05-4055-9A0C-DEFF3230D83E}"/>
              </a:ext>
            </a:extLst>
          </p:cNvPr>
          <p:cNvSpPr>
            <a:spLocks xmlns:a="http://schemas.openxmlformats.org/drawingml/2006/main" noGrp="1"/>
          </p:cNvSpPr>
          <p:nvPr/>
        </p:nvSpPr>
        <p:spPr>
          <a:xfrm xmlns:a="http://schemas.openxmlformats.org/drawingml/2006/main">
            <a:off x="609600" y="2962275"/>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14" name="RESULTADO">
            <a:extLst xmlns:a="http://schemas.openxmlformats.org/drawingml/2006/main">
              <a:ext uri="{FF2B5EF4-FFF2-40B4-BE49-F238E27FC236}">
                <a16:creationId xmlns:a16="http://schemas.microsoft.com/office/drawing/2014/main" id="{4C44CFCF-CBE8-4668-9763-72A9ED9622E8}"/>
              </a:ext>
            </a:extLst>
          </p:cNvPr>
          <p:cNvSpPr>
            <a:spLocks xmlns:a="http://schemas.openxmlformats.org/drawingml/2006/main" noGrp="1"/>
          </p:cNvSpPr>
          <p:nvPr/>
        </p:nvSpPr>
        <p:spPr>
          <a:xfrm xmlns:a="http://schemas.openxmlformats.org/drawingml/2006/main">
            <a:off x="609600" y="30765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AC4C45"/>
                </a:solidFill>
                <a:latin typeface="Arial"/>
                <a:ea typeface="Arial"/>
                <a:cs typeface="Arial"/>
              </a:defRPr>
            </a:pPr>
            <a:r>
              <a:rPr sz="1350" b="1">
                <a:solidFill>
                  <a:srgbClr val="AC4C45"/>
                </a:solidFill>
                <a:latin typeface="Arial"/>
                <a:ea typeface="Arial"/>
                <a:cs typeface="Arial"/>
              </a:rPr>
              <a:t>RESULTADO</a:t>
            </a:r>
          </a:p>
        </p:txBody>
      </p:sp>
      <p:sp>
        <p:nvSpPr>
          <p:cNvPr id="15" name="EN">
            <a:extLst xmlns:a="http://schemas.openxmlformats.org/drawingml/2006/main">
              <a:ext uri="{FF2B5EF4-FFF2-40B4-BE49-F238E27FC236}">
                <a16:creationId xmlns:a16="http://schemas.microsoft.com/office/drawing/2014/main" id="{95767925-B9FC-4093-A010-2E44264D6E2C}"/>
              </a:ext>
            </a:extLst>
          </p:cNvPr>
          <p:cNvSpPr>
            <a:spLocks xmlns:a="http://schemas.openxmlformats.org/drawingml/2006/main" noGrp="1"/>
          </p:cNvSpPr>
          <p:nvPr/>
        </p:nvSpPr>
        <p:spPr>
          <a:xfrm xmlns:a="http://schemas.openxmlformats.org/drawingml/2006/main">
            <a:off x="2590800" y="307657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AC4C45"/>
                </a:solidFill>
                <a:latin typeface="Arial"/>
                <a:ea typeface="Arial"/>
                <a:cs typeface="Arial"/>
              </a:defRPr>
            </a:pPr>
            <a:r>
              <a:rPr sz="1200" b="1">
                <a:solidFill>
                  <a:srgbClr val="AC4C45"/>
                </a:solidFill>
                <a:latin typeface="Arial"/>
                <a:ea typeface="Arial"/>
                <a:cs typeface="Arial"/>
              </a:rPr>
              <a:t>EN</a:t>
            </a:r>
          </a:p>
        </p:txBody>
      </p:sp>
      <p:sp>
        <p:nvSpPr>
          <p:cNvPr id="16" name="“we identify 2,688 (20.54%) apps violate">
            <a:extLst xmlns:a="http://schemas.openxmlformats.org/drawingml/2006/main">
              <a:ext uri="{FF2B5EF4-FFF2-40B4-BE49-F238E27FC236}">
                <a16:creationId xmlns:a16="http://schemas.microsoft.com/office/drawing/2014/main" id="{6E12C1B3-627F-45A2-A95A-E6C05F229481}"/>
              </a:ext>
            </a:extLst>
          </p:cNvPr>
          <p:cNvSpPr>
            <a:spLocks xmlns:a="http://schemas.openxmlformats.org/drawingml/2006/main" noGrp="1"/>
          </p:cNvSpPr>
          <p:nvPr/>
        </p:nvSpPr>
        <p:spPr>
          <a:xfrm xmlns:a="http://schemas.openxmlformats.org/drawingml/2006/main">
            <a:off x="3009900" y="3038475"/>
            <a:ext cx="857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4384A"/>
                </a:solidFill>
                <a:latin typeface="Arial"/>
                <a:ea typeface="Arial"/>
                <a:cs typeface="Arial"/>
              </a:defRPr>
            </a:pPr>
            <a:r>
              <a:rPr sz="1875" b="0">
                <a:solidFill>
                  <a:srgbClr val="24384A"/>
                </a:solidFill>
                <a:latin typeface="Arial"/>
                <a:ea typeface="Arial"/>
                <a:cs typeface="Arial"/>
              </a:rPr>
              <a:t>“we identify 2,688 (20.54%) apps violate at least one of the GDPR consent requirements”</a:t>
            </a:r>
          </a:p>
        </p:txBody>
      </p:sp>
      <p:sp>
        <p:nvSpPr>
          <p:cNvPr id="17" name="PT">
            <a:extLst xmlns:a="http://schemas.openxmlformats.org/drawingml/2006/main">
              <a:ext uri="{FF2B5EF4-FFF2-40B4-BE49-F238E27FC236}">
                <a16:creationId xmlns:a16="http://schemas.microsoft.com/office/drawing/2014/main" id="{D8085EC4-2139-4EFA-85D5-F5291ACD6723}"/>
              </a:ext>
            </a:extLst>
          </p:cNvPr>
          <p:cNvSpPr>
            <a:spLocks xmlns:a="http://schemas.openxmlformats.org/drawingml/2006/main" noGrp="1"/>
          </p:cNvSpPr>
          <p:nvPr/>
        </p:nvSpPr>
        <p:spPr>
          <a:xfrm xmlns:a="http://schemas.openxmlformats.org/drawingml/2006/main">
            <a:off x="2590800" y="376237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AC4C45"/>
                </a:solidFill>
                <a:latin typeface="Arial"/>
                <a:ea typeface="Arial"/>
                <a:cs typeface="Arial"/>
              </a:defRPr>
            </a:pPr>
            <a:r>
              <a:rPr sz="1200" b="1">
                <a:solidFill>
                  <a:srgbClr val="AC4C45"/>
                </a:solidFill>
                <a:latin typeface="Arial"/>
                <a:ea typeface="Arial"/>
                <a:cs typeface="Arial"/>
              </a:rPr>
              <a:t>PT</a:t>
            </a:r>
          </a:p>
        </p:txBody>
      </p:sp>
      <p:sp>
        <p:nvSpPr>
          <p:cNvPr id="18" name="Identificamos 2.688 aplicativos (20,54%)">
            <a:extLst xmlns:a="http://schemas.openxmlformats.org/drawingml/2006/main">
              <a:ext uri="{FF2B5EF4-FFF2-40B4-BE49-F238E27FC236}">
                <a16:creationId xmlns:a16="http://schemas.microsoft.com/office/drawing/2014/main" id="{55ED7D53-7940-4EDE-82E1-B03282F727E7}"/>
              </a:ext>
            </a:extLst>
          </p:cNvPr>
          <p:cNvSpPr>
            <a:spLocks xmlns:a="http://schemas.openxmlformats.org/drawingml/2006/main" noGrp="1"/>
          </p:cNvSpPr>
          <p:nvPr/>
        </p:nvSpPr>
        <p:spPr>
          <a:xfrm xmlns:a="http://schemas.openxmlformats.org/drawingml/2006/main">
            <a:off x="3009900" y="3714750"/>
            <a:ext cx="857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AC4C45"/>
                </a:solidFill>
                <a:latin typeface="Arial"/>
                <a:ea typeface="Arial"/>
                <a:cs typeface="Arial"/>
              </a:defRPr>
            </a:pPr>
            <a:r>
              <a:rPr sz="1875" b="0">
                <a:solidFill>
                  <a:srgbClr val="AC4C45"/>
                </a:solidFill>
                <a:latin typeface="Arial"/>
                <a:ea typeface="Arial"/>
                <a:cs typeface="Arial"/>
              </a:rPr>
              <a:t>Identificamos 2.688 aplicativos (20,54%) que violam pelo menos um dos requisitos de consentimento do GDPR.</a:t>
            </a:r>
          </a:p>
        </p:txBody>
      </p:sp>
      <p:sp>
        <p:nvSpPr>
          <p:cNvPr id="19" name="">
            <a:extLst xmlns:a="http://schemas.openxmlformats.org/drawingml/2006/main">
              <a:ext uri="{FF2B5EF4-FFF2-40B4-BE49-F238E27FC236}">
                <a16:creationId xmlns:a16="http://schemas.microsoft.com/office/drawing/2014/main" id="{A7C2F081-5EE8-4D00-9744-00512A34DDDC}"/>
              </a:ext>
            </a:extLst>
          </p:cNvPr>
          <p:cNvSpPr>
            <a:spLocks xmlns:a="http://schemas.openxmlformats.org/drawingml/2006/main" noGrp="1"/>
          </p:cNvSpPr>
          <p:nvPr/>
        </p:nvSpPr>
        <p:spPr>
          <a:xfrm xmlns:a="http://schemas.openxmlformats.org/drawingml/2006/main">
            <a:off x="609600" y="43243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20" name="IMPLICAÇÃO">
            <a:extLst xmlns:a="http://schemas.openxmlformats.org/drawingml/2006/main">
              <a:ext uri="{FF2B5EF4-FFF2-40B4-BE49-F238E27FC236}">
                <a16:creationId xmlns:a16="http://schemas.microsoft.com/office/drawing/2014/main" id="{FC9CCEEF-63E6-4817-A356-90FA3B39FBC7}"/>
              </a:ext>
            </a:extLst>
          </p:cNvPr>
          <p:cNvSpPr>
            <a:spLocks xmlns:a="http://schemas.openxmlformats.org/drawingml/2006/main" noGrp="1"/>
          </p:cNvSpPr>
          <p:nvPr/>
        </p:nvSpPr>
        <p:spPr>
          <a:xfrm xmlns:a="http://schemas.openxmlformats.org/drawingml/2006/main">
            <a:off x="609600" y="44386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69558B"/>
                </a:solidFill>
                <a:latin typeface="Arial"/>
                <a:ea typeface="Arial"/>
                <a:cs typeface="Arial"/>
              </a:defRPr>
            </a:pPr>
            <a:r>
              <a:rPr sz="1350" b="1">
                <a:solidFill>
                  <a:srgbClr val="69558B"/>
                </a:solidFill>
                <a:latin typeface="Arial"/>
                <a:ea typeface="Arial"/>
                <a:cs typeface="Arial"/>
              </a:rPr>
              <a:t>IMPLICAÇÃO</a:t>
            </a:r>
          </a:p>
        </p:txBody>
      </p:sp>
      <p:sp>
        <p:nvSpPr>
          <p:cNvPr id="21" name="EN">
            <a:extLst xmlns:a="http://schemas.openxmlformats.org/drawingml/2006/main">
              <a:ext uri="{FF2B5EF4-FFF2-40B4-BE49-F238E27FC236}">
                <a16:creationId xmlns:a16="http://schemas.microsoft.com/office/drawing/2014/main" id="{FD9A4F37-A9B0-4E44-B7BE-A9E29E7BE6BA}"/>
              </a:ext>
            </a:extLst>
          </p:cNvPr>
          <p:cNvSpPr>
            <a:spLocks xmlns:a="http://schemas.openxmlformats.org/drawingml/2006/main" noGrp="1"/>
          </p:cNvSpPr>
          <p:nvPr/>
        </p:nvSpPr>
        <p:spPr>
          <a:xfrm xmlns:a="http://schemas.openxmlformats.org/drawingml/2006/main">
            <a:off x="2590800" y="44386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69558B"/>
                </a:solidFill>
                <a:latin typeface="Arial"/>
                <a:ea typeface="Arial"/>
                <a:cs typeface="Arial"/>
              </a:defRPr>
            </a:pPr>
            <a:r>
              <a:rPr sz="1200" b="1">
                <a:solidFill>
                  <a:srgbClr val="69558B"/>
                </a:solidFill>
                <a:latin typeface="Arial"/>
                <a:ea typeface="Arial"/>
                <a:cs typeface="Arial"/>
              </a:rPr>
              <a:t>EN</a:t>
            </a:r>
          </a:p>
        </p:txBody>
      </p:sp>
      <p:sp>
        <p:nvSpPr>
          <p:cNvPr id="22" name="“more transparent processing of personal">
            <a:extLst xmlns:a="http://schemas.openxmlformats.org/drawingml/2006/main">
              <a:ext uri="{FF2B5EF4-FFF2-40B4-BE49-F238E27FC236}">
                <a16:creationId xmlns:a16="http://schemas.microsoft.com/office/drawing/2014/main" id="{9E161F2D-A418-405A-9504-C6145EE39A63}"/>
              </a:ext>
            </a:extLst>
          </p:cNvPr>
          <p:cNvSpPr>
            <a:spLocks xmlns:a="http://schemas.openxmlformats.org/drawingml/2006/main" noGrp="1"/>
          </p:cNvSpPr>
          <p:nvPr/>
        </p:nvSpPr>
        <p:spPr>
          <a:xfrm xmlns:a="http://schemas.openxmlformats.org/drawingml/2006/main">
            <a:off x="3009900" y="4400550"/>
            <a:ext cx="857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4384A"/>
                </a:solidFill>
                <a:latin typeface="Arial"/>
                <a:ea typeface="Arial"/>
                <a:cs typeface="Arial"/>
              </a:defRPr>
            </a:pPr>
            <a:r>
              <a:rPr sz="1875" b="0">
                <a:solidFill>
                  <a:srgbClr val="24384A"/>
                </a:solidFill>
                <a:latin typeface="Arial"/>
                <a:ea typeface="Arial"/>
                <a:cs typeface="Arial"/>
              </a:rPr>
              <a:t>“more transparent processing of personal data and supporting developers”</a:t>
            </a:r>
          </a:p>
        </p:txBody>
      </p:sp>
      <p:sp>
        <p:nvSpPr>
          <p:cNvPr id="23" name="PT">
            <a:extLst xmlns:a="http://schemas.openxmlformats.org/drawingml/2006/main">
              <a:ext uri="{FF2B5EF4-FFF2-40B4-BE49-F238E27FC236}">
                <a16:creationId xmlns:a16="http://schemas.microsoft.com/office/drawing/2014/main" id="{A30C4001-5F12-46A7-B483-2630278EE5AD}"/>
              </a:ext>
            </a:extLst>
          </p:cNvPr>
          <p:cNvSpPr>
            <a:spLocks xmlns:a="http://schemas.openxmlformats.org/drawingml/2006/main" noGrp="1"/>
          </p:cNvSpPr>
          <p:nvPr/>
        </p:nvSpPr>
        <p:spPr>
          <a:xfrm xmlns:a="http://schemas.openxmlformats.org/drawingml/2006/main">
            <a:off x="2590800" y="51244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69558B"/>
                </a:solidFill>
                <a:latin typeface="Arial"/>
                <a:ea typeface="Arial"/>
                <a:cs typeface="Arial"/>
              </a:defRPr>
            </a:pPr>
            <a:r>
              <a:rPr sz="1200" b="1">
                <a:solidFill>
                  <a:srgbClr val="69558B"/>
                </a:solidFill>
                <a:latin typeface="Arial"/>
                <a:ea typeface="Arial"/>
                <a:cs typeface="Arial"/>
              </a:rPr>
              <a:t>PT</a:t>
            </a:r>
          </a:p>
        </p:txBody>
      </p:sp>
      <p:sp>
        <p:nvSpPr>
          <p:cNvPr id="24" name="Maior transparência no tratamento de dad">
            <a:extLst xmlns:a="http://schemas.openxmlformats.org/drawingml/2006/main">
              <a:ext uri="{FF2B5EF4-FFF2-40B4-BE49-F238E27FC236}">
                <a16:creationId xmlns:a16="http://schemas.microsoft.com/office/drawing/2014/main" id="{D3BB46E7-EA90-48A4-90C9-D22CAEEA2F72}"/>
              </a:ext>
            </a:extLst>
          </p:cNvPr>
          <p:cNvSpPr>
            <a:spLocks xmlns:a="http://schemas.openxmlformats.org/drawingml/2006/main" noGrp="1"/>
          </p:cNvSpPr>
          <p:nvPr/>
        </p:nvSpPr>
        <p:spPr>
          <a:xfrm xmlns:a="http://schemas.openxmlformats.org/drawingml/2006/main">
            <a:off x="3009900" y="5076825"/>
            <a:ext cx="857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9558B"/>
                </a:solidFill>
                <a:latin typeface="Arial"/>
                <a:ea typeface="Arial"/>
                <a:cs typeface="Arial"/>
              </a:defRPr>
            </a:pPr>
            <a:r>
              <a:rPr sz="1875" b="0">
                <a:solidFill>
                  <a:srgbClr val="69558B"/>
                </a:solidFill>
                <a:latin typeface="Arial"/>
                <a:ea typeface="Arial"/>
                <a:cs typeface="Arial"/>
              </a:rPr>
              <a:t>Maior transparência no tratamento de dados pessoais e apoio aos desenvolvedores.</a:t>
            </a:r>
          </a:p>
        </p:txBody>
      </p:sp>
      <p:sp>
        <p:nvSpPr>
          <p:cNvPr id="25" name="Leitura do seminário: o resumo antecipa ">
            <a:extLst xmlns:a="http://schemas.openxmlformats.org/drawingml/2006/main">
              <a:ext uri="{FF2B5EF4-FFF2-40B4-BE49-F238E27FC236}">
                <a16:creationId xmlns:a16="http://schemas.microsoft.com/office/drawing/2014/main" id="{A33588E1-1D53-4FD3-95FC-F333DC7B247F}"/>
              </a:ext>
            </a:extLst>
          </p:cNvPr>
          <p:cNvSpPr>
            <a:spLocks xmlns:a="http://schemas.openxmlformats.org/drawingml/2006/main" noGrp="1"/>
          </p:cNvSpPr>
          <p:nvPr/>
        </p:nvSpPr>
        <p:spPr>
          <a:xfrm xmlns:a="http://schemas.openxmlformats.org/drawingml/2006/main">
            <a:off x="609600" y="59245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96B7A"/>
                </a:solidFill>
                <a:latin typeface="Arial"/>
                <a:ea typeface="Arial"/>
                <a:cs typeface="Arial"/>
              </a:defRPr>
            </a:pPr>
            <a:r>
              <a:rPr sz="1575" b="0">
                <a:solidFill>
                  <a:srgbClr val="596B7A"/>
                </a:solidFill>
                <a:latin typeface="Arial"/>
                <a:ea typeface="Arial"/>
                <a:cs typeface="Arial"/>
              </a:rPr>
              <a:t>Leitura do seminário: o resumo antecipa os achados. A conclusão torna a formulação jurídica mais cautelosa.</a:t>
            </a:r>
          </a:p>
        </p:txBody>
      </p:sp>
    </p:spTree>
    <p:extLst>
      <p:ext uri="{BB962C8B-B14F-4D97-AF65-F5344CB8AC3E}">
        <p14:creationId xmlns:p14="http://schemas.microsoft.com/office/powerpoint/2010/main" val="208574246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C91B071-F380-4CD6-BCCC-68C7D39E5555}"/>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174875"/>
          </a:solidFill>
          <a:ln xmlns:a="http://schemas.openxmlformats.org/drawingml/2006/main" w="0">
            <a:noFill/>
          </a:ln>
        </p:spPr>
      </p:sp>
      <p:sp>
        <p:nvSpPr>
          <p:cNvPr id="2" name="ANÁLISE DA INTRODUÇÃO">
            <a:extLst xmlns:a="http://schemas.openxmlformats.org/drawingml/2006/main">
              <a:ext uri="{FF2B5EF4-FFF2-40B4-BE49-F238E27FC236}">
                <a16:creationId xmlns:a16="http://schemas.microsoft.com/office/drawing/2014/main" id="{1F298E1E-0F78-4BE8-83B2-A81A772A6413}"/>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74875"/>
                </a:solidFill>
                <a:latin typeface="Arial"/>
                <a:ea typeface="Arial"/>
                <a:cs typeface="Arial"/>
              </a:defRPr>
            </a:pPr>
            <a:r>
              <a:rPr sz="1275" b="1">
                <a:solidFill>
                  <a:srgbClr val="174875"/>
                </a:solidFill>
                <a:latin typeface="Arial"/>
                <a:ea typeface="Arial"/>
                <a:cs typeface="Arial"/>
              </a:rPr>
              <a:t>ANÁLISE DA INTRODUÇÃO</a:t>
            </a:r>
          </a:p>
        </p:txBody>
      </p:sp>
      <p:sp>
        <p:nvSpPr>
          <p:cNvPr id="3" name="Introdução: três perguntas de pesquisa">
            <a:extLst xmlns:a="http://schemas.openxmlformats.org/drawingml/2006/main">
              <a:ext uri="{FF2B5EF4-FFF2-40B4-BE49-F238E27FC236}">
                <a16:creationId xmlns:a16="http://schemas.microsoft.com/office/drawing/2014/main" id="{3D744B74-2A83-4D28-9F5C-7C0204C51543}"/>
              </a:ext>
            </a:extLst>
          </p:cNvPr>
          <p:cNvSpPr>
            <a:spLocks xmlns:a="http://schemas.openxmlformats.org/drawingml/2006/main" noGrp="1"/>
          </p:cNvSpPr>
          <p:nvPr/>
        </p:nvSpPr>
        <p:spPr>
          <a:xfrm xmlns:a="http://schemas.openxmlformats.org/drawingml/2006/main">
            <a:off x="609600" y="7048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2324F"/>
                </a:solidFill>
                <a:latin typeface="Arial"/>
                <a:ea typeface="Arial"/>
                <a:cs typeface="Arial"/>
              </a:defRPr>
            </a:pPr>
            <a:r>
              <a:rPr sz="3150" b="1">
                <a:solidFill>
                  <a:srgbClr val="12324F"/>
                </a:solidFill>
                <a:latin typeface="Arial"/>
                <a:ea typeface="Arial"/>
                <a:cs typeface="Arial"/>
              </a:rPr>
              <a:t>Introdução: três perguntas de pesquisa</a:t>
            </a:r>
          </a:p>
        </p:txBody>
      </p:sp>
      <p:sp>
        <p:nvSpPr>
          <p:cNvPr id="4" name="">
            <a:extLst xmlns:a="http://schemas.openxmlformats.org/drawingml/2006/main">
              <a:ext uri="{FF2B5EF4-FFF2-40B4-BE49-F238E27FC236}">
                <a16:creationId xmlns:a16="http://schemas.microsoft.com/office/drawing/2014/main" id="{B0C61BA1-2235-46C5-A66E-74B923941A0C}"/>
              </a:ext>
            </a:extLst>
          </p:cNvPr>
          <p:cNvSpPr>
            <a:spLocks xmlns:a="http://schemas.openxmlformats.org/drawingml/2006/main" noGrp="1"/>
          </p:cNvSpPr>
          <p:nvPr/>
        </p:nvSpPr>
        <p:spPr>
          <a:xfrm xmlns:a="http://schemas.openxmlformats.org/drawingml/2006/main">
            <a:off x="609600" y="1390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308AAB1-CDDB-460C-9E67-54E3F28B5146}"/>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6" name="Nguyen, Backes e Stock (2022), Seção 1, ">
            <a:extLst xmlns:a="http://schemas.openxmlformats.org/drawingml/2006/main">
              <a:ext uri="{FF2B5EF4-FFF2-40B4-BE49-F238E27FC236}">
                <a16:creationId xmlns:a16="http://schemas.microsoft.com/office/drawing/2014/main" id="{4B1D015E-BA0C-4956-A51A-38241D17BD2E}"/>
              </a:ext>
            </a:extLst>
          </p:cNvPr>
          <p:cNvSpPr>
            <a:spLocks xmlns:a="http://schemas.openxmlformats.org/drawingml/2006/main" noGrp="1"/>
          </p:cNvSpPr>
          <p:nvPr/>
        </p:nvSpPr>
        <p:spPr>
          <a:xfrm xmlns:a="http://schemas.openxmlformats.org/drawingml/2006/main">
            <a:off x="609600" y="6477000"/>
            <a:ext cx="9982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96B7A"/>
                </a:solidFill>
                <a:latin typeface="Arial"/>
                <a:ea typeface="Arial"/>
                <a:cs typeface="Arial"/>
              </a:defRPr>
            </a:pPr>
            <a:r>
              <a:rPr sz="1200" b="0">
                <a:solidFill>
                  <a:srgbClr val="596B7A"/>
                </a:solidFill>
                <a:latin typeface="Arial"/>
                <a:ea typeface="Arial"/>
                <a:cs typeface="Arial"/>
              </a:rPr>
              <a:t>Nguyen, Backes e Stock (2022), Seção 1, p. 2 do PDF ACM. EN: perguntas de pesquisa literais.</a:t>
            </a:r>
          </a:p>
        </p:txBody>
      </p:sp>
      <p:sp>
        <p:nvSpPr>
          <p:cNvPr id="7" name="08 / 23">
            <a:extLst xmlns:a="http://schemas.openxmlformats.org/drawingml/2006/main">
              <a:ext uri="{FF2B5EF4-FFF2-40B4-BE49-F238E27FC236}">
                <a16:creationId xmlns:a16="http://schemas.microsoft.com/office/drawing/2014/main" id="{34F26070-68FE-4654-9C34-769821180BBB}"/>
              </a:ext>
            </a:extLst>
          </p:cNvPr>
          <p:cNvSpPr>
            <a:spLocks xmlns:a="http://schemas.openxmlformats.org/drawingml/2006/main" noGrp="1"/>
          </p:cNvSpPr>
          <p:nvPr/>
        </p:nvSpPr>
        <p:spPr>
          <a:xfrm xmlns:a="http://schemas.openxmlformats.org/drawingml/2006/main">
            <a:off x="10668000" y="64770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96B7A"/>
                </a:solidFill>
                <a:latin typeface="Arial"/>
                <a:ea typeface="Arial"/>
                <a:cs typeface="Arial"/>
              </a:defRPr>
            </a:pPr>
            <a:r>
              <a:rPr sz="1200" b="0">
                <a:solidFill>
                  <a:srgbClr val="596B7A"/>
                </a:solidFill>
                <a:latin typeface="Arial"/>
                <a:ea typeface="Arial"/>
                <a:cs typeface="Arial"/>
              </a:rPr>
              <a:t>08 / 23</a:t>
            </a:r>
          </a:p>
        </p:txBody>
      </p:sp>
      <p:sp>
        <p:nvSpPr>
          <p:cNvPr id="8" name="01">
            <a:extLst xmlns:a="http://schemas.openxmlformats.org/drawingml/2006/main">
              <a:ext uri="{FF2B5EF4-FFF2-40B4-BE49-F238E27FC236}">
                <a16:creationId xmlns:a16="http://schemas.microsoft.com/office/drawing/2014/main" id="{3D0198DB-D6DD-4314-B6FC-6B7FE7DCFE97}"/>
              </a:ext>
            </a:extLst>
          </p:cNvPr>
          <p:cNvSpPr>
            <a:spLocks xmlns:a="http://schemas.openxmlformats.org/drawingml/2006/main" noGrp="1"/>
          </p:cNvSpPr>
          <p:nvPr/>
        </p:nvSpPr>
        <p:spPr>
          <a:xfrm xmlns:a="http://schemas.openxmlformats.org/drawingml/2006/main">
            <a:off x="609600" y="1704975"/>
            <a:ext cx="647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4875"/>
                </a:solidFill>
                <a:latin typeface="Arial"/>
                <a:ea typeface="Arial"/>
                <a:cs typeface="Arial"/>
              </a:defRPr>
            </a:pPr>
            <a:r>
              <a:rPr sz="2700" b="1">
                <a:solidFill>
                  <a:srgbClr val="174875"/>
                </a:solidFill>
                <a:latin typeface="Arial"/>
                <a:ea typeface="Arial"/>
                <a:cs typeface="Arial"/>
              </a:rPr>
              <a:t>01</a:t>
            </a:r>
          </a:p>
        </p:txBody>
      </p:sp>
      <p:sp>
        <p:nvSpPr>
          <p:cNvPr id="9" name="EN">
            <a:extLst xmlns:a="http://schemas.openxmlformats.org/drawingml/2006/main">
              <a:ext uri="{FF2B5EF4-FFF2-40B4-BE49-F238E27FC236}">
                <a16:creationId xmlns:a16="http://schemas.microsoft.com/office/drawing/2014/main" id="{9E71226E-B630-4F76-A7F7-091296F71D64}"/>
              </a:ext>
            </a:extLst>
          </p:cNvPr>
          <p:cNvSpPr>
            <a:spLocks xmlns:a="http://schemas.openxmlformats.org/drawingml/2006/main" noGrp="1"/>
          </p:cNvSpPr>
          <p:nvPr/>
        </p:nvSpPr>
        <p:spPr>
          <a:xfrm xmlns:a="http://schemas.openxmlformats.org/drawingml/2006/main">
            <a:off x="1533525" y="170497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174875"/>
                </a:solidFill>
                <a:latin typeface="Arial"/>
                <a:ea typeface="Arial"/>
                <a:cs typeface="Arial"/>
              </a:defRPr>
            </a:pPr>
            <a:r>
              <a:rPr sz="1200" b="1">
                <a:solidFill>
                  <a:srgbClr val="174875"/>
                </a:solidFill>
                <a:latin typeface="Arial"/>
                <a:ea typeface="Arial"/>
                <a:cs typeface="Arial"/>
              </a:rPr>
              <a:t>EN</a:t>
            </a:r>
          </a:p>
        </p:txBody>
      </p:sp>
      <p:sp>
        <p:nvSpPr>
          <p:cNvPr id="10" name="“Do mobile apps implement any form of co">
            <a:extLst xmlns:a="http://schemas.openxmlformats.org/drawingml/2006/main">
              <a:ext uri="{FF2B5EF4-FFF2-40B4-BE49-F238E27FC236}">
                <a16:creationId xmlns:a16="http://schemas.microsoft.com/office/drawing/2014/main" id="{5B6B1C6E-4C96-4061-A21C-87744F49B759}"/>
              </a:ext>
            </a:extLst>
          </p:cNvPr>
          <p:cNvSpPr>
            <a:spLocks xmlns:a="http://schemas.openxmlformats.org/drawingml/2006/main" noGrp="1"/>
          </p:cNvSpPr>
          <p:nvPr/>
        </p:nvSpPr>
        <p:spPr>
          <a:xfrm xmlns:a="http://schemas.openxmlformats.org/drawingml/2006/main">
            <a:off x="1952625" y="1676400"/>
            <a:ext cx="9629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4384A"/>
                </a:solidFill>
                <a:latin typeface="Arial"/>
                <a:ea typeface="Arial"/>
                <a:cs typeface="Arial"/>
              </a:defRPr>
            </a:pPr>
            <a:r>
              <a:rPr sz="1875" b="0">
                <a:solidFill>
                  <a:srgbClr val="24384A"/>
                </a:solidFill>
                <a:latin typeface="Arial"/>
                <a:ea typeface="Arial"/>
                <a:cs typeface="Arial"/>
              </a:rPr>
              <a:t>“Do mobile apps implement any form of consent notices? What are the common properties of such consent notices?”</a:t>
            </a:r>
          </a:p>
        </p:txBody>
      </p:sp>
      <p:sp>
        <p:nvSpPr>
          <p:cNvPr id="11" name="PT">
            <a:extLst xmlns:a="http://schemas.openxmlformats.org/drawingml/2006/main">
              <a:ext uri="{FF2B5EF4-FFF2-40B4-BE49-F238E27FC236}">
                <a16:creationId xmlns:a16="http://schemas.microsoft.com/office/drawing/2014/main" id="{9069D830-2E84-45E0-BBE8-AE516AB3818C}"/>
              </a:ext>
            </a:extLst>
          </p:cNvPr>
          <p:cNvSpPr>
            <a:spLocks xmlns:a="http://schemas.openxmlformats.org/drawingml/2006/main" noGrp="1"/>
          </p:cNvSpPr>
          <p:nvPr/>
        </p:nvSpPr>
        <p:spPr>
          <a:xfrm xmlns:a="http://schemas.openxmlformats.org/drawingml/2006/main">
            <a:off x="1533525" y="23812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174875"/>
                </a:solidFill>
                <a:latin typeface="Arial"/>
                <a:ea typeface="Arial"/>
                <a:cs typeface="Arial"/>
              </a:defRPr>
            </a:pPr>
            <a:r>
              <a:rPr sz="1200" b="1">
                <a:solidFill>
                  <a:srgbClr val="174875"/>
                </a:solidFill>
                <a:latin typeface="Arial"/>
                <a:ea typeface="Arial"/>
                <a:cs typeface="Arial"/>
              </a:rPr>
              <a:t>PT</a:t>
            </a:r>
          </a:p>
        </p:txBody>
      </p:sp>
      <p:sp>
        <p:nvSpPr>
          <p:cNvPr id="12" name="Os aplicativos móveis implementam avisos">
            <a:extLst xmlns:a="http://schemas.openxmlformats.org/drawingml/2006/main">
              <a:ext uri="{FF2B5EF4-FFF2-40B4-BE49-F238E27FC236}">
                <a16:creationId xmlns:a16="http://schemas.microsoft.com/office/drawing/2014/main" id="{EF5E4976-BADE-42C3-B568-10E60FA67126}"/>
              </a:ext>
            </a:extLst>
          </p:cNvPr>
          <p:cNvSpPr>
            <a:spLocks xmlns:a="http://schemas.openxmlformats.org/drawingml/2006/main" noGrp="1"/>
          </p:cNvSpPr>
          <p:nvPr/>
        </p:nvSpPr>
        <p:spPr>
          <a:xfrm xmlns:a="http://schemas.openxmlformats.org/drawingml/2006/main">
            <a:off x="1952625" y="2352675"/>
            <a:ext cx="96297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4875"/>
                </a:solidFill>
                <a:latin typeface="Arial"/>
                <a:ea typeface="Arial"/>
                <a:cs typeface="Arial"/>
              </a:defRPr>
            </a:pPr>
            <a:r>
              <a:rPr sz="1875" b="0">
                <a:solidFill>
                  <a:srgbClr val="174875"/>
                </a:solidFill>
                <a:latin typeface="Arial"/>
                <a:ea typeface="Arial"/>
                <a:cs typeface="Arial"/>
              </a:rPr>
              <a:t>Os aplicativos móveis implementam avisos de consentimento? Quais são suas propriedades comuns?</a:t>
            </a:r>
          </a:p>
        </p:txBody>
      </p:sp>
      <p:sp>
        <p:nvSpPr>
          <p:cNvPr id="13" name="">
            <a:extLst xmlns:a="http://schemas.openxmlformats.org/drawingml/2006/main">
              <a:ext uri="{FF2B5EF4-FFF2-40B4-BE49-F238E27FC236}">
                <a16:creationId xmlns:a16="http://schemas.microsoft.com/office/drawing/2014/main" id="{ED5733F7-48CF-47E1-9AA8-055D7E516AAA}"/>
              </a:ext>
            </a:extLst>
          </p:cNvPr>
          <p:cNvSpPr>
            <a:spLocks xmlns:a="http://schemas.openxmlformats.org/drawingml/2006/main" noGrp="1"/>
          </p:cNvSpPr>
          <p:nvPr/>
        </p:nvSpPr>
        <p:spPr>
          <a:xfrm xmlns:a="http://schemas.openxmlformats.org/drawingml/2006/main">
            <a:off x="1533525" y="2981325"/>
            <a:ext cx="10048875"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14" name="02">
            <a:extLst xmlns:a="http://schemas.openxmlformats.org/drawingml/2006/main">
              <a:ext uri="{FF2B5EF4-FFF2-40B4-BE49-F238E27FC236}">
                <a16:creationId xmlns:a16="http://schemas.microsoft.com/office/drawing/2014/main" id="{5BFFE12D-5D85-4EB8-B45F-0D295753112D}"/>
              </a:ext>
            </a:extLst>
          </p:cNvPr>
          <p:cNvSpPr>
            <a:spLocks xmlns:a="http://schemas.openxmlformats.org/drawingml/2006/main" noGrp="1"/>
          </p:cNvSpPr>
          <p:nvPr/>
        </p:nvSpPr>
        <p:spPr>
          <a:xfrm xmlns:a="http://schemas.openxmlformats.org/drawingml/2006/main">
            <a:off x="609600" y="3095625"/>
            <a:ext cx="647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4875"/>
                </a:solidFill>
                <a:latin typeface="Arial"/>
                <a:ea typeface="Arial"/>
                <a:cs typeface="Arial"/>
              </a:defRPr>
            </a:pPr>
            <a:r>
              <a:rPr sz="2700" b="1">
                <a:solidFill>
                  <a:srgbClr val="174875"/>
                </a:solidFill>
                <a:latin typeface="Arial"/>
                <a:ea typeface="Arial"/>
                <a:cs typeface="Arial"/>
              </a:rPr>
              <a:t>02</a:t>
            </a:r>
          </a:p>
        </p:txBody>
      </p:sp>
      <p:sp>
        <p:nvSpPr>
          <p:cNvPr id="15" name="EN">
            <a:extLst xmlns:a="http://schemas.openxmlformats.org/drawingml/2006/main">
              <a:ext uri="{FF2B5EF4-FFF2-40B4-BE49-F238E27FC236}">
                <a16:creationId xmlns:a16="http://schemas.microsoft.com/office/drawing/2014/main" id="{15AE9607-A6C4-4820-8F02-3D420E8B604F}"/>
              </a:ext>
            </a:extLst>
          </p:cNvPr>
          <p:cNvSpPr>
            <a:spLocks xmlns:a="http://schemas.openxmlformats.org/drawingml/2006/main" noGrp="1"/>
          </p:cNvSpPr>
          <p:nvPr/>
        </p:nvSpPr>
        <p:spPr>
          <a:xfrm xmlns:a="http://schemas.openxmlformats.org/drawingml/2006/main">
            <a:off x="1533525" y="309562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174875"/>
                </a:solidFill>
                <a:latin typeface="Arial"/>
                <a:ea typeface="Arial"/>
                <a:cs typeface="Arial"/>
              </a:defRPr>
            </a:pPr>
            <a:r>
              <a:rPr sz="1200" b="1">
                <a:solidFill>
                  <a:srgbClr val="174875"/>
                </a:solidFill>
                <a:latin typeface="Arial"/>
                <a:ea typeface="Arial"/>
                <a:cs typeface="Arial"/>
              </a:rPr>
              <a:t>EN</a:t>
            </a:r>
          </a:p>
        </p:txBody>
      </p:sp>
      <p:sp>
        <p:nvSpPr>
          <p:cNvPr id="16" name="“Can these implemented consent notices b">
            <a:extLst xmlns:a="http://schemas.openxmlformats.org/drawingml/2006/main">
              <a:ext uri="{FF2B5EF4-FFF2-40B4-BE49-F238E27FC236}">
                <a16:creationId xmlns:a16="http://schemas.microsoft.com/office/drawing/2014/main" id="{86C3C16B-B59C-46B4-9946-B1EC641248A3}"/>
              </a:ext>
            </a:extLst>
          </p:cNvPr>
          <p:cNvSpPr>
            <a:spLocks xmlns:a="http://schemas.openxmlformats.org/drawingml/2006/main" noGrp="1"/>
          </p:cNvSpPr>
          <p:nvPr/>
        </p:nvSpPr>
        <p:spPr>
          <a:xfrm xmlns:a="http://schemas.openxmlformats.org/drawingml/2006/main">
            <a:off x="1952625" y="3067050"/>
            <a:ext cx="9629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4384A"/>
                </a:solidFill>
                <a:latin typeface="Arial"/>
                <a:ea typeface="Arial"/>
                <a:cs typeface="Arial"/>
              </a:defRPr>
            </a:pPr>
            <a:r>
              <a:rPr sz="1875" b="0">
                <a:solidFill>
                  <a:srgbClr val="24384A"/>
                </a:solidFill>
                <a:latin typeface="Arial"/>
                <a:ea typeface="Arial"/>
                <a:cs typeface="Arial"/>
              </a:rPr>
              <a:t>“Can these implemented consent notices be legally justified under GDPR?”</a:t>
            </a:r>
          </a:p>
        </p:txBody>
      </p:sp>
      <p:sp>
        <p:nvSpPr>
          <p:cNvPr id="17" name="PT">
            <a:extLst xmlns:a="http://schemas.openxmlformats.org/drawingml/2006/main">
              <a:ext uri="{FF2B5EF4-FFF2-40B4-BE49-F238E27FC236}">
                <a16:creationId xmlns:a16="http://schemas.microsoft.com/office/drawing/2014/main" id="{B8C7988C-E32F-4441-97A9-702CBDF4D726}"/>
              </a:ext>
            </a:extLst>
          </p:cNvPr>
          <p:cNvSpPr>
            <a:spLocks xmlns:a="http://schemas.openxmlformats.org/drawingml/2006/main" noGrp="1"/>
          </p:cNvSpPr>
          <p:nvPr/>
        </p:nvSpPr>
        <p:spPr>
          <a:xfrm xmlns:a="http://schemas.openxmlformats.org/drawingml/2006/main">
            <a:off x="1533525" y="37719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174875"/>
                </a:solidFill>
                <a:latin typeface="Arial"/>
                <a:ea typeface="Arial"/>
                <a:cs typeface="Arial"/>
              </a:defRPr>
            </a:pPr>
            <a:r>
              <a:rPr sz="1200" b="1">
                <a:solidFill>
                  <a:srgbClr val="174875"/>
                </a:solidFill>
                <a:latin typeface="Arial"/>
                <a:ea typeface="Arial"/>
                <a:cs typeface="Arial"/>
              </a:rPr>
              <a:t>PT</a:t>
            </a:r>
          </a:p>
        </p:txBody>
      </p:sp>
      <p:sp>
        <p:nvSpPr>
          <p:cNvPr id="18" name="Esses avisos de consentimento podem ser ">
            <a:extLst xmlns:a="http://schemas.openxmlformats.org/drawingml/2006/main">
              <a:ext uri="{FF2B5EF4-FFF2-40B4-BE49-F238E27FC236}">
                <a16:creationId xmlns:a16="http://schemas.microsoft.com/office/drawing/2014/main" id="{0B47D23E-69B1-44DC-9B75-F692349DA4FD}"/>
              </a:ext>
            </a:extLst>
          </p:cNvPr>
          <p:cNvSpPr>
            <a:spLocks xmlns:a="http://schemas.openxmlformats.org/drawingml/2006/main" noGrp="1"/>
          </p:cNvSpPr>
          <p:nvPr/>
        </p:nvSpPr>
        <p:spPr>
          <a:xfrm xmlns:a="http://schemas.openxmlformats.org/drawingml/2006/main">
            <a:off x="1952625" y="3743325"/>
            <a:ext cx="96297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4875"/>
                </a:solidFill>
                <a:latin typeface="Arial"/>
                <a:ea typeface="Arial"/>
                <a:cs typeface="Arial"/>
              </a:defRPr>
            </a:pPr>
            <a:r>
              <a:rPr sz="1875" b="0">
                <a:solidFill>
                  <a:srgbClr val="174875"/>
                </a:solidFill>
                <a:latin typeface="Arial"/>
                <a:ea typeface="Arial"/>
                <a:cs typeface="Arial"/>
              </a:rPr>
              <a:t>Esses avisos de consentimento podem ser justificados juridicamente à luz do GDPR?</a:t>
            </a:r>
          </a:p>
        </p:txBody>
      </p:sp>
      <p:sp>
        <p:nvSpPr>
          <p:cNvPr id="19" name="">
            <a:extLst xmlns:a="http://schemas.openxmlformats.org/drawingml/2006/main">
              <a:ext uri="{FF2B5EF4-FFF2-40B4-BE49-F238E27FC236}">
                <a16:creationId xmlns:a16="http://schemas.microsoft.com/office/drawing/2014/main" id="{865635C1-FCFB-46A2-BC42-C56267C8AD8D}"/>
              </a:ext>
            </a:extLst>
          </p:cNvPr>
          <p:cNvSpPr>
            <a:spLocks xmlns:a="http://schemas.openxmlformats.org/drawingml/2006/main" noGrp="1"/>
          </p:cNvSpPr>
          <p:nvPr/>
        </p:nvSpPr>
        <p:spPr>
          <a:xfrm xmlns:a="http://schemas.openxmlformats.org/drawingml/2006/main">
            <a:off x="1533525" y="4371975"/>
            <a:ext cx="10048875"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20" name="03">
            <a:extLst xmlns:a="http://schemas.openxmlformats.org/drawingml/2006/main">
              <a:ext uri="{FF2B5EF4-FFF2-40B4-BE49-F238E27FC236}">
                <a16:creationId xmlns:a16="http://schemas.microsoft.com/office/drawing/2014/main" id="{94146482-CD6A-47D9-9A15-8902F31175B0}"/>
              </a:ext>
            </a:extLst>
          </p:cNvPr>
          <p:cNvSpPr>
            <a:spLocks xmlns:a="http://schemas.openxmlformats.org/drawingml/2006/main" noGrp="1"/>
          </p:cNvSpPr>
          <p:nvPr/>
        </p:nvSpPr>
        <p:spPr>
          <a:xfrm xmlns:a="http://schemas.openxmlformats.org/drawingml/2006/main">
            <a:off x="609600" y="4486275"/>
            <a:ext cx="647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4875"/>
                </a:solidFill>
                <a:latin typeface="Arial"/>
                <a:ea typeface="Arial"/>
                <a:cs typeface="Arial"/>
              </a:defRPr>
            </a:pPr>
            <a:r>
              <a:rPr sz="2700" b="1">
                <a:solidFill>
                  <a:srgbClr val="174875"/>
                </a:solidFill>
                <a:latin typeface="Arial"/>
                <a:ea typeface="Arial"/>
                <a:cs typeface="Arial"/>
              </a:rPr>
              <a:t>03</a:t>
            </a:r>
          </a:p>
        </p:txBody>
      </p:sp>
      <p:sp>
        <p:nvSpPr>
          <p:cNvPr id="21" name="EN">
            <a:extLst xmlns:a="http://schemas.openxmlformats.org/drawingml/2006/main">
              <a:ext uri="{FF2B5EF4-FFF2-40B4-BE49-F238E27FC236}">
                <a16:creationId xmlns:a16="http://schemas.microsoft.com/office/drawing/2014/main" id="{39CB0955-5DD0-426E-86E3-D31CD4B0F448}"/>
              </a:ext>
            </a:extLst>
          </p:cNvPr>
          <p:cNvSpPr>
            <a:spLocks xmlns:a="http://schemas.openxmlformats.org/drawingml/2006/main" noGrp="1"/>
          </p:cNvSpPr>
          <p:nvPr/>
        </p:nvSpPr>
        <p:spPr>
          <a:xfrm xmlns:a="http://schemas.openxmlformats.org/drawingml/2006/main">
            <a:off x="1533525" y="448627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174875"/>
                </a:solidFill>
                <a:latin typeface="Arial"/>
                <a:ea typeface="Arial"/>
                <a:cs typeface="Arial"/>
              </a:defRPr>
            </a:pPr>
            <a:r>
              <a:rPr sz="1200" b="1">
                <a:solidFill>
                  <a:srgbClr val="174875"/>
                </a:solidFill>
                <a:latin typeface="Arial"/>
                <a:ea typeface="Arial"/>
                <a:cs typeface="Arial"/>
              </a:rPr>
              <a:t>EN</a:t>
            </a:r>
          </a:p>
        </p:txBody>
      </p:sp>
      <p:sp>
        <p:nvSpPr>
          <p:cNvPr id="22" name="“Are developers aware of the GDPR consen">
            <a:extLst xmlns:a="http://schemas.openxmlformats.org/drawingml/2006/main">
              <a:ext uri="{FF2B5EF4-FFF2-40B4-BE49-F238E27FC236}">
                <a16:creationId xmlns:a16="http://schemas.microsoft.com/office/drawing/2014/main" id="{F3E577C0-D005-4AFC-89E7-035A9A12650E}"/>
              </a:ext>
            </a:extLst>
          </p:cNvPr>
          <p:cNvSpPr>
            <a:spLocks xmlns:a="http://schemas.openxmlformats.org/drawingml/2006/main" noGrp="1"/>
          </p:cNvSpPr>
          <p:nvPr/>
        </p:nvSpPr>
        <p:spPr>
          <a:xfrm xmlns:a="http://schemas.openxmlformats.org/drawingml/2006/main">
            <a:off x="1952625" y="4457700"/>
            <a:ext cx="9629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4384A"/>
                </a:solidFill>
                <a:latin typeface="Arial"/>
                <a:ea typeface="Arial"/>
                <a:cs typeface="Arial"/>
              </a:defRPr>
            </a:pPr>
            <a:r>
              <a:rPr sz="1875" b="0">
                <a:solidFill>
                  <a:srgbClr val="24384A"/>
                </a:solidFill>
                <a:latin typeface="Arial"/>
                <a:ea typeface="Arial"/>
                <a:cs typeface="Arial"/>
              </a:rPr>
              <a:t>“Are developers aware of the GDPR consent requirements and the violations of their implementation?”</a:t>
            </a:r>
          </a:p>
        </p:txBody>
      </p:sp>
      <p:sp>
        <p:nvSpPr>
          <p:cNvPr id="23" name="PT">
            <a:extLst xmlns:a="http://schemas.openxmlformats.org/drawingml/2006/main">
              <a:ext uri="{FF2B5EF4-FFF2-40B4-BE49-F238E27FC236}">
                <a16:creationId xmlns:a16="http://schemas.microsoft.com/office/drawing/2014/main" id="{B332E377-23C0-42F4-AD23-00F81EA651C4}"/>
              </a:ext>
            </a:extLst>
          </p:cNvPr>
          <p:cNvSpPr>
            <a:spLocks xmlns:a="http://schemas.openxmlformats.org/drawingml/2006/main" noGrp="1"/>
          </p:cNvSpPr>
          <p:nvPr/>
        </p:nvSpPr>
        <p:spPr>
          <a:xfrm xmlns:a="http://schemas.openxmlformats.org/drawingml/2006/main">
            <a:off x="1533525" y="51625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174875"/>
                </a:solidFill>
                <a:latin typeface="Arial"/>
                <a:ea typeface="Arial"/>
                <a:cs typeface="Arial"/>
              </a:defRPr>
            </a:pPr>
            <a:r>
              <a:rPr sz="1200" b="1">
                <a:solidFill>
                  <a:srgbClr val="174875"/>
                </a:solidFill>
                <a:latin typeface="Arial"/>
                <a:ea typeface="Arial"/>
                <a:cs typeface="Arial"/>
              </a:rPr>
              <a:t>PT</a:t>
            </a:r>
          </a:p>
        </p:txBody>
      </p:sp>
      <p:sp>
        <p:nvSpPr>
          <p:cNvPr id="24" name="Os desenvolvedores conhecem os requisito">
            <a:extLst xmlns:a="http://schemas.openxmlformats.org/drawingml/2006/main">
              <a:ext uri="{FF2B5EF4-FFF2-40B4-BE49-F238E27FC236}">
                <a16:creationId xmlns:a16="http://schemas.microsoft.com/office/drawing/2014/main" id="{0B8178CC-E690-4D1F-98B0-D95FB1F95158}"/>
              </a:ext>
            </a:extLst>
          </p:cNvPr>
          <p:cNvSpPr>
            <a:spLocks xmlns:a="http://schemas.openxmlformats.org/drawingml/2006/main" noGrp="1"/>
          </p:cNvSpPr>
          <p:nvPr/>
        </p:nvSpPr>
        <p:spPr>
          <a:xfrm xmlns:a="http://schemas.openxmlformats.org/drawingml/2006/main">
            <a:off x="1952625" y="5133975"/>
            <a:ext cx="96297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4875"/>
                </a:solidFill>
                <a:latin typeface="Arial"/>
                <a:ea typeface="Arial"/>
                <a:cs typeface="Arial"/>
              </a:defRPr>
            </a:pPr>
            <a:r>
              <a:rPr sz="1875" b="0">
                <a:solidFill>
                  <a:srgbClr val="174875"/>
                </a:solidFill>
                <a:latin typeface="Arial"/>
                <a:ea typeface="Arial"/>
                <a:cs typeface="Arial"/>
              </a:rPr>
              <a:t>Os desenvolvedores conhecem os requisitos de consentimento do GDPR e as violações em suas implementações?</a:t>
            </a:r>
          </a:p>
        </p:txBody>
      </p:sp>
      <p:sp>
        <p:nvSpPr>
          <p:cNvPr id="25" name="Análise: cada pergunta orienta uma etapa">
            <a:extLst xmlns:a="http://schemas.openxmlformats.org/drawingml/2006/main">
              <a:ext uri="{FF2B5EF4-FFF2-40B4-BE49-F238E27FC236}">
                <a16:creationId xmlns:a16="http://schemas.microsoft.com/office/drawing/2014/main" id="{471D8574-D94B-45E1-828C-3B8E7763EBA6}"/>
              </a:ext>
            </a:extLst>
          </p:cNvPr>
          <p:cNvSpPr>
            <a:spLocks xmlns:a="http://schemas.openxmlformats.org/drawingml/2006/main" noGrp="1"/>
          </p:cNvSpPr>
          <p:nvPr/>
        </p:nvSpPr>
        <p:spPr>
          <a:xfrm xmlns:a="http://schemas.openxmlformats.org/drawingml/2006/main">
            <a:off x="609600" y="59436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96B7A"/>
                </a:solidFill>
                <a:latin typeface="Arial"/>
                <a:ea typeface="Arial"/>
                <a:cs typeface="Arial"/>
              </a:defRPr>
            </a:pPr>
            <a:r>
              <a:rPr sz="1575" b="0">
                <a:solidFill>
                  <a:srgbClr val="596B7A"/>
                </a:solidFill>
                <a:latin typeface="Arial"/>
                <a:ea typeface="Arial"/>
                <a:cs typeface="Arial"/>
              </a:rPr>
              <a:t>Análise: cada pergunta orienta uma etapa do estudo e o conjunto de evidências necessário para respondê-la.</a:t>
            </a:r>
          </a:p>
        </p:txBody>
      </p:sp>
    </p:spTree>
    <p:extLst>
      <p:ext uri="{BB962C8B-B14F-4D97-AF65-F5344CB8AC3E}">
        <p14:creationId xmlns:p14="http://schemas.microsoft.com/office/powerpoint/2010/main" val="86717061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422AC5D-BF36-4563-899A-EA8EFB183F9F}"/>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174875"/>
          </a:solidFill>
          <a:ln xmlns:a="http://schemas.openxmlformats.org/drawingml/2006/main" w="0">
            <a:noFill/>
          </a:ln>
        </p:spPr>
      </p:sp>
      <p:sp>
        <p:nvSpPr>
          <p:cNvPr id="2" name="ANÁLISE VISUAL DA INTRODUÇÃO">
            <a:extLst xmlns:a="http://schemas.openxmlformats.org/drawingml/2006/main">
              <a:ext uri="{FF2B5EF4-FFF2-40B4-BE49-F238E27FC236}">
                <a16:creationId xmlns:a16="http://schemas.microsoft.com/office/drawing/2014/main" id="{AA8D58D1-00FC-43C3-BFB8-0C6AFEBFB2F7}"/>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74875"/>
                </a:solidFill>
                <a:latin typeface="Arial"/>
                <a:ea typeface="Arial"/>
                <a:cs typeface="Arial"/>
              </a:defRPr>
            </a:pPr>
            <a:r>
              <a:rPr sz="1275" b="1">
                <a:solidFill>
                  <a:srgbClr val="174875"/>
                </a:solidFill>
                <a:latin typeface="Arial"/>
                <a:ea typeface="Arial"/>
                <a:cs typeface="Arial"/>
              </a:rPr>
              <a:t>ANÁLISE VISUAL DA INTRODUÇÃO</a:t>
            </a:r>
          </a:p>
        </p:txBody>
      </p:sp>
      <p:sp>
        <p:nvSpPr>
          <p:cNvPr id="3" name="Figura 1: avisos com confirmação única">
            <a:extLst xmlns:a="http://schemas.openxmlformats.org/drawingml/2006/main">
              <a:ext uri="{FF2B5EF4-FFF2-40B4-BE49-F238E27FC236}">
                <a16:creationId xmlns:a16="http://schemas.microsoft.com/office/drawing/2014/main" id="{39F7FB8F-9403-4DD9-8CA7-85CD64E87659}"/>
              </a:ext>
            </a:extLst>
          </p:cNvPr>
          <p:cNvSpPr>
            <a:spLocks xmlns:a="http://schemas.openxmlformats.org/drawingml/2006/main" noGrp="1"/>
          </p:cNvSpPr>
          <p:nvPr/>
        </p:nvSpPr>
        <p:spPr>
          <a:xfrm xmlns:a="http://schemas.openxmlformats.org/drawingml/2006/main">
            <a:off x="609600" y="7048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2324F"/>
                </a:solidFill>
                <a:latin typeface="Arial"/>
                <a:ea typeface="Arial"/>
                <a:cs typeface="Arial"/>
              </a:defRPr>
            </a:pPr>
            <a:r>
              <a:rPr sz="3150" b="1">
                <a:solidFill>
                  <a:srgbClr val="12324F"/>
                </a:solidFill>
                <a:latin typeface="Arial"/>
                <a:ea typeface="Arial"/>
                <a:cs typeface="Arial"/>
              </a:rPr>
              <a:t>Figura 1: avisos com confirmação única</a:t>
            </a:r>
          </a:p>
        </p:txBody>
      </p:sp>
      <p:sp>
        <p:nvSpPr>
          <p:cNvPr id="4" name="">
            <a:extLst xmlns:a="http://schemas.openxmlformats.org/drawingml/2006/main">
              <a:ext uri="{FF2B5EF4-FFF2-40B4-BE49-F238E27FC236}">
                <a16:creationId xmlns:a16="http://schemas.microsoft.com/office/drawing/2014/main" id="{3134E899-76D2-4FA2-A98D-759CE3DF1585}"/>
              </a:ext>
            </a:extLst>
          </p:cNvPr>
          <p:cNvSpPr>
            <a:spLocks xmlns:a="http://schemas.openxmlformats.org/drawingml/2006/main" noGrp="1"/>
          </p:cNvSpPr>
          <p:nvPr/>
        </p:nvSpPr>
        <p:spPr>
          <a:xfrm xmlns:a="http://schemas.openxmlformats.org/drawingml/2006/main">
            <a:off x="609600" y="1390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088577D-B214-4E4E-BCD1-51FC582DECCA}"/>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6" name="Nguyen, Backes e Stock (2022), Figura 1 ">
            <a:extLst xmlns:a="http://schemas.openxmlformats.org/drawingml/2006/main">
              <a:ext uri="{FF2B5EF4-FFF2-40B4-BE49-F238E27FC236}">
                <a16:creationId xmlns:a16="http://schemas.microsoft.com/office/drawing/2014/main" id="{C1A8ACCD-847B-42E8-8C13-BB495A284C9C}"/>
              </a:ext>
            </a:extLst>
          </p:cNvPr>
          <p:cNvSpPr>
            <a:spLocks xmlns:a="http://schemas.openxmlformats.org/drawingml/2006/main" noGrp="1"/>
          </p:cNvSpPr>
          <p:nvPr/>
        </p:nvSpPr>
        <p:spPr>
          <a:xfrm xmlns:a="http://schemas.openxmlformats.org/drawingml/2006/main">
            <a:off x="609600" y="6477000"/>
            <a:ext cx="9982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96B7A"/>
                </a:solidFill>
                <a:latin typeface="Arial"/>
                <a:ea typeface="Arial"/>
                <a:cs typeface="Arial"/>
              </a:defRPr>
            </a:pPr>
            <a:r>
              <a:rPr sz="1200" b="0">
                <a:solidFill>
                  <a:srgbClr val="596B7A"/>
                </a:solidFill>
                <a:latin typeface="Arial"/>
                <a:ea typeface="Arial"/>
                <a:cs typeface="Arial"/>
              </a:rPr>
              <a:t>Nguyen, Backes e Stock (2022), Figura 1 (a–c), p. 2. Trecho da introdução, p. 2.</a:t>
            </a:r>
          </a:p>
        </p:txBody>
      </p:sp>
      <p:sp>
        <p:nvSpPr>
          <p:cNvPr id="7" name="09 / 23">
            <a:extLst xmlns:a="http://schemas.openxmlformats.org/drawingml/2006/main">
              <a:ext uri="{FF2B5EF4-FFF2-40B4-BE49-F238E27FC236}">
                <a16:creationId xmlns:a16="http://schemas.microsoft.com/office/drawing/2014/main" id="{C367A2A3-CD35-4337-894F-B68F2B435AC0}"/>
              </a:ext>
            </a:extLst>
          </p:cNvPr>
          <p:cNvSpPr>
            <a:spLocks xmlns:a="http://schemas.openxmlformats.org/drawingml/2006/main" noGrp="1"/>
          </p:cNvSpPr>
          <p:nvPr/>
        </p:nvSpPr>
        <p:spPr>
          <a:xfrm xmlns:a="http://schemas.openxmlformats.org/drawingml/2006/main">
            <a:off x="10668000" y="64770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96B7A"/>
                </a:solidFill>
                <a:latin typeface="Arial"/>
                <a:ea typeface="Arial"/>
                <a:cs typeface="Arial"/>
              </a:defRPr>
            </a:pPr>
            <a:r>
              <a:rPr sz="1200" b="0">
                <a:solidFill>
                  <a:srgbClr val="596B7A"/>
                </a:solidFill>
                <a:latin typeface="Arial"/>
                <a:ea typeface="Arial"/>
                <a:cs typeface="Arial"/>
              </a:rPr>
              <a:t>09 / 23</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1bbeccceebd847a5"/>
          <a:stretch xmlns:a="http://schemas.openxmlformats.org/drawingml/2006/main"/>
        </p:blipFill>
        <p:spPr>
          <a:xfrm xmlns:a="http://schemas.openxmlformats.org/drawingml/2006/main">
            <a:off x="609857" y="1704975"/>
            <a:ext cx="2075935" cy="4267200"/>
          </a:xfrm>
          <a:prstGeom xmlns:a="http://schemas.openxmlformats.org/drawingml/2006/main" prst="rect">
            <a:avLst/>
          </a:prstGeom>
        </p:spPr>
      </p:pic>
      <p:sp>
        <p:nvSpPr>
          <p:cNvPr id="9" name="(a)">
            <a:extLst xmlns:a="http://schemas.openxmlformats.org/drawingml/2006/main">
              <a:ext uri="{FF2B5EF4-FFF2-40B4-BE49-F238E27FC236}">
                <a16:creationId xmlns:a16="http://schemas.microsoft.com/office/drawing/2014/main" id="{AC1A3485-64EF-41DC-8B49-BF4C1B717833}"/>
              </a:ext>
            </a:extLst>
          </p:cNvPr>
          <p:cNvSpPr>
            <a:spLocks xmlns:a="http://schemas.openxmlformats.org/drawingml/2006/main" noGrp="1"/>
          </p:cNvSpPr>
          <p:nvPr/>
        </p:nvSpPr>
        <p:spPr>
          <a:xfrm xmlns:a="http://schemas.openxmlformats.org/drawingml/2006/main">
            <a:off x="609600" y="6038850"/>
            <a:ext cx="2076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a:solidFill>
                  <a:srgbClr val="596B7A"/>
                </a:solidFill>
                <a:latin typeface="Arial"/>
                <a:ea typeface="Arial"/>
                <a:cs typeface="Arial"/>
              </a:defRPr>
            </a:pPr>
            <a:r>
              <a:rPr sz="1350" b="0">
                <a:solidFill>
                  <a:srgbClr val="596B7A"/>
                </a:solidFill>
                <a:latin typeface="Arial"/>
                <a:ea typeface="Arial"/>
                <a:cs typeface="Arial"/>
              </a:rPr>
              <a:t>(a)</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41c2216c355941d6"/>
          <a:stretch xmlns:a="http://schemas.openxmlformats.org/drawingml/2006/main"/>
        </p:blipFill>
        <p:spPr>
          <a:xfrm xmlns:a="http://schemas.openxmlformats.org/drawingml/2006/main">
            <a:off x="2867282" y="1704975"/>
            <a:ext cx="2075935" cy="4267200"/>
          </a:xfrm>
          <a:prstGeom xmlns:a="http://schemas.openxmlformats.org/drawingml/2006/main" prst="rect">
            <a:avLst/>
          </a:prstGeom>
        </p:spPr>
      </p:pic>
      <p:sp>
        <p:nvSpPr>
          <p:cNvPr id="11" name="(b)">
            <a:extLst xmlns:a="http://schemas.openxmlformats.org/drawingml/2006/main">
              <a:ext uri="{FF2B5EF4-FFF2-40B4-BE49-F238E27FC236}">
                <a16:creationId xmlns:a16="http://schemas.microsoft.com/office/drawing/2014/main" id="{ECF1FFF8-5278-4D11-9999-1EB4B3DD566B}"/>
              </a:ext>
            </a:extLst>
          </p:cNvPr>
          <p:cNvSpPr>
            <a:spLocks xmlns:a="http://schemas.openxmlformats.org/drawingml/2006/main" noGrp="1"/>
          </p:cNvSpPr>
          <p:nvPr/>
        </p:nvSpPr>
        <p:spPr>
          <a:xfrm xmlns:a="http://schemas.openxmlformats.org/drawingml/2006/main">
            <a:off x="2867025" y="6038850"/>
            <a:ext cx="2076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a:solidFill>
                  <a:srgbClr val="596B7A"/>
                </a:solidFill>
                <a:latin typeface="Arial"/>
                <a:ea typeface="Arial"/>
                <a:cs typeface="Arial"/>
              </a:defRPr>
            </a:pPr>
            <a:r>
              <a:rPr sz="1350" b="0">
                <a:solidFill>
                  <a:srgbClr val="596B7A"/>
                </a:solidFill>
                <a:latin typeface="Arial"/>
                <a:ea typeface="Arial"/>
                <a:cs typeface="Arial"/>
              </a:rPr>
              <a:t>(b)</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dea151243c164508"/>
          <a:stretch xmlns:a="http://schemas.openxmlformats.org/drawingml/2006/main"/>
        </p:blipFill>
        <p:spPr>
          <a:xfrm xmlns:a="http://schemas.openxmlformats.org/drawingml/2006/main">
            <a:off x="5124707" y="1704975"/>
            <a:ext cx="2075935" cy="4267200"/>
          </a:xfrm>
          <a:prstGeom xmlns:a="http://schemas.openxmlformats.org/drawingml/2006/main" prst="rect">
            <a:avLst/>
          </a:prstGeom>
        </p:spPr>
      </p:pic>
      <p:sp>
        <p:nvSpPr>
          <p:cNvPr id="13" name="(c)">
            <a:extLst xmlns:a="http://schemas.openxmlformats.org/drawingml/2006/main">
              <a:ext uri="{FF2B5EF4-FFF2-40B4-BE49-F238E27FC236}">
                <a16:creationId xmlns:a16="http://schemas.microsoft.com/office/drawing/2014/main" id="{51783851-228F-489E-A03E-C86B253F6C4C}"/>
              </a:ext>
            </a:extLst>
          </p:cNvPr>
          <p:cNvSpPr>
            <a:spLocks xmlns:a="http://schemas.openxmlformats.org/drawingml/2006/main" noGrp="1"/>
          </p:cNvSpPr>
          <p:nvPr/>
        </p:nvSpPr>
        <p:spPr>
          <a:xfrm xmlns:a="http://schemas.openxmlformats.org/drawingml/2006/main">
            <a:off x="5124450" y="6038850"/>
            <a:ext cx="2076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a:solidFill>
                  <a:srgbClr val="596B7A"/>
                </a:solidFill>
                <a:latin typeface="Arial"/>
                <a:ea typeface="Arial"/>
                <a:cs typeface="Arial"/>
              </a:defRPr>
            </a:pPr>
            <a:r>
              <a:rPr sz="1350" b="0">
                <a:solidFill>
                  <a:srgbClr val="596B7A"/>
                </a:solidFill>
                <a:latin typeface="Arial"/>
                <a:ea typeface="Arial"/>
                <a:cs typeface="Arial"/>
              </a:rPr>
              <a:t>(c)</a:t>
            </a:r>
          </a:p>
        </p:txBody>
      </p:sp>
      <p:sp>
        <p:nvSpPr>
          <p:cNvPr id="14" name="EN">
            <a:extLst xmlns:a="http://schemas.openxmlformats.org/drawingml/2006/main">
              <a:ext uri="{FF2B5EF4-FFF2-40B4-BE49-F238E27FC236}">
                <a16:creationId xmlns:a16="http://schemas.microsoft.com/office/drawing/2014/main" id="{3B56E572-5729-45B7-B811-31082B377161}"/>
              </a:ext>
            </a:extLst>
          </p:cNvPr>
          <p:cNvSpPr>
            <a:spLocks xmlns:a="http://schemas.openxmlformats.org/drawingml/2006/main" noGrp="1"/>
          </p:cNvSpPr>
          <p:nvPr/>
        </p:nvSpPr>
        <p:spPr>
          <a:xfrm xmlns:a="http://schemas.openxmlformats.org/drawingml/2006/main">
            <a:off x="7667625" y="178117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174875"/>
                </a:solidFill>
                <a:latin typeface="Arial"/>
                <a:ea typeface="Arial"/>
                <a:cs typeface="Arial"/>
              </a:defRPr>
            </a:pPr>
            <a:r>
              <a:rPr sz="1200" b="1">
                <a:solidFill>
                  <a:srgbClr val="174875"/>
                </a:solidFill>
                <a:latin typeface="Arial"/>
                <a:ea typeface="Arial"/>
                <a:cs typeface="Arial"/>
              </a:rPr>
              <a:t>EN</a:t>
            </a:r>
          </a:p>
        </p:txBody>
      </p:sp>
      <p:sp>
        <p:nvSpPr>
          <p:cNvPr id="15" name="“confirmation-only notices that feature ">
            <a:extLst xmlns:a="http://schemas.openxmlformats.org/drawingml/2006/main">
              <a:ext uri="{FF2B5EF4-FFF2-40B4-BE49-F238E27FC236}">
                <a16:creationId xmlns:a16="http://schemas.microsoft.com/office/drawing/2014/main" id="{DBD727CB-5FDC-43A2-B3AD-322A419B7456}"/>
              </a:ext>
            </a:extLst>
          </p:cNvPr>
          <p:cNvSpPr>
            <a:spLocks xmlns:a="http://schemas.openxmlformats.org/drawingml/2006/main" noGrp="1"/>
          </p:cNvSpPr>
          <p:nvPr/>
        </p:nvSpPr>
        <p:spPr>
          <a:xfrm xmlns:a="http://schemas.openxmlformats.org/drawingml/2006/main">
            <a:off x="8086725" y="1752600"/>
            <a:ext cx="34956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4384A"/>
                </a:solidFill>
                <a:latin typeface="Arial"/>
                <a:ea typeface="Arial"/>
                <a:cs typeface="Arial"/>
              </a:defRPr>
            </a:pPr>
            <a:r>
              <a:rPr sz="2025" b="0">
                <a:solidFill>
                  <a:srgbClr val="24384A"/>
                </a:solidFill>
                <a:latin typeface="Arial"/>
                <a:ea typeface="Arial"/>
                <a:cs typeface="Arial"/>
              </a:rPr>
              <a:t>“confirmation-only notices that feature a button with the text “OK” or “I agree””</a:t>
            </a:r>
          </a:p>
        </p:txBody>
      </p:sp>
      <p:sp>
        <p:nvSpPr>
          <p:cNvPr id="16" name="PT">
            <a:extLst xmlns:a="http://schemas.openxmlformats.org/drawingml/2006/main">
              <a:ext uri="{FF2B5EF4-FFF2-40B4-BE49-F238E27FC236}">
                <a16:creationId xmlns:a16="http://schemas.microsoft.com/office/drawing/2014/main" id="{E1A00CAA-3EE8-47F1-AB45-2307133CDAA6}"/>
              </a:ext>
            </a:extLst>
          </p:cNvPr>
          <p:cNvSpPr>
            <a:spLocks xmlns:a="http://schemas.openxmlformats.org/drawingml/2006/main" noGrp="1"/>
          </p:cNvSpPr>
          <p:nvPr/>
        </p:nvSpPr>
        <p:spPr>
          <a:xfrm xmlns:a="http://schemas.openxmlformats.org/drawingml/2006/main">
            <a:off x="7667625" y="31813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174875"/>
                </a:solidFill>
                <a:latin typeface="Arial"/>
                <a:ea typeface="Arial"/>
                <a:cs typeface="Arial"/>
              </a:defRPr>
            </a:pPr>
            <a:r>
              <a:rPr sz="1200" b="1">
                <a:solidFill>
                  <a:srgbClr val="174875"/>
                </a:solidFill>
                <a:latin typeface="Arial"/>
                <a:ea typeface="Arial"/>
                <a:cs typeface="Arial"/>
              </a:rPr>
              <a:t>PT</a:t>
            </a:r>
          </a:p>
        </p:txBody>
      </p:sp>
      <p:sp>
        <p:nvSpPr>
          <p:cNvPr id="17" name="Avisos apenas de confirmação, com um bot">
            <a:extLst xmlns:a="http://schemas.openxmlformats.org/drawingml/2006/main">
              <a:ext uri="{FF2B5EF4-FFF2-40B4-BE49-F238E27FC236}">
                <a16:creationId xmlns:a16="http://schemas.microsoft.com/office/drawing/2014/main" id="{C30E05B0-6A75-4AF4-960B-B0381513E308}"/>
              </a:ext>
            </a:extLst>
          </p:cNvPr>
          <p:cNvSpPr>
            <a:spLocks xmlns:a="http://schemas.openxmlformats.org/drawingml/2006/main" noGrp="1"/>
          </p:cNvSpPr>
          <p:nvPr/>
        </p:nvSpPr>
        <p:spPr>
          <a:xfrm xmlns:a="http://schemas.openxmlformats.org/drawingml/2006/main">
            <a:off x="8086725" y="3152775"/>
            <a:ext cx="34956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4875"/>
                </a:solidFill>
                <a:latin typeface="Arial"/>
                <a:ea typeface="Arial"/>
                <a:cs typeface="Arial"/>
              </a:defRPr>
            </a:pPr>
            <a:r>
              <a:rPr sz="2025" b="0">
                <a:solidFill>
                  <a:srgbClr val="174875"/>
                </a:solidFill>
                <a:latin typeface="Arial"/>
                <a:ea typeface="Arial"/>
                <a:cs typeface="Arial"/>
              </a:rPr>
              <a:t>Avisos apenas de confirmação, com um botão contendo “OK” ou “Eu concordo”.</a:t>
            </a:r>
          </a:p>
        </p:txBody>
      </p:sp>
      <p:sp>
        <p:nvSpPr>
          <p:cNvPr id="18" name="">
            <a:extLst xmlns:a="http://schemas.openxmlformats.org/drawingml/2006/main">
              <a:ext uri="{FF2B5EF4-FFF2-40B4-BE49-F238E27FC236}">
                <a16:creationId xmlns:a16="http://schemas.microsoft.com/office/drawing/2014/main" id="{6941D7AE-56E0-42C3-B13F-B2E98E02CDAE}"/>
              </a:ext>
            </a:extLst>
          </p:cNvPr>
          <p:cNvSpPr>
            <a:spLocks xmlns:a="http://schemas.openxmlformats.org/drawingml/2006/main" noGrp="1"/>
          </p:cNvSpPr>
          <p:nvPr/>
        </p:nvSpPr>
        <p:spPr>
          <a:xfrm xmlns:a="http://schemas.openxmlformats.org/drawingml/2006/main">
            <a:off x="7667625" y="4648200"/>
            <a:ext cx="3914775"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19" name="ANÁLISE DO SEMINÁRIO">
            <a:extLst xmlns:a="http://schemas.openxmlformats.org/drawingml/2006/main">
              <a:ext uri="{FF2B5EF4-FFF2-40B4-BE49-F238E27FC236}">
                <a16:creationId xmlns:a16="http://schemas.microsoft.com/office/drawing/2014/main" id="{EB8CC2C4-CF5C-441A-AA25-6FC64B893A91}"/>
              </a:ext>
            </a:extLst>
          </p:cNvPr>
          <p:cNvSpPr>
            <a:spLocks xmlns:a="http://schemas.openxmlformats.org/drawingml/2006/main" noGrp="1"/>
          </p:cNvSpPr>
          <p:nvPr/>
        </p:nvSpPr>
        <p:spPr>
          <a:xfrm xmlns:a="http://schemas.openxmlformats.org/drawingml/2006/main">
            <a:off x="7667625" y="4867275"/>
            <a:ext cx="39147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AC4C45"/>
                </a:solidFill>
                <a:latin typeface="Arial"/>
                <a:ea typeface="Arial"/>
                <a:cs typeface="Arial"/>
              </a:defRPr>
            </a:pPr>
            <a:r>
              <a:rPr sz="1350" b="1">
                <a:solidFill>
                  <a:srgbClr val="AC4C45"/>
                </a:solidFill>
                <a:latin typeface="Arial"/>
                <a:ea typeface="Arial"/>
                <a:cs typeface="Arial"/>
              </a:rPr>
              <a:t>ANÁLISE DO SEMINÁRIO</a:t>
            </a:r>
          </a:p>
        </p:txBody>
      </p:sp>
      <p:sp>
        <p:nvSpPr>
          <p:cNvPr id="20" name="A interface mostra como avançar,&#10;mas não">
            <a:extLst xmlns:a="http://schemas.openxmlformats.org/drawingml/2006/main">
              <a:ext uri="{FF2B5EF4-FFF2-40B4-BE49-F238E27FC236}">
                <a16:creationId xmlns:a16="http://schemas.microsoft.com/office/drawing/2014/main" id="{323B8D34-B3F1-4425-BBF8-F106EA00AE88}"/>
              </a:ext>
            </a:extLst>
          </p:cNvPr>
          <p:cNvSpPr>
            <a:spLocks xmlns:a="http://schemas.openxmlformats.org/drawingml/2006/main" noGrp="1"/>
          </p:cNvSpPr>
          <p:nvPr/>
        </p:nvSpPr>
        <p:spPr>
          <a:xfrm xmlns:a="http://schemas.openxmlformats.org/drawingml/2006/main">
            <a:off x="7667625" y="5257800"/>
            <a:ext cx="39147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4384A"/>
                </a:solidFill>
                <a:latin typeface="Arial"/>
                <a:ea typeface="Arial"/>
                <a:cs typeface="Arial"/>
              </a:defRPr>
            </a:pPr>
            <a:r>
              <a:rPr sz="1950" b="0">
                <a:solidFill>
                  <a:srgbClr val="24384A"/>
                </a:solidFill>
                <a:latin typeface="Arial"/>
                <a:ea typeface="Arial"/>
                <a:cs typeface="Arial"/>
              </a:rPr>
              <a:t>A interface mostra como avançar,</a:t>
            </a:r>
          </a:p>
          <a:p xmlns:a="http://schemas.openxmlformats.org/drawingml/2006/main">
            <a:pPr algn="l">
              <a:defRPr sz="1950" b="0">
                <a:solidFill>
                  <a:srgbClr val="24384A"/>
                </a:solidFill>
                <a:latin typeface="Arial"/>
                <a:ea typeface="Arial"/>
                <a:cs typeface="Arial"/>
              </a:defRPr>
            </a:pPr>
            <a:r>
              <a:rPr sz="1950" b="0">
                <a:solidFill>
                  <a:srgbClr val="24384A"/>
                </a:solidFill>
                <a:latin typeface="Arial"/>
                <a:ea typeface="Arial"/>
                <a:cs typeface="Arial"/>
              </a:rPr>
              <a:t>mas não oferece ali uma opção</a:t>
            </a:r>
          </a:p>
          <a:p xmlns:a="http://schemas.openxmlformats.org/drawingml/2006/main">
            <a:pPr algn="l">
              <a:defRPr sz="1950" b="0">
                <a:solidFill>
                  <a:srgbClr val="24384A"/>
                </a:solidFill>
                <a:latin typeface="Arial"/>
                <a:ea typeface="Arial"/>
                <a:cs typeface="Arial"/>
              </a:defRPr>
            </a:pPr>
            <a:r>
              <a:rPr sz="1950" b="0">
                <a:solidFill>
                  <a:srgbClr val="24384A"/>
                </a:solidFill>
                <a:latin typeface="Arial"/>
                <a:ea typeface="Arial"/>
                <a:cs typeface="Arial"/>
              </a:rPr>
              <a:t>de recusar o compartilhamento.</a:t>
            </a:r>
          </a:p>
        </p:txBody>
      </p:sp>
    </p:spTree>
    <p:extLst>
      <p:ext uri="{BB962C8B-B14F-4D97-AF65-F5344CB8AC3E}">
        <p14:creationId xmlns:p14="http://schemas.microsoft.com/office/powerpoint/2010/main" val="96889162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2666A00-BBB1-4F73-9AF5-72AFE9ED2B1F}"/>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174875"/>
          </a:solidFill>
          <a:ln xmlns:a="http://schemas.openxmlformats.org/drawingml/2006/main" w="0">
            <a:noFill/>
          </a:ln>
        </p:spPr>
      </p:sp>
      <p:sp>
        <p:nvSpPr>
          <p:cNvPr id="2" name="ANÁLISE VISUAL DA INTRODUÇÃO">
            <a:extLst xmlns:a="http://schemas.openxmlformats.org/drawingml/2006/main">
              <a:ext uri="{FF2B5EF4-FFF2-40B4-BE49-F238E27FC236}">
                <a16:creationId xmlns:a16="http://schemas.microsoft.com/office/drawing/2014/main" id="{AC5D6685-E491-4225-8BEE-40568EB499A2}"/>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74875"/>
                </a:solidFill>
                <a:latin typeface="Arial"/>
                <a:ea typeface="Arial"/>
                <a:cs typeface="Arial"/>
              </a:defRPr>
            </a:pPr>
            <a:r>
              <a:rPr sz="1275" b="1">
                <a:solidFill>
                  <a:srgbClr val="174875"/>
                </a:solidFill>
                <a:latin typeface="Arial"/>
                <a:ea typeface="Arial"/>
                <a:cs typeface="Arial"/>
              </a:rPr>
              <a:t>ANÁLISE VISUAL DA INTRODUÇÃO</a:t>
            </a:r>
          </a:p>
        </p:txBody>
      </p:sp>
      <p:sp>
        <p:nvSpPr>
          <p:cNvPr id="3" name="Figura 1: recusa e escolhas mais complex">
            <a:extLst xmlns:a="http://schemas.openxmlformats.org/drawingml/2006/main">
              <a:ext uri="{FF2B5EF4-FFF2-40B4-BE49-F238E27FC236}">
                <a16:creationId xmlns:a16="http://schemas.microsoft.com/office/drawing/2014/main" id="{98AC3608-8779-4C92-ADC4-7A20EA135253}"/>
              </a:ext>
            </a:extLst>
          </p:cNvPr>
          <p:cNvSpPr>
            <a:spLocks xmlns:a="http://schemas.openxmlformats.org/drawingml/2006/main" noGrp="1"/>
          </p:cNvSpPr>
          <p:nvPr/>
        </p:nvSpPr>
        <p:spPr>
          <a:xfrm xmlns:a="http://schemas.openxmlformats.org/drawingml/2006/main">
            <a:off x="609600" y="7048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2324F"/>
                </a:solidFill>
                <a:latin typeface="Arial"/>
                <a:ea typeface="Arial"/>
                <a:cs typeface="Arial"/>
              </a:defRPr>
            </a:pPr>
            <a:r>
              <a:rPr sz="3150" b="1">
                <a:solidFill>
                  <a:srgbClr val="12324F"/>
                </a:solidFill>
                <a:latin typeface="Arial"/>
                <a:ea typeface="Arial"/>
                <a:cs typeface="Arial"/>
              </a:rPr>
              <a:t>Figura 1: recusa e escolhas mais complexas</a:t>
            </a:r>
          </a:p>
        </p:txBody>
      </p:sp>
      <p:sp>
        <p:nvSpPr>
          <p:cNvPr id="4" name="">
            <a:extLst xmlns:a="http://schemas.openxmlformats.org/drawingml/2006/main">
              <a:ext uri="{FF2B5EF4-FFF2-40B4-BE49-F238E27FC236}">
                <a16:creationId xmlns:a16="http://schemas.microsoft.com/office/drawing/2014/main" id="{3051DDE1-80D3-4ECE-8F9E-E05E697521BA}"/>
              </a:ext>
            </a:extLst>
          </p:cNvPr>
          <p:cNvSpPr>
            <a:spLocks xmlns:a="http://schemas.openxmlformats.org/drawingml/2006/main" noGrp="1"/>
          </p:cNvSpPr>
          <p:nvPr/>
        </p:nvSpPr>
        <p:spPr>
          <a:xfrm xmlns:a="http://schemas.openxmlformats.org/drawingml/2006/main">
            <a:off x="609600" y="1390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FD58318-8C8F-4DBF-BDA2-3BE60911E11C}"/>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6" name="Nguyen, Backes e Stock (2022), Figura 1 ">
            <a:extLst xmlns:a="http://schemas.openxmlformats.org/drawingml/2006/main">
              <a:ext uri="{FF2B5EF4-FFF2-40B4-BE49-F238E27FC236}">
                <a16:creationId xmlns:a16="http://schemas.microsoft.com/office/drawing/2014/main" id="{053E2F1B-17EF-4E73-90A2-BF52D3C15B11}"/>
              </a:ext>
            </a:extLst>
          </p:cNvPr>
          <p:cNvSpPr>
            <a:spLocks xmlns:a="http://schemas.openxmlformats.org/drawingml/2006/main" noGrp="1"/>
          </p:cNvSpPr>
          <p:nvPr/>
        </p:nvSpPr>
        <p:spPr>
          <a:xfrm xmlns:a="http://schemas.openxmlformats.org/drawingml/2006/main">
            <a:off x="609600" y="6477000"/>
            <a:ext cx="9982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96B7A"/>
                </a:solidFill>
                <a:latin typeface="Arial"/>
                <a:ea typeface="Arial"/>
                <a:cs typeface="Arial"/>
              </a:defRPr>
            </a:pPr>
            <a:r>
              <a:rPr sz="1200" b="0">
                <a:solidFill>
                  <a:srgbClr val="596B7A"/>
                </a:solidFill>
                <a:latin typeface="Arial"/>
                <a:ea typeface="Arial"/>
                <a:cs typeface="Arial"/>
              </a:rPr>
              <a:t>Nguyen, Backes e Stock (2022), Figura 1 (d–f), p. 2. Trecho da Seção 3, p. 4.</a:t>
            </a:r>
          </a:p>
        </p:txBody>
      </p:sp>
      <p:sp>
        <p:nvSpPr>
          <p:cNvPr id="7" name="10 / 23">
            <a:extLst xmlns:a="http://schemas.openxmlformats.org/drawingml/2006/main">
              <a:ext uri="{FF2B5EF4-FFF2-40B4-BE49-F238E27FC236}">
                <a16:creationId xmlns:a16="http://schemas.microsoft.com/office/drawing/2014/main" id="{A0CEA681-39A7-4F1B-BCF9-7A8E4881E7BB}"/>
              </a:ext>
            </a:extLst>
          </p:cNvPr>
          <p:cNvSpPr>
            <a:spLocks xmlns:a="http://schemas.openxmlformats.org/drawingml/2006/main" noGrp="1"/>
          </p:cNvSpPr>
          <p:nvPr/>
        </p:nvSpPr>
        <p:spPr>
          <a:xfrm xmlns:a="http://schemas.openxmlformats.org/drawingml/2006/main">
            <a:off x="10668000" y="64770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96B7A"/>
                </a:solidFill>
                <a:latin typeface="Arial"/>
                <a:ea typeface="Arial"/>
                <a:cs typeface="Arial"/>
              </a:defRPr>
            </a:pPr>
            <a:r>
              <a:rPr sz="1200" b="0">
                <a:solidFill>
                  <a:srgbClr val="596B7A"/>
                </a:solidFill>
                <a:latin typeface="Arial"/>
                <a:ea typeface="Arial"/>
                <a:cs typeface="Arial"/>
              </a:rPr>
              <a:t>10 / 23</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9e9624f223d2476b"/>
          <a:stretch xmlns:a="http://schemas.openxmlformats.org/drawingml/2006/main"/>
        </p:blipFill>
        <p:spPr>
          <a:xfrm xmlns:a="http://schemas.openxmlformats.org/drawingml/2006/main">
            <a:off x="609857" y="1704975"/>
            <a:ext cx="2075935" cy="4267200"/>
          </a:xfrm>
          <a:prstGeom xmlns:a="http://schemas.openxmlformats.org/drawingml/2006/main" prst="rect">
            <a:avLst/>
          </a:prstGeom>
        </p:spPr>
      </p:pic>
      <p:sp>
        <p:nvSpPr>
          <p:cNvPr id="9" name="(d)">
            <a:extLst xmlns:a="http://schemas.openxmlformats.org/drawingml/2006/main">
              <a:ext uri="{FF2B5EF4-FFF2-40B4-BE49-F238E27FC236}">
                <a16:creationId xmlns:a16="http://schemas.microsoft.com/office/drawing/2014/main" id="{46AF3057-0AE8-49C1-9D6A-F289B5E74FD6}"/>
              </a:ext>
            </a:extLst>
          </p:cNvPr>
          <p:cNvSpPr>
            <a:spLocks xmlns:a="http://schemas.openxmlformats.org/drawingml/2006/main" noGrp="1"/>
          </p:cNvSpPr>
          <p:nvPr/>
        </p:nvSpPr>
        <p:spPr>
          <a:xfrm xmlns:a="http://schemas.openxmlformats.org/drawingml/2006/main">
            <a:off x="609600" y="6038850"/>
            <a:ext cx="2076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a:solidFill>
                  <a:srgbClr val="596B7A"/>
                </a:solidFill>
                <a:latin typeface="Arial"/>
                <a:ea typeface="Arial"/>
                <a:cs typeface="Arial"/>
              </a:defRPr>
            </a:pPr>
            <a:r>
              <a:rPr sz="1350" b="0">
                <a:solidFill>
                  <a:srgbClr val="596B7A"/>
                </a:solidFill>
                <a:latin typeface="Arial"/>
                <a:ea typeface="Arial"/>
                <a:cs typeface="Arial"/>
              </a:rPr>
              <a:t>(d)</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8292f32e217641c6"/>
          <a:stretch xmlns:a="http://schemas.openxmlformats.org/drawingml/2006/main"/>
        </p:blipFill>
        <p:spPr>
          <a:xfrm xmlns:a="http://schemas.openxmlformats.org/drawingml/2006/main">
            <a:off x="2867282" y="1704975"/>
            <a:ext cx="2075935" cy="4267200"/>
          </a:xfrm>
          <a:prstGeom xmlns:a="http://schemas.openxmlformats.org/drawingml/2006/main" prst="rect">
            <a:avLst/>
          </a:prstGeom>
        </p:spPr>
      </p:pic>
      <p:sp>
        <p:nvSpPr>
          <p:cNvPr id="11" name="(e)">
            <a:extLst xmlns:a="http://schemas.openxmlformats.org/drawingml/2006/main">
              <a:ext uri="{FF2B5EF4-FFF2-40B4-BE49-F238E27FC236}">
                <a16:creationId xmlns:a16="http://schemas.microsoft.com/office/drawing/2014/main" id="{D92C3257-3698-49F2-89E0-2BE52D30CA03}"/>
              </a:ext>
            </a:extLst>
          </p:cNvPr>
          <p:cNvSpPr>
            <a:spLocks xmlns:a="http://schemas.openxmlformats.org/drawingml/2006/main" noGrp="1"/>
          </p:cNvSpPr>
          <p:nvPr/>
        </p:nvSpPr>
        <p:spPr>
          <a:xfrm xmlns:a="http://schemas.openxmlformats.org/drawingml/2006/main">
            <a:off x="2867025" y="6038850"/>
            <a:ext cx="2076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a:solidFill>
                  <a:srgbClr val="596B7A"/>
                </a:solidFill>
                <a:latin typeface="Arial"/>
                <a:ea typeface="Arial"/>
                <a:cs typeface="Arial"/>
              </a:defRPr>
            </a:pPr>
            <a:r>
              <a:rPr sz="1350" b="0">
                <a:solidFill>
                  <a:srgbClr val="596B7A"/>
                </a:solidFill>
                <a:latin typeface="Arial"/>
                <a:ea typeface="Arial"/>
                <a:cs typeface="Arial"/>
              </a:rPr>
              <a:t>(e)</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62f26e9df52041a7"/>
          <a:stretch xmlns:a="http://schemas.openxmlformats.org/drawingml/2006/main"/>
        </p:blipFill>
        <p:spPr>
          <a:xfrm xmlns:a="http://schemas.openxmlformats.org/drawingml/2006/main">
            <a:off x="5124707" y="1704975"/>
            <a:ext cx="2075935" cy="4267200"/>
          </a:xfrm>
          <a:prstGeom xmlns:a="http://schemas.openxmlformats.org/drawingml/2006/main" prst="rect">
            <a:avLst/>
          </a:prstGeom>
        </p:spPr>
      </p:pic>
      <p:sp>
        <p:nvSpPr>
          <p:cNvPr id="13" name="(f)">
            <a:extLst xmlns:a="http://schemas.openxmlformats.org/drawingml/2006/main">
              <a:ext uri="{FF2B5EF4-FFF2-40B4-BE49-F238E27FC236}">
                <a16:creationId xmlns:a16="http://schemas.microsoft.com/office/drawing/2014/main" id="{0ACC720C-B58A-4305-9462-101481B3FDAA}"/>
              </a:ext>
            </a:extLst>
          </p:cNvPr>
          <p:cNvSpPr>
            <a:spLocks xmlns:a="http://schemas.openxmlformats.org/drawingml/2006/main" noGrp="1"/>
          </p:cNvSpPr>
          <p:nvPr/>
        </p:nvSpPr>
        <p:spPr>
          <a:xfrm xmlns:a="http://schemas.openxmlformats.org/drawingml/2006/main">
            <a:off x="5124450" y="6038850"/>
            <a:ext cx="2076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a:solidFill>
                  <a:srgbClr val="596B7A"/>
                </a:solidFill>
                <a:latin typeface="Arial"/>
                <a:ea typeface="Arial"/>
                <a:cs typeface="Arial"/>
              </a:defRPr>
            </a:pPr>
            <a:r>
              <a:rPr sz="1350" b="0">
                <a:solidFill>
                  <a:srgbClr val="596B7A"/>
                </a:solidFill>
                <a:latin typeface="Arial"/>
                <a:ea typeface="Arial"/>
                <a:cs typeface="Arial"/>
              </a:rPr>
              <a:t>(f)</a:t>
            </a:r>
          </a:p>
        </p:txBody>
      </p:sp>
      <p:sp>
        <p:nvSpPr>
          <p:cNvPr id="14" name="EN">
            <a:extLst xmlns:a="http://schemas.openxmlformats.org/drawingml/2006/main">
              <a:ext uri="{FF2B5EF4-FFF2-40B4-BE49-F238E27FC236}">
                <a16:creationId xmlns:a16="http://schemas.microsoft.com/office/drawing/2014/main" id="{4BD0D7BA-940C-4C44-911E-07E7FFDBC813}"/>
              </a:ext>
            </a:extLst>
          </p:cNvPr>
          <p:cNvSpPr>
            <a:spLocks xmlns:a="http://schemas.openxmlformats.org/drawingml/2006/main" noGrp="1"/>
          </p:cNvSpPr>
          <p:nvPr/>
        </p:nvSpPr>
        <p:spPr>
          <a:xfrm xmlns:a="http://schemas.openxmlformats.org/drawingml/2006/main">
            <a:off x="7667625" y="178117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174875"/>
                </a:solidFill>
                <a:latin typeface="Arial"/>
                <a:ea typeface="Arial"/>
                <a:cs typeface="Arial"/>
              </a:defRPr>
            </a:pPr>
            <a:r>
              <a:rPr sz="1200" b="1">
                <a:solidFill>
                  <a:srgbClr val="174875"/>
                </a:solidFill>
                <a:latin typeface="Arial"/>
                <a:ea typeface="Arial"/>
                <a:cs typeface="Arial"/>
              </a:rPr>
              <a:t>EN</a:t>
            </a:r>
          </a:p>
        </p:txBody>
      </p:sp>
      <p:sp>
        <p:nvSpPr>
          <p:cNvPr id="15" name="“the consent dialog in Figure 1 (f) show">
            <a:extLst xmlns:a="http://schemas.openxmlformats.org/drawingml/2006/main">
              <a:ext uri="{FF2B5EF4-FFF2-40B4-BE49-F238E27FC236}">
                <a16:creationId xmlns:a16="http://schemas.microsoft.com/office/drawing/2014/main" id="{5B05E793-BB58-4F66-BC22-A36C99440F12}"/>
              </a:ext>
            </a:extLst>
          </p:cNvPr>
          <p:cNvSpPr>
            <a:spLocks xmlns:a="http://schemas.openxmlformats.org/drawingml/2006/main" noGrp="1"/>
          </p:cNvSpPr>
          <p:nvPr/>
        </p:nvSpPr>
        <p:spPr>
          <a:xfrm xmlns:a="http://schemas.openxmlformats.org/drawingml/2006/main">
            <a:off x="8086725" y="1752600"/>
            <a:ext cx="34956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4384A"/>
                </a:solidFill>
                <a:latin typeface="Arial"/>
                <a:ea typeface="Arial"/>
                <a:cs typeface="Arial"/>
              </a:defRPr>
            </a:pPr>
            <a:r>
              <a:rPr sz="1875" b="0">
                <a:solidFill>
                  <a:srgbClr val="24384A"/>
                </a:solidFill>
                <a:latin typeface="Arial"/>
                <a:ea typeface="Arial"/>
                <a:cs typeface="Arial"/>
              </a:rPr>
              <a:t>“the consent dialog in Figure 1 (f) shows other types of consent mechanisms from third-party providers that offer complex opt-in choices”</a:t>
            </a:r>
          </a:p>
        </p:txBody>
      </p:sp>
      <p:sp>
        <p:nvSpPr>
          <p:cNvPr id="16" name="PT">
            <a:extLst xmlns:a="http://schemas.openxmlformats.org/drawingml/2006/main">
              <a:ext uri="{FF2B5EF4-FFF2-40B4-BE49-F238E27FC236}">
                <a16:creationId xmlns:a16="http://schemas.microsoft.com/office/drawing/2014/main" id="{7119F553-6348-4956-A824-465D4CE8DF3F}"/>
              </a:ext>
            </a:extLst>
          </p:cNvPr>
          <p:cNvSpPr>
            <a:spLocks xmlns:a="http://schemas.openxmlformats.org/drawingml/2006/main" noGrp="1"/>
          </p:cNvSpPr>
          <p:nvPr/>
        </p:nvSpPr>
        <p:spPr>
          <a:xfrm xmlns:a="http://schemas.openxmlformats.org/drawingml/2006/main">
            <a:off x="7667625" y="368617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174875"/>
                </a:solidFill>
                <a:latin typeface="Arial"/>
                <a:ea typeface="Arial"/>
                <a:cs typeface="Arial"/>
              </a:defRPr>
            </a:pPr>
            <a:r>
              <a:rPr sz="1200" b="1">
                <a:solidFill>
                  <a:srgbClr val="174875"/>
                </a:solidFill>
                <a:latin typeface="Arial"/>
                <a:ea typeface="Arial"/>
                <a:cs typeface="Arial"/>
              </a:rPr>
              <a:t>PT</a:t>
            </a:r>
          </a:p>
        </p:txBody>
      </p:sp>
      <p:sp>
        <p:nvSpPr>
          <p:cNvPr id="17" name="O diálogo da Figura 1(f) mostra mecanism">
            <a:extLst xmlns:a="http://schemas.openxmlformats.org/drawingml/2006/main">
              <a:ext uri="{FF2B5EF4-FFF2-40B4-BE49-F238E27FC236}">
                <a16:creationId xmlns:a16="http://schemas.microsoft.com/office/drawing/2014/main" id="{B36E6EEF-46EE-445A-81B0-A2A74A04FA82}"/>
              </a:ext>
            </a:extLst>
          </p:cNvPr>
          <p:cNvSpPr>
            <a:spLocks xmlns:a="http://schemas.openxmlformats.org/drawingml/2006/main" noGrp="1"/>
          </p:cNvSpPr>
          <p:nvPr/>
        </p:nvSpPr>
        <p:spPr>
          <a:xfrm xmlns:a="http://schemas.openxmlformats.org/drawingml/2006/main">
            <a:off x="8086725" y="3657600"/>
            <a:ext cx="3495675"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4875"/>
                </a:solidFill>
                <a:latin typeface="Arial"/>
                <a:ea typeface="Arial"/>
                <a:cs typeface="Arial"/>
              </a:defRPr>
            </a:pPr>
            <a:r>
              <a:rPr sz="1875" b="0">
                <a:solidFill>
                  <a:srgbClr val="174875"/>
                </a:solidFill>
                <a:latin typeface="Arial"/>
                <a:ea typeface="Arial"/>
                <a:cs typeface="Arial"/>
              </a:rPr>
              <a:t>O diálogo da Figura 1(f) mostra mecanismos de fornecedores terceiros que oferecem escolhas complexas de adesão.</a:t>
            </a:r>
          </a:p>
        </p:txBody>
      </p:sp>
      <p:sp>
        <p:nvSpPr>
          <p:cNvPr id="18" name="ANÁLISE DO SEMINÁRIO">
            <a:extLst xmlns:a="http://schemas.openxmlformats.org/drawingml/2006/main">
              <a:ext uri="{FF2B5EF4-FFF2-40B4-BE49-F238E27FC236}">
                <a16:creationId xmlns:a16="http://schemas.microsoft.com/office/drawing/2014/main" id="{848E0164-C00C-470F-87E6-FF17B43FE75A}"/>
              </a:ext>
            </a:extLst>
          </p:cNvPr>
          <p:cNvSpPr>
            <a:spLocks xmlns:a="http://schemas.openxmlformats.org/drawingml/2006/main" noGrp="1"/>
          </p:cNvSpPr>
          <p:nvPr/>
        </p:nvSpPr>
        <p:spPr>
          <a:xfrm xmlns:a="http://schemas.openxmlformats.org/drawingml/2006/main">
            <a:off x="7667625" y="5029200"/>
            <a:ext cx="39147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287967"/>
                </a:solidFill>
                <a:latin typeface="Arial"/>
                <a:ea typeface="Arial"/>
                <a:cs typeface="Arial"/>
              </a:defRPr>
            </a:pPr>
            <a:r>
              <a:rPr sz="1350" b="1">
                <a:solidFill>
                  <a:srgbClr val="287967"/>
                </a:solidFill>
                <a:latin typeface="Arial"/>
                <a:ea typeface="Arial"/>
                <a:cs typeface="Arial"/>
              </a:rPr>
              <a:t>ANÁLISE DO SEMINÁRIO</a:t>
            </a:r>
          </a:p>
        </p:txBody>
      </p:sp>
      <p:sp>
        <p:nvSpPr>
          <p:cNvPr id="19" name="As opções visíveis precisam ser&#10;confront">
            <a:extLst xmlns:a="http://schemas.openxmlformats.org/drawingml/2006/main">
              <a:ext uri="{FF2B5EF4-FFF2-40B4-BE49-F238E27FC236}">
                <a16:creationId xmlns:a16="http://schemas.microsoft.com/office/drawing/2014/main" id="{5337209B-E1BF-4CD0-800C-D5D978502000}"/>
              </a:ext>
            </a:extLst>
          </p:cNvPr>
          <p:cNvSpPr>
            <a:spLocks xmlns:a="http://schemas.openxmlformats.org/drawingml/2006/main" noGrp="1"/>
          </p:cNvSpPr>
          <p:nvPr/>
        </p:nvSpPr>
        <p:spPr>
          <a:xfrm xmlns:a="http://schemas.openxmlformats.org/drawingml/2006/main">
            <a:off x="7667625" y="5381625"/>
            <a:ext cx="3914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24384A"/>
                </a:solidFill>
                <a:latin typeface="Arial"/>
                <a:ea typeface="Arial"/>
                <a:cs typeface="Arial"/>
              </a:defRPr>
            </a:pPr>
            <a:r>
              <a:rPr sz="1725" b="0">
                <a:solidFill>
                  <a:srgbClr val="24384A"/>
                </a:solidFill>
                <a:latin typeface="Arial"/>
                <a:ea typeface="Arial"/>
                <a:cs typeface="Arial"/>
              </a:rPr>
              <a:t>As opções visíveis precisam ser</a:t>
            </a:r>
          </a:p>
          <a:p xmlns:a="http://schemas.openxmlformats.org/drawingml/2006/main">
            <a:pPr algn="l">
              <a:defRPr sz="1725" b="0">
                <a:solidFill>
                  <a:srgbClr val="24384A"/>
                </a:solidFill>
                <a:latin typeface="Arial"/>
                <a:ea typeface="Arial"/>
                <a:cs typeface="Arial"/>
              </a:defRPr>
            </a:pPr>
            <a:r>
              <a:rPr sz="1725" b="0">
                <a:solidFill>
                  <a:srgbClr val="24384A"/>
                </a:solidFill>
                <a:latin typeface="Arial"/>
                <a:ea typeface="Arial"/>
                <a:cs typeface="Arial"/>
              </a:rPr>
              <a:t>confrontadas com o que o app</a:t>
            </a:r>
          </a:p>
          <a:p xmlns:a="http://schemas.openxmlformats.org/drawingml/2006/main">
            <a:pPr algn="l">
              <a:defRPr sz="1725" b="0">
                <a:solidFill>
                  <a:srgbClr val="24384A"/>
                </a:solidFill>
                <a:latin typeface="Arial"/>
                <a:ea typeface="Arial"/>
                <a:cs typeface="Arial"/>
              </a:defRPr>
            </a:pPr>
            <a:r>
              <a:rPr sz="1725" b="0">
                <a:solidFill>
                  <a:srgbClr val="24384A"/>
                </a:solidFill>
                <a:latin typeface="Arial"/>
                <a:ea typeface="Arial"/>
                <a:cs typeface="Arial"/>
              </a:rPr>
              <a:t>efetivamente envia pela rede.</a:t>
            </a:r>
          </a:p>
        </p:txBody>
      </p:sp>
    </p:spTree>
    <p:extLst>
      <p:ext uri="{BB962C8B-B14F-4D97-AF65-F5344CB8AC3E}">
        <p14:creationId xmlns:p14="http://schemas.microsoft.com/office/powerpoint/2010/main" val="23651917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1940017-4E25-4FB8-812C-16D98FD83936}"/>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174875"/>
          </a:solidFill>
          <a:ln xmlns:a="http://schemas.openxmlformats.org/drawingml/2006/main" w="0">
            <a:noFill/>
          </a:ln>
        </p:spPr>
      </p:sp>
      <p:sp>
        <p:nvSpPr>
          <p:cNvPr id="2" name="ANÁLISE DA FUNDAMENTAÇÃO">
            <a:extLst xmlns:a="http://schemas.openxmlformats.org/drawingml/2006/main">
              <a:ext uri="{FF2B5EF4-FFF2-40B4-BE49-F238E27FC236}">
                <a16:creationId xmlns:a16="http://schemas.microsoft.com/office/drawing/2014/main" id="{EDD06CB2-556B-4CC8-8973-2A74C4223FCF}"/>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74875"/>
                </a:solidFill>
                <a:latin typeface="Arial"/>
                <a:ea typeface="Arial"/>
                <a:cs typeface="Arial"/>
              </a:defRPr>
            </a:pPr>
            <a:r>
              <a:rPr sz="1275" b="1">
                <a:solidFill>
                  <a:srgbClr val="174875"/>
                </a:solidFill>
                <a:latin typeface="Arial"/>
                <a:ea typeface="Arial"/>
                <a:cs typeface="Arial"/>
              </a:rPr>
              <a:t>ANÁLISE DA FUNDAMENTAÇÃO</a:t>
            </a:r>
          </a:p>
        </p:txBody>
      </p:sp>
      <p:sp>
        <p:nvSpPr>
          <p:cNvPr id="3" name="Marco jurídico: critérios usados no estu">
            <a:extLst xmlns:a="http://schemas.openxmlformats.org/drawingml/2006/main">
              <a:ext uri="{FF2B5EF4-FFF2-40B4-BE49-F238E27FC236}">
                <a16:creationId xmlns:a16="http://schemas.microsoft.com/office/drawing/2014/main" id="{85C69946-B3F0-4D6A-AA8A-A90AB1CE58B3}"/>
              </a:ext>
            </a:extLst>
          </p:cNvPr>
          <p:cNvSpPr>
            <a:spLocks xmlns:a="http://schemas.openxmlformats.org/drawingml/2006/main" noGrp="1"/>
          </p:cNvSpPr>
          <p:nvPr/>
        </p:nvSpPr>
        <p:spPr>
          <a:xfrm xmlns:a="http://schemas.openxmlformats.org/drawingml/2006/main">
            <a:off x="609600" y="7048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2324F"/>
                </a:solidFill>
                <a:latin typeface="Arial"/>
                <a:ea typeface="Arial"/>
                <a:cs typeface="Arial"/>
              </a:defRPr>
            </a:pPr>
            <a:r>
              <a:rPr sz="3150" b="1">
                <a:solidFill>
                  <a:srgbClr val="12324F"/>
                </a:solidFill>
                <a:latin typeface="Arial"/>
                <a:ea typeface="Arial"/>
                <a:cs typeface="Arial"/>
              </a:rPr>
              <a:t>Marco jurídico: critérios usados no estudo</a:t>
            </a:r>
          </a:p>
        </p:txBody>
      </p:sp>
      <p:sp>
        <p:nvSpPr>
          <p:cNvPr id="4" name="">
            <a:extLst xmlns:a="http://schemas.openxmlformats.org/drawingml/2006/main">
              <a:ext uri="{FF2B5EF4-FFF2-40B4-BE49-F238E27FC236}">
                <a16:creationId xmlns:a16="http://schemas.microsoft.com/office/drawing/2014/main" id="{D728A761-01F0-4E66-B135-84DAB58E814E}"/>
              </a:ext>
            </a:extLst>
          </p:cNvPr>
          <p:cNvSpPr>
            <a:spLocks xmlns:a="http://schemas.openxmlformats.org/drawingml/2006/main" noGrp="1"/>
          </p:cNvSpPr>
          <p:nvPr/>
        </p:nvSpPr>
        <p:spPr>
          <a:xfrm xmlns:a="http://schemas.openxmlformats.org/drawingml/2006/main">
            <a:off x="609600" y="1390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908B8FD-3DD3-4A82-BCD2-3B180C5A0129}"/>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6" name="Nguyen, Backes e Stock (2022), Seção 2, ">
            <a:extLst xmlns:a="http://schemas.openxmlformats.org/drawingml/2006/main">
              <a:ext uri="{FF2B5EF4-FFF2-40B4-BE49-F238E27FC236}">
                <a16:creationId xmlns:a16="http://schemas.microsoft.com/office/drawing/2014/main" id="{2A5F5159-F44C-4CFA-9DF3-69AC7EBF2780}"/>
              </a:ext>
            </a:extLst>
          </p:cNvPr>
          <p:cNvSpPr>
            <a:spLocks xmlns:a="http://schemas.openxmlformats.org/drawingml/2006/main" noGrp="1"/>
          </p:cNvSpPr>
          <p:nvPr/>
        </p:nvSpPr>
        <p:spPr>
          <a:xfrm xmlns:a="http://schemas.openxmlformats.org/drawingml/2006/main">
            <a:off x="609600" y="6477000"/>
            <a:ext cx="9982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96B7A"/>
                </a:solidFill>
                <a:latin typeface="Arial"/>
                <a:ea typeface="Arial"/>
                <a:cs typeface="Arial"/>
              </a:defRPr>
            </a:pPr>
            <a:r>
              <a:rPr sz="1200" b="0">
                <a:solidFill>
                  <a:srgbClr val="596B7A"/>
                </a:solidFill>
                <a:latin typeface="Arial"/>
                <a:ea typeface="Arial"/>
                <a:cs typeface="Arial"/>
              </a:rPr>
              <a:t>Nguyen, Backes e Stock (2022), Seção 2, p. 3–4; citação da nota 1, p. 2–3. Critérios e ressalva dos autores.</a:t>
            </a:r>
          </a:p>
        </p:txBody>
      </p:sp>
      <p:sp>
        <p:nvSpPr>
          <p:cNvPr id="7" name="11 / 23">
            <a:extLst xmlns:a="http://schemas.openxmlformats.org/drawingml/2006/main">
              <a:ext uri="{FF2B5EF4-FFF2-40B4-BE49-F238E27FC236}">
                <a16:creationId xmlns:a16="http://schemas.microsoft.com/office/drawing/2014/main" id="{3B618ECF-511D-4C8F-A94D-67C124B12814}"/>
              </a:ext>
            </a:extLst>
          </p:cNvPr>
          <p:cNvSpPr>
            <a:spLocks xmlns:a="http://schemas.openxmlformats.org/drawingml/2006/main" noGrp="1"/>
          </p:cNvSpPr>
          <p:nvPr/>
        </p:nvSpPr>
        <p:spPr>
          <a:xfrm xmlns:a="http://schemas.openxmlformats.org/drawingml/2006/main">
            <a:off x="10668000" y="64770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96B7A"/>
                </a:solidFill>
                <a:latin typeface="Arial"/>
                <a:ea typeface="Arial"/>
                <a:cs typeface="Arial"/>
              </a:defRPr>
            </a:pPr>
            <a:r>
              <a:rPr sz="1200" b="0">
                <a:solidFill>
                  <a:srgbClr val="596B7A"/>
                </a:solidFill>
                <a:latin typeface="Arial"/>
                <a:ea typeface="Arial"/>
                <a:cs typeface="Arial"/>
              </a:rPr>
              <a:t>11 / 23</a:t>
            </a:r>
          </a:p>
        </p:txBody>
      </p:sp>
      <p:graphicFrame>
        <p:nvGraphicFramePr>
          <p:cNvPr id="20" name=""/>
          <p:cNvGraphicFramePr/>
          <p:nvPr/>
        </p:nvGraphicFramePr>
        <p:xfrm>
          <a:off xmlns:a="http://schemas.openxmlformats.org/drawingml/2006/main" x="609600" y="1733550"/>
          <a:ext xmlns:a="http://schemas.openxmlformats.org/drawingml/2006/main" cx="10972800" cy="3190875"/>
        </p:xfrm>
        <a:graphic xmlns:a="http://schemas.openxmlformats.org/drawingml/2006/main">
          <a:graphicData uri="http://schemas.openxmlformats.org/drawingml/2006/table">
            <a:tbl>
              <a:tblPr firstRow="0" bandRow="0"/>
              <a:tblGrid>
                <a:gridCol w="5019675"/>
                <a:gridCol w="5953125"/>
              </a:tblGrid>
              <a:tr h="638175">
                <a:tc>
                  <a:txBody>
                    <a:bodyPr wrap="square" lIns="114300" tIns="95250" rIns="114300" bIns="95250">
                      <a:noAutofit/>
                    </a:bodyPr>
                    <a:lstStyle/>
                    <a:p>
                      <a:pPr algn="l"/>
                      <a:r>
                        <a:rPr sz="1875" b="1">
                          <a:solidFill>
                            <a:srgbClr val="FFFFFF"/>
                          </a:solidFill>
                          <a:latin typeface="Arial"/>
                          <a:ea typeface="Arial"/>
                          <a:cs typeface="Arial"/>
                        </a:rPr>
                        <a:t>Categoria do artigo</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174875"/>
                    </a:solidFill>
                  </a:tcPr>
                </a:tc>
                <a:tc>
                  <a:txBody>
                    <a:bodyPr wrap="square" lIns="114300" tIns="95250" rIns="114300" bIns="95250">
                      <a:noAutofit/>
                    </a:bodyPr>
                    <a:lstStyle/>
                    <a:p>
                      <a:pPr algn="ctr"/>
                      <a:r>
                        <a:rPr sz="1875" b="1">
                          <a:solidFill>
                            <a:srgbClr val="FFFFFF"/>
                          </a:solidFill>
                          <a:latin typeface="Arial"/>
                          <a:ea typeface="Arial"/>
                          <a:cs typeface="Arial"/>
                        </a:rPr>
                        <a:t>O que os autores procuram observar</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174875"/>
                    </a:solidFill>
                  </a:tcPr>
                </a:tc>
              </a:tr>
              <a:tr h="638175">
                <a:tc>
                  <a:txBody>
                    <a:bodyPr wrap="square" lIns="114300" tIns="95250" rIns="114300" bIns="95250">
                      <a:noAutofit/>
                    </a:bodyPr>
                    <a:lstStyle/>
                    <a:p>
                      <a:pPr algn="l"/>
                      <a:r>
                        <a:rPr sz="1875" b="0">
                          <a:solidFill>
                            <a:srgbClr val="24384A"/>
                          </a:solidFill>
                          <a:latin typeface="Arial"/>
                          <a:ea typeface="Arial"/>
                          <a:cs typeface="Arial"/>
                        </a:rPr>
                        <a:t>Lack of Consent Notices</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EDF3F8"/>
                    </a:solidFill>
                  </a:tcPr>
                </a:tc>
                <a:tc>
                  <a:txBody>
                    <a:bodyPr wrap="square" lIns="114300" tIns="95250" rIns="114300" bIns="95250">
                      <a:noAutofit/>
                    </a:bodyPr>
                    <a:lstStyle/>
                    <a:p>
                      <a:pPr algn="l"/>
                      <a:r>
                        <a:rPr sz="1875" b="0">
                          <a:solidFill>
                            <a:srgbClr val="24384A"/>
                          </a:solidFill>
                          <a:latin typeface="Arial"/>
                          <a:ea typeface="Arial"/>
                          <a:cs typeface="Arial"/>
                        </a:rPr>
                        <a:t>Compartilhamento sem aviso de consentimento</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EDF3F8"/>
                    </a:solidFill>
                  </a:tcPr>
                </a:tc>
              </a:tr>
              <a:tr h="638175">
                <a:tc>
                  <a:txBody>
                    <a:bodyPr wrap="square" lIns="114300" tIns="95250" rIns="114300" bIns="95250">
                      <a:noAutofit/>
                    </a:bodyPr>
                    <a:lstStyle/>
                    <a:p>
                      <a:pPr algn="l"/>
                      <a:r>
                        <a:rPr sz="1875" b="0">
                          <a:solidFill>
                            <a:srgbClr val="24384A"/>
                          </a:solidFill>
                          <a:latin typeface="Arial"/>
                          <a:ea typeface="Arial"/>
                          <a:cs typeface="Arial"/>
                        </a:rPr>
                        <a:t>Sharing Data Before Given Consent</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FFFFFF"/>
                    </a:solidFill>
                  </a:tcPr>
                </a:tc>
                <a:tc>
                  <a:txBody>
                    <a:bodyPr wrap="square" lIns="114300" tIns="95250" rIns="114300" bIns="95250">
                      <a:noAutofit/>
                    </a:bodyPr>
                    <a:lstStyle/>
                    <a:p>
                      <a:pPr algn="l"/>
                      <a:r>
                        <a:rPr sz="1875" b="0">
                          <a:solidFill>
                            <a:srgbClr val="24384A"/>
                          </a:solidFill>
                          <a:latin typeface="Arial"/>
                          <a:ea typeface="Arial"/>
                          <a:cs typeface="Arial"/>
                        </a:rPr>
                        <a:t>Envio antes da ação explícita de consentir</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FFFFFF"/>
                    </a:solidFill>
                  </a:tcPr>
                </a:tc>
              </a:tr>
              <a:tr h="638175">
                <a:tc>
                  <a:txBody>
                    <a:bodyPr wrap="square" lIns="114300" tIns="95250" rIns="114300" bIns="95250">
                      <a:noAutofit/>
                    </a:bodyPr>
                    <a:lstStyle/>
                    <a:p>
                      <a:pPr algn="l"/>
                      <a:r>
                        <a:rPr sz="1875" b="0">
                          <a:solidFill>
                            <a:srgbClr val="24384A"/>
                          </a:solidFill>
                          <a:latin typeface="Arial"/>
                          <a:ea typeface="Arial"/>
                          <a:cs typeface="Arial"/>
                        </a:rPr>
                        <a:t>No Way to Opt Out</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EDF3F8"/>
                    </a:solidFill>
                  </a:tcPr>
                </a:tc>
                <a:tc>
                  <a:txBody>
                    <a:bodyPr wrap="square" lIns="114300" tIns="95250" rIns="114300" bIns="95250">
                      <a:noAutofit/>
                    </a:bodyPr>
                    <a:lstStyle/>
                    <a:p>
                      <a:pPr algn="l"/>
                      <a:r>
                        <a:rPr sz="1875" b="0">
                          <a:solidFill>
                            <a:srgbClr val="24384A"/>
                          </a:solidFill>
                          <a:latin typeface="Arial"/>
                          <a:ea typeface="Arial"/>
                          <a:cs typeface="Arial"/>
                        </a:rPr>
                        <a:t>Ausência de caminho para recusar</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EDF3F8"/>
                    </a:solidFill>
                  </a:tcPr>
                </a:tc>
              </a:tr>
              <a:tr h="638175">
                <a:tc>
                  <a:txBody>
                    <a:bodyPr wrap="square" lIns="114300" tIns="95250" rIns="114300" bIns="95250">
                      <a:noAutofit/>
                    </a:bodyPr>
                    <a:lstStyle/>
                    <a:p>
                      <a:pPr algn="l"/>
                      <a:r>
                        <a:rPr sz="1875" b="0">
                          <a:solidFill>
                            <a:srgbClr val="24384A"/>
                          </a:solidFill>
                          <a:latin typeface="Arial"/>
                          <a:ea typeface="Arial"/>
                          <a:cs typeface="Arial"/>
                        </a:rPr>
                        <a:t>Non-Respect of Choice</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FFFFFF"/>
                    </a:solidFill>
                  </a:tcPr>
                </a:tc>
                <a:tc>
                  <a:txBody>
                    <a:bodyPr wrap="square" lIns="114300" tIns="95250" rIns="114300" bIns="95250">
                      <a:noAutofit/>
                    </a:bodyPr>
                    <a:lstStyle/>
                    <a:p>
                      <a:pPr algn="l"/>
                      <a:r>
                        <a:rPr sz="1875" b="0">
                          <a:solidFill>
                            <a:srgbClr val="24384A"/>
                          </a:solidFill>
                          <a:latin typeface="Arial"/>
                          <a:ea typeface="Arial"/>
                          <a:cs typeface="Arial"/>
                        </a:rPr>
                        <a:t>Envio mesmo após a recusa do usuário</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FFFFFF"/>
                    </a:solidFill>
                  </a:tcPr>
                </a:tc>
              </a:tr>
            </a:tbl>
          </a:graphicData>
        </a:graphic>
      </p:graphicFrame>
      <p:sp>
        <p:nvSpPr>
          <p:cNvPr id="9" name="EN">
            <a:extLst xmlns:a="http://schemas.openxmlformats.org/drawingml/2006/main">
              <a:ext uri="{FF2B5EF4-FFF2-40B4-BE49-F238E27FC236}">
                <a16:creationId xmlns:a16="http://schemas.microsoft.com/office/drawing/2014/main" id="{017D0D9D-059C-4F5E-9007-87D4F28330B9}"/>
              </a:ext>
            </a:extLst>
          </p:cNvPr>
          <p:cNvSpPr>
            <a:spLocks xmlns:a="http://schemas.openxmlformats.org/drawingml/2006/main" noGrp="1"/>
          </p:cNvSpPr>
          <p:nvPr/>
        </p:nvSpPr>
        <p:spPr>
          <a:xfrm xmlns:a="http://schemas.openxmlformats.org/drawingml/2006/main">
            <a:off x="609600" y="522922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95652D"/>
                </a:solidFill>
                <a:latin typeface="Arial"/>
                <a:ea typeface="Arial"/>
                <a:cs typeface="Arial"/>
              </a:defRPr>
            </a:pPr>
            <a:r>
              <a:rPr sz="1200" b="1">
                <a:solidFill>
                  <a:srgbClr val="95652D"/>
                </a:solidFill>
                <a:latin typeface="Arial"/>
                <a:ea typeface="Arial"/>
                <a:cs typeface="Arial"/>
              </a:rPr>
              <a:t>EN</a:t>
            </a:r>
          </a:p>
        </p:txBody>
      </p:sp>
      <p:sp>
        <p:nvSpPr>
          <p:cNvPr id="10" name="“only a judicial ruling can provide lega">
            <a:extLst xmlns:a="http://schemas.openxmlformats.org/drawingml/2006/main">
              <a:ext uri="{FF2B5EF4-FFF2-40B4-BE49-F238E27FC236}">
                <a16:creationId xmlns:a16="http://schemas.microsoft.com/office/drawing/2014/main" id="{A225A4E7-6850-487A-BF6B-2774EFE143C6}"/>
              </a:ext>
            </a:extLst>
          </p:cNvPr>
          <p:cNvSpPr>
            <a:spLocks xmlns:a="http://schemas.openxmlformats.org/drawingml/2006/main" noGrp="1"/>
          </p:cNvSpPr>
          <p:nvPr/>
        </p:nvSpPr>
        <p:spPr>
          <a:xfrm xmlns:a="http://schemas.openxmlformats.org/drawingml/2006/main">
            <a:off x="1028700" y="5200650"/>
            <a:ext cx="10553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4384A"/>
                </a:solidFill>
                <a:latin typeface="Arial"/>
                <a:ea typeface="Arial"/>
                <a:cs typeface="Arial"/>
              </a:defRPr>
            </a:pPr>
            <a:r>
              <a:rPr sz="1875" b="0">
                <a:solidFill>
                  <a:srgbClr val="24384A"/>
                </a:solidFill>
                <a:latin typeface="Arial"/>
                <a:ea typeface="Arial"/>
                <a:cs typeface="Arial"/>
              </a:rPr>
              <a:t>“only a judicial ruling can provide legal certainty”</a:t>
            </a:r>
          </a:p>
        </p:txBody>
      </p:sp>
      <p:sp>
        <p:nvSpPr>
          <p:cNvPr id="11" name="PT">
            <a:extLst xmlns:a="http://schemas.openxmlformats.org/drawingml/2006/main">
              <a:ext uri="{FF2B5EF4-FFF2-40B4-BE49-F238E27FC236}">
                <a16:creationId xmlns:a16="http://schemas.microsoft.com/office/drawing/2014/main" id="{069C15C1-13DF-4F69-92B3-A9CBA479C520}"/>
              </a:ext>
            </a:extLst>
          </p:cNvPr>
          <p:cNvSpPr>
            <a:spLocks xmlns:a="http://schemas.openxmlformats.org/drawingml/2006/main" noGrp="1"/>
          </p:cNvSpPr>
          <p:nvPr/>
        </p:nvSpPr>
        <p:spPr>
          <a:xfrm xmlns:a="http://schemas.openxmlformats.org/drawingml/2006/main">
            <a:off x="609600" y="570547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95652D"/>
                </a:solidFill>
                <a:latin typeface="Arial"/>
                <a:ea typeface="Arial"/>
                <a:cs typeface="Arial"/>
              </a:defRPr>
            </a:pPr>
            <a:r>
              <a:rPr sz="1200" b="1">
                <a:solidFill>
                  <a:srgbClr val="95652D"/>
                </a:solidFill>
                <a:latin typeface="Arial"/>
                <a:ea typeface="Arial"/>
                <a:cs typeface="Arial"/>
              </a:rPr>
              <a:t>PT</a:t>
            </a:r>
          </a:p>
        </p:txBody>
      </p:sp>
      <p:sp>
        <p:nvSpPr>
          <p:cNvPr id="12" name="Somente uma decisão judicial pode propor">
            <a:extLst xmlns:a="http://schemas.openxmlformats.org/drawingml/2006/main">
              <a:ext uri="{FF2B5EF4-FFF2-40B4-BE49-F238E27FC236}">
                <a16:creationId xmlns:a16="http://schemas.microsoft.com/office/drawing/2014/main" id="{3E59D68F-D70C-49FB-80E3-DB1D672E2A94}"/>
              </a:ext>
            </a:extLst>
          </p:cNvPr>
          <p:cNvSpPr>
            <a:spLocks xmlns:a="http://schemas.openxmlformats.org/drawingml/2006/main" noGrp="1"/>
          </p:cNvSpPr>
          <p:nvPr/>
        </p:nvSpPr>
        <p:spPr>
          <a:xfrm xmlns:a="http://schemas.openxmlformats.org/drawingml/2006/main">
            <a:off x="1028700" y="5676900"/>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95652D"/>
                </a:solidFill>
                <a:latin typeface="Arial"/>
                <a:ea typeface="Arial"/>
                <a:cs typeface="Arial"/>
              </a:defRPr>
            </a:pPr>
            <a:r>
              <a:rPr sz="1875" b="0">
                <a:solidFill>
                  <a:srgbClr val="95652D"/>
                </a:solidFill>
                <a:latin typeface="Arial"/>
                <a:ea typeface="Arial"/>
                <a:cs typeface="Arial"/>
              </a:rPr>
              <a:t>Somente uma decisão judicial pode proporcionar certeza jurídica.</a:t>
            </a:r>
          </a:p>
        </p:txBody>
      </p:sp>
    </p:spTree>
    <p:extLst>
      <p:ext uri="{BB962C8B-B14F-4D97-AF65-F5344CB8AC3E}">
        <p14:creationId xmlns:p14="http://schemas.microsoft.com/office/powerpoint/2010/main" val="190482829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4A605B04-4658-453E-8B16-56817ED1B21D}"/>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174875"/>
          </a:solidFill>
          <a:ln xmlns:a="http://schemas.openxmlformats.org/drawingml/2006/main" w="0">
            <a:noFill/>
          </a:ln>
        </p:spPr>
      </p:sp>
      <p:sp>
        <p:nvSpPr>
          <p:cNvPr id="2" name="METODOLOGIA">
            <a:extLst xmlns:a="http://schemas.openxmlformats.org/drawingml/2006/main">
              <a:ext uri="{FF2B5EF4-FFF2-40B4-BE49-F238E27FC236}">
                <a16:creationId xmlns:a16="http://schemas.microsoft.com/office/drawing/2014/main" id="{557BFED9-9B21-4FE1-9C2F-7F8A9B8EA7E5}"/>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74875"/>
                </a:solidFill>
                <a:latin typeface="Arial"/>
                <a:ea typeface="Arial"/>
                <a:cs typeface="Arial"/>
              </a:defRPr>
            </a:pPr>
            <a:r>
              <a:rPr sz="1275" b="1">
                <a:solidFill>
                  <a:srgbClr val="174875"/>
                </a:solidFill>
                <a:latin typeface="Arial"/>
                <a:ea typeface="Arial"/>
                <a:cs typeface="Arial"/>
              </a:rPr>
              <a:t>METODOLOGIA</a:t>
            </a:r>
          </a:p>
        </p:txBody>
      </p:sp>
      <p:sp>
        <p:nvSpPr>
          <p:cNvPr id="3" name="Método I: identificação dos avisos">
            <a:extLst xmlns:a="http://schemas.openxmlformats.org/drawingml/2006/main">
              <a:ext uri="{FF2B5EF4-FFF2-40B4-BE49-F238E27FC236}">
                <a16:creationId xmlns:a16="http://schemas.microsoft.com/office/drawing/2014/main" id="{97F291F7-F7C6-4820-BA6C-229E79E2D83B}"/>
              </a:ext>
            </a:extLst>
          </p:cNvPr>
          <p:cNvSpPr>
            <a:spLocks xmlns:a="http://schemas.openxmlformats.org/drawingml/2006/main" noGrp="1"/>
          </p:cNvSpPr>
          <p:nvPr/>
        </p:nvSpPr>
        <p:spPr>
          <a:xfrm xmlns:a="http://schemas.openxmlformats.org/drawingml/2006/main">
            <a:off x="609600" y="7048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2324F"/>
                </a:solidFill>
                <a:latin typeface="Arial"/>
                <a:ea typeface="Arial"/>
                <a:cs typeface="Arial"/>
              </a:defRPr>
            </a:pPr>
            <a:r>
              <a:rPr sz="3150" b="1">
                <a:solidFill>
                  <a:srgbClr val="12324F"/>
                </a:solidFill>
                <a:latin typeface="Arial"/>
                <a:ea typeface="Arial"/>
                <a:cs typeface="Arial"/>
              </a:rPr>
              <a:t>Método I: identificação dos avisos</a:t>
            </a:r>
          </a:p>
        </p:txBody>
      </p:sp>
      <p:sp>
        <p:nvSpPr>
          <p:cNvPr id="4" name="">
            <a:extLst xmlns:a="http://schemas.openxmlformats.org/drawingml/2006/main">
              <a:ext uri="{FF2B5EF4-FFF2-40B4-BE49-F238E27FC236}">
                <a16:creationId xmlns:a16="http://schemas.microsoft.com/office/drawing/2014/main" id="{8E588312-8F3C-4122-9A46-2DAA6EA8CAAF}"/>
              </a:ext>
            </a:extLst>
          </p:cNvPr>
          <p:cNvSpPr>
            <a:spLocks xmlns:a="http://schemas.openxmlformats.org/drawingml/2006/main" noGrp="1"/>
          </p:cNvSpPr>
          <p:nvPr/>
        </p:nvSpPr>
        <p:spPr>
          <a:xfrm xmlns:a="http://schemas.openxmlformats.org/drawingml/2006/main">
            <a:off x="609600" y="1390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E5591A6-8154-4CC5-B468-032855DD7907}"/>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6" name="Nguyen, Backes e Stock (2022), Seções 3,">
            <a:extLst xmlns:a="http://schemas.openxmlformats.org/drawingml/2006/main">
              <a:ext uri="{FF2B5EF4-FFF2-40B4-BE49-F238E27FC236}">
                <a16:creationId xmlns:a16="http://schemas.microsoft.com/office/drawing/2014/main" id="{54E87FC5-1167-47DB-A7B6-C8E0512D3F11}"/>
              </a:ext>
            </a:extLst>
          </p:cNvPr>
          <p:cNvSpPr>
            <a:spLocks xmlns:a="http://schemas.openxmlformats.org/drawingml/2006/main" noGrp="1"/>
          </p:cNvSpPr>
          <p:nvPr/>
        </p:nvSpPr>
        <p:spPr>
          <a:xfrm xmlns:a="http://schemas.openxmlformats.org/drawingml/2006/main">
            <a:off x="609600" y="6477000"/>
            <a:ext cx="9982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96B7A"/>
                </a:solidFill>
                <a:latin typeface="Arial"/>
                <a:ea typeface="Arial"/>
                <a:cs typeface="Arial"/>
              </a:defRPr>
            </a:pPr>
            <a:r>
              <a:rPr sz="1200" b="0">
                <a:solidFill>
                  <a:srgbClr val="596B7A"/>
                </a:solidFill>
                <a:latin typeface="Arial"/>
                <a:ea typeface="Arial"/>
                <a:cs typeface="Arial"/>
              </a:rPr>
              <a:t>Nguyen, Backes e Stock (2022), Seções 3, 4.1 e 4.2, p. 4–7. Figura 2 do artigo, p. 6.</a:t>
            </a:r>
          </a:p>
        </p:txBody>
      </p:sp>
      <p:sp>
        <p:nvSpPr>
          <p:cNvPr id="7" name="12 / 23">
            <a:extLst xmlns:a="http://schemas.openxmlformats.org/drawingml/2006/main">
              <a:ext uri="{FF2B5EF4-FFF2-40B4-BE49-F238E27FC236}">
                <a16:creationId xmlns:a16="http://schemas.microsoft.com/office/drawing/2014/main" id="{E414BF8D-810B-4816-97F3-0AE949D42507}"/>
              </a:ext>
            </a:extLst>
          </p:cNvPr>
          <p:cNvSpPr>
            <a:spLocks xmlns:a="http://schemas.openxmlformats.org/drawingml/2006/main" noGrp="1"/>
          </p:cNvSpPr>
          <p:nvPr/>
        </p:nvSpPr>
        <p:spPr>
          <a:xfrm xmlns:a="http://schemas.openxmlformats.org/drawingml/2006/main">
            <a:off x="10668000" y="64770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96B7A"/>
                </a:solidFill>
                <a:latin typeface="Arial"/>
                <a:ea typeface="Arial"/>
                <a:cs typeface="Arial"/>
              </a:defRPr>
            </a:pPr>
            <a:r>
              <a:rPr sz="1200" b="0">
                <a:solidFill>
                  <a:srgbClr val="596B7A"/>
                </a:solidFill>
                <a:latin typeface="Arial"/>
                <a:ea typeface="Arial"/>
                <a:cs typeface="Arial"/>
              </a:rPr>
              <a:t>12 / 23</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921cd49305ba4f55"/>
          <a:stretch xmlns:a="http://schemas.openxmlformats.org/drawingml/2006/main"/>
        </p:blipFill>
        <p:spPr>
          <a:xfrm xmlns:a="http://schemas.openxmlformats.org/drawingml/2006/main">
            <a:off x="609600" y="1785080"/>
            <a:ext cx="10972800" cy="1249491"/>
          </a:xfrm>
          <a:prstGeom xmlns:a="http://schemas.openxmlformats.org/drawingml/2006/main" prst="rect">
            <a:avLst/>
          </a:prstGeom>
        </p:spPr>
      </p:pic>
      <p:sp>
        <p:nvSpPr>
          <p:cNvPr id="9" name="Figura 2 do artigo: corpus e resultados ">
            <a:extLst xmlns:a="http://schemas.openxmlformats.org/drawingml/2006/main">
              <a:ext uri="{FF2B5EF4-FFF2-40B4-BE49-F238E27FC236}">
                <a16:creationId xmlns:a16="http://schemas.microsoft.com/office/drawing/2014/main" id="{72B0D0CC-7E12-4C55-A045-3C1B597919C5}"/>
              </a:ext>
            </a:extLst>
          </p:cNvPr>
          <p:cNvSpPr>
            <a:spLocks xmlns:a="http://schemas.openxmlformats.org/drawingml/2006/main" noGrp="1"/>
          </p:cNvSpPr>
          <p:nvPr/>
        </p:nvSpPr>
        <p:spPr>
          <a:xfrm xmlns:a="http://schemas.openxmlformats.org/drawingml/2006/main">
            <a:off x="609600" y="32194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96B7A"/>
                </a:solidFill>
                <a:latin typeface="Arial"/>
                <a:ea typeface="Arial"/>
                <a:cs typeface="Arial"/>
              </a:defRPr>
            </a:pPr>
            <a:r>
              <a:rPr sz="1350" b="0">
                <a:solidFill>
                  <a:srgbClr val="596B7A"/>
                </a:solidFill>
                <a:latin typeface="Arial"/>
                <a:ea typeface="Arial"/>
                <a:cs typeface="Arial"/>
              </a:rPr>
              <a:t>Figura 2 do artigo: corpus e resultados intermediários.</a:t>
            </a:r>
          </a:p>
        </p:txBody>
      </p:sp>
      <p:sp>
        <p:nvSpPr>
          <p:cNvPr id="10" name="CRITÉRIOS DO CORPUS">
            <a:extLst xmlns:a="http://schemas.openxmlformats.org/drawingml/2006/main">
              <a:ext uri="{FF2B5EF4-FFF2-40B4-BE49-F238E27FC236}">
                <a16:creationId xmlns:a16="http://schemas.microsoft.com/office/drawing/2014/main" id="{0F1C2323-E4E5-4FA8-83B4-FF4607CE7726}"/>
              </a:ext>
            </a:extLst>
          </p:cNvPr>
          <p:cNvSpPr>
            <a:spLocks xmlns:a="http://schemas.openxmlformats.org/drawingml/2006/main" noGrp="1"/>
          </p:cNvSpPr>
          <p:nvPr/>
        </p:nvSpPr>
        <p:spPr>
          <a:xfrm xmlns:a="http://schemas.openxmlformats.org/drawingml/2006/main">
            <a:off x="609600" y="3667125"/>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74875"/>
                </a:solidFill>
                <a:latin typeface="Arial"/>
                <a:ea typeface="Arial"/>
                <a:cs typeface="Arial"/>
              </a:defRPr>
            </a:pPr>
            <a:r>
              <a:rPr sz="1350" b="1">
                <a:solidFill>
                  <a:srgbClr val="174875"/>
                </a:solidFill>
                <a:latin typeface="Arial"/>
                <a:ea typeface="Arial"/>
                <a:cs typeface="Arial"/>
              </a:rPr>
              <a:t>CRITÉRIOS DO CORPUS</a:t>
            </a:r>
          </a:p>
        </p:txBody>
      </p:sp>
      <p:sp>
        <p:nvSpPr>
          <p:cNvPr id="11" name="Apps gratuitos, ao menos 10.000 download">
            <a:extLst xmlns:a="http://schemas.openxmlformats.org/drawingml/2006/main">
              <a:ext uri="{FF2B5EF4-FFF2-40B4-BE49-F238E27FC236}">
                <a16:creationId xmlns:a16="http://schemas.microsoft.com/office/drawing/2014/main" id="{B82B4AAF-2CFC-4309-BEC3-D4119C6279C4}"/>
              </a:ext>
            </a:extLst>
          </p:cNvPr>
          <p:cNvSpPr>
            <a:spLocks xmlns:a="http://schemas.openxmlformats.org/drawingml/2006/main" noGrp="1"/>
          </p:cNvSpPr>
          <p:nvPr/>
        </p:nvSpPr>
        <p:spPr>
          <a:xfrm xmlns:a="http://schemas.openxmlformats.org/drawingml/2006/main">
            <a:off x="609600" y="4029075"/>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4384A"/>
                </a:solidFill>
                <a:latin typeface="Arial"/>
                <a:ea typeface="Arial"/>
                <a:cs typeface="Arial"/>
              </a:defRPr>
            </a:pPr>
            <a:r>
              <a:rPr sz="2025" b="0">
                <a:solidFill>
                  <a:srgbClr val="24384A"/>
                </a:solidFill>
                <a:latin typeface="Arial"/>
                <a:ea typeface="Arial"/>
                <a:cs typeface="Arial"/>
              </a:rPr>
              <a:t>Apps gratuitos, ao menos 10.000 downloads,</a:t>
            </a:r>
          </a:p>
          <a:p xmlns:a="http://schemas.openxmlformats.org/drawingml/2006/main">
            <a:pPr algn="l">
              <a:defRPr sz="2025" b="0">
                <a:solidFill>
                  <a:srgbClr val="24384A"/>
                </a:solidFill>
                <a:latin typeface="Arial"/>
                <a:ea typeface="Arial"/>
                <a:cs typeface="Arial"/>
              </a:defRPr>
            </a:pPr>
            <a:r>
              <a:rPr sz="2025" b="0">
                <a:solidFill>
                  <a:srgbClr val="24384A"/>
                </a:solidFill>
                <a:latin typeface="Arial"/>
                <a:ea typeface="Arial"/>
                <a:cs typeface="Arial"/>
              </a:rPr>
              <a:t>permissão sensível e atualização após maio/2018.</a:t>
            </a:r>
          </a:p>
          <a:p xmlns:a="http://schemas.openxmlformats.org/drawingml/2006/main">
            <a:pPr algn="l">
              <a:defRPr sz="2025" b="0">
                <a:solidFill>
                  <a:srgbClr val="24384A"/>
                </a:solidFill>
                <a:latin typeface="Arial"/>
                <a:ea typeface="Arial"/>
                <a:cs typeface="Arial"/>
              </a:defRPr>
            </a:pPr>
            <a:r>
              <a:rPr sz="2025" b="0">
                <a:solidFill>
                  <a:srgbClr val="24384A"/>
                </a:solidFill>
                <a:latin typeface="Arial"/>
                <a:ea typeface="Arial"/>
                <a:cs typeface="Arial"/>
              </a:rPr>
              <a:t>Coleta: out/2021 a mar/2022, no Espaço Econômico Europeu (EEE).</a:t>
            </a:r>
          </a:p>
        </p:txBody>
      </p:sp>
      <p:sp>
        <p:nvSpPr>
          <p:cNvPr id="12" name="">
            <a:extLst xmlns:a="http://schemas.openxmlformats.org/drawingml/2006/main">
              <a:ext uri="{FF2B5EF4-FFF2-40B4-BE49-F238E27FC236}">
                <a16:creationId xmlns:a16="http://schemas.microsoft.com/office/drawing/2014/main" id="{AAE783F2-85CF-414F-8298-2CC0D2EC296C}"/>
              </a:ext>
            </a:extLst>
          </p:cNvPr>
          <p:cNvSpPr>
            <a:spLocks xmlns:a="http://schemas.openxmlformats.org/drawingml/2006/main" noGrp="1"/>
          </p:cNvSpPr>
          <p:nvPr/>
        </p:nvSpPr>
        <p:spPr>
          <a:xfrm xmlns:a="http://schemas.openxmlformats.org/drawingml/2006/main">
            <a:off x="609600" y="5257800"/>
            <a:ext cx="2000250" cy="409575"/>
          </a:xfrm>
          <a:prstGeom xmlns:a="http://schemas.openxmlformats.org/drawingml/2006/main" prst="rect">
            <a:avLst/>
          </a:prstGeom>
          <a:solidFill xmlns:a="http://schemas.openxmlformats.org/drawingml/2006/main">
            <a:srgbClr val="EDF3F8"/>
          </a:solidFill>
          <a:ln xmlns:a="http://schemas.openxmlformats.org/drawingml/2006/main" w="0">
            <a:noFill/>
          </a:ln>
        </p:spPr>
      </p:sp>
      <p:sp>
        <p:nvSpPr>
          <p:cNvPr id="13" name="Capturas de tela">
            <a:extLst xmlns:a="http://schemas.openxmlformats.org/drawingml/2006/main">
              <a:ext uri="{FF2B5EF4-FFF2-40B4-BE49-F238E27FC236}">
                <a16:creationId xmlns:a16="http://schemas.microsoft.com/office/drawing/2014/main" id="{846347A9-2D31-471D-B9A5-8910FCFFA405}"/>
              </a:ext>
            </a:extLst>
          </p:cNvPr>
          <p:cNvSpPr>
            <a:spLocks xmlns:a="http://schemas.openxmlformats.org/drawingml/2006/main" noGrp="1"/>
          </p:cNvSpPr>
          <p:nvPr/>
        </p:nvSpPr>
        <p:spPr>
          <a:xfrm xmlns:a="http://schemas.openxmlformats.org/drawingml/2006/main">
            <a:off x="704850" y="5324475"/>
            <a:ext cx="1809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74875"/>
                </a:solidFill>
                <a:latin typeface="Arial"/>
                <a:ea typeface="Arial"/>
                <a:cs typeface="Arial"/>
              </a:defRPr>
            </a:pPr>
            <a:r>
              <a:rPr sz="1800" b="1">
                <a:solidFill>
                  <a:srgbClr val="174875"/>
                </a:solidFill>
                <a:latin typeface="Arial"/>
                <a:ea typeface="Arial"/>
                <a:cs typeface="Arial"/>
              </a:rPr>
              <a:t>Capturas de tela</a:t>
            </a:r>
          </a:p>
        </p:txBody>
      </p:sp>
      <p:sp>
        <p:nvSpPr>
          <p:cNvPr id="14" name="captura após 5 s">
            <a:extLst xmlns:a="http://schemas.openxmlformats.org/drawingml/2006/main">
              <a:ext uri="{FF2B5EF4-FFF2-40B4-BE49-F238E27FC236}">
                <a16:creationId xmlns:a16="http://schemas.microsoft.com/office/drawing/2014/main" id="{9326E99A-5FB1-4665-A43D-A9BBB33B81DB}"/>
              </a:ext>
            </a:extLst>
          </p:cNvPr>
          <p:cNvSpPr>
            <a:spLocks xmlns:a="http://schemas.openxmlformats.org/drawingml/2006/main" noGrp="1"/>
          </p:cNvSpPr>
          <p:nvPr/>
        </p:nvSpPr>
        <p:spPr>
          <a:xfrm xmlns:a="http://schemas.openxmlformats.org/drawingml/2006/main">
            <a:off x="609600" y="5781675"/>
            <a:ext cx="2000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a:solidFill>
                  <a:srgbClr val="596B7A"/>
                </a:solidFill>
                <a:latin typeface="Arial"/>
                <a:ea typeface="Arial"/>
                <a:cs typeface="Arial"/>
              </a:defRPr>
            </a:pPr>
            <a:r>
              <a:rPr sz="1350" b="0">
                <a:solidFill>
                  <a:srgbClr val="596B7A"/>
                </a:solidFill>
                <a:latin typeface="Arial"/>
                <a:ea typeface="Arial"/>
                <a:cs typeface="Arial"/>
              </a:rPr>
              <a:t>captura após 5 s</a:t>
            </a:r>
          </a:p>
        </p:txBody>
      </p:sp>
      <p:sp>
        <p:nvSpPr>
          <p:cNvPr id="15" name="">
            <a:extLst xmlns:a="http://schemas.openxmlformats.org/drawingml/2006/main">
              <a:ext uri="{FF2B5EF4-FFF2-40B4-BE49-F238E27FC236}">
                <a16:creationId xmlns:a16="http://schemas.microsoft.com/office/drawing/2014/main" id="{AE5D6565-0104-4B2C-B09C-B56B9B4237FF}"/>
              </a:ext>
            </a:extLst>
          </p:cNvPr>
          <p:cNvSpPr>
            <a:spLocks xmlns:a="http://schemas.openxmlformats.org/drawingml/2006/main" noGrp="1"/>
          </p:cNvSpPr>
          <p:nvPr/>
        </p:nvSpPr>
        <p:spPr>
          <a:xfrm xmlns:a="http://schemas.openxmlformats.org/drawingml/2006/main">
            <a:off x="2667000" y="5391150"/>
            <a:ext cx="133350" cy="152400"/>
          </a:xfrm>
          <a:prstGeom xmlns:a="http://schemas.openxmlformats.org/drawingml/2006/main" prst="rightArrow">
            <a:avLst/>
          </a:prstGeom>
          <a:solidFill xmlns:a="http://schemas.openxmlformats.org/drawingml/2006/main">
            <a:srgbClr val="17487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CE7A8C9-758A-4F8A-8EDD-F5F946BCB63F}"/>
              </a:ext>
            </a:extLst>
          </p:cNvPr>
          <p:cNvSpPr>
            <a:spLocks xmlns:a="http://schemas.openxmlformats.org/drawingml/2006/main" noGrp="1"/>
          </p:cNvSpPr>
          <p:nvPr/>
        </p:nvSpPr>
        <p:spPr>
          <a:xfrm xmlns:a="http://schemas.openxmlformats.org/drawingml/2006/main">
            <a:off x="2847975" y="5257800"/>
            <a:ext cx="2000250" cy="409575"/>
          </a:xfrm>
          <a:prstGeom xmlns:a="http://schemas.openxmlformats.org/drawingml/2006/main" prst="rect">
            <a:avLst/>
          </a:prstGeom>
          <a:solidFill xmlns:a="http://schemas.openxmlformats.org/drawingml/2006/main">
            <a:srgbClr val="EDF3F8"/>
          </a:solidFill>
          <a:ln xmlns:a="http://schemas.openxmlformats.org/drawingml/2006/main" w="0">
            <a:noFill/>
          </a:ln>
        </p:spPr>
      </p:sp>
      <p:sp>
        <p:nvSpPr>
          <p:cNvPr id="17" name="OCR">
            <a:extLst xmlns:a="http://schemas.openxmlformats.org/drawingml/2006/main">
              <a:ext uri="{FF2B5EF4-FFF2-40B4-BE49-F238E27FC236}">
                <a16:creationId xmlns:a16="http://schemas.microsoft.com/office/drawing/2014/main" id="{F26990E3-2AAD-4AD4-B718-FD92822A81EC}"/>
              </a:ext>
            </a:extLst>
          </p:cNvPr>
          <p:cNvSpPr>
            <a:spLocks xmlns:a="http://schemas.openxmlformats.org/drawingml/2006/main" noGrp="1"/>
          </p:cNvSpPr>
          <p:nvPr/>
        </p:nvSpPr>
        <p:spPr>
          <a:xfrm xmlns:a="http://schemas.openxmlformats.org/drawingml/2006/main">
            <a:off x="2943225" y="5324475"/>
            <a:ext cx="1809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74875"/>
                </a:solidFill>
                <a:latin typeface="Arial"/>
                <a:ea typeface="Arial"/>
                <a:cs typeface="Arial"/>
              </a:defRPr>
            </a:pPr>
            <a:r>
              <a:rPr sz="1800" b="1">
                <a:solidFill>
                  <a:srgbClr val="174875"/>
                </a:solidFill>
                <a:latin typeface="Arial"/>
                <a:ea typeface="Arial"/>
                <a:cs typeface="Arial"/>
              </a:rPr>
              <a:t>OCR</a:t>
            </a:r>
          </a:p>
        </p:txBody>
      </p:sp>
      <p:sp>
        <p:nvSpPr>
          <p:cNvPr id="18" name="reconhecimento de texto">
            <a:extLst xmlns:a="http://schemas.openxmlformats.org/drawingml/2006/main">
              <a:ext uri="{FF2B5EF4-FFF2-40B4-BE49-F238E27FC236}">
                <a16:creationId xmlns:a16="http://schemas.microsoft.com/office/drawing/2014/main" id="{434D775D-3CF7-43B6-838E-1CA1D19CD8C4}"/>
              </a:ext>
            </a:extLst>
          </p:cNvPr>
          <p:cNvSpPr>
            <a:spLocks xmlns:a="http://schemas.openxmlformats.org/drawingml/2006/main" noGrp="1"/>
          </p:cNvSpPr>
          <p:nvPr/>
        </p:nvSpPr>
        <p:spPr>
          <a:xfrm xmlns:a="http://schemas.openxmlformats.org/drawingml/2006/main">
            <a:off x="2847975" y="5781675"/>
            <a:ext cx="2000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a:solidFill>
                  <a:srgbClr val="596B7A"/>
                </a:solidFill>
                <a:latin typeface="Arial"/>
                <a:ea typeface="Arial"/>
                <a:cs typeface="Arial"/>
              </a:defRPr>
            </a:pPr>
            <a:r>
              <a:rPr sz="1350" b="0">
                <a:solidFill>
                  <a:srgbClr val="596B7A"/>
                </a:solidFill>
                <a:latin typeface="Arial"/>
                <a:ea typeface="Arial"/>
                <a:cs typeface="Arial"/>
              </a:rPr>
              <a:t>reconhecimento de texto</a:t>
            </a:r>
          </a:p>
        </p:txBody>
      </p:sp>
      <p:sp>
        <p:nvSpPr>
          <p:cNvPr id="19" name="">
            <a:extLst xmlns:a="http://schemas.openxmlformats.org/drawingml/2006/main">
              <a:ext uri="{FF2B5EF4-FFF2-40B4-BE49-F238E27FC236}">
                <a16:creationId xmlns:a16="http://schemas.microsoft.com/office/drawing/2014/main" id="{D22D7C47-70AC-4220-81A2-1462049EA005}"/>
              </a:ext>
            </a:extLst>
          </p:cNvPr>
          <p:cNvSpPr>
            <a:spLocks xmlns:a="http://schemas.openxmlformats.org/drawingml/2006/main" noGrp="1"/>
          </p:cNvSpPr>
          <p:nvPr/>
        </p:nvSpPr>
        <p:spPr>
          <a:xfrm xmlns:a="http://schemas.openxmlformats.org/drawingml/2006/main">
            <a:off x="4905375" y="5391150"/>
            <a:ext cx="133350" cy="152400"/>
          </a:xfrm>
          <a:prstGeom xmlns:a="http://schemas.openxmlformats.org/drawingml/2006/main" prst="rightArrow">
            <a:avLst/>
          </a:prstGeom>
          <a:solidFill xmlns:a="http://schemas.openxmlformats.org/drawingml/2006/main">
            <a:srgbClr val="17487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109AB4F-7FC8-4244-AE34-1D381F040763}"/>
              </a:ext>
            </a:extLst>
          </p:cNvPr>
          <p:cNvSpPr>
            <a:spLocks xmlns:a="http://schemas.openxmlformats.org/drawingml/2006/main" noGrp="1"/>
          </p:cNvSpPr>
          <p:nvPr/>
        </p:nvSpPr>
        <p:spPr>
          <a:xfrm xmlns:a="http://schemas.openxmlformats.org/drawingml/2006/main">
            <a:off x="5086350" y="5257800"/>
            <a:ext cx="2000250" cy="409575"/>
          </a:xfrm>
          <a:prstGeom xmlns:a="http://schemas.openxmlformats.org/drawingml/2006/main" prst="rect">
            <a:avLst/>
          </a:prstGeom>
          <a:solidFill xmlns:a="http://schemas.openxmlformats.org/drawingml/2006/main">
            <a:srgbClr val="EDF3F8"/>
          </a:solidFill>
          <a:ln xmlns:a="http://schemas.openxmlformats.org/drawingml/2006/main" w="0">
            <a:noFill/>
          </a:ln>
        </p:spPr>
      </p:sp>
      <p:sp>
        <p:nvSpPr>
          <p:cNvPr id="21" name="NLP">
            <a:extLst xmlns:a="http://schemas.openxmlformats.org/drawingml/2006/main">
              <a:ext uri="{FF2B5EF4-FFF2-40B4-BE49-F238E27FC236}">
                <a16:creationId xmlns:a16="http://schemas.microsoft.com/office/drawing/2014/main" id="{F184A923-B92A-4C26-B147-E55CE4E985A7}"/>
              </a:ext>
            </a:extLst>
          </p:cNvPr>
          <p:cNvSpPr>
            <a:spLocks xmlns:a="http://schemas.openxmlformats.org/drawingml/2006/main" noGrp="1"/>
          </p:cNvSpPr>
          <p:nvPr/>
        </p:nvSpPr>
        <p:spPr>
          <a:xfrm xmlns:a="http://schemas.openxmlformats.org/drawingml/2006/main">
            <a:off x="5181600" y="5324475"/>
            <a:ext cx="1809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74875"/>
                </a:solidFill>
                <a:latin typeface="Arial"/>
                <a:ea typeface="Arial"/>
                <a:cs typeface="Arial"/>
              </a:defRPr>
            </a:pPr>
            <a:r>
              <a:rPr sz="1800" b="1">
                <a:solidFill>
                  <a:srgbClr val="174875"/>
                </a:solidFill>
                <a:latin typeface="Arial"/>
                <a:ea typeface="Arial"/>
                <a:cs typeface="Arial"/>
              </a:rPr>
              <a:t>NLP</a:t>
            </a:r>
          </a:p>
        </p:txBody>
      </p:sp>
      <p:sp>
        <p:nvSpPr>
          <p:cNvPr id="22" name="processamento de&#10;linguagem natural">
            <a:extLst xmlns:a="http://schemas.openxmlformats.org/drawingml/2006/main">
              <a:ext uri="{FF2B5EF4-FFF2-40B4-BE49-F238E27FC236}">
                <a16:creationId xmlns:a16="http://schemas.microsoft.com/office/drawing/2014/main" id="{B280BDFE-3BB7-477B-B6EE-B6A708DB73F5}"/>
              </a:ext>
            </a:extLst>
          </p:cNvPr>
          <p:cNvSpPr>
            <a:spLocks xmlns:a="http://schemas.openxmlformats.org/drawingml/2006/main" noGrp="1"/>
          </p:cNvSpPr>
          <p:nvPr/>
        </p:nvSpPr>
        <p:spPr>
          <a:xfrm xmlns:a="http://schemas.openxmlformats.org/drawingml/2006/main">
            <a:off x="5086350" y="5781675"/>
            <a:ext cx="2000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a:solidFill>
                  <a:srgbClr val="596B7A"/>
                </a:solidFill>
                <a:latin typeface="Arial"/>
                <a:ea typeface="Arial"/>
                <a:cs typeface="Arial"/>
              </a:defRPr>
            </a:pPr>
            <a:r>
              <a:rPr sz="1350" b="0">
                <a:solidFill>
                  <a:srgbClr val="596B7A"/>
                </a:solidFill>
                <a:latin typeface="Arial"/>
                <a:ea typeface="Arial"/>
                <a:cs typeface="Arial"/>
              </a:rPr>
              <a:t>processamento de</a:t>
            </a:r>
          </a:p>
          <a:p xmlns:a="http://schemas.openxmlformats.org/drawingml/2006/main">
            <a:pPr algn="ctr">
              <a:defRPr sz="1350" b="0">
                <a:solidFill>
                  <a:srgbClr val="596B7A"/>
                </a:solidFill>
                <a:latin typeface="Arial"/>
                <a:ea typeface="Arial"/>
                <a:cs typeface="Arial"/>
              </a:defRPr>
            </a:pPr>
            <a:r>
              <a:rPr sz="1350" b="0">
                <a:solidFill>
                  <a:srgbClr val="596B7A"/>
                </a:solidFill>
                <a:latin typeface="Arial"/>
                <a:ea typeface="Arial"/>
                <a:cs typeface="Arial"/>
              </a:rPr>
              <a:t>linguagem natural</a:t>
            </a:r>
          </a:p>
        </p:txBody>
      </p:sp>
      <p:sp>
        <p:nvSpPr>
          <p:cNvPr id="23" name="">
            <a:extLst xmlns:a="http://schemas.openxmlformats.org/drawingml/2006/main">
              <a:ext uri="{FF2B5EF4-FFF2-40B4-BE49-F238E27FC236}">
                <a16:creationId xmlns:a16="http://schemas.microsoft.com/office/drawing/2014/main" id="{09728845-63BE-467A-9930-356ACBCEE4AE}"/>
              </a:ext>
            </a:extLst>
          </p:cNvPr>
          <p:cNvSpPr>
            <a:spLocks xmlns:a="http://schemas.openxmlformats.org/drawingml/2006/main" noGrp="1"/>
          </p:cNvSpPr>
          <p:nvPr/>
        </p:nvSpPr>
        <p:spPr>
          <a:xfrm xmlns:a="http://schemas.openxmlformats.org/drawingml/2006/main">
            <a:off x="7143750" y="5391150"/>
            <a:ext cx="133350" cy="152400"/>
          </a:xfrm>
          <a:prstGeom xmlns:a="http://schemas.openxmlformats.org/drawingml/2006/main" prst="rightArrow">
            <a:avLst/>
          </a:prstGeom>
          <a:solidFill xmlns:a="http://schemas.openxmlformats.org/drawingml/2006/main">
            <a:srgbClr val="174875"/>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45F71B75-FA0D-4079-97AC-D9B39F12B4AF}"/>
              </a:ext>
            </a:extLst>
          </p:cNvPr>
          <p:cNvSpPr>
            <a:spLocks xmlns:a="http://schemas.openxmlformats.org/drawingml/2006/main" noGrp="1"/>
          </p:cNvSpPr>
          <p:nvPr/>
        </p:nvSpPr>
        <p:spPr>
          <a:xfrm xmlns:a="http://schemas.openxmlformats.org/drawingml/2006/main">
            <a:off x="7324725" y="5257800"/>
            <a:ext cx="2000250" cy="409575"/>
          </a:xfrm>
          <a:prstGeom xmlns:a="http://schemas.openxmlformats.org/drawingml/2006/main" prst="rect">
            <a:avLst/>
          </a:prstGeom>
          <a:solidFill xmlns:a="http://schemas.openxmlformats.org/drawingml/2006/main">
            <a:srgbClr val="EDF3F8"/>
          </a:solidFill>
          <a:ln xmlns:a="http://schemas.openxmlformats.org/drawingml/2006/main" w="0">
            <a:noFill/>
          </a:ln>
        </p:spPr>
      </p:sp>
      <p:sp>
        <p:nvSpPr>
          <p:cNvPr id="25" name="Clustering">
            <a:extLst xmlns:a="http://schemas.openxmlformats.org/drawingml/2006/main">
              <a:ext uri="{FF2B5EF4-FFF2-40B4-BE49-F238E27FC236}">
                <a16:creationId xmlns:a16="http://schemas.microsoft.com/office/drawing/2014/main" id="{28C58D89-CE0E-44F2-B640-C8AB2D0AC78C}"/>
              </a:ext>
            </a:extLst>
          </p:cNvPr>
          <p:cNvSpPr>
            <a:spLocks xmlns:a="http://schemas.openxmlformats.org/drawingml/2006/main" noGrp="1"/>
          </p:cNvSpPr>
          <p:nvPr/>
        </p:nvSpPr>
        <p:spPr>
          <a:xfrm xmlns:a="http://schemas.openxmlformats.org/drawingml/2006/main">
            <a:off x="7419975" y="5324475"/>
            <a:ext cx="1809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74875"/>
                </a:solidFill>
                <a:latin typeface="Arial"/>
                <a:ea typeface="Arial"/>
                <a:cs typeface="Arial"/>
              </a:defRPr>
            </a:pPr>
            <a:r>
              <a:rPr sz="1800" b="1">
                <a:solidFill>
                  <a:srgbClr val="174875"/>
                </a:solidFill>
                <a:latin typeface="Arial"/>
                <a:ea typeface="Arial"/>
                <a:cs typeface="Arial"/>
              </a:rPr>
              <a:t>Clustering</a:t>
            </a:r>
          </a:p>
        </p:txBody>
      </p:sp>
      <p:sp>
        <p:nvSpPr>
          <p:cNvPr id="26" name="agrupamento por&#10;semelhança: 44 grupos">
            <a:extLst xmlns:a="http://schemas.openxmlformats.org/drawingml/2006/main">
              <a:ext uri="{FF2B5EF4-FFF2-40B4-BE49-F238E27FC236}">
                <a16:creationId xmlns:a16="http://schemas.microsoft.com/office/drawing/2014/main" id="{9ECE5EDF-ECA1-4C34-B4AE-FF05F4FF23B2}"/>
              </a:ext>
            </a:extLst>
          </p:cNvPr>
          <p:cNvSpPr>
            <a:spLocks xmlns:a="http://schemas.openxmlformats.org/drawingml/2006/main" noGrp="1"/>
          </p:cNvSpPr>
          <p:nvPr/>
        </p:nvSpPr>
        <p:spPr>
          <a:xfrm xmlns:a="http://schemas.openxmlformats.org/drawingml/2006/main">
            <a:off x="7324725" y="5781675"/>
            <a:ext cx="2000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a:solidFill>
                  <a:srgbClr val="596B7A"/>
                </a:solidFill>
                <a:latin typeface="Arial"/>
                <a:ea typeface="Arial"/>
                <a:cs typeface="Arial"/>
              </a:defRPr>
            </a:pPr>
            <a:r>
              <a:rPr sz="1350" b="0">
                <a:solidFill>
                  <a:srgbClr val="596B7A"/>
                </a:solidFill>
                <a:latin typeface="Arial"/>
                <a:ea typeface="Arial"/>
                <a:cs typeface="Arial"/>
              </a:rPr>
              <a:t>agrupamento por</a:t>
            </a:r>
          </a:p>
          <a:p xmlns:a="http://schemas.openxmlformats.org/drawingml/2006/main">
            <a:pPr algn="ctr">
              <a:defRPr sz="1350" b="0">
                <a:solidFill>
                  <a:srgbClr val="596B7A"/>
                </a:solidFill>
                <a:latin typeface="Arial"/>
                <a:ea typeface="Arial"/>
                <a:cs typeface="Arial"/>
              </a:defRPr>
            </a:pPr>
            <a:r>
              <a:rPr sz="1350" b="0">
                <a:solidFill>
                  <a:srgbClr val="596B7A"/>
                </a:solidFill>
                <a:latin typeface="Arial"/>
                <a:ea typeface="Arial"/>
                <a:cs typeface="Arial"/>
              </a:rPr>
              <a:t>semelhança: 44 grupos</a:t>
            </a:r>
          </a:p>
        </p:txBody>
      </p:sp>
      <p:sp>
        <p:nvSpPr>
          <p:cNvPr id="27" name="">
            <a:extLst xmlns:a="http://schemas.openxmlformats.org/drawingml/2006/main">
              <a:ext uri="{FF2B5EF4-FFF2-40B4-BE49-F238E27FC236}">
                <a16:creationId xmlns:a16="http://schemas.microsoft.com/office/drawing/2014/main" id="{0FEC00BE-DF67-4BB7-8B4F-03AF75534BDC}"/>
              </a:ext>
            </a:extLst>
          </p:cNvPr>
          <p:cNvSpPr>
            <a:spLocks xmlns:a="http://schemas.openxmlformats.org/drawingml/2006/main" noGrp="1"/>
          </p:cNvSpPr>
          <p:nvPr/>
        </p:nvSpPr>
        <p:spPr>
          <a:xfrm xmlns:a="http://schemas.openxmlformats.org/drawingml/2006/main">
            <a:off x="9382125" y="5391150"/>
            <a:ext cx="133350" cy="152400"/>
          </a:xfrm>
          <a:prstGeom xmlns:a="http://schemas.openxmlformats.org/drawingml/2006/main" prst="rightArrow">
            <a:avLst/>
          </a:prstGeom>
          <a:solidFill xmlns:a="http://schemas.openxmlformats.org/drawingml/2006/main">
            <a:srgbClr val="174875"/>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EAFBA797-F1C6-4E1C-B6F1-FA09FF2BCD82}"/>
              </a:ext>
            </a:extLst>
          </p:cNvPr>
          <p:cNvSpPr>
            <a:spLocks xmlns:a="http://schemas.openxmlformats.org/drawingml/2006/main" noGrp="1"/>
          </p:cNvSpPr>
          <p:nvPr/>
        </p:nvSpPr>
        <p:spPr>
          <a:xfrm xmlns:a="http://schemas.openxmlformats.org/drawingml/2006/main">
            <a:off x="9563100" y="5257800"/>
            <a:ext cx="2000250" cy="409575"/>
          </a:xfrm>
          <a:prstGeom xmlns:a="http://schemas.openxmlformats.org/drawingml/2006/main" prst="rect">
            <a:avLst/>
          </a:prstGeom>
          <a:solidFill xmlns:a="http://schemas.openxmlformats.org/drawingml/2006/main">
            <a:srgbClr val="EDF3F8"/>
          </a:solidFill>
          <a:ln xmlns:a="http://schemas.openxmlformats.org/drawingml/2006/main" w="0">
            <a:noFill/>
          </a:ln>
        </p:spPr>
      </p:sp>
      <p:sp>
        <p:nvSpPr>
          <p:cNvPr id="29" name="Inspeção">
            <a:extLst xmlns:a="http://schemas.openxmlformats.org/drawingml/2006/main">
              <a:ext uri="{FF2B5EF4-FFF2-40B4-BE49-F238E27FC236}">
                <a16:creationId xmlns:a16="http://schemas.microsoft.com/office/drawing/2014/main" id="{3A7B5EE8-4A39-4A51-B1E2-2098D8F72DB1}"/>
              </a:ext>
            </a:extLst>
          </p:cNvPr>
          <p:cNvSpPr>
            <a:spLocks xmlns:a="http://schemas.openxmlformats.org/drawingml/2006/main" noGrp="1"/>
          </p:cNvSpPr>
          <p:nvPr/>
        </p:nvSpPr>
        <p:spPr>
          <a:xfrm xmlns:a="http://schemas.openxmlformats.org/drawingml/2006/main">
            <a:off x="9658350" y="5324475"/>
            <a:ext cx="1809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174875"/>
                </a:solidFill>
                <a:latin typeface="Arial"/>
                <a:ea typeface="Arial"/>
                <a:cs typeface="Arial"/>
              </a:defRPr>
            </a:pPr>
            <a:r>
              <a:rPr sz="1800" b="1">
                <a:solidFill>
                  <a:srgbClr val="174875"/>
                </a:solidFill>
                <a:latin typeface="Arial"/>
                <a:ea typeface="Arial"/>
                <a:cs typeface="Arial"/>
              </a:rPr>
              <a:t>Inspeção</a:t>
            </a:r>
          </a:p>
        </p:txBody>
      </p:sp>
      <p:sp>
        <p:nvSpPr>
          <p:cNvPr id="30" name="13.082 avisos">
            <a:extLst xmlns:a="http://schemas.openxmlformats.org/drawingml/2006/main">
              <a:ext uri="{FF2B5EF4-FFF2-40B4-BE49-F238E27FC236}">
                <a16:creationId xmlns:a16="http://schemas.microsoft.com/office/drawing/2014/main" id="{AB021D2B-7AB6-4716-93A1-376BCCF3C6E7}"/>
              </a:ext>
            </a:extLst>
          </p:cNvPr>
          <p:cNvSpPr>
            <a:spLocks xmlns:a="http://schemas.openxmlformats.org/drawingml/2006/main" noGrp="1"/>
          </p:cNvSpPr>
          <p:nvPr/>
        </p:nvSpPr>
        <p:spPr>
          <a:xfrm xmlns:a="http://schemas.openxmlformats.org/drawingml/2006/main">
            <a:off x="9563100" y="5781675"/>
            <a:ext cx="2000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a:solidFill>
                  <a:srgbClr val="596B7A"/>
                </a:solidFill>
                <a:latin typeface="Arial"/>
                <a:ea typeface="Arial"/>
                <a:cs typeface="Arial"/>
              </a:defRPr>
            </a:pPr>
            <a:r>
              <a:rPr sz="1350" b="0">
                <a:solidFill>
                  <a:srgbClr val="596B7A"/>
                </a:solidFill>
                <a:latin typeface="Arial"/>
                <a:ea typeface="Arial"/>
                <a:cs typeface="Arial"/>
              </a:rPr>
              <a:t>13.082 avisos</a:t>
            </a:r>
          </a:p>
        </p:txBody>
      </p:sp>
    </p:spTree>
    <p:extLst>
      <p:ext uri="{BB962C8B-B14F-4D97-AF65-F5344CB8AC3E}">
        <p14:creationId xmlns:p14="http://schemas.microsoft.com/office/powerpoint/2010/main" val="5100159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05B8D78-BF93-4152-8A40-04328FF69A55}"/>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174875"/>
          </a:solidFill>
          <a:ln xmlns:a="http://schemas.openxmlformats.org/drawingml/2006/main" w="0">
            <a:noFill/>
          </a:ln>
        </p:spPr>
      </p:sp>
      <p:sp>
        <p:nvSpPr>
          <p:cNvPr id="2" name="METODOLOGIA">
            <a:extLst xmlns:a="http://schemas.openxmlformats.org/drawingml/2006/main">
              <a:ext uri="{FF2B5EF4-FFF2-40B4-BE49-F238E27FC236}">
                <a16:creationId xmlns:a16="http://schemas.microsoft.com/office/drawing/2014/main" id="{5B91BBFA-5D27-4BE5-A1A6-70C1ADCA3138}"/>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74875"/>
                </a:solidFill>
                <a:latin typeface="Arial"/>
                <a:ea typeface="Arial"/>
                <a:cs typeface="Arial"/>
              </a:defRPr>
            </a:pPr>
            <a:r>
              <a:rPr sz="1275" b="1">
                <a:solidFill>
                  <a:srgbClr val="174875"/>
                </a:solidFill>
                <a:latin typeface="Arial"/>
                <a:ea typeface="Arial"/>
                <a:cs typeface="Arial"/>
              </a:rPr>
              <a:t>METODOLOGIA</a:t>
            </a:r>
          </a:p>
        </p:txBody>
      </p:sp>
      <p:sp>
        <p:nvSpPr>
          <p:cNvPr id="3" name="Método II: tráfego sob três condições">
            <a:extLst xmlns:a="http://schemas.openxmlformats.org/drawingml/2006/main">
              <a:ext uri="{FF2B5EF4-FFF2-40B4-BE49-F238E27FC236}">
                <a16:creationId xmlns:a16="http://schemas.microsoft.com/office/drawing/2014/main" id="{2CC01E1E-2E29-40F7-9EAE-FD35623F8BFD}"/>
              </a:ext>
            </a:extLst>
          </p:cNvPr>
          <p:cNvSpPr>
            <a:spLocks xmlns:a="http://schemas.openxmlformats.org/drawingml/2006/main" noGrp="1"/>
          </p:cNvSpPr>
          <p:nvPr/>
        </p:nvSpPr>
        <p:spPr>
          <a:xfrm xmlns:a="http://schemas.openxmlformats.org/drawingml/2006/main">
            <a:off x="609600" y="7048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2324F"/>
                </a:solidFill>
                <a:latin typeface="Arial"/>
                <a:ea typeface="Arial"/>
                <a:cs typeface="Arial"/>
              </a:defRPr>
            </a:pPr>
            <a:r>
              <a:rPr sz="3150" b="1">
                <a:solidFill>
                  <a:srgbClr val="12324F"/>
                </a:solidFill>
                <a:latin typeface="Arial"/>
                <a:ea typeface="Arial"/>
                <a:cs typeface="Arial"/>
              </a:rPr>
              <a:t>Método II: tráfego sob três condições</a:t>
            </a:r>
          </a:p>
        </p:txBody>
      </p:sp>
      <p:sp>
        <p:nvSpPr>
          <p:cNvPr id="4" name="">
            <a:extLst xmlns:a="http://schemas.openxmlformats.org/drawingml/2006/main">
              <a:ext uri="{FF2B5EF4-FFF2-40B4-BE49-F238E27FC236}">
                <a16:creationId xmlns:a16="http://schemas.microsoft.com/office/drawing/2014/main" id="{5137B842-3D6A-4009-A9B2-FC7034712213}"/>
              </a:ext>
            </a:extLst>
          </p:cNvPr>
          <p:cNvSpPr>
            <a:spLocks xmlns:a="http://schemas.openxmlformats.org/drawingml/2006/main" noGrp="1"/>
          </p:cNvSpPr>
          <p:nvPr/>
        </p:nvSpPr>
        <p:spPr>
          <a:xfrm xmlns:a="http://schemas.openxmlformats.org/drawingml/2006/main">
            <a:off x="609600" y="1390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181616E-A0CF-494E-A2A0-A0F70EACDB59}"/>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6" name="Nguyen, Backes e Stock (2022), Seção 4.3">
            <a:extLst xmlns:a="http://schemas.openxmlformats.org/drawingml/2006/main">
              <a:ext uri="{FF2B5EF4-FFF2-40B4-BE49-F238E27FC236}">
                <a16:creationId xmlns:a16="http://schemas.microsoft.com/office/drawing/2014/main" id="{C36B505F-9E5A-44B4-8CF9-777C77304FEA}"/>
              </a:ext>
            </a:extLst>
          </p:cNvPr>
          <p:cNvSpPr>
            <a:spLocks xmlns:a="http://schemas.openxmlformats.org/drawingml/2006/main" noGrp="1"/>
          </p:cNvSpPr>
          <p:nvPr/>
        </p:nvSpPr>
        <p:spPr>
          <a:xfrm xmlns:a="http://schemas.openxmlformats.org/drawingml/2006/main">
            <a:off x="609600" y="6477000"/>
            <a:ext cx="9982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96B7A"/>
                </a:solidFill>
                <a:latin typeface="Arial"/>
                <a:ea typeface="Arial"/>
                <a:cs typeface="Arial"/>
              </a:defRPr>
            </a:pPr>
            <a:r>
              <a:rPr sz="1200" b="0">
                <a:solidFill>
                  <a:srgbClr val="596B7A"/>
                </a:solidFill>
                <a:latin typeface="Arial"/>
                <a:ea typeface="Arial"/>
                <a:cs typeface="Arial"/>
              </a:rPr>
              <a:t>Nguyen, Backes e Stock (2022), Seção 4.3 e Figura 4, p. 8. Reinicialização dos dados entre as condições.</a:t>
            </a:r>
          </a:p>
        </p:txBody>
      </p:sp>
      <p:sp>
        <p:nvSpPr>
          <p:cNvPr id="7" name="13 / 23">
            <a:extLst xmlns:a="http://schemas.openxmlformats.org/drawingml/2006/main">
              <a:ext uri="{FF2B5EF4-FFF2-40B4-BE49-F238E27FC236}">
                <a16:creationId xmlns:a16="http://schemas.microsoft.com/office/drawing/2014/main" id="{9D8696A2-81F6-41BC-B6D6-FE63F5847FD5}"/>
              </a:ext>
            </a:extLst>
          </p:cNvPr>
          <p:cNvSpPr>
            <a:spLocks xmlns:a="http://schemas.openxmlformats.org/drawingml/2006/main" noGrp="1"/>
          </p:cNvSpPr>
          <p:nvPr/>
        </p:nvSpPr>
        <p:spPr>
          <a:xfrm xmlns:a="http://schemas.openxmlformats.org/drawingml/2006/main">
            <a:off x="10668000" y="64770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96B7A"/>
                </a:solidFill>
                <a:latin typeface="Arial"/>
                <a:ea typeface="Arial"/>
                <a:cs typeface="Arial"/>
              </a:defRPr>
            </a:pPr>
            <a:r>
              <a:rPr sz="1200" b="0">
                <a:solidFill>
                  <a:srgbClr val="596B7A"/>
                </a:solidFill>
                <a:latin typeface="Arial"/>
                <a:ea typeface="Arial"/>
                <a:cs typeface="Arial"/>
              </a:rPr>
              <a:t>13 / 23</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11c547413aed4496"/>
          <a:stretch xmlns:a="http://schemas.openxmlformats.org/drawingml/2006/main"/>
        </p:blipFill>
        <p:spPr>
          <a:xfrm xmlns:a="http://schemas.openxmlformats.org/drawingml/2006/main">
            <a:off x="609600" y="1861309"/>
            <a:ext cx="10972800" cy="954157"/>
          </a:xfrm>
          <a:prstGeom xmlns:a="http://schemas.openxmlformats.org/drawingml/2006/main" prst="rect">
            <a:avLst/>
          </a:prstGeom>
        </p:spPr>
      </p:pic>
      <p:sp>
        <p:nvSpPr>
          <p:cNvPr id="9" name="Figura 4 do artigo: identificação do avi">
            <a:extLst xmlns:a="http://schemas.openxmlformats.org/drawingml/2006/main">
              <a:ext uri="{FF2B5EF4-FFF2-40B4-BE49-F238E27FC236}">
                <a16:creationId xmlns:a16="http://schemas.microsoft.com/office/drawing/2014/main" id="{21AF3312-C453-450B-A8DB-ADD43A44D6B6}"/>
              </a:ext>
            </a:extLst>
          </p:cNvPr>
          <p:cNvSpPr>
            <a:spLocks xmlns:a="http://schemas.openxmlformats.org/drawingml/2006/main" noGrp="1"/>
          </p:cNvSpPr>
          <p:nvPr/>
        </p:nvSpPr>
        <p:spPr>
          <a:xfrm xmlns:a="http://schemas.openxmlformats.org/drawingml/2006/main">
            <a:off x="609600" y="30861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96B7A"/>
                </a:solidFill>
                <a:latin typeface="Arial"/>
                <a:ea typeface="Arial"/>
                <a:cs typeface="Arial"/>
              </a:defRPr>
            </a:pPr>
            <a:r>
              <a:rPr sz="1350" b="0">
                <a:solidFill>
                  <a:srgbClr val="596B7A"/>
                </a:solidFill>
                <a:latin typeface="Arial"/>
                <a:ea typeface="Arial"/>
                <a:cs typeface="Arial"/>
              </a:rPr>
              <a:t>Figura 4 do artigo: identificação do aviso, interação e análise de tráfego.</a:t>
            </a:r>
          </a:p>
        </p:txBody>
      </p:sp>
      <p:sp>
        <p:nvSpPr>
          <p:cNvPr id="10" name="">
            <a:extLst xmlns:a="http://schemas.openxmlformats.org/drawingml/2006/main">
              <a:ext uri="{FF2B5EF4-FFF2-40B4-BE49-F238E27FC236}">
                <a16:creationId xmlns:a16="http://schemas.microsoft.com/office/drawing/2014/main" id="{58C62E64-7538-4CA2-A00C-3115B7E173AF}"/>
              </a:ext>
            </a:extLst>
          </p:cNvPr>
          <p:cNvSpPr>
            <a:spLocks xmlns:a="http://schemas.openxmlformats.org/drawingml/2006/main" noGrp="1"/>
          </p:cNvSpPr>
          <p:nvPr/>
        </p:nvSpPr>
        <p:spPr>
          <a:xfrm xmlns:a="http://schemas.openxmlformats.org/drawingml/2006/main">
            <a:off x="609600" y="3619500"/>
            <a:ext cx="3429000" cy="38100"/>
          </a:xfrm>
          <a:prstGeom xmlns:a="http://schemas.openxmlformats.org/drawingml/2006/main" prst="rect">
            <a:avLst/>
          </a:prstGeom>
          <a:solidFill xmlns:a="http://schemas.openxmlformats.org/drawingml/2006/main">
            <a:srgbClr val="AC4C45"/>
          </a:solidFill>
          <a:ln xmlns:a="http://schemas.openxmlformats.org/drawingml/2006/main" w="0">
            <a:noFill/>
          </a:ln>
        </p:spPr>
      </p:sp>
      <p:sp>
        <p:nvSpPr>
          <p:cNvPr id="11" name="Tno-consent">
            <a:extLst xmlns:a="http://schemas.openxmlformats.org/drawingml/2006/main">
              <a:ext uri="{FF2B5EF4-FFF2-40B4-BE49-F238E27FC236}">
                <a16:creationId xmlns:a16="http://schemas.microsoft.com/office/drawing/2014/main" id="{060C20FA-9E29-4B4E-ADCB-45BEA42D502E}"/>
              </a:ext>
            </a:extLst>
          </p:cNvPr>
          <p:cNvSpPr>
            <a:spLocks xmlns:a="http://schemas.openxmlformats.org/drawingml/2006/main" noGrp="1"/>
          </p:cNvSpPr>
          <p:nvPr/>
        </p:nvSpPr>
        <p:spPr>
          <a:xfrm xmlns:a="http://schemas.openxmlformats.org/drawingml/2006/main">
            <a:off x="609600" y="3829050"/>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AC4C45"/>
                </a:solidFill>
                <a:latin typeface="Arial"/>
                <a:ea typeface="Arial"/>
                <a:cs typeface="Arial"/>
              </a:defRPr>
            </a:pPr>
            <a:r>
              <a:rPr sz="2400" b="1">
                <a:solidFill>
                  <a:srgbClr val="AC4C45"/>
                </a:solidFill>
                <a:latin typeface="Arial"/>
                <a:ea typeface="Arial"/>
                <a:cs typeface="Arial"/>
              </a:rPr>
              <a:t>Tno-consent</a:t>
            </a:r>
          </a:p>
        </p:txBody>
      </p:sp>
      <p:sp>
        <p:nvSpPr>
          <p:cNvPr id="12" name="SEM CONSENTIR">
            <a:extLst xmlns:a="http://schemas.openxmlformats.org/drawingml/2006/main">
              <a:ext uri="{FF2B5EF4-FFF2-40B4-BE49-F238E27FC236}">
                <a16:creationId xmlns:a16="http://schemas.microsoft.com/office/drawing/2014/main" id="{D11DA864-E9C3-41D3-9549-8457834BCDAE}"/>
              </a:ext>
            </a:extLst>
          </p:cNvPr>
          <p:cNvSpPr>
            <a:spLocks xmlns:a="http://schemas.openxmlformats.org/drawingml/2006/main" noGrp="1"/>
          </p:cNvSpPr>
          <p:nvPr/>
        </p:nvSpPr>
        <p:spPr>
          <a:xfrm xmlns:a="http://schemas.openxmlformats.org/drawingml/2006/main">
            <a:off x="609600" y="43243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AC4C45"/>
                </a:solidFill>
                <a:latin typeface="Arial"/>
                <a:ea typeface="Arial"/>
                <a:cs typeface="Arial"/>
              </a:defRPr>
            </a:pPr>
            <a:r>
              <a:rPr sz="1350" b="1">
                <a:solidFill>
                  <a:srgbClr val="AC4C45"/>
                </a:solidFill>
                <a:latin typeface="Arial"/>
                <a:ea typeface="Arial"/>
                <a:cs typeface="Arial"/>
              </a:rPr>
              <a:t>SEM CONSENTIR</a:t>
            </a:r>
          </a:p>
        </p:txBody>
      </p:sp>
      <p:sp>
        <p:nvSpPr>
          <p:cNvPr id="13" name="Abrir o app e não interagir.&#10;Registrar o">
            <a:extLst xmlns:a="http://schemas.openxmlformats.org/drawingml/2006/main">
              <a:ext uri="{FF2B5EF4-FFF2-40B4-BE49-F238E27FC236}">
                <a16:creationId xmlns:a16="http://schemas.microsoft.com/office/drawing/2014/main" id="{C9319FED-97C4-45B8-9A48-912B85FC9BA0}"/>
              </a:ext>
            </a:extLst>
          </p:cNvPr>
          <p:cNvSpPr>
            <a:spLocks xmlns:a="http://schemas.openxmlformats.org/drawingml/2006/main" noGrp="1"/>
          </p:cNvSpPr>
          <p:nvPr/>
        </p:nvSpPr>
        <p:spPr>
          <a:xfrm xmlns:a="http://schemas.openxmlformats.org/drawingml/2006/main">
            <a:off x="609600" y="4667250"/>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4384A"/>
                </a:solidFill>
                <a:latin typeface="Arial"/>
                <a:ea typeface="Arial"/>
                <a:cs typeface="Arial"/>
              </a:defRPr>
            </a:pPr>
            <a:r>
              <a:rPr sz="1800" b="0">
                <a:solidFill>
                  <a:srgbClr val="24384A"/>
                </a:solidFill>
                <a:latin typeface="Arial"/>
                <a:ea typeface="Arial"/>
                <a:cs typeface="Arial"/>
              </a:rPr>
              <a:t>Abrir o app e não interagir.</a:t>
            </a:r>
          </a:p>
          <a:p xmlns:a="http://schemas.openxmlformats.org/drawingml/2006/main">
            <a:pPr algn="l">
              <a:defRPr sz="1800" b="0">
                <a:solidFill>
                  <a:srgbClr val="24384A"/>
                </a:solidFill>
                <a:latin typeface="Arial"/>
                <a:ea typeface="Arial"/>
                <a:cs typeface="Arial"/>
              </a:defRPr>
            </a:pPr>
            <a:r>
              <a:rPr sz="1800" b="0">
                <a:solidFill>
                  <a:srgbClr val="24384A"/>
                </a:solidFill>
                <a:latin typeface="Arial"/>
                <a:ea typeface="Arial"/>
                <a:cs typeface="Arial"/>
              </a:rPr>
              <a:t>Registrar o tráfego anterior</a:t>
            </a:r>
          </a:p>
          <a:p xmlns:a="http://schemas.openxmlformats.org/drawingml/2006/main">
            <a:pPr algn="l">
              <a:defRPr sz="1800" b="0">
                <a:solidFill>
                  <a:srgbClr val="24384A"/>
                </a:solidFill>
                <a:latin typeface="Arial"/>
                <a:ea typeface="Arial"/>
                <a:cs typeface="Arial"/>
              </a:defRPr>
            </a:pPr>
            <a:r>
              <a:rPr sz="1800" b="0">
                <a:solidFill>
                  <a:srgbClr val="24384A"/>
                </a:solidFill>
                <a:latin typeface="Arial"/>
                <a:ea typeface="Arial"/>
                <a:cs typeface="Arial"/>
              </a:rPr>
              <a:t>a qualquer escolha explícita.</a:t>
            </a:r>
          </a:p>
        </p:txBody>
      </p:sp>
      <p:sp>
        <p:nvSpPr>
          <p:cNvPr id="14" name="">
            <a:extLst xmlns:a="http://schemas.openxmlformats.org/drawingml/2006/main">
              <a:ext uri="{FF2B5EF4-FFF2-40B4-BE49-F238E27FC236}">
                <a16:creationId xmlns:a16="http://schemas.microsoft.com/office/drawing/2014/main" id="{1A0D8855-B648-4D62-AF87-023C0F9FDB91}"/>
              </a:ext>
            </a:extLst>
          </p:cNvPr>
          <p:cNvSpPr>
            <a:spLocks xmlns:a="http://schemas.openxmlformats.org/drawingml/2006/main" noGrp="1"/>
          </p:cNvSpPr>
          <p:nvPr/>
        </p:nvSpPr>
        <p:spPr>
          <a:xfrm xmlns:a="http://schemas.openxmlformats.org/drawingml/2006/main">
            <a:off x="4381500" y="3619500"/>
            <a:ext cx="3429000" cy="38100"/>
          </a:xfrm>
          <a:prstGeom xmlns:a="http://schemas.openxmlformats.org/drawingml/2006/main" prst="rect">
            <a:avLst/>
          </a:prstGeom>
          <a:solidFill xmlns:a="http://schemas.openxmlformats.org/drawingml/2006/main">
            <a:srgbClr val="287967"/>
          </a:solidFill>
          <a:ln xmlns:a="http://schemas.openxmlformats.org/drawingml/2006/main" w="0">
            <a:noFill/>
          </a:ln>
        </p:spPr>
      </p:sp>
      <p:sp>
        <p:nvSpPr>
          <p:cNvPr id="15" name="Tconfirm">
            <a:extLst xmlns:a="http://schemas.openxmlformats.org/drawingml/2006/main">
              <a:ext uri="{FF2B5EF4-FFF2-40B4-BE49-F238E27FC236}">
                <a16:creationId xmlns:a16="http://schemas.microsoft.com/office/drawing/2014/main" id="{21E45EFF-E2B4-4EA0-A912-6100D4D2339E}"/>
              </a:ext>
            </a:extLst>
          </p:cNvPr>
          <p:cNvSpPr>
            <a:spLocks xmlns:a="http://schemas.openxmlformats.org/drawingml/2006/main" noGrp="1"/>
          </p:cNvSpPr>
          <p:nvPr/>
        </p:nvSpPr>
        <p:spPr>
          <a:xfrm xmlns:a="http://schemas.openxmlformats.org/drawingml/2006/main">
            <a:off x="4381500" y="3829050"/>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87967"/>
                </a:solidFill>
                <a:latin typeface="Arial"/>
                <a:ea typeface="Arial"/>
                <a:cs typeface="Arial"/>
              </a:defRPr>
            </a:pPr>
            <a:r>
              <a:rPr sz="2400" b="1">
                <a:solidFill>
                  <a:srgbClr val="287967"/>
                </a:solidFill>
                <a:latin typeface="Arial"/>
                <a:ea typeface="Arial"/>
                <a:cs typeface="Arial"/>
              </a:rPr>
              <a:t>Tconfirm</a:t>
            </a:r>
          </a:p>
        </p:txBody>
      </p:sp>
      <p:sp>
        <p:nvSpPr>
          <p:cNvPr id="16" name="APÓS ACEITAR">
            <a:extLst xmlns:a="http://schemas.openxmlformats.org/drawingml/2006/main">
              <a:ext uri="{FF2B5EF4-FFF2-40B4-BE49-F238E27FC236}">
                <a16:creationId xmlns:a16="http://schemas.microsoft.com/office/drawing/2014/main" id="{0AD35479-1EF8-4F78-B886-A37969B79347}"/>
              </a:ext>
            </a:extLst>
          </p:cNvPr>
          <p:cNvSpPr>
            <a:spLocks xmlns:a="http://schemas.openxmlformats.org/drawingml/2006/main" noGrp="1"/>
          </p:cNvSpPr>
          <p:nvPr/>
        </p:nvSpPr>
        <p:spPr>
          <a:xfrm xmlns:a="http://schemas.openxmlformats.org/drawingml/2006/main">
            <a:off x="4381500" y="43243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287967"/>
                </a:solidFill>
                <a:latin typeface="Arial"/>
                <a:ea typeface="Arial"/>
                <a:cs typeface="Arial"/>
              </a:defRPr>
            </a:pPr>
            <a:r>
              <a:rPr sz="1350" b="1">
                <a:solidFill>
                  <a:srgbClr val="287967"/>
                </a:solidFill>
                <a:latin typeface="Arial"/>
                <a:ea typeface="Arial"/>
                <a:cs typeface="Arial"/>
              </a:rPr>
              <a:t>APÓS ACEITAR</a:t>
            </a:r>
          </a:p>
        </p:txBody>
      </p:sp>
      <p:sp>
        <p:nvSpPr>
          <p:cNvPr id="17" name="Acionar a opção de aceitação.&#10;Navegar au">
            <a:extLst xmlns:a="http://schemas.openxmlformats.org/drawingml/2006/main">
              <a:ext uri="{FF2B5EF4-FFF2-40B4-BE49-F238E27FC236}">
                <a16:creationId xmlns:a16="http://schemas.microsoft.com/office/drawing/2014/main" id="{33AB5DD6-E60E-4EE1-B555-23512673A4C6}"/>
              </a:ext>
            </a:extLst>
          </p:cNvPr>
          <p:cNvSpPr>
            <a:spLocks xmlns:a="http://schemas.openxmlformats.org/drawingml/2006/main" noGrp="1"/>
          </p:cNvSpPr>
          <p:nvPr/>
        </p:nvSpPr>
        <p:spPr>
          <a:xfrm xmlns:a="http://schemas.openxmlformats.org/drawingml/2006/main">
            <a:off x="4381500" y="4667250"/>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4384A"/>
                </a:solidFill>
                <a:latin typeface="Arial"/>
                <a:ea typeface="Arial"/>
                <a:cs typeface="Arial"/>
              </a:defRPr>
            </a:pPr>
            <a:r>
              <a:rPr sz="1800" b="0">
                <a:solidFill>
                  <a:srgbClr val="24384A"/>
                </a:solidFill>
                <a:latin typeface="Arial"/>
                <a:ea typeface="Arial"/>
                <a:cs typeface="Arial"/>
              </a:rPr>
              <a:t>Acionar a opção de aceitação.</a:t>
            </a:r>
          </a:p>
          <a:p xmlns:a="http://schemas.openxmlformats.org/drawingml/2006/main">
            <a:pPr algn="l">
              <a:defRPr sz="1800" b="0">
                <a:solidFill>
                  <a:srgbClr val="24384A"/>
                </a:solidFill>
                <a:latin typeface="Arial"/>
                <a:ea typeface="Arial"/>
                <a:cs typeface="Arial"/>
              </a:defRPr>
            </a:pPr>
            <a:r>
              <a:rPr sz="1800" b="0">
                <a:solidFill>
                  <a:srgbClr val="24384A"/>
                </a:solidFill>
                <a:latin typeface="Arial"/>
                <a:ea typeface="Arial"/>
                <a:cs typeface="Arial"/>
              </a:rPr>
              <a:t>Navegar automaticamente</a:t>
            </a:r>
          </a:p>
          <a:p xmlns:a="http://schemas.openxmlformats.org/drawingml/2006/main">
            <a:pPr algn="l">
              <a:defRPr sz="1800" b="0">
                <a:solidFill>
                  <a:srgbClr val="24384A"/>
                </a:solidFill>
                <a:latin typeface="Arial"/>
                <a:ea typeface="Arial"/>
                <a:cs typeface="Arial"/>
              </a:defRPr>
            </a:pPr>
            <a:r>
              <a:rPr sz="1800" b="0">
                <a:solidFill>
                  <a:srgbClr val="24384A"/>
                </a:solidFill>
                <a:latin typeface="Arial"/>
                <a:ea typeface="Arial"/>
                <a:cs typeface="Arial"/>
              </a:rPr>
              <a:t>e registrar o tráfego.</a:t>
            </a:r>
          </a:p>
        </p:txBody>
      </p:sp>
      <p:sp>
        <p:nvSpPr>
          <p:cNvPr id="18" name="">
            <a:extLst xmlns:a="http://schemas.openxmlformats.org/drawingml/2006/main">
              <a:ext uri="{FF2B5EF4-FFF2-40B4-BE49-F238E27FC236}">
                <a16:creationId xmlns:a16="http://schemas.microsoft.com/office/drawing/2014/main" id="{A8D8B5F0-D03C-4E07-9BF8-23AB2AF74CFF}"/>
              </a:ext>
            </a:extLst>
          </p:cNvPr>
          <p:cNvSpPr>
            <a:spLocks xmlns:a="http://schemas.openxmlformats.org/drawingml/2006/main" noGrp="1"/>
          </p:cNvSpPr>
          <p:nvPr/>
        </p:nvSpPr>
        <p:spPr>
          <a:xfrm xmlns:a="http://schemas.openxmlformats.org/drawingml/2006/main">
            <a:off x="8153400" y="3619500"/>
            <a:ext cx="3429000" cy="38100"/>
          </a:xfrm>
          <a:prstGeom xmlns:a="http://schemas.openxmlformats.org/drawingml/2006/main" prst="rect">
            <a:avLst/>
          </a:prstGeom>
          <a:solidFill xmlns:a="http://schemas.openxmlformats.org/drawingml/2006/main">
            <a:srgbClr val="95652D"/>
          </a:solidFill>
          <a:ln xmlns:a="http://schemas.openxmlformats.org/drawingml/2006/main" w="0">
            <a:noFill/>
          </a:ln>
        </p:spPr>
      </p:sp>
      <p:sp>
        <p:nvSpPr>
          <p:cNvPr id="19" name="Treject">
            <a:extLst xmlns:a="http://schemas.openxmlformats.org/drawingml/2006/main">
              <a:ext uri="{FF2B5EF4-FFF2-40B4-BE49-F238E27FC236}">
                <a16:creationId xmlns:a16="http://schemas.microsoft.com/office/drawing/2014/main" id="{69133F27-AB24-4381-8992-FE1F8510B611}"/>
              </a:ext>
            </a:extLst>
          </p:cNvPr>
          <p:cNvSpPr>
            <a:spLocks xmlns:a="http://schemas.openxmlformats.org/drawingml/2006/main" noGrp="1"/>
          </p:cNvSpPr>
          <p:nvPr/>
        </p:nvSpPr>
        <p:spPr>
          <a:xfrm xmlns:a="http://schemas.openxmlformats.org/drawingml/2006/main">
            <a:off x="8153400" y="3829050"/>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95652D"/>
                </a:solidFill>
                <a:latin typeface="Arial"/>
                <a:ea typeface="Arial"/>
                <a:cs typeface="Arial"/>
              </a:defRPr>
            </a:pPr>
            <a:r>
              <a:rPr sz="2400" b="1">
                <a:solidFill>
                  <a:srgbClr val="95652D"/>
                </a:solidFill>
                <a:latin typeface="Arial"/>
                <a:ea typeface="Arial"/>
                <a:cs typeface="Arial"/>
              </a:rPr>
              <a:t>Treject</a:t>
            </a:r>
          </a:p>
        </p:txBody>
      </p:sp>
      <p:sp>
        <p:nvSpPr>
          <p:cNvPr id="20" name="APÓS RECUSAR">
            <a:extLst xmlns:a="http://schemas.openxmlformats.org/drawingml/2006/main">
              <a:ext uri="{FF2B5EF4-FFF2-40B4-BE49-F238E27FC236}">
                <a16:creationId xmlns:a16="http://schemas.microsoft.com/office/drawing/2014/main" id="{4B30D404-1470-4F69-91C7-8DE6675352CF}"/>
              </a:ext>
            </a:extLst>
          </p:cNvPr>
          <p:cNvSpPr>
            <a:spLocks xmlns:a="http://schemas.openxmlformats.org/drawingml/2006/main" noGrp="1"/>
          </p:cNvSpPr>
          <p:nvPr/>
        </p:nvSpPr>
        <p:spPr>
          <a:xfrm xmlns:a="http://schemas.openxmlformats.org/drawingml/2006/main">
            <a:off x="8153400" y="43243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95652D"/>
                </a:solidFill>
                <a:latin typeface="Arial"/>
                <a:ea typeface="Arial"/>
                <a:cs typeface="Arial"/>
              </a:defRPr>
            </a:pPr>
            <a:r>
              <a:rPr sz="1350" b="1">
                <a:solidFill>
                  <a:srgbClr val="95652D"/>
                </a:solidFill>
                <a:latin typeface="Arial"/>
                <a:ea typeface="Arial"/>
                <a:cs typeface="Arial"/>
              </a:rPr>
              <a:t>APÓS RECUSAR</a:t>
            </a:r>
          </a:p>
        </p:txBody>
      </p:sp>
      <p:sp>
        <p:nvSpPr>
          <p:cNvPr id="21" name="Se houver opção, recusar.&#10;Verificar se o">
            <a:extLst xmlns:a="http://schemas.openxmlformats.org/drawingml/2006/main">
              <a:ext uri="{FF2B5EF4-FFF2-40B4-BE49-F238E27FC236}">
                <a16:creationId xmlns:a16="http://schemas.microsoft.com/office/drawing/2014/main" id="{824B7488-2ACE-47D8-8679-8BDC0AD92749}"/>
              </a:ext>
            </a:extLst>
          </p:cNvPr>
          <p:cNvSpPr>
            <a:spLocks xmlns:a="http://schemas.openxmlformats.org/drawingml/2006/main" noGrp="1"/>
          </p:cNvSpPr>
          <p:nvPr/>
        </p:nvSpPr>
        <p:spPr>
          <a:xfrm xmlns:a="http://schemas.openxmlformats.org/drawingml/2006/main">
            <a:off x="8153400" y="4667250"/>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4384A"/>
                </a:solidFill>
                <a:latin typeface="Arial"/>
                <a:ea typeface="Arial"/>
                <a:cs typeface="Arial"/>
              </a:defRPr>
            </a:pPr>
            <a:r>
              <a:rPr sz="1800" b="0">
                <a:solidFill>
                  <a:srgbClr val="24384A"/>
                </a:solidFill>
                <a:latin typeface="Arial"/>
                <a:ea typeface="Arial"/>
                <a:cs typeface="Arial"/>
              </a:rPr>
              <a:t>Se houver opção, recusar.</a:t>
            </a:r>
          </a:p>
          <a:p xmlns:a="http://schemas.openxmlformats.org/drawingml/2006/main">
            <a:pPr algn="l">
              <a:defRPr sz="1800" b="0">
                <a:solidFill>
                  <a:srgbClr val="24384A"/>
                </a:solidFill>
                <a:latin typeface="Arial"/>
                <a:ea typeface="Arial"/>
                <a:cs typeface="Arial"/>
              </a:defRPr>
            </a:pPr>
            <a:r>
              <a:rPr sz="1800" b="0">
                <a:solidFill>
                  <a:srgbClr val="24384A"/>
                </a:solidFill>
                <a:latin typeface="Arial"/>
                <a:ea typeface="Arial"/>
                <a:cs typeface="Arial"/>
              </a:rPr>
              <a:t>Verificar se o app continua</a:t>
            </a:r>
          </a:p>
          <a:p xmlns:a="http://schemas.openxmlformats.org/drawingml/2006/main">
            <a:pPr algn="l">
              <a:defRPr sz="1800" b="0">
                <a:solidFill>
                  <a:srgbClr val="24384A"/>
                </a:solidFill>
                <a:latin typeface="Arial"/>
                <a:ea typeface="Arial"/>
                <a:cs typeface="Arial"/>
              </a:defRPr>
            </a:pPr>
            <a:r>
              <a:rPr sz="1800" b="0">
                <a:solidFill>
                  <a:srgbClr val="24384A"/>
                </a:solidFill>
                <a:latin typeface="Arial"/>
                <a:ea typeface="Arial"/>
                <a:cs typeface="Arial"/>
              </a:rPr>
              <a:t>enviando dados pessoais.</a:t>
            </a:r>
          </a:p>
        </p:txBody>
      </p:sp>
      <p:sp>
        <p:nvSpPr>
          <p:cNvPr id="22" name="Até 150 s por condição, com foco em 45 d">
            <a:extLst xmlns:a="http://schemas.openxmlformats.org/drawingml/2006/main">
              <a:ext uri="{FF2B5EF4-FFF2-40B4-BE49-F238E27FC236}">
                <a16:creationId xmlns:a16="http://schemas.microsoft.com/office/drawing/2014/main" id="{F78B2762-A718-49C6-846C-964A844B35DC}"/>
              </a:ext>
            </a:extLst>
          </p:cNvPr>
          <p:cNvSpPr>
            <a:spLocks xmlns:a="http://schemas.openxmlformats.org/drawingml/2006/main" noGrp="1"/>
          </p:cNvSpPr>
          <p:nvPr/>
        </p:nvSpPr>
        <p:spPr>
          <a:xfrm xmlns:a="http://schemas.openxmlformats.org/drawingml/2006/main">
            <a:off x="609600" y="572452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96B7A"/>
                </a:solidFill>
                <a:latin typeface="Arial"/>
                <a:ea typeface="Arial"/>
                <a:cs typeface="Arial"/>
              </a:defRPr>
            </a:pPr>
            <a:r>
              <a:rPr sz="1650" b="0">
                <a:solidFill>
                  <a:srgbClr val="596B7A"/>
                </a:solidFill>
                <a:latin typeface="Arial"/>
                <a:ea typeface="Arial"/>
                <a:cs typeface="Arial"/>
              </a:rPr>
              <a:t>Até 150 s por condição, com foco em 45 domínios de controladores publicitários.</a:t>
            </a:r>
          </a:p>
          <a:p xmlns:a="http://schemas.openxmlformats.org/drawingml/2006/main">
            <a:pPr algn="l">
              <a:defRPr sz="1650" b="0">
                <a:solidFill>
                  <a:srgbClr val="596B7A"/>
                </a:solidFill>
                <a:latin typeface="Arial"/>
                <a:ea typeface="Arial"/>
                <a:cs typeface="Arial"/>
              </a:defRPr>
            </a:pPr>
            <a:r>
              <a:rPr sz="1650" b="0">
                <a:solidFill>
                  <a:srgbClr val="596B7A"/>
                </a:solidFill>
                <a:latin typeface="Arial"/>
                <a:ea typeface="Arial"/>
                <a:cs typeface="Arial"/>
              </a:rPr>
              <a:t>A comparação verifica se o envio de dados acompanha a escolha na interface.</a:t>
            </a:r>
          </a:p>
        </p:txBody>
      </p:sp>
    </p:spTree>
    <p:extLst>
      <p:ext uri="{BB962C8B-B14F-4D97-AF65-F5344CB8AC3E}">
        <p14:creationId xmlns:p14="http://schemas.microsoft.com/office/powerpoint/2010/main" val="186751903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E9086AA-92E1-4049-B87A-6EDC9F58A5F2}"/>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174875"/>
          </a:solidFill>
          <a:ln xmlns:a="http://schemas.openxmlformats.org/drawingml/2006/main" w="0">
            <a:noFill/>
          </a:ln>
        </p:spPr>
      </p:sp>
      <p:sp>
        <p:nvSpPr>
          <p:cNvPr id="2" name="RESULTADOS: RESPOSTA À PERGUNTA 1">
            <a:extLst xmlns:a="http://schemas.openxmlformats.org/drawingml/2006/main">
              <a:ext uri="{FF2B5EF4-FFF2-40B4-BE49-F238E27FC236}">
                <a16:creationId xmlns:a16="http://schemas.microsoft.com/office/drawing/2014/main" id="{6F3261AE-351B-4173-AF2B-FDD756C3B4C5}"/>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74875"/>
                </a:solidFill>
                <a:latin typeface="Arial"/>
                <a:ea typeface="Arial"/>
                <a:cs typeface="Arial"/>
              </a:defRPr>
            </a:pPr>
            <a:r>
              <a:rPr sz="1275" b="1">
                <a:solidFill>
                  <a:srgbClr val="174875"/>
                </a:solidFill>
                <a:latin typeface="Arial"/>
                <a:ea typeface="Arial"/>
                <a:cs typeface="Arial"/>
              </a:rPr>
              <a:t>RESULTADOS: RESPOSTA À PERGUNTA 1</a:t>
            </a:r>
          </a:p>
        </p:txBody>
      </p:sp>
      <p:sp>
        <p:nvSpPr>
          <p:cNvPr id="3" name="Quatro mecanismos nos 13.082 avisos">
            <a:extLst xmlns:a="http://schemas.openxmlformats.org/drawingml/2006/main">
              <a:ext uri="{FF2B5EF4-FFF2-40B4-BE49-F238E27FC236}">
                <a16:creationId xmlns:a16="http://schemas.microsoft.com/office/drawing/2014/main" id="{C3FEB9E9-16B7-4CD1-8CF1-CB500877BDBD}"/>
              </a:ext>
            </a:extLst>
          </p:cNvPr>
          <p:cNvSpPr>
            <a:spLocks xmlns:a="http://schemas.openxmlformats.org/drawingml/2006/main" noGrp="1"/>
          </p:cNvSpPr>
          <p:nvPr/>
        </p:nvSpPr>
        <p:spPr>
          <a:xfrm xmlns:a="http://schemas.openxmlformats.org/drawingml/2006/main">
            <a:off x="609600" y="7048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2324F"/>
                </a:solidFill>
                <a:latin typeface="Arial"/>
                <a:ea typeface="Arial"/>
                <a:cs typeface="Arial"/>
              </a:defRPr>
            </a:pPr>
            <a:r>
              <a:rPr sz="3150" b="1">
                <a:solidFill>
                  <a:srgbClr val="12324F"/>
                </a:solidFill>
                <a:latin typeface="Arial"/>
                <a:ea typeface="Arial"/>
                <a:cs typeface="Arial"/>
              </a:rPr>
              <a:t>Quatro mecanismos nos 13.082 avisos</a:t>
            </a:r>
          </a:p>
        </p:txBody>
      </p:sp>
      <p:sp>
        <p:nvSpPr>
          <p:cNvPr id="4" name="">
            <a:extLst xmlns:a="http://schemas.openxmlformats.org/drawingml/2006/main">
              <a:ext uri="{FF2B5EF4-FFF2-40B4-BE49-F238E27FC236}">
                <a16:creationId xmlns:a16="http://schemas.microsoft.com/office/drawing/2014/main" id="{49492511-A328-4DCC-8578-A0813F0ED72E}"/>
              </a:ext>
            </a:extLst>
          </p:cNvPr>
          <p:cNvSpPr>
            <a:spLocks xmlns:a="http://schemas.openxmlformats.org/drawingml/2006/main" noGrp="1"/>
          </p:cNvSpPr>
          <p:nvPr/>
        </p:nvSpPr>
        <p:spPr>
          <a:xfrm xmlns:a="http://schemas.openxmlformats.org/drawingml/2006/main">
            <a:off x="609600" y="1390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A244B09-9849-46F8-A226-F97ECF842BE5}"/>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6" name="Nguyen, Backes e Stock (2022), Seção 4.2">
            <a:extLst xmlns:a="http://schemas.openxmlformats.org/drawingml/2006/main">
              <a:ext uri="{FF2B5EF4-FFF2-40B4-BE49-F238E27FC236}">
                <a16:creationId xmlns:a16="http://schemas.microsoft.com/office/drawing/2014/main" id="{2D3C5D46-7173-44C4-B771-EEDBD1FDFE91}"/>
              </a:ext>
            </a:extLst>
          </p:cNvPr>
          <p:cNvSpPr>
            <a:spLocks xmlns:a="http://schemas.openxmlformats.org/drawingml/2006/main" noGrp="1"/>
          </p:cNvSpPr>
          <p:nvPr/>
        </p:nvSpPr>
        <p:spPr>
          <a:xfrm xmlns:a="http://schemas.openxmlformats.org/drawingml/2006/main">
            <a:off x="609600" y="6477000"/>
            <a:ext cx="9982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96B7A"/>
                </a:solidFill>
                <a:latin typeface="Arial"/>
                <a:ea typeface="Arial"/>
                <a:cs typeface="Arial"/>
              </a:defRPr>
            </a:pPr>
            <a:r>
              <a:rPr sz="1200" b="0">
                <a:solidFill>
                  <a:srgbClr val="596B7A"/>
                </a:solidFill>
                <a:latin typeface="Arial"/>
                <a:ea typeface="Arial"/>
                <a:cs typeface="Arial"/>
              </a:rPr>
              <a:t>Nguyen, Backes e Stock (2022), Seção 4.2 e Figura 3, p. 7. Percentuais conforme o artigo.</a:t>
            </a:r>
          </a:p>
        </p:txBody>
      </p:sp>
      <p:sp>
        <p:nvSpPr>
          <p:cNvPr id="7" name="14 / 23">
            <a:extLst xmlns:a="http://schemas.openxmlformats.org/drawingml/2006/main">
              <a:ext uri="{FF2B5EF4-FFF2-40B4-BE49-F238E27FC236}">
                <a16:creationId xmlns:a16="http://schemas.microsoft.com/office/drawing/2014/main" id="{1AA2CA9F-D1CF-4B86-9316-778C074233A1}"/>
              </a:ext>
            </a:extLst>
          </p:cNvPr>
          <p:cNvSpPr>
            <a:spLocks xmlns:a="http://schemas.openxmlformats.org/drawingml/2006/main" noGrp="1"/>
          </p:cNvSpPr>
          <p:nvPr/>
        </p:nvSpPr>
        <p:spPr>
          <a:xfrm xmlns:a="http://schemas.openxmlformats.org/drawingml/2006/main">
            <a:off x="10668000" y="64770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96B7A"/>
                </a:solidFill>
                <a:latin typeface="Arial"/>
                <a:ea typeface="Arial"/>
                <a:cs typeface="Arial"/>
              </a:defRPr>
            </a:pPr>
            <a:r>
              <a:rPr sz="1200" b="0">
                <a:solidFill>
                  <a:srgbClr val="596B7A"/>
                </a:solidFill>
                <a:latin typeface="Arial"/>
                <a:ea typeface="Arial"/>
                <a:cs typeface="Arial"/>
              </a:rPr>
              <a:t>14 / 23</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75a7fa5bc38a4805"/>
          <a:stretch xmlns:a="http://schemas.openxmlformats.org/drawingml/2006/main"/>
        </p:blipFill>
        <p:spPr>
          <a:xfrm xmlns:a="http://schemas.openxmlformats.org/drawingml/2006/main">
            <a:off x="609600" y="2032639"/>
            <a:ext cx="5429250" cy="2973697"/>
          </a:xfrm>
          <a:prstGeom xmlns:a="http://schemas.openxmlformats.org/drawingml/2006/main" prst="rect">
            <a:avLst/>
          </a:prstGeom>
        </p:spPr>
      </p:pic>
      <p:sp>
        <p:nvSpPr>
          <p:cNvPr id="9" name="Figura 3 do artigo: exemplos dos quatro ">
            <a:extLst xmlns:a="http://schemas.openxmlformats.org/drawingml/2006/main">
              <a:ext uri="{FF2B5EF4-FFF2-40B4-BE49-F238E27FC236}">
                <a16:creationId xmlns:a16="http://schemas.microsoft.com/office/drawing/2014/main" id="{A0638C12-B8E6-4614-9A3E-54A5EEB93FA4}"/>
              </a:ext>
            </a:extLst>
          </p:cNvPr>
          <p:cNvSpPr>
            <a:spLocks xmlns:a="http://schemas.openxmlformats.org/drawingml/2006/main" noGrp="1"/>
          </p:cNvSpPr>
          <p:nvPr/>
        </p:nvSpPr>
        <p:spPr>
          <a:xfrm xmlns:a="http://schemas.openxmlformats.org/drawingml/2006/main">
            <a:off x="609600" y="5305425"/>
            <a:ext cx="5429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96B7A"/>
                </a:solidFill>
                <a:latin typeface="Arial"/>
                <a:ea typeface="Arial"/>
                <a:cs typeface="Arial"/>
              </a:defRPr>
            </a:pPr>
            <a:r>
              <a:rPr sz="1425" b="0">
                <a:solidFill>
                  <a:srgbClr val="596B7A"/>
                </a:solidFill>
                <a:latin typeface="Arial"/>
                <a:ea typeface="Arial"/>
                <a:cs typeface="Arial"/>
              </a:rPr>
              <a:t>Figura 3 do artigo: exemplos dos quatro mecanismos.</a:t>
            </a:r>
          </a:p>
        </p:txBody>
      </p:sp>
      <p:graphicFrame>
        <p:nvGraphicFramePr>
          <p:cNvPr id="21" name=""/>
          <p:cNvGraphicFramePr/>
          <p:nvPr/>
        </p:nvGraphicFramePr>
        <p:xfrm>
          <a:off xmlns:a="http://schemas.openxmlformats.org/drawingml/2006/main" x="6381750" y="1743075"/>
          <a:ext xmlns:a="http://schemas.openxmlformats.org/drawingml/2006/main" cx="5200650" cy="3619500"/>
        </p:xfrm>
        <a:graphic xmlns:a="http://schemas.openxmlformats.org/drawingml/2006/main">
          <a:graphicData uri="http://schemas.openxmlformats.org/drawingml/2006/table">
            <a:tbl>
              <a:tblPr firstRow="0" bandRow="0"/>
              <a:tblGrid>
                <a:gridCol w="3009900"/>
                <a:gridCol w="1190625"/>
                <a:gridCol w="1000125"/>
              </a:tblGrid>
              <a:tr h="723900">
                <a:tc>
                  <a:txBody>
                    <a:bodyPr wrap="square" lIns="114300" tIns="95250" rIns="114300" bIns="95250">
                      <a:noAutofit/>
                    </a:bodyPr>
                    <a:lstStyle/>
                    <a:p>
                      <a:pPr algn="l"/>
                      <a:r>
                        <a:rPr sz="1575" b="1">
                          <a:solidFill>
                            <a:srgbClr val="FFFFFF"/>
                          </a:solidFill>
                          <a:latin typeface="Arial"/>
                          <a:ea typeface="Arial"/>
                          <a:cs typeface="Arial"/>
                        </a:rPr>
                        <a:t>Mecanismo</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174875"/>
                    </a:solidFill>
                  </a:tcPr>
                </a:tc>
                <a:tc>
                  <a:txBody>
                    <a:bodyPr wrap="square" lIns="114300" tIns="95250" rIns="114300" bIns="95250">
                      <a:noAutofit/>
                    </a:bodyPr>
                    <a:lstStyle/>
                    <a:p>
                      <a:pPr algn="ctr"/>
                      <a:r>
                        <a:rPr sz="1575" b="1">
                          <a:solidFill>
                            <a:srgbClr val="FFFFFF"/>
                          </a:solidFill>
                          <a:latin typeface="Arial"/>
                          <a:ea typeface="Arial"/>
                          <a:cs typeface="Arial"/>
                        </a:rPr>
                        <a:t>Apps</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174875"/>
                    </a:solidFill>
                  </a:tcPr>
                </a:tc>
                <a:tc>
                  <a:txBody>
                    <a:bodyPr wrap="square" lIns="114300" tIns="95250" rIns="114300" bIns="95250">
                      <a:noAutofit/>
                    </a:bodyPr>
                    <a:lstStyle/>
                    <a:p>
                      <a:pPr algn="ctr"/>
                      <a:r>
                        <a:rPr sz="1575" b="1">
                          <a:solidFill>
                            <a:srgbClr val="FFFFFF"/>
                          </a:solidFill>
                          <a:latin typeface="Arial"/>
                          <a:ea typeface="Arial"/>
                          <a:cs typeface="Arial"/>
                        </a:rPr>
                        <a:t>%</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174875"/>
                    </a:solidFill>
                  </a:tcPr>
                </a:tc>
              </a:tr>
              <a:tr h="723900">
                <a:tc>
                  <a:txBody>
                    <a:bodyPr wrap="square" lIns="114300" tIns="95250" rIns="114300" bIns="95250">
                      <a:noAutofit/>
                    </a:bodyPr>
                    <a:lstStyle/>
                    <a:p>
                      <a:pPr algn="l"/>
                      <a:r>
                        <a:rPr sz="1575" b="0">
                          <a:solidFill>
                            <a:srgbClr val="24384A"/>
                          </a:solidFill>
                          <a:latin typeface="Arial"/>
                          <a:ea typeface="Arial"/>
                          <a:cs typeface="Arial"/>
                        </a:rPr>
                        <a:t>Confirmation-only</a:t>
                      </a:r>
                    </a:p>
                    <a:p>
                      <a:pPr algn="l"/>
                      <a:r>
                        <a:rPr sz="1575" b="0">
                          <a:solidFill>
                            <a:srgbClr val="24384A"/>
                          </a:solidFill>
                          <a:latin typeface="Arial"/>
                          <a:ea typeface="Arial"/>
                          <a:cs typeface="Arial"/>
                        </a:rPr>
                        <a:t>Apenas confirmação</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EDF3F8"/>
                    </a:solidFill>
                  </a:tcPr>
                </a:tc>
                <a:tc>
                  <a:txBody>
                    <a:bodyPr wrap="square" lIns="114300" tIns="95250" rIns="114300" bIns="95250">
                      <a:noAutofit/>
                    </a:bodyPr>
                    <a:lstStyle/>
                    <a:p>
                      <a:pPr algn="ctr"/>
                      <a:r>
                        <a:rPr sz="1575" b="0">
                          <a:solidFill>
                            <a:srgbClr val="24384A"/>
                          </a:solidFill>
                          <a:latin typeface="Arial"/>
                          <a:ea typeface="Arial"/>
                          <a:cs typeface="Arial"/>
                        </a:rPr>
                        <a:t>5.740</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EDF3F8"/>
                    </a:solidFill>
                  </a:tcPr>
                </a:tc>
                <a:tc>
                  <a:txBody>
                    <a:bodyPr wrap="square" lIns="114300" tIns="95250" rIns="114300" bIns="95250">
                      <a:noAutofit/>
                    </a:bodyPr>
                    <a:lstStyle/>
                    <a:p>
                      <a:pPr algn="ctr"/>
                      <a:r>
                        <a:rPr sz="1575" b="0">
                          <a:solidFill>
                            <a:srgbClr val="24384A"/>
                          </a:solidFill>
                          <a:latin typeface="Arial"/>
                          <a:ea typeface="Arial"/>
                          <a:cs typeface="Arial"/>
                        </a:rPr>
                        <a:t>43,87</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EDF3F8"/>
                    </a:solidFill>
                  </a:tcPr>
                </a:tc>
              </a:tr>
              <a:tr h="723900">
                <a:tc>
                  <a:txBody>
                    <a:bodyPr wrap="square" lIns="114300" tIns="95250" rIns="114300" bIns="95250">
                      <a:noAutofit/>
                    </a:bodyPr>
                    <a:lstStyle/>
                    <a:p>
                      <a:pPr algn="l"/>
                      <a:r>
                        <a:rPr sz="1575" b="0">
                          <a:solidFill>
                            <a:srgbClr val="24384A"/>
                          </a:solidFill>
                          <a:latin typeface="Arial"/>
                          <a:ea typeface="Arial"/>
                          <a:cs typeface="Arial"/>
                        </a:rPr>
                        <a:t>Opt-out personalized ads</a:t>
                      </a:r>
                    </a:p>
                    <a:p>
                      <a:pPr algn="l"/>
                      <a:r>
                        <a:rPr sz="1575" b="0">
                          <a:solidFill>
                            <a:srgbClr val="24384A"/>
                          </a:solidFill>
                          <a:latin typeface="Arial"/>
                          <a:ea typeface="Arial"/>
                          <a:cs typeface="Arial"/>
                        </a:rPr>
                        <a:t>Recusa da personalização</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FFFFFF"/>
                    </a:solidFill>
                  </a:tcPr>
                </a:tc>
                <a:tc>
                  <a:txBody>
                    <a:bodyPr wrap="square" lIns="114300" tIns="95250" rIns="114300" bIns="95250">
                      <a:noAutofit/>
                    </a:bodyPr>
                    <a:lstStyle/>
                    <a:p>
                      <a:pPr algn="ctr"/>
                      <a:r>
                        <a:rPr sz="1575" b="0">
                          <a:solidFill>
                            <a:srgbClr val="24384A"/>
                          </a:solidFill>
                          <a:latin typeface="Arial"/>
                          <a:ea typeface="Arial"/>
                          <a:cs typeface="Arial"/>
                        </a:rPr>
                        <a:t>3.949</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FFFFFF"/>
                    </a:solidFill>
                  </a:tcPr>
                </a:tc>
                <a:tc>
                  <a:txBody>
                    <a:bodyPr wrap="square" lIns="114300" tIns="95250" rIns="114300" bIns="95250">
                      <a:noAutofit/>
                    </a:bodyPr>
                    <a:lstStyle/>
                    <a:p>
                      <a:pPr algn="ctr"/>
                      <a:r>
                        <a:rPr sz="1575" b="0">
                          <a:solidFill>
                            <a:srgbClr val="24384A"/>
                          </a:solidFill>
                          <a:latin typeface="Arial"/>
                          <a:ea typeface="Arial"/>
                          <a:cs typeface="Arial"/>
                        </a:rPr>
                        <a:t>30,19</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FFFFFF"/>
                    </a:solidFill>
                  </a:tcPr>
                </a:tc>
              </a:tr>
              <a:tr h="723900">
                <a:tc>
                  <a:txBody>
                    <a:bodyPr wrap="square" lIns="114300" tIns="95250" rIns="114300" bIns="95250">
                      <a:noAutofit/>
                    </a:bodyPr>
                    <a:lstStyle/>
                    <a:p>
                      <a:pPr algn="l"/>
                      <a:r>
                        <a:rPr sz="1575" b="0">
                          <a:solidFill>
                            <a:srgbClr val="24384A"/>
                          </a:solidFill>
                          <a:latin typeface="Arial"/>
                          <a:ea typeface="Arial"/>
                          <a:cs typeface="Arial"/>
                        </a:rPr>
                        <a:t>Binary choices</a:t>
                      </a:r>
                    </a:p>
                    <a:p>
                      <a:pPr algn="l"/>
                      <a:r>
                        <a:rPr sz="1575" b="0">
                          <a:solidFill>
                            <a:srgbClr val="24384A"/>
                          </a:solidFill>
                          <a:latin typeface="Arial"/>
                          <a:ea typeface="Arial"/>
                          <a:cs typeface="Arial"/>
                        </a:rPr>
                        <a:t>Aceitar ou recusar</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EDF3F8"/>
                    </a:solidFill>
                  </a:tcPr>
                </a:tc>
                <a:tc>
                  <a:txBody>
                    <a:bodyPr wrap="square" lIns="114300" tIns="95250" rIns="114300" bIns="95250">
                      <a:noAutofit/>
                    </a:bodyPr>
                    <a:lstStyle/>
                    <a:p>
                      <a:pPr algn="ctr"/>
                      <a:r>
                        <a:rPr sz="1575" b="0">
                          <a:solidFill>
                            <a:srgbClr val="24384A"/>
                          </a:solidFill>
                          <a:latin typeface="Arial"/>
                          <a:ea typeface="Arial"/>
                          <a:cs typeface="Arial"/>
                        </a:rPr>
                        <a:t>2.871</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EDF3F8"/>
                    </a:solidFill>
                  </a:tcPr>
                </a:tc>
                <a:tc>
                  <a:txBody>
                    <a:bodyPr wrap="square" lIns="114300" tIns="95250" rIns="114300" bIns="95250">
                      <a:noAutofit/>
                    </a:bodyPr>
                    <a:lstStyle/>
                    <a:p>
                      <a:pPr algn="ctr"/>
                      <a:r>
                        <a:rPr sz="1575" b="0">
                          <a:solidFill>
                            <a:srgbClr val="24384A"/>
                          </a:solidFill>
                          <a:latin typeface="Arial"/>
                          <a:ea typeface="Arial"/>
                          <a:cs typeface="Arial"/>
                        </a:rPr>
                        <a:t>21,95</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EDF3F8"/>
                    </a:solidFill>
                  </a:tcPr>
                </a:tc>
              </a:tr>
              <a:tr h="723900">
                <a:tc>
                  <a:txBody>
                    <a:bodyPr wrap="square" lIns="114300" tIns="95250" rIns="114300" bIns="95250">
                      <a:noAutofit/>
                    </a:bodyPr>
                    <a:lstStyle/>
                    <a:p>
                      <a:pPr algn="l"/>
                      <a:r>
                        <a:rPr sz="1575" b="0">
                          <a:solidFill>
                            <a:srgbClr val="24384A"/>
                          </a:solidFill>
                          <a:latin typeface="Arial"/>
                          <a:ea typeface="Arial"/>
                          <a:cs typeface="Arial"/>
                        </a:rPr>
                        <a:t>Complex choices</a:t>
                      </a:r>
                    </a:p>
                    <a:p>
                      <a:pPr algn="l"/>
                      <a:r>
                        <a:rPr sz="1575" b="0">
                          <a:solidFill>
                            <a:srgbClr val="24384A"/>
                          </a:solidFill>
                          <a:latin typeface="Arial"/>
                          <a:ea typeface="Arial"/>
                          <a:cs typeface="Arial"/>
                        </a:rPr>
                        <a:t>Escolhas detalhadas</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FFFFFF"/>
                    </a:solidFill>
                  </a:tcPr>
                </a:tc>
                <a:tc>
                  <a:txBody>
                    <a:bodyPr wrap="square" lIns="114300" tIns="95250" rIns="114300" bIns="95250">
                      <a:noAutofit/>
                    </a:bodyPr>
                    <a:lstStyle/>
                    <a:p>
                      <a:pPr algn="ctr"/>
                      <a:r>
                        <a:rPr sz="1575" b="0">
                          <a:solidFill>
                            <a:srgbClr val="24384A"/>
                          </a:solidFill>
                          <a:latin typeface="Arial"/>
                          <a:ea typeface="Arial"/>
                          <a:cs typeface="Arial"/>
                        </a:rPr>
                        <a:t>522</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FFFFFF"/>
                    </a:solidFill>
                  </a:tcPr>
                </a:tc>
                <a:tc>
                  <a:txBody>
                    <a:bodyPr wrap="square" lIns="114300" tIns="95250" rIns="114300" bIns="95250">
                      <a:noAutofit/>
                    </a:bodyPr>
                    <a:lstStyle/>
                    <a:p>
                      <a:pPr algn="ctr"/>
                      <a:r>
                        <a:rPr sz="1575" b="0">
                          <a:solidFill>
                            <a:srgbClr val="24384A"/>
                          </a:solidFill>
                          <a:latin typeface="Arial"/>
                          <a:ea typeface="Arial"/>
                          <a:cs typeface="Arial"/>
                        </a:rPr>
                        <a:t>4,00</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FFFFFF"/>
                    </a:solidFill>
                  </a:tcPr>
                </a:tc>
              </a:tr>
            </a:tbl>
          </a:graphicData>
        </a:graphic>
      </p:graphicFrame>
      <p:sp>
        <p:nvSpPr>
          <p:cNvPr id="11" name="Recusar anúncios personalizados não nece">
            <a:extLst xmlns:a="http://schemas.openxmlformats.org/drawingml/2006/main">
              <a:ext uri="{FF2B5EF4-FFF2-40B4-BE49-F238E27FC236}">
                <a16:creationId xmlns:a16="http://schemas.microsoft.com/office/drawing/2014/main" id="{E66C6C21-03EE-44CA-B660-D95A8C757874}"/>
              </a:ext>
            </a:extLst>
          </p:cNvPr>
          <p:cNvSpPr>
            <a:spLocks xmlns:a="http://schemas.openxmlformats.org/drawingml/2006/main" noGrp="1"/>
          </p:cNvSpPr>
          <p:nvPr/>
        </p:nvSpPr>
        <p:spPr>
          <a:xfrm xmlns:a="http://schemas.openxmlformats.org/drawingml/2006/main">
            <a:off x="609600" y="58388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4875"/>
                </a:solidFill>
                <a:latin typeface="Arial"/>
                <a:ea typeface="Arial"/>
                <a:cs typeface="Arial"/>
              </a:defRPr>
            </a:pPr>
            <a:r>
              <a:rPr sz="2100" b="1">
                <a:solidFill>
                  <a:srgbClr val="174875"/>
                </a:solidFill>
                <a:latin typeface="Arial"/>
                <a:ea typeface="Arial"/>
                <a:cs typeface="Arial"/>
              </a:rPr>
              <a:t>Recusar anúncios personalizados não necessariamente impede o rastreamento.</a:t>
            </a:r>
          </a:p>
        </p:txBody>
      </p:sp>
    </p:spTree>
    <p:extLst>
      <p:ext uri="{BB962C8B-B14F-4D97-AF65-F5344CB8AC3E}">
        <p14:creationId xmlns:p14="http://schemas.microsoft.com/office/powerpoint/2010/main" val="26140896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3A553D1-9353-4858-9F8C-977138A9DB58}"/>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174875"/>
          </a:solidFill>
          <a:ln xmlns:a="http://schemas.openxmlformats.org/drawingml/2006/main" w="0">
            <a:noFill/>
          </a:ln>
        </p:spPr>
      </p:sp>
      <p:sp>
        <p:nvSpPr>
          <p:cNvPr id="2" name="RESULTADOS: EVIDÊNCIAS PARA A PERGUNTA 2">
            <a:extLst xmlns:a="http://schemas.openxmlformats.org/drawingml/2006/main">
              <a:ext uri="{FF2B5EF4-FFF2-40B4-BE49-F238E27FC236}">
                <a16:creationId xmlns:a16="http://schemas.microsoft.com/office/drawing/2014/main" id="{D1F4963F-BD94-448A-9D3C-7E15B8D2AB14}"/>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74875"/>
                </a:solidFill>
                <a:latin typeface="Arial"/>
                <a:ea typeface="Arial"/>
                <a:cs typeface="Arial"/>
              </a:defRPr>
            </a:pPr>
            <a:r>
              <a:rPr sz="1275" b="1">
                <a:solidFill>
                  <a:srgbClr val="174875"/>
                </a:solidFill>
                <a:latin typeface="Arial"/>
                <a:ea typeface="Arial"/>
                <a:cs typeface="Arial"/>
              </a:rPr>
              <a:t>RESULTADOS: EVIDÊNCIAS PARA A PERGUNTA 2</a:t>
            </a:r>
          </a:p>
        </p:txBody>
      </p:sp>
      <p:sp>
        <p:nvSpPr>
          <p:cNvPr id="3" name="Resultados: dois conjuntos distintos">
            <a:extLst xmlns:a="http://schemas.openxmlformats.org/drawingml/2006/main">
              <a:ext uri="{FF2B5EF4-FFF2-40B4-BE49-F238E27FC236}">
                <a16:creationId xmlns:a16="http://schemas.microsoft.com/office/drawing/2014/main" id="{295AD339-95BA-478F-929C-CB5826B0A787}"/>
              </a:ext>
            </a:extLst>
          </p:cNvPr>
          <p:cNvSpPr>
            <a:spLocks xmlns:a="http://schemas.openxmlformats.org/drawingml/2006/main" noGrp="1"/>
          </p:cNvSpPr>
          <p:nvPr/>
        </p:nvSpPr>
        <p:spPr>
          <a:xfrm xmlns:a="http://schemas.openxmlformats.org/drawingml/2006/main">
            <a:off x="609600" y="7048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2324F"/>
                </a:solidFill>
                <a:latin typeface="Arial"/>
                <a:ea typeface="Arial"/>
                <a:cs typeface="Arial"/>
              </a:defRPr>
            </a:pPr>
            <a:r>
              <a:rPr sz="3150" b="1">
                <a:solidFill>
                  <a:srgbClr val="12324F"/>
                </a:solidFill>
                <a:latin typeface="Arial"/>
                <a:ea typeface="Arial"/>
                <a:cs typeface="Arial"/>
              </a:rPr>
              <a:t>Resultados: dois conjuntos distintos</a:t>
            </a:r>
          </a:p>
        </p:txBody>
      </p:sp>
      <p:sp>
        <p:nvSpPr>
          <p:cNvPr id="4" name="">
            <a:extLst xmlns:a="http://schemas.openxmlformats.org/drawingml/2006/main">
              <a:ext uri="{FF2B5EF4-FFF2-40B4-BE49-F238E27FC236}">
                <a16:creationId xmlns:a16="http://schemas.microsoft.com/office/drawing/2014/main" id="{AC8ABF5E-4FBE-4C19-9AFC-A02E2C9A0242}"/>
              </a:ext>
            </a:extLst>
          </p:cNvPr>
          <p:cNvSpPr>
            <a:spLocks xmlns:a="http://schemas.openxmlformats.org/drawingml/2006/main" noGrp="1"/>
          </p:cNvSpPr>
          <p:nvPr/>
        </p:nvSpPr>
        <p:spPr>
          <a:xfrm xmlns:a="http://schemas.openxmlformats.org/drawingml/2006/main">
            <a:off x="609600" y="1390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CE735FC-C446-4EFF-8709-89B5866545F9}"/>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6" name="Nguyen, Backes e Stock (2022), Seções 4.">
            <a:extLst xmlns:a="http://schemas.openxmlformats.org/drawingml/2006/main">
              <a:ext uri="{FF2B5EF4-FFF2-40B4-BE49-F238E27FC236}">
                <a16:creationId xmlns:a16="http://schemas.microsoft.com/office/drawing/2014/main" id="{3B4479E7-1C8A-4DDB-ACCD-093FF98869CA}"/>
              </a:ext>
            </a:extLst>
          </p:cNvPr>
          <p:cNvSpPr>
            <a:spLocks xmlns:a="http://schemas.openxmlformats.org/drawingml/2006/main" noGrp="1"/>
          </p:cNvSpPr>
          <p:nvPr/>
        </p:nvSpPr>
        <p:spPr>
          <a:xfrm xmlns:a="http://schemas.openxmlformats.org/drawingml/2006/main">
            <a:off x="609600" y="6477000"/>
            <a:ext cx="9982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96B7A"/>
                </a:solidFill>
                <a:latin typeface="Arial"/>
                <a:ea typeface="Arial"/>
                <a:cs typeface="Arial"/>
              </a:defRPr>
            </a:pPr>
            <a:r>
              <a:rPr sz="1200" b="0">
                <a:solidFill>
                  <a:srgbClr val="596B7A"/>
                </a:solidFill>
                <a:latin typeface="Arial"/>
                <a:ea typeface="Arial"/>
                <a:cs typeface="Arial"/>
              </a:rPr>
              <a:t>Nguyen, Backes e Stock (2022), Seções 4.4.2 e 4.4.6, p. 9–10. Categorias delimitadas pela análise do artigo.</a:t>
            </a:r>
          </a:p>
        </p:txBody>
      </p:sp>
      <p:sp>
        <p:nvSpPr>
          <p:cNvPr id="7" name="15 / 23">
            <a:extLst xmlns:a="http://schemas.openxmlformats.org/drawingml/2006/main">
              <a:ext uri="{FF2B5EF4-FFF2-40B4-BE49-F238E27FC236}">
                <a16:creationId xmlns:a16="http://schemas.microsoft.com/office/drawing/2014/main" id="{A4FA8A35-8197-45EF-86D5-CA5785EFE34A}"/>
              </a:ext>
            </a:extLst>
          </p:cNvPr>
          <p:cNvSpPr>
            <a:spLocks xmlns:a="http://schemas.openxmlformats.org/drawingml/2006/main" noGrp="1"/>
          </p:cNvSpPr>
          <p:nvPr/>
        </p:nvSpPr>
        <p:spPr>
          <a:xfrm xmlns:a="http://schemas.openxmlformats.org/drawingml/2006/main">
            <a:off x="10668000" y="64770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96B7A"/>
                </a:solidFill>
                <a:latin typeface="Arial"/>
                <a:ea typeface="Arial"/>
                <a:cs typeface="Arial"/>
              </a:defRPr>
            </a:pPr>
            <a:r>
              <a:rPr sz="1200" b="0">
                <a:solidFill>
                  <a:srgbClr val="596B7A"/>
                </a:solidFill>
                <a:latin typeface="Arial"/>
                <a:ea typeface="Arial"/>
                <a:cs typeface="Arial"/>
              </a:rPr>
              <a:t>15 / 23</a:t>
            </a:r>
          </a:p>
        </p:txBody>
      </p:sp>
      <p:sp>
        <p:nvSpPr>
          <p:cNvPr id="8" name="239.381 aplicativos analisados">
            <a:extLst xmlns:a="http://schemas.openxmlformats.org/drawingml/2006/main">
              <a:ext uri="{FF2B5EF4-FFF2-40B4-BE49-F238E27FC236}">
                <a16:creationId xmlns:a16="http://schemas.microsoft.com/office/drawing/2014/main" id="{BC7EA066-FBB8-4915-A2F4-95615B76C723}"/>
              </a:ext>
            </a:extLst>
          </p:cNvPr>
          <p:cNvSpPr>
            <a:spLocks xmlns:a="http://schemas.openxmlformats.org/drawingml/2006/main" noGrp="1"/>
          </p:cNvSpPr>
          <p:nvPr/>
        </p:nvSpPr>
        <p:spPr>
          <a:xfrm xmlns:a="http://schemas.openxmlformats.org/drawingml/2006/main">
            <a:off x="609600" y="17049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2324F"/>
                </a:solidFill>
                <a:latin typeface="Arial"/>
                <a:ea typeface="Arial"/>
                <a:cs typeface="Arial"/>
              </a:defRPr>
            </a:pPr>
            <a:r>
              <a:rPr sz="2400" b="1">
                <a:solidFill>
                  <a:srgbClr val="12324F"/>
                </a:solidFill>
                <a:latin typeface="Arial"/>
                <a:ea typeface="Arial"/>
                <a:cs typeface="Arial"/>
              </a:rPr>
              <a:t>239.381 aplicativos analisados</a:t>
            </a:r>
          </a:p>
        </p:txBody>
      </p:sp>
      <p:sp>
        <p:nvSpPr>
          <p:cNvPr id="9" name="">
            <a:extLst xmlns:a="http://schemas.openxmlformats.org/drawingml/2006/main">
              <a:ext uri="{FF2B5EF4-FFF2-40B4-BE49-F238E27FC236}">
                <a16:creationId xmlns:a16="http://schemas.microsoft.com/office/drawing/2014/main" id="{81A0BFE9-0CF1-4D0C-8B95-E3B730F699DF}"/>
              </a:ext>
            </a:extLst>
          </p:cNvPr>
          <p:cNvSpPr>
            <a:spLocks xmlns:a="http://schemas.openxmlformats.org/drawingml/2006/main" noGrp="1"/>
          </p:cNvSpPr>
          <p:nvPr/>
        </p:nvSpPr>
        <p:spPr>
          <a:xfrm xmlns:a="http://schemas.openxmlformats.org/drawingml/2006/main">
            <a:off x="609600" y="23812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10" name="APPS COM AVISO IDENTIFICADO">
            <a:extLst xmlns:a="http://schemas.openxmlformats.org/drawingml/2006/main">
              <a:ext uri="{FF2B5EF4-FFF2-40B4-BE49-F238E27FC236}">
                <a16:creationId xmlns:a16="http://schemas.microsoft.com/office/drawing/2014/main" id="{A38D2205-5C82-47D4-ADFE-1B1B94A454C9}"/>
              </a:ext>
            </a:extLst>
          </p:cNvPr>
          <p:cNvSpPr>
            <a:spLocks xmlns:a="http://schemas.openxmlformats.org/drawingml/2006/main" noGrp="1"/>
          </p:cNvSpPr>
          <p:nvPr/>
        </p:nvSpPr>
        <p:spPr>
          <a:xfrm xmlns:a="http://schemas.openxmlformats.org/drawingml/2006/main">
            <a:off x="609600" y="2695575"/>
            <a:ext cx="50577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74875"/>
                </a:solidFill>
                <a:latin typeface="Arial"/>
                <a:ea typeface="Arial"/>
                <a:cs typeface="Arial"/>
              </a:defRPr>
            </a:pPr>
            <a:r>
              <a:rPr sz="1350" b="1">
                <a:solidFill>
                  <a:srgbClr val="174875"/>
                </a:solidFill>
                <a:latin typeface="Arial"/>
                <a:ea typeface="Arial"/>
                <a:cs typeface="Arial"/>
              </a:rPr>
              <a:t>APPS COM AVISO IDENTIFICADO</a:t>
            </a:r>
          </a:p>
        </p:txBody>
      </p:sp>
      <p:sp>
        <p:nvSpPr>
          <p:cNvPr id="11" name="2.688">
            <a:extLst xmlns:a="http://schemas.openxmlformats.org/drawingml/2006/main">
              <a:ext uri="{FF2B5EF4-FFF2-40B4-BE49-F238E27FC236}">
                <a16:creationId xmlns:a16="http://schemas.microsoft.com/office/drawing/2014/main" id="{DBF3D2F2-5DDC-41B0-B8F1-484EE78D70AA}"/>
              </a:ext>
            </a:extLst>
          </p:cNvPr>
          <p:cNvSpPr>
            <a:spLocks xmlns:a="http://schemas.openxmlformats.org/drawingml/2006/main" noGrp="1"/>
          </p:cNvSpPr>
          <p:nvPr/>
        </p:nvSpPr>
        <p:spPr>
          <a:xfrm xmlns:a="http://schemas.openxmlformats.org/drawingml/2006/main">
            <a:off x="609600" y="3152775"/>
            <a:ext cx="5238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174875"/>
                </a:solidFill>
                <a:latin typeface="Arial"/>
                <a:ea typeface="Arial"/>
                <a:cs typeface="Arial"/>
              </a:defRPr>
            </a:pPr>
            <a:r>
              <a:rPr sz="5400" b="1">
                <a:solidFill>
                  <a:srgbClr val="174875"/>
                </a:solidFill>
                <a:latin typeface="Arial"/>
                <a:ea typeface="Arial"/>
                <a:cs typeface="Arial"/>
              </a:rPr>
              <a:t>2.688</a:t>
            </a:r>
          </a:p>
        </p:txBody>
      </p:sp>
      <p:sp>
        <p:nvSpPr>
          <p:cNvPr id="12" name="20,54% dos 13.082 apps com aviso">
            <a:extLst xmlns:a="http://schemas.openxmlformats.org/drawingml/2006/main">
              <a:ext uri="{FF2B5EF4-FFF2-40B4-BE49-F238E27FC236}">
                <a16:creationId xmlns:a16="http://schemas.microsoft.com/office/drawing/2014/main" id="{1DD472D2-1630-4D6C-B20B-62E0DBC993EC}"/>
              </a:ext>
            </a:extLst>
          </p:cNvPr>
          <p:cNvSpPr>
            <a:spLocks xmlns:a="http://schemas.openxmlformats.org/drawingml/2006/main" noGrp="1"/>
          </p:cNvSpPr>
          <p:nvPr/>
        </p:nvSpPr>
        <p:spPr>
          <a:xfrm xmlns:a="http://schemas.openxmlformats.org/drawingml/2006/main">
            <a:off x="609600" y="4191000"/>
            <a:ext cx="50673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4384A"/>
                </a:solidFill>
                <a:latin typeface="Arial"/>
                <a:ea typeface="Arial"/>
                <a:cs typeface="Arial"/>
              </a:defRPr>
            </a:pPr>
            <a:r>
              <a:rPr sz="2325" b="1">
                <a:solidFill>
                  <a:srgbClr val="24384A"/>
                </a:solidFill>
                <a:latin typeface="Arial"/>
                <a:ea typeface="Arial"/>
                <a:cs typeface="Arial"/>
              </a:rPr>
              <a:t>20,54% dos 13.082 apps com aviso</a:t>
            </a:r>
          </a:p>
        </p:txBody>
      </p:sp>
      <p:sp>
        <p:nvSpPr>
          <p:cNvPr id="13" name="Pelo menos uma potencial violação&#10;dos re">
            <a:extLst xmlns:a="http://schemas.openxmlformats.org/drawingml/2006/main">
              <a:ext uri="{FF2B5EF4-FFF2-40B4-BE49-F238E27FC236}">
                <a16:creationId xmlns:a16="http://schemas.microsoft.com/office/drawing/2014/main" id="{76EEA075-E64E-4EDB-B417-3632B1A67036}"/>
              </a:ext>
            </a:extLst>
          </p:cNvPr>
          <p:cNvSpPr>
            <a:spLocks xmlns:a="http://schemas.openxmlformats.org/drawingml/2006/main" noGrp="1"/>
          </p:cNvSpPr>
          <p:nvPr/>
        </p:nvSpPr>
        <p:spPr>
          <a:xfrm xmlns:a="http://schemas.openxmlformats.org/drawingml/2006/main">
            <a:off x="609600" y="5095875"/>
            <a:ext cx="5067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4384A"/>
                </a:solidFill>
                <a:latin typeface="Arial"/>
                <a:ea typeface="Arial"/>
                <a:cs typeface="Arial"/>
              </a:defRPr>
            </a:pPr>
            <a:r>
              <a:rPr sz="2025" b="0">
                <a:solidFill>
                  <a:srgbClr val="24384A"/>
                </a:solidFill>
                <a:latin typeface="Arial"/>
                <a:ea typeface="Arial"/>
                <a:cs typeface="Arial"/>
              </a:rPr>
              <a:t>Pelo menos uma potencial violação</a:t>
            </a:r>
          </a:p>
          <a:p xmlns:a="http://schemas.openxmlformats.org/drawingml/2006/main">
            <a:pPr algn="l">
              <a:defRPr sz="2025" b="0">
                <a:solidFill>
                  <a:srgbClr val="24384A"/>
                </a:solidFill>
                <a:latin typeface="Arial"/>
                <a:ea typeface="Arial"/>
                <a:cs typeface="Arial"/>
              </a:defRPr>
            </a:pPr>
            <a:r>
              <a:rPr sz="2025" b="0">
                <a:solidFill>
                  <a:srgbClr val="24384A"/>
                </a:solidFill>
                <a:latin typeface="Arial"/>
                <a:ea typeface="Arial"/>
                <a:cs typeface="Arial"/>
              </a:rPr>
              <a:t>dos requisitos de consentimento.</a:t>
            </a:r>
          </a:p>
        </p:txBody>
      </p:sp>
      <p:sp>
        <p:nvSpPr>
          <p:cNvPr id="14" name="">
            <a:extLst xmlns:a="http://schemas.openxmlformats.org/drawingml/2006/main">
              <a:ext uri="{FF2B5EF4-FFF2-40B4-BE49-F238E27FC236}">
                <a16:creationId xmlns:a16="http://schemas.microsoft.com/office/drawing/2014/main" id="{A981771A-4114-46AB-8CD2-5510CAC85DFF}"/>
              </a:ext>
            </a:extLst>
          </p:cNvPr>
          <p:cNvSpPr>
            <a:spLocks xmlns:a="http://schemas.openxmlformats.org/drawingml/2006/main" noGrp="1"/>
          </p:cNvSpPr>
          <p:nvPr/>
        </p:nvSpPr>
        <p:spPr>
          <a:xfrm xmlns:a="http://schemas.openxmlformats.org/drawingml/2006/main">
            <a:off x="6038850" y="2667000"/>
            <a:ext cx="9525" cy="3238500"/>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15" name="APPS SEM AVISO IDENTIFICADO">
            <a:extLst xmlns:a="http://schemas.openxmlformats.org/drawingml/2006/main">
              <a:ext uri="{FF2B5EF4-FFF2-40B4-BE49-F238E27FC236}">
                <a16:creationId xmlns:a16="http://schemas.microsoft.com/office/drawing/2014/main" id="{431BE203-7604-4E3D-9A12-13D99AFBB81B}"/>
              </a:ext>
            </a:extLst>
          </p:cNvPr>
          <p:cNvSpPr>
            <a:spLocks xmlns:a="http://schemas.openxmlformats.org/drawingml/2006/main" noGrp="1"/>
          </p:cNvSpPr>
          <p:nvPr/>
        </p:nvSpPr>
        <p:spPr>
          <a:xfrm xmlns:a="http://schemas.openxmlformats.org/drawingml/2006/main">
            <a:off x="6581775" y="2695575"/>
            <a:ext cx="5000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AC4C45"/>
                </a:solidFill>
                <a:latin typeface="Arial"/>
                <a:ea typeface="Arial"/>
                <a:cs typeface="Arial"/>
              </a:defRPr>
            </a:pPr>
            <a:r>
              <a:rPr sz="1350" b="1">
                <a:solidFill>
                  <a:srgbClr val="AC4C45"/>
                </a:solidFill>
                <a:latin typeface="Arial"/>
                <a:ea typeface="Arial"/>
                <a:cs typeface="Arial"/>
              </a:rPr>
              <a:t>APPS SEM AVISO IDENTIFICADO</a:t>
            </a:r>
          </a:p>
        </p:txBody>
      </p:sp>
      <p:sp>
        <p:nvSpPr>
          <p:cNvPr id="16" name="30.160">
            <a:extLst xmlns:a="http://schemas.openxmlformats.org/drawingml/2006/main">
              <a:ext uri="{FF2B5EF4-FFF2-40B4-BE49-F238E27FC236}">
                <a16:creationId xmlns:a16="http://schemas.microsoft.com/office/drawing/2014/main" id="{064DDC9F-5785-462B-916B-A7881D4F2CA6}"/>
              </a:ext>
            </a:extLst>
          </p:cNvPr>
          <p:cNvSpPr>
            <a:spLocks xmlns:a="http://schemas.openxmlformats.org/drawingml/2006/main" noGrp="1"/>
          </p:cNvSpPr>
          <p:nvPr/>
        </p:nvSpPr>
        <p:spPr>
          <a:xfrm xmlns:a="http://schemas.openxmlformats.org/drawingml/2006/main">
            <a:off x="6581775" y="3152775"/>
            <a:ext cx="50006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AC4C45"/>
                </a:solidFill>
                <a:latin typeface="Arial"/>
                <a:ea typeface="Arial"/>
                <a:cs typeface="Arial"/>
              </a:defRPr>
            </a:pPr>
            <a:r>
              <a:rPr sz="5400" b="1">
                <a:solidFill>
                  <a:srgbClr val="AC4C45"/>
                </a:solidFill>
                <a:latin typeface="Arial"/>
                <a:ea typeface="Arial"/>
                <a:cs typeface="Arial"/>
              </a:rPr>
              <a:t>30.160</a:t>
            </a:r>
          </a:p>
        </p:txBody>
      </p:sp>
      <p:sp>
        <p:nvSpPr>
          <p:cNvPr id="17" name="Enviaram dados pessoais a&#10;controladores ">
            <a:extLst xmlns:a="http://schemas.openxmlformats.org/drawingml/2006/main">
              <a:ext uri="{FF2B5EF4-FFF2-40B4-BE49-F238E27FC236}">
                <a16:creationId xmlns:a16="http://schemas.microsoft.com/office/drawing/2014/main" id="{3528B86F-5404-4E14-9BFD-EDAB9C535062}"/>
              </a:ext>
            </a:extLst>
          </p:cNvPr>
          <p:cNvSpPr>
            <a:spLocks xmlns:a="http://schemas.openxmlformats.org/drawingml/2006/main" noGrp="1"/>
          </p:cNvSpPr>
          <p:nvPr/>
        </p:nvSpPr>
        <p:spPr>
          <a:xfrm xmlns:a="http://schemas.openxmlformats.org/drawingml/2006/main">
            <a:off x="6581775" y="4191000"/>
            <a:ext cx="5000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4384A"/>
                </a:solidFill>
                <a:latin typeface="Arial"/>
                <a:ea typeface="Arial"/>
                <a:cs typeface="Arial"/>
              </a:defRPr>
            </a:pPr>
            <a:r>
              <a:rPr sz="2325" b="1">
                <a:solidFill>
                  <a:srgbClr val="24384A"/>
                </a:solidFill>
                <a:latin typeface="Arial"/>
                <a:ea typeface="Arial"/>
                <a:cs typeface="Arial"/>
              </a:rPr>
              <a:t>Enviaram dados pessoais a</a:t>
            </a:r>
          </a:p>
          <a:p xmlns:a="http://schemas.openxmlformats.org/drawingml/2006/main">
            <a:pPr algn="l">
              <a:defRPr sz="2325" b="1">
                <a:solidFill>
                  <a:srgbClr val="24384A"/>
                </a:solidFill>
                <a:latin typeface="Arial"/>
                <a:ea typeface="Arial"/>
                <a:cs typeface="Arial"/>
              </a:defRPr>
            </a:pPr>
            <a:r>
              <a:rPr sz="2325" b="1">
                <a:solidFill>
                  <a:srgbClr val="24384A"/>
                </a:solidFill>
                <a:latin typeface="Arial"/>
                <a:ea typeface="Arial"/>
                <a:cs typeface="Arial"/>
              </a:rPr>
              <a:t>controladores publicitários.</a:t>
            </a:r>
          </a:p>
        </p:txBody>
      </p:sp>
      <p:sp>
        <p:nvSpPr>
          <p:cNvPr id="18" name="93,26% dos 32.341 apps que enviaram&#10;dado">
            <a:extLst xmlns:a="http://schemas.openxmlformats.org/drawingml/2006/main">
              <a:ext uri="{FF2B5EF4-FFF2-40B4-BE49-F238E27FC236}">
                <a16:creationId xmlns:a16="http://schemas.microsoft.com/office/drawing/2014/main" id="{4582DA7F-203E-4012-9475-B8AC1F3F0EC6}"/>
              </a:ext>
            </a:extLst>
          </p:cNvPr>
          <p:cNvSpPr>
            <a:spLocks xmlns:a="http://schemas.openxmlformats.org/drawingml/2006/main" noGrp="1"/>
          </p:cNvSpPr>
          <p:nvPr/>
        </p:nvSpPr>
        <p:spPr>
          <a:xfrm xmlns:a="http://schemas.openxmlformats.org/drawingml/2006/main">
            <a:off x="6581775" y="5095875"/>
            <a:ext cx="5000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4384A"/>
                </a:solidFill>
                <a:latin typeface="Arial"/>
                <a:ea typeface="Arial"/>
                <a:cs typeface="Arial"/>
              </a:defRPr>
            </a:pPr>
            <a:r>
              <a:rPr sz="1875" b="0">
                <a:solidFill>
                  <a:srgbClr val="24384A"/>
                </a:solidFill>
                <a:latin typeface="Arial"/>
                <a:ea typeface="Arial"/>
                <a:cs typeface="Arial"/>
              </a:rPr>
              <a:t>93,26% dos 32.341 apps que enviaram</a:t>
            </a:r>
          </a:p>
          <a:p xmlns:a="http://schemas.openxmlformats.org/drawingml/2006/main">
            <a:pPr algn="l">
              <a:defRPr sz="1875" b="0">
                <a:solidFill>
                  <a:srgbClr val="24384A"/>
                </a:solidFill>
                <a:latin typeface="Arial"/>
                <a:ea typeface="Arial"/>
                <a:cs typeface="Arial"/>
              </a:defRPr>
            </a:pPr>
            <a:r>
              <a:rPr sz="1875" b="0">
                <a:solidFill>
                  <a:srgbClr val="24384A"/>
                </a:solidFill>
                <a:latin typeface="Arial"/>
                <a:ea typeface="Arial"/>
                <a:cs typeface="Arial"/>
              </a:rPr>
              <a:t>dados aos domínios publicitários</a:t>
            </a:r>
          </a:p>
          <a:p xmlns:a="http://schemas.openxmlformats.org/drawingml/2006/main">
            <a:pPr algn="l">
              <a:defRPr sz="1875" b="0">
                <a:solidFill>
                  <a:srgbClr val="24384A"/>
                </a:solidFill>
                <a:latin typeface="Arial"/>
                <a:ea typeface="Arial"/>
                <a:cs typeface="Arial"/>
              </a:defRPr>
            </a:pPr>
            <a:r>
              <a:rPr sz="1875" b="0">
                <a:solidFill>
                  <a:srgbClr val="24384A"/>
                </a:solidFill>
                <a:latin typeface="Arial"/>
                <a:ea typeface="Arial"/>
                <a:cs typeface="Arial"/>
              </a:rPr>
              <a:t>considerados nessa comparação.</a:t>
            </a:r>
          </a:p>
        </p:txBody>
      </p:sp>
    </p:spTree>
    <p:extLst>
      <p:ext uri="{BB962C8B-B14F-4D97-AF65-F5344CB8AC3E}">
        <p14:creationId xmlns:p14="http://schemas.microsoft.com/office/powerpoint/2010/main" val="15345531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9D8E1E3-0FBF-47CB-82BE-E3495DAE94D7}"/>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174875"/>
          </a:solidFill>
          <a:ln xmlns:a="http://schemas.openxmlformats.org/drawingml/2006/main" w="0">
            <a:noFill/>
          </a:ln>
        </p:spPr>
      </p:sp>
      <p:sp>
        <p:nvSpPr>
          <p:cNvPr id="2" name="RESULTADOS: EVIDÊNCIAS PARA A PERGUNTA 2">
            <a:extLst xmlns:a="http://schemas.openxmlformats.org/drawingml/2006/main">
              <a:ext uri="{FF2B5EF4-FFF2-40B4-BE49-F238E27FC236}">
                <a16:creationId xmlns:a16="http://schemas.microsoft.com/office/drawing/2014/main" id="{446F76EB-6469-4E40-A5E7-A323016DA5E0}"/>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74875"/>
                </a:solidFill>
                <a:latin typeface="Arial"/>
                <a:ea typeface="Arial"/>
                <a:cs typeface="Arial"/>
              </a:defRPr>
            </a:pPr>
            <a:r>
              <a:rPr sz="1275" b="1">
                <a:solidFill>
                  <a:srgbClr val="174875"/>
                </a:solidFill>
                <a:latin typeface="Arial"/>
                <a:ea typeface="Arial"/>
                <a:cs typeface="Arial"/>
              </a:rPr>
              <a:t>RESULTADOS: EVIDÊNCIAS PARA A PERGUNTA 2</a:t>
            </a:r>
          </a:p>
        </p:txBody>
      </p:sp>
      <p:sp>
        <p:nvSpPr>
          <p:cNvPr id="3" name="Potenciais violações entre apps com avis">
            <a:extLst xmlns:a="http://schemas.openxmlformats.org/drawingml/2006/main">
              <a:ext uri="{FF2B5EF4-FFF2-40B4-BE49-F238E27FC236}">
                <a16:creationId xmlns:a16="http://schemas.microsoft.com/office/drawing/2014/main" id="{893DD9C4-257C-47FB-899A-310A8EA060C6}"/>
              </a:ext>
            </a:extLst>
          </p:cNvPr>
          <p:cNvSpPr>
            <a:spLocks xmlns:a="http://schemas.openxmlformats.org/drawingml/2006/main" noGrp="1"/>
          </p:cNvSpPr>
          <p:nvPr/>
        </p:nvSpPr>
        <p:spPr>
          <a:xfrm xmlns:a="http://schemas.openxmlformats.org/drawingml/2006/main">
            <a:off x="609600" y="7048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2324F"/>
                </a:solidFill>
                <a:latin typeface="Arial"/>
                <a:ea typeface="Arial"/>
                <a:cs typeface="Arial"/>
              </a:defRPr>
            </a:pPr>
            <a:r>
              <a:rPr sz="3150" b="1">
                <a:solidFill>
                  <a:srgbClr val="12324F"/>
                </a:solidFill>
                <a:latin typeface="Arial"/>
                <a:ea typeface="Arial"/>
                <a:cs typeface="Arial"/>
              </a:rPr>
              <a:t>Potenciais violações entre apps com aviso</a:t>
            </a:r>
          </a:p>
        </p:txBody>
      </p:sp>
      <p:sp>
        <p:nvSpPr>
          <p:cNvPr id="4" name="">
            <a:extLst xmlns:a="http://schemas.openxmlformats.org/drawingml/2006/main">
              <a:ext uri="{FF2B5EF4-FFF2-40B4-BE49-F238E27FC236}">
                <a16:creationId xmlns:a16="http://schemas.microsoft.com/office/drawing/2014/main" id="{F438C0B1-1C04-4D46-BCAF-2E7DE5CEFB4B}"/>
              </a:ext>
            </a:extLst>
          </p:cNvPr>
          <p:cNvSpPr>
            <a:spLocks xmlns:a="http://schemas.openxmlformats.org/drawingml/2006/main" noGrp="1"/>
          </p:cNvSpPr>
          <p:nvPr/>
        </p:nvSpPr>
        <p:spPr>
          <a:xfrm xmlns:a="http://schemas.openxmlformats.org/drawingml/2006/main">
            <a:off x="609600" y="1390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EC19141-8380-487B-812A-6A789B47E2DF}"/>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6" name="Nguyen, Backes e Stock (2022), Tabela 3 ">
            <a:extLst xmlns:a="http://schemas.openxmlformats.org/drawingml/2006/main">
              <a:ext uri="{FF2B5EF4-FFF2-40B4-BE49-F238E27FC236}">
                <a16:creationId xmlns:a16="http://schemas.microsoft.com/office/drawing/2014/main" id="{207B3243-6D3A-406D-8079-E71BCB5B283A}"/>
              </a:ext>
            </a:extLst>
          </p:cNvPr>
          <p:cNvSpPr>
            <a:spLocks xmlns:a="http://schemas.openxmlformats.org/drawingml/2006/main" noGrp="1"/>
          </p:cNvSpPr>
          <p:nvPr/>
        </p:nvSpPr>
        <p:spPr>
          <a:xfrm xmlns:a="http://schemas.openxmlformats.org/drawingml/2006/main">
            <a:off x="609600" y="6477000"/>
            <a:ext cx="9982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96B7A"/>
                </a:solidFill>
                <a:latin typeface="Arial"/>
                <a:ea typeface="Arial"/>
                <a:cs typeface="Arial"/>
              </a:defRPr>
            </a:pPr>
            <a:r>
              <a:rPr sz="1200" b="0">
                <a:solidFill>
                  <a:srgbClr val="596B7A"/>
                </a:solidFill>
                <a:latin typeface="Arial"/>
                <a:ea typeface="Arial"/>
                <a:cs typeface="Arial"/>
              </a:rPr>
              <a:t>Nguyen, Backes e Stock (2022), Tabela 3 e Seções 4.4.3–4.4.6, p. 9–10. Tabela transcrita em formato editável.</a:t>
            </a:r>
          </a:p>
        </p:txBody>
      </p:sp>
      <p:sp>
        <p:nvSpPr>
          <p:cNvPr id="7" name="16 / 23">
            <a:extLst xmlns:a="http://schemas.openxmlformats.org/drawingml/2006/main">
              <a:ext uri="{FF2B5EF4-FFF2-40B4-BE49-F238E27FC236}">
                <a16:creationId xmlns:a16="http://schemas.microsoft.com/office/drawing/2014/main" id="{ABD77542-63D8-4334-8F07-CDA1FDD7B69A}"/>
              </a:ext>
            </a:extLst>
          </p:cNvPr>
          <p:cNvSpPr>
            <a:spLocks xmlns:a="http://schemas.openxmlformats.org/drawingml/2006/main" noGrp="1"/>
          </p:cNvSpPr>
          <p:nvPr/>
        </p:nvSpPr>
        <p:spPr>
          <a:xfrm xmlns:a="http://schemas.openxmlformats.org/drawingml/2006/main">
            <a:off x="10668000" y="64770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96B7A"/>
                </a:solidFill>
                <a:latin typeface="Arial"/>
                <a:ea typeface="Arial"/>
                <a:cs typeface="Arial"/>
              </a:defRPr>
            </a:pPr>
            <a:r>
              <a:rPr sz="1200" b="0">
                <a:solidFill>
                  <a:srgbClr val="596B7A"/>
                </a:solidFill>
                <a:latin typeface="Arial"/>
                <a:ea typeface="Arial"/>
                <a:cs typeface="Arial"/>
              </a:rPr>
              <a:t>16 / 23</a:t>
            </a:r>
          </a:p>
        </p:txBody>
      </p:sp>
      <p:graphicFrame>
        <p:nvGraphicFramePr>
          <p:cNvPr id="23" name=""/>
          <p:cNvGraphicFramePr/>
          <p:nvPr/>
        </p:nvGraphicFramePr>
        <p:xfrm>
          <a:off xmlns:a="http://schemas.openxmlformats.org/drawingml/2006/main" x="609600" y="1800225"/>
          <a:ext xmlns:a="http://schemas.openxmlformats.org/drawingml/2006/main" cx="10972800" cy="3190875"/>
        </p:xfrm>
        <a:graphic xmlns:a="http://schemas.openxmlformats.org/drawingml/2006/main">
          <a:graphicData uri="http://schemas.openxmlformats.org/drawingml/2006/table">
            <a:tbl>
              <a:tblPr firstRow="0" bandRow="0"/>
              <a:tblGrid>
                <a:gridCol w="3571875"/>
                <a:gridCol w="2466975"/>
                <a:gridCol w="2466975"/>
                <a:gridCol w="2466975"/>
              </a:tblGrid>
              <a:tr h="752475">
                <a:tc>
                  <a:txBody>
                    <a:bodyPr wrap="square" lIns="114300" tIns="95250" rIns="114300" bIns="95250">
                      <a:noAutofit/>
                    </a:bodyPr>
                    <a:lstStyle/>
                    <a:p>
                      <a:pPr algn="l"/>
                      <a:r>
                        <a:rPr sz="1725" b="1">
                          <a:solidFill>
                            <a:srgbClr val="FFFFFF"/>
                          </a:solidFill>
                          <a:latin typeface="Arial"/>
                          <a:ea typeface="Arial"/>
                          <a:cs typeface="Arial"/>
                        </a:rPr>
                        <a:t>Tipo de aviso</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174875"/>
                    </a:solidFill>
                  </a:tcPr>
                </a:tc>
                <a:tc>
                  <a:txBody>
                    <a:bodyPr wrap="square" lIns="114300" tIns="95250" rIns="114300" bIns="95250">
                      <a:noAutofit/>
                    </a:bodyPr>
                    <a:lstStyle/>
                    <a:p>
                      <a:pPr algn="ctr"/>
                      <a:r>
                        <a:rPr sz="1725" b="1">
                          <a:solidFill>
                            <a:srgbClr val="FFFFFF"/>
                          </a:solidFill>
                          <a:latin typeface="Arial"/>
                          <a:ea typeface="Arial"/>
                          <a:cs typeface="Arial"/>
                        </a:rPr>
                        <a:t>Antes de consentir</a:t>
                      </a:r>
                    </a:p>
                    <a:p>
                      <a:pPr algn="ctr"/>
                      <a:r>
                        <a:rPr sz="1725" b="1">
                          <a:solidFill>
                            <a:srgbClr val="FFFFFF"/>
                          </a:solidFill>
                          <a:latin typeface="Arial"/>
                          <a:ea typeface="Arial"/>
                          <a:cs typeface="Arial"/>
                        </a:rPr>
                        <a:t>N = 2.181</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174875"/>
                    </a:solidFill>
                  </a:tcPr>
                </a:tc>
                <a:tc>
                  <a:txBody>
                    <a:bodyPr wrap="square" lIns="114300" tIns="95250" rIns="114300" bIns="95250">
                      <a:noAutofit/>
                    </a:bodyPr>
                    <a:lstStyle/>
                    <a:p>
                      <a:pPr algn="ctr"/>
                      <a:r>
                        <a:rPr sz="1725" b="1">
                          <a:solidFill>
                            <a:srgbClr val="FFFFFF"/>
                          </a:solidFill>
                          <a:latin typeface="Arial"/>
                          <a:ea typeface="Arial"/>
                          <a:cs typeface="Arial"/>
                        </a:rPr>
                        <a:t>Sem opt-out</a:t>
                      </a:r>
                    </a:p>
                    <a:p>
                      <a:pPr algn="ctr"/>
                      <a:r>
                        <a:rPr sz="1725" b="1">
                          <a:solidFill>
                            <a:srgbClr val="FFFFFF"/>
                          </a:solidFill>
                          <a:latin typeface="Arial"/>
                          <a:ea typeface="Arial"/>
                          <a:cs typeface="Arial"/>
                        </a:rPr>
                        <a:t>N = 1.084</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174875"/>
                    </a:solidFill>
                  </a:tcPr>
                </a:tc>
                <a:tc>
                  <a:txBody>
                    <a:bodyPr wrap="square" lIns="114300" tIns="95250" rIns="114300" bIns="95250">
                      <a:noAutofit/>
                    </a:bodyPr>
                    <a:lstStyle/>
                    <a:p>
                      <a:pPr algn="ctr"/>
                      <a:r>
                        <a:rPr sz="1725" b="1">
                          <a:solidFill>
                            <a:srgbClr val="FFFFFF"/>
                          </a:solidFill>
                          <a:latin typeface="Arial"/>
                          <a:ea typeface="Arial"/>
                          <a:cs typeface="Arial"/>
                        </a:rPr>
                        <a:t>Após recusar</a:t>
                      </a:r>
                    </a:p>
                    <a:p>
                      <a:pPr algn="ctr"/>
                      <a:r>
                        <a:rPr sz="1725" b="1">
                          <a:solidFill>
                            <a:srgbClr val="FFFFFF"/>
                          </a:solidFill>
                          <a:latin typeface="Arial"/>
                          <a:ea typeface="Arial"/>
                          <a:cs typeface="Arial"/>
                        </a:rPr>
                        <a:t>N = 134</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174875"/>
                    </a:solidFill>
                  </a:tcPr>
                </a:tc>
              </a:tr>
              <a:tr h="638175">
                <a:tc>
                  <a:txBody>
                    <a:bodyPr wrap="square" lIns="114300" tIns="95250" rIns="114300" bIns="95250">
                      <a:noAutofit/>
                    </a:bodyPr>
                    <a:lstStyle/>
                    <a:p>
                      <a:pPr algn="l"/>
                      <a:r>
                        <a:rPr sz="1725" b="0">
                          <a:solidFill>
                            <a:srgbClr val="24384A"/>
                          </a:solidFill>
                          <a:latin typeface="Arial"/>
                          <a:ea typeface="Arial"/>
                          <a:cs typeface="Arial"/>
                        </a:rPr>
                        <a:t>Confirmation-only</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EDF3F8"/>
                    </a:solidFill>
                  </a:tcPr>
                </a:tc>
                <a:tc>
                  <a:txBody>
                    <a:bodyPr wrap="square" lIns="114300" tIns="95250" rIns="114300" bIns="95250">
                      <a:noAutofit/>
                    </a:bodyPr>
                    <a:lstStyle/>
                    <a:p>
                      <a:pPr algn="ctr"/>
                      <a:r>
                        <a:rPr sz="1725" b="0">
                          <a:solidFill>
                            <a:srgbClr val="24384A"/>
                          </a:solidFill>
                          <a:latin typeface="Arial"/>
                          <a:ea typeface="Arial"/>
                          <a:cs typeface="Arial"/>
                        </a:rPr>
                        <a:t>929 (42,60%)</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EDF3F8"/>
                    </a:solidFill>
                  </a:tcPr>
                </a:tc>
                <a:tc>
                  <a:txBody>
                    <a:bodyPr wrap="square" lIns="114300" tIns="95250" rIns="114300" bIns="95250">
                      <a:noAutofit/>
                    </a:bodyPr>
                    <a:lstStyle/>
                    <a:p>
                      <a:pPr algn="ctr"/>
                      <a:r>
                        <a:rPr sz="1725" b="0">
                          <a:solidFill>
                            <a:srgbClr val="24384A"/>
                          </a:solidFill>
                          <a:latin typeface="Arial"/>
                          <a:ea typeface="Arial"/>
                          <a:cs typeface="Arial"/>
                        </a:rPr>
                        <a:t>1.084 (100%)</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EDF3F8"/>
                    </a:solidFill>
                  </a:tcPr>
                </a:tc>
                <a:tc>
                  <a:txBody>
                    <a:bodyPr wrap="square" lIns="114300" tIns="95250" rIns="114300" bIns="95250">
                      <a:noAutofit/>
                    </a:bodyPr>
                    <a:lstStyle/>
                    <a:p>
                      <a:pPr algn="ctr"/>
                      <a:r>
                        <a:rPr sz="1725" b="0">
                          <a:solidFill>
                            <a:srgbClr val="24384A"/>
                          </a:solidFill>
                          <a:latin typeface="Arial"/>
                          <a:ea typeface="Arial"/>
                          <a:cs typeface="Arial"/>
                        </a:rPr>
                        <a:t>—</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EDF3F8"/>
                    </a:solidFill>
                  </a:tcPr>
                </a:tc>
              </a:tr>
              <a:tr h="638175">
                <a:tc>
                  <a:txBody>
                    <a:bodyPr wrap="square" lIns="114300" tIns="95250" rIns="114300" bIns="95250">
                      <a:noAutofit/>
                    </a:bodyPr>
                    <a:lstStyle/>
                    <a:p>
                      <a:pPr algn="l"/>
                      <a:r>
                        <a:rPr sz="1725" b="0">
                          <a:solidFill>
                            <a:srgbClr val="24384A"/>
                          </a:solidFill>
                          <a:latin typeface="Arial"/>
                          <a:ea typeface="Arial"/>
                          <a:cs typeface="Arial"/>
                        </a:rPr>
                        <a:t>Opt-out personalized ads</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FFFFFF"/>
                    </a:solidFill>
                  </a:tcPr>
                </a:tc>
                <a:tc>
                  <a:txBody>
                    <a:bodyPr wrap="square" lIns="114300" tIns="95250" rIns="114300" bIns="95250">
                      <a:noAutofit/>
                    </a:bodyPr>
                    <a:lstStyle/>
                    <a:p>
                      <a:pPr algn="ctr"/>
                      <a:r>
                        <a:rPr sz="1725" b="0">
                          <a:solidFill>
                            <a:srgbClr val="24384A"/>
                          </a:solidFill>
                          <a:latin typeface="Arial"/>
                          <a:ea typeface="Arial"/>
                          <a:cs typeface="Arial"/>
                        </a:rPr>
                        <a:t>609 (27,92%)</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FFFFFF"/>
                    </a:solidFill>
                  </a:tcPr>
                </a:tc>
                <a:tc>
                  <a:txBody>
                    <a:bodyPr wrap="square" lIns="114300" tIns="95250" rIns="114300" bIns="95250">
                      <a:noAutofit/>
                    </a:bodyPr>
                    <a:lstStyle/>
                    <a:p>
                      <a:pPr algn="ctr"/>
                      <a:r>
                        <a:rPr sz="1725" b="0">
                          <a:solidFill>
                            <a:srgbClr val="24384A"/>
                          </a:solidFill>
                          <a:latin typeface="Arial"/>
                          <a:ea typeface="Arial"/>
                          <a:cs typeface="Arial"/>
                        </a:rPr>
                        <a:t>—</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FFFFFF"/>
                    </a:solidFill>
                  </a:tcPr>
                </a:tc>
                <a:tc>
                  <a:txBody>
                    <a:bodyPr wrap="square" lIns="114300" tIns="95250" rIns="114300" bIns="95250">
                      <a:noAutofit/>
                    </a:bodyPr>
                    <a:lstStyle/>
                    <a:p>
                      <a:pPr algn="ctr"/>
                      <a:r>
                        <a:rPr sz="1725" b="0">
                          <a:solidFill>
                            <a:srgbClr val="24384A"/>
                          </a:solidFill>
                          <a:latin typeface="Arial"/>
                          <a:ea typeface="Arial"/>
                          <a:cs typeface="Arial"/>
                        </a:rPr>
                        <a:t>48 (35,82%)</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FFFFFF"/>
                    </a:solidFill>
                  </a:tcPr>
                </a:tc>
              </a:tr>
              <a:tr h="638175">
                <a:tc>
                  <a:txBody>
                    <a:bodyPr wrap="square" lIns="114300" tIns="95250" rIns="114300" bIns="95250">
                      <a:noAutofit/>
                    </a:bodyPr>
                    <a:lstStyle/>
                    <a:p>
                      <a:pPr algn="l"/>
                      <a:r>
                        <a:rPr sz="1725" b="0">
                          <a:solidFill>
                            <a:srgbClr val="24384A"/>
                          </a:solidFill>
                          <a:latin typeface="Arial"/>
                          <a:ea typeface="Arial"/>
                          <a:cs typeface="Arial"/>
                        </a:rPr>
                        <a:t>Binary choices</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EDF3F8"/>
                    </a:solidFill>
                  </a:tcPr>
                </a:tc>
                <a:tc>
                  <a:txBody>
                    <a:bodyPr wrap="square" lIns="114300" tIns="95250" rIns="114300" bIns="95250">
                      <a:noAutofit/>
                    </a:bodyPr>
                    <a:lstStyle/>
                    <a:p>
                      <a:pPr algn="ctr"/>
                      <a:r>
                        <a:rPr sz="1725" b="0">
                          <a:solidFill>
                            <a:srgbClr val="24384A"/>
                          </a:solidFill>
                          <a:latin typeface="Arial"/>
                          <a:ea typeface="Arial"/>
                          <a:cs typeface="Arial"/>
                        </a:rPr>
                        <a:t>466 (21,37%)</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EDF3F8"/>
                    </a:solidFill>
                  </a:tcPr>
                </a:tc>
                <a:tc>
                  <a:txBody>
                    <a:bodyPr wrap="square" lIns="114300" tIns="95250" rIns="114300" bIns="95250">
                      <a:noAutofit/>
                    </a:bodyPr>
                    <a:lstStyle/>
                    <a:p>
                      <a:pPr algn="ctr"/>
                      <a:r>
                        <a:rPr sz="1725" b="0">
                          <a:solidFill>
                            <a:srgbClr val="24384A"/>
                          </a:solidFill>
                          <a:latin typeface="Arial"/>
                          <a:ea typeface="Arial"/>
                          <a:cs typeface="Arial"/>
                        </a:rPr>
                        <a:t>—</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EDF3F8"/>
                    </a:solidFill>
                  </a:tcPr>
                </a:tc>
                <a:tc>
                  <a:txBody>
                    <a:bodyPr wrap="square" lIns="114300" tIns="95250" rIns="114300" bIns="95250">
                      <a:noAutofit/>
                    </a:bodyPr>
                    <a:lstStyle/>
                    <a:p>
                      <a:pPr algn="ctr"/>
                      <a:r>
                        <a:rPr sz="1725" b="0">
                          <a:solidFill>
                            <a:srgbClr val="24384A"/>
                          </a:solidFill>
                          <a:latin typeface="Arial"/>
                          <a:ea typeface="Arial"/>
                          <a:cs typeface="Arial"/>
                        </a:rPr>
                        <a:t>28 (20,90%)</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EDF3F8"/>
                    </a:solidFill>
                  </a:tcPr>
                </a:tc>
              </a:tr>
              <a:tr h="638175">
                <a:tc>
                  <a:txBody>
                    <a:bodyPr wrap="square" lIns="114300" tIns="95250" rIns="114300" bIns="95250">
                      <a:noAutofit/>
                    </a:bodyPr>
                    <a:lstStyle/>
                    <a:p>
                      <a:pPr algn="l"/>
                      <a:r>
                        <a:rPr sz="1725" b="0">
                          <a:solidFill>
                            <a:srgbClr val="24384A"/>
                          </a:solidFill>
                          <a:latin typeface="Arial"/>
                          <a:ea typeface="Arial"/>
                          <a:cs typeface="Arial"/>
                        </a:rPr>
                        <a:t>Complex choices</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FFFFFF"/>
                    </a:solidFill>
                  </a:tcPr>
                </a:tc>
                <a:tc>
                  <a:txBody>
                    <a:bodyPr wrap="square" lIns="114300" tIns="95250" rIns="114300" bIns="95250">
                      <a:noAutofit/>
                    </a:bodyPr>
                    <a:lstStyle/>
                    <a:p>
                      <a:pPr algn="ctr"/>
                      <a:r>
                        <a:rPr sz="1725" b="0">
                          <a:solidFill>
                            <a:srgbClr val="24384A"/>
                          </a:solidFill>
                          <a:latin typeface="Arial"/>
                          <a:ea typeface="Arial"/>
                          <a:cs typeface="Arial"/>
                        </a:rPr>
                        <a:t>177 (8,12%)</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FFFFFF"/>
                    </a:solidFill>
                  </a:tcPr>
                </a:tc>
                <a:tc>
                  <a:txBody>
                    <a:bodyPr wrap="square" lIns="114300" tIns="95250" rIns="114300" bIns="95250">
                      <a:noAutofit/>
                    </a:bodyPr>
                    <a:lstStyle/>
                    <a:p>
                      <a:pPr algn="ctr"/>
                      <a:r>
                        <a:rPr sz="1725" b="0">
                          <a:solidFill>
                            <a:srgbClr val="24384A"/>
                          </a:solidFill>
                          <a:latin typeface="Arial"/>
                          <a:ea typeface="Arial"/>
                          <a:cs typeface="Arial"/>
                        </a:rPr>
                        <a:t>—</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FFFFFF"/>
                    </a:solidFill>
                  </a:tcPr>
                </a:tc>
                <a:tc>
                  <a:txBody>
                    <a:bodyPr wrap="square" lIns="114300" tIns="95250" rIns="114300" bIns="95250">
                      <a:noAutofit/>
                    </a:bodyPr>
                    <a:lstStyle/>
                    <a:p>
                      <a:pPr algn="ctr"/>
                      <a:r>
                        <a:rPr sz="1725" b="0">
                          <a:solidFill>
                            <a:srgbClr val="24384A"/>
                          </a:solidFill>
                          <a:latin typeface="Arial"/>
                          <a:ea typeface="Arial"/>
                          <a:cs typeface="Arial"/>
                        </a:rPr>
                        <a:t>58 (43,28%)</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FFFFFF"/>
                    </a:solidFill>
                  </a:tcPr>
                </a:tc>
              </a:tr>
            </a:tbl>
          </a:graphicData>
        </a:graphic>
      </p:graphicFrame>
      <p:sp>
        <p:nvSpPr>
          <p:cNvPr id="9" name="2.181">
            <a:extLst xmlns:a="http://schemas.openxmlformats.org/drawingml/2006/main">
              <a:ext uri="{FF2B5EF4-FFF2-40B4-BE49-F238E27FC236}">
                <a16:creationId xmlns:a16="http://schemas.microsoft.com/office/drawing/2014/main" id="{99373119-37F3-43DC-9DB9-9F5849B1DC03}"/>
              </a:ext>
            </a:extLst>
          </p:cNvPr>
          <p:cNvSpPr>
            <a:spLocks xmlns:a="http://schemas.openxmlformats.org/drawingml/2006/main" noGrp="1"/>
          </p:cNvSpPr>
          <p:nvPr/>
        </p:nvSpPr>
        <p:spPr>
          <a:xfrm xmlns:a="http://schemas.openxmlformats.org/drawingml/2006/main">
            <a:off x="609600" y="5219700"/>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AC4C45"/>
                </a:solidFill>
                <a:latin typeface="Arial"/>
                <a:ea typeface="Arial"/>
                <a:cs typeface="Arial"/>
              </a:defRPr>
            </a:pPr>
            <a:r>
              <a:rPr sz="3150" b="1">
                <a:solidFill>
                  <a:srgbClr val="AC4C45"/>
                </a:solidFill>
                <a:latin typeface="Arial"/>
                <a:ea typeface="Arial"/>
                <a:cs typeface="Arial"/>
              </a:rPr>
              <a:t>2.181</a:t>
            </a:r>
          </a:p>
        </p:txBody>
      </p:sp>
      <p:sp>
        <p:nvSpPr>
          <p:cNvPr id="10" name="antes de consentir (16,67%)">
            <a:extLst xmlns:a="http://schemas.openxmlformats.org/drawingml/2006/main">
              <a:ext uri="{FF2B5EF4-FFF2-40B4-BE49-F238E27FC236}">
                <a16:creationId xmlns:a16="http://schemas.microsoft.com/office/drawing/2014/main" id="{FB8F73ED-8881-4EAA-A08B-D4579C5E9DB5}"/>
              </a:ext>
            </a:extLst>
          </p:cNvPr>
          <p:cNvSpPr>
            <a:spLocks xmlns:a="http://schemas.openxmlformats.org/drawingml/2006/main" noGrp="1"/>
          </p:cNvSpPr>
          <p:nvPr/>
        </p:nvSpPr>
        <p:spPr>
          <a:xfrm xmlns:a="http://schemas.openxmlformats.org/drawingml/2006/main">
            <a:off x="609600" y="577215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24384A"/>
                </a:solidFill>
                <a:latin typeface="Arial"/>
                <a:ea typeface="Arial"/>
                <a:cs typeface="Arial"/>
              </a:defRPr>
            </a:pPr>
            <a:r>
              <a:rPr sz="1725" b="0">
                <a:solidFill>
                  <a:srgbClr val="24384A"/>
                </a:solidFill>
                <a:latin typeface="Arial"/>
                <a:ea typeface="Arial"/>
                <a:cs typeface="Arial"/>
              </a:rPr>
              <a:t>antes de consentir (16,67%)</a:t>
            </a:r>
          </a:p>
        </p:txBody>
      </p:sp>
      <p:sp>
        <p:nvSpPr>
          <p:cNvPr id="11" name="1.084">
            <a:extLst xmlns:a="http://schemas.openxmlformats.org/drawingml/2006/main">
              <a:ext uri="{FF2B5EF4-FFF2-40B4-BE49-F238E27FC236}">
                <a16:creationId xmlns:a16="http://schemas.microsoft.com/office/drawing/2014/main" id="{6B23BFD6-88B0-4720-A8F4-CC2B36EAEAB6}"/>
              </a:ext>
            </a:extLst>
          </p:cNvPr>
          <p:cNvSpPr>
            <a:spLocks xmlns:a="http://schemas.openxmlformats.org/drawingml/2006/main" noGrp="1"/>
          </p:cNvSpPr>
          <p:nvPr/>
        </p:nvSpPr>
        <p:spPr>
          <a:xfrm xmlns:a="http://schemas.openxmlformats.org/drawingml/2006/main">
            <a:off x="4419600" y="5219700"/>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95652D"/>
                </a:solidFill>
                <a:latin typeface="Arial"/>
                <a:ea typeface="Arial"/>
                <a:cs typeface="Arial"/>
              </a:defRPr>
            </a:pPr>
            <a:r>
              <a:rPr sz="3150" b="1">
                <a:solidFill>
                  <a:srgbClr val="95652D"/>
                </a:solidFill>
                <a:latin typeface="Arial"/>
                <a:ea typeface="Arial"/>
                <a:cs typeface="Arial"/>
              </a:rPr>
              <a:t>1.084</a:t>
            </a:r>
          </a:p>
        </p:txBody>
      </p:sp>
      <p:sp>
        <p:nvSpPr>
          <p:cNvPr id="12" name="sem opt-out (8,28%)">
            <a:extLst xmlns:a="http://schemas.openxmlformats.org/drawingml/2006/main">
              <a:ext uri="{FF2B5EF4-FFF2-40B4-BE49-F238E27FC236}">
                <a16:creationId xmlns:a16="http://schemas.microsoft.com/office/drawing/2014/main" id="{0D10DA60-0A4A-4BD7-9F04-3B134890D10F}"/>
              </a:ext>
            </a:extLst>
          </p:cNvPr>
          <p:cNvSpPr>
            <a:spLocks xmlns:a="http://schemas.openxmlformats.org/drawingml/2006/main" noGrp="1"/>
          </p:cNvSpPr>
          <p:nvPr/>
        </p:nvSpPr>
        <p:spPr>
          <a:xfrm xmlns:a="http://schemas.openxmlformats.org/drawingml/2006/main">
            <a:off x="4419600" y="577215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24384A"/>
                </a:solidFill>
                <a:latin typeface="Arial"/>
                <a:ea typeface="Arial"/>
                <a:cs typeface="Arial"/>
              </a:defRPr>
            </a:pPr>
            <a:r>
              <a:rPr sz="1725" b="0">
                <a:solidFill>
                  <a:srgbClr val="24384A"/>
                </a:solidFill>
                <a:latin typeface="Arial"/>
                <a:ea typeface="Arial"/>
                <a:cs typeface="Arial"/>
              </a:rPr>
              <a:t>sem opt-out (8,28%)</a:t>
            </a:r>
          </a:p>
        </p:txBody>
      </p:sp>
      <p:sp>
        <p:nvSpPr>
          <p:cNvPr id="13" name="134">
            <a:extLst xmlns:a="http://schemas.openxmlformats.org/drawingml/2006/main">
              <a:ext uri="{FF2B5EF4-FFF2-40B4-BE49-F238E27FC236}">
                <a16:creationId xmlns:a16="http://schemas.microsoft.com/office/drawing/2014/main" id="{9165FBAC-ECD1-442D-B68A-585A474402A7}"/>
              </a:ext>
            </a:extLst>
          </p:cNvPr>
          <p:cNvSpPr>
            <a:spLocks xmlns:a="http://schemas.openxmlformats.org/drawingml/2006/main" noGrp="1"/>
          </p:cNvSpPr>
          <p:nvPr/>
        </p:nvSpPr>
        <p:spPr>
          <a:xfrm xmlns:a="http://schemas.openxmlformats.org/drawingml/2006/main">
            <a:off x="8248650" y="521970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69558B"/>
                </a:solidFill>
                <a:latin typeface="Arial"/>
                <a:ea typeface="Arial"/>
                <a:cs typeface="Arial"/>
              </a:defRPr>
            </a:pPr>
            <a:r>
              <a:rPr sz="3150" b="1">
                <a:solidFill>
                  <a:srgbClr val="69558B"/>
                </a:solidFill>
                <a:latin typeface="Arial"/>
                <a:ea typeface="Arial"/>
                <a:cs typeface="Arial"/>
              </a:rPr>
              <a:t>134</a:t>
            </a:r>
          </a:p>
        </p:txBody>
      </p:sp>
      <p:sp>
        <p:nvSpPr>
          <p:cNvPr id="14" name="enviam após a recusa">
            <a:extLst xmlns:a="http://schemas.openxmlformats.org/drawingml/2006/main">
              <a:ext uri="{FF2B5EF4-FFF2-40B4-BE49-F238E27FC236}">
                <a16:creationId xmlns:a16="http://schemas.microsoft.com/office/drawing/2014/main" id="{06E5798B-E5B3-4ECF-895B-89E275378110}"/>
              </a:ext>
            </a:extLst>
          </p:cNvPr>
          <p:cNvSpPr>
            <a:spLocks xmlns:a="http://schemas.openxmlformats.org/drawingml/2006/main" noGrp="1"/>
          </p:cNvSpPr>
          <p:nvPr/>
        </p:nvSpPr>
        <p:spPr>
          <a:xfrm xmlns:a="http://schemas.openxmlformats.org/drawingml/2006/main">
            <a:off x="8248650" y="577215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24384A"/>
                </a:solidFill>
                <a:latin typeface="Arial"/>
                <a:ea typeface="Arial"/>
                <a:cs typeface="Arial"/>
              </a:defRPr>
            </a:pPr>
            <a:r>
              <a:rPr sz="1725" b="0">
                <a:solidFill>
                  <a:srgbClr val="24384A"/>
                </a:solidFill>
                <a:latin typeface="Arial"/>
                <a:ea typeface="Arial"/>
                <a:cs typeface="Arial"/>
              </a:rPr>
              <a:t>enviam após a recusa</a:t>
            </a:r>
          </a:p>
        </p:txBody>
      </p:sp>
      <p:sp>
        <p:nvSpPr>
          <p:cNvPr id="15" name="Categorias sobrepostas. Tabela: % de cad">
            <a:extLst xmlns:a="http://schemas.openxmlformats.org/drawingml/2006/main">
              <a:ext uri="{FF2B5EF4-FFF2-40B4-BE49-F238E27FC236}">
                <a16:creationId xmlns:a16="http://schemas.microsoft.com/office/drawing/2014/main" id="{7D75F9B9-1E1F-470E-AB31-DA505AA04E9D}"/>
              </a:ext>
            </a:extLst>
          </p:cNvPr>
          <p:cNvSpPr>
            <a:spLocks xmlns:a="http://schemas.openxmlformats.org/drawingml/2006/main" noGrp="1"/>
          </p:cNvSpPr>
          <p:nvPr/>
        </p:nvSpPr>
        <p:spPr>
          <a:xfrm xmlns:a="http://schemas.openxmlformats.org/drawingml/2006/main">
            <a:off x="609600" y="60960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96B7A"/>
                </a:solidFill>
                <a:latin typeface="Arial"/>
                <a:ea typeface="Arial"/>
                <a:cs typeface="Arial"/>
              </a:defRPr>
            </a:pPr>
            <a:r>
              <a:rPr sz="1350" b="0">
                <a:solidFill>
                  <a:srgbClr val="596B7A"/>
                </a:solidFill>
                <a:latin typeface="Arial"/>
                <a:ea typeface="Arial"/>
                <a:cs typeface="Arial"/>
              </a:rPr>
              <a:t>Categorias sobrepostas. Tabela: % de cada coluna. Destaques abaixo: % dos 13.082 apps, conforme o artigo.</a:t>
            </a:r>
          </a:p>
        </p:txBody>
      </p:sp>
    </p:spTree>
    <p:extLst>
      <p:ext uri="{BB962C8B-B14F-4D97-AF65-F5344CB8AC3E}">
        <p14:creationId xmlns:p14="http://schemas.microsoft.com/office/powerpoint/2010/main" val="11583993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9043D2C-DF4D-44BB-B371-1E551B7F1EAE}"/>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174875"/>
          </a:solidFill>
          <a:ln xmlns:a="http://schemas.openxmlformats.org/drawingml/2006/main" w="0">
            <a:noFill/>
          </a:ln>
        </p:spPr>
      </p:sp>
      <p:sp>
        <p:nvSpPr>
          <p:cNvPr id="2" name="RESULTADOS: EVIDÊNCIAS PARA A PERGUNTA 2">
            <a:extLst xmlns:a="http://schemas.openxmlformats.org/drawingml/2006/main">
              <a:ext uri="{FF2B5EF4-FFF2-40B4-BE49-F238E27FC236}">
                <a16:creationId xmlns:a16="http://schemas.microsoft.com/office/drawing/2014/main" id="{FD6235C3-3B10-4AC9-9B10-2344D3126FAB}"/>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74875"/>
                </a:solidFill>
                <a:latin typeface="Arial"/>
                <a:ea typeface="Arial"/>
                <a:cs typeface="Arial"/>
              </a:defRPr>
            </a:pPr>
            <a:r>
              <a:rPr sz="1275" b="1">
                <a:solidFill>
                  <a:srgbClr val="174875"/>
                </a:solidFill>
                <a:latin typeface="Arial"/>
                <a:ea typeface="Arial"/>
                <a:cs typeface="Arial"/>
              </a:rPr>
              <a:t>RESULTADOS: EVIDÊNCIAS PARA A PERGUNTA 2</a:t>
            </a:r>
          </a:p>
        </p:txBody>
      </p:sp>
      <p:sp>
        <p:nvSpPr>
          <p:cNvPr id="3" name="Envio sem aviso: destinos e tipo de dado">
            <a:extLst xmlns:a="http://schemas.openxmlformats.org/drawingml/2006/main">
              <a:ext uri="{FF2B5EF4-FFF2-40B4-BE49-F238E27FC236}">
                <a16:creationId xmlns:a16="http://schemas.microsoft.com/office/drawing/2014/main" id="{44B1E6B6-42E5-49D0-914C-862A652C0895}"/>
              </a:ext>
            </a:extLst>
          </p:cNvPr>
          <p:cNvSpPr>
            <a:spLocks xmlns:a="http://schemas.openxmlformats.org/drawingml/2006/main" noGrp="1"/>
          </p:cNvSpPr>
          <p:nvPr/>
        </p:nvSpPr>
        <p:spPr>
          <a:xfrm xmlns:a="http://schemas.openxmlformats.org/drawingml/2006/main">
            <a:off x="609600" y="7048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2324F"/>
                </a:solidFill>
                <a:latin typeface="Arial"/>
                <a:ea typeface="Arial"/>
                <a:cs typeface="Arial"/>
              </a:defRPr>
            </a:pPr>
            <a:r>
              <a:rPr sz="3150" b="1">
                <a:solidFill>
                  <a:srgbClr val="12324F"/>
                </a:solidFill>
                <a:latin typeface="Arial"/>
                <a:ea typeface="Arial"/>
                <a:cs typeface="Arial"/>
              </a:rPr>
              <a:t>Envio sem aviso: destinos e tipo de dado</a:t>
            </a:r>
          </a:p>
        </p:txBody>
      </p:sp>
      <p:sp>
        <p:nvSpPr>
          <p:cNvPr id="4" name="">
            <a:extLst xmlns:a="http://schemas.openxmlformats.org/drawingml/2006/main">
              <a:ext uri="{FF2B5EF4-FFF2-40B4-BE49-F238E27FC236}">
                <a16:creationId xmlns:a16="http://schemas.microsoft.com/office/drawing/2014/main" id="{4A53BEAF-6932-48C6-ADD3-C5FD6F99627A}"/>
              </a:ext>
            </a:extLst>
          </p:cNvPr>
          <p:cNvSpPr>
            <a:spLocks xmlns:a="http://schemas.openxmlformats.org/drawingml/2006/main" noGrp="1"/>
          </p:cNvSpPr>
          <p:nvPr/>
        </p:nvSpPr>
        <p:spPr>
          <a:xfrm xmlns:a="http://schemas.openxmlformats.org/drawingml/2006/main">
            <a:off x="609600" y="1390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001B17A-A9F0-49B1-B35A-8EBD6C6549AB}"/>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6" name="Nguyen, Backes e Stock (2022), Figura 5,">
            <a:extLst xmlns:a="http://schemas.openxmlformats.org/drawingml/2006/main">
              <a:ext uri="{FF2B5EF4-FFF2-40B4-BE49-F238E27FC236}">
                <a16:creationId xmlns:a16="http://schemas.microsoft.com/office/drawing/2014/main" id="{AD74BCFC-92EC-4FE3-B80E-8DFE32B6189F}"/>
              </a:ext>
            </a:extLst>
          </p:cNvPr>
          <p:cNvSpPr>
            <a:spLocks xmlns:a="http://schemas.openxmlformats.org/drawingml/2006/main" noGrp="1"/>
          </p:cNvSpPr>
          <p:nvPr/>
        </p:nvSpPr>
        <p:spPr>
          <a:xfrm xmlns:a="http://schemas.openxmlformats.org/drawingml/2006/main">
            <a:off x="609600" y="6477000"/>
            <a:ext cx="9982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96B7A"/>
                </a:solidFill>
                <a:latin typeface="Arial"/>
                <a:ea typeface="Arial"/>
                <a:cs typeface="Arial"/>
              </a:defRPr>
            </a:pPr>
            <a:r>
              <a:rPr sz="1200" b="0">
                <a:solidFill>
                  <a:srgbClr val="596B7A"/>
                </a:solidFill>
                <a:latin typeface="Arial"/>
                <a:ea typeface="Arial"/>
                <a:cs typeface="Arial"/>
              </a:rPr>
              <a:t>Nguyen, Backes e Stock (2022), Figura 5, p. 9, e Tabela 4, p. 11. Um app pode enviar dados a vários domínios.</a:t>
            </a:r>
          </a:p>
        </p:txBody>
      </p:sp>
      <p:sp>
        <p:nvSpPr>
          <p:cNvPr id="7" name="17 / 23">
            <a:extLst xmlns:a="http://schemas.openxmlformats.org/drawingml/2006/main">
              <a:ext uri="{FF2B5EF4-FFF2-40B4-BE49-F238E27FC236}">
                <a16:creationId xmlns:a16="http://schemas.microsoft.com/office/drawing/2014/main" id="{9DBD9892-B2DE-46F9-A5C2-EEE5D42431A4}"/>
              </a:ext>
            </a:extLst>
          </p:cNvPr>
          <p:cNvSpPr>
            <a:spLocks xmlns:a="http://schemas.openxmlformats.org/drawingml/2006/main" noGrp="1"/>
          </p:cNvSpPr>
          <p:nvPr/>
        </p:nvSpPr>
        <p:spPr>
          <a:xfrm xmlns:a="http://schemas.openxmlformats.org/drawingml/2006/main">
            <a:off x="10668000" y="64770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96B7A"/>
                </a:solidFill>
                <a:latin typeface="Arial"/>
                <a:ea typeface="Arial"/>
                <a:cs typeface="Arial"/>
              </a:defRPr>
            </a:pPr>
            <a:r>
              <a:rPr sz="1200" b="0">
                <a:solidFill>
                  <a:srgbClr val="596B7A"/>
                </a:solidFill>
                <a:latin typeface="Arial"/>
                <a:ea typeface="Arial"/>
                <a:cs typeface="Arial"/>
              </a:rPr>
              <a:t>17 / 23</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7fd406c784c4c15"/>
          <a:stretch xmlns:a="http://schemas.openxmlformats.org/drawingml/2006/main"/>
        </p:blipFill>
        <p:spPr>
          <a:xfrm xmlns:a="http://schemas.openxmlformats.org/drawingml/2006/main">
            <a:off x="609600" y="2100671"/>
            <a:ext cx="7067550" cy="2942409"/>
          </a:xfrm>
          <a:prstGeom xmlns:a="http://schemas.openxmlformats.org/drawingml/2006/main" prst="rect">
            <a:avLst/>
          </a:prstGeom>
        </p:spPr>
      </p:pic>
      <p:sp>
        <p:nvSpPr>
          <p:cNvPr id="9" name="Figura 5 do artigo: dez domínios publici">
            <a:extLst xmlns:a="http://schemas.openxmlformats.org/drawingml/2006/main">
              <a:ext uri="{FF2B5EF4-FFF2-40B4-BE49-F238E27FC236}">
                <a16:creationId xmlns:a16="http://schemas.microsoft.com/office/drawing/2014/main" id="{476BE210-F05E-4A33-BE6A-4FED1FC86D33}"/>
              </a:ext>
            </a:extLst>
          </p:cNvPr>
          <p:cNvSpPr>
            <a:spLocks xmlns:a="http://schemas.openxmlformats.org/drawingml/2006/main" noGrp="1"/>
          </p:cNvSpPr>
          <p:nvPr/>
        </p:nvSpPr>
        <p:spPr>
          <a:xfrm xmlns:a="http://schemas.openxmlformats.org/drawingml/2006/main">
            <a:off x="609600" y="5314950"/>
            <a:ext cx="7067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96B7A"/>
                </a:solidFill>
                <a:latin typeface="Arial"/>
                <a:ea typeface="Arial"/>
                <a:cs typeface="Arial"/>
              </a:defRPr>
            </a:pPr>
            <a:r>
              <a:rPr sz="1725" b="0">
                <a:solidFill>
                  <a:srgbClr val="596B7A"/>
                </a:solidFill>
                <a:latin typeface="Arial"/>
                <a:ea typeface="Arial"/>
                <a:cs typeface="Arial"/>
              </a:rPr>
              <a:t>Figura 5 do artigo: dez domínios publicitários que receberam</a:t>
            </a:r>
          </a:p>
          <a:p xmlns:a="http://schemas.openxmlformats.org/drawingml/2006/main">
            <a:pPr algn="l">
              <a:defRPr sz="1725" b="0">
                <a:solidFill>
                  <a:srgbClr val="596B7A"/>
                </a:solidFill>
                <a:latin typeface="Arial"/>
                <a:ea typeface="Arial"/>
                <a:cs typeface="Arial"/>
              </a:defRPr>
            </a:pPr>
            <a:r>
              <a:rPr sz="1725" b="0">
                <a:solidFill>
                  <a:srgbClr val="596B7A"/>
                </a:solidFill>
                <a:latin typeface="Arial"/>
                <a:ea typeface="Arial"/>
                <a:cs typeface="Arial"/>
              </a:rPr>
              <a:t>dados dos 30.160 aplicativos sem aviso identificado.</a:t>
            </a:r>
          </a:p>
        </p:txBody>
      </p:sp>
      <p:sp>
        <p:nvSpPr>
          <p:cNvPr id="10" name="">
            <a:extLst xmlns:a="http://schemas.openxmlformats.org/drawingml/2006/main">
              <a:ext uri="{FF2B5EF4-FFF2-40B4-BE49-F238E27FC236}">
                <a16:creationId xmlns:a16="http://schemas.microsoft.com/office/drawing/2014/main" id="{90EECC60-7C73-4273-A0A7-65485A52D4FD}"/>
              </a:ext>
            </a:extLst>
          </p:cNvPr>
          <p:cNvSpPr>
            <a:spLocks xmlns:a="http://schemas.openxmlformats.org/drawingml/2006/main" noGrp="1"/>
          </p:cNvSpPr>
          <p:nvPr/>
        </p:nvSpPr>
        <p:spPr>
          <a:xfrm xmlns:a="http://schemas.openxmlformats.org/drawingml/2006/main">
            <a:off x="8020050" y="1752600"/>
            <a:ext cx="9525" cy="4171950"/>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11" name="14.420">
            <a:extLst xmlns:a="http://schemas.openxmlformats.org/drawingml/2006/main">
              <a:ext uri="{FF2B5EF4-FFF2-40B4-BE49-F238E27FC236}">
                <a16:creationId xmlns:a16="http://schemas.microsoft.com/office/drawing/2014/main" id="{61F5D775-A077-4153-A02D-D95ECA9CD34E}"/>
              </a:ext>
            </a:extLst>
          </p:cNvPr>
          <p:cNvSpPr>
            <a:spLocks xmlns:a="http://schemas.openxmlformats.org/drawingml/2006/main" noGrp="1"/>
          </p:cNvSpPr>
          <p:nvPr/>
        </p:nvSpPr>
        <p:spPr>
          <a:xfrm xmlns:a="http://schemas.openxmlformats.org/drawingml/2006/main">
            <a:off x="8448675" y="1962150"/>
            <a:ext cx="31337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174875"/>
                </a:solidFill>
                <a:latin typeface="Arial"/>
                <a:ea typeface="Arial"/>
                <a:cs typeface="Arial"/>
              </a:defRPr>
            </a:pPr>
            <a:r>
              <a:rPr sz="4050" b="1">
                <a:solidFill>
                  <a:srgbClr val="174875"/>
                </a:solidFill>
                <a:latin typeface="Arial"/>
                <a:ea typeface="Arial"/>
                <a:cs typeface="Arial"/>
              </a:rPr>
              <a:t>14.420</a:t>
            </a:r>
          </a:p>
        </p:txBody>
      </p:sp>
      <p:sp>
        <p:nvSpPr>
          <p:cNvPr id="12" name="apps enviaram dados&#10;para facebook.com&#10;(4">
            <a:extLst xmlns:a="http://schemas.openxmlformats.org/drawingml/2006/main">
              <a:ext uri="{FF2B5EF4-FFF2-40B4-BE49-F238E27FC236}">
                <a16:creationId xmlns:a16="http://schemas.microsoft.com/office/drawing/2014/main" id="{195F180F-D045-4B59-91E0-8F89011B0985}"/>
              </a:ext>
            </a:extLst>
          </p:cNvPr>
          <p:cNvSpPr>
            <a:spLocks xmlns:a="http://schemas.openxmlformats.org/drawingml/2006/main" noGrp="1"/>
          </p:cNvSpPr>
          <p:nvPr/>
        </p:nvSpPr>
        <p:spPr>
          <a:xfrm xmlns:a="http://schemas.openxmlformats.org/drawingml/2006/main">
            <a:off x="8448675" y="2809875"/>
            <a:ext cx="31337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4384A"/>
                </a:solidFill>
                <a:latin typeface="Arial"/>
                <a:ea typeface="Arial"/>
                <a:cs typeface="Arial"/>
              </a:defRPr>
            </a:pPr>
            <a:r>
              <a:rPr sz="2025" b="0">
                <a:solidFill>
                  <a:srgbClr val="24384A"/>
                </a:solidFill>
                <a:latin typeface="Arial"/>
                <a:ea typeface="Arial"/>
                <a:cs typeface="Arial"/>
              </a:rPr>
              <a:t>apps enviaram dados</a:t>
            </a:r>
          </a:p>
          <a:p xmlns:a="http://schemas.openxmlformats.org/drawingml/2006/main">
            <a:pPr algn="l">
              <a:defRPr sz="2025" b="0">
                <a:solidFill>
                  <a:srgbClr val="24384A"/>
                </a:solidFill>
                <a:latin typeface="Arial"/>
                <a:ea typeface="Arial"/>
                <a:cs typeface="Arial"/>
              </a:defRPr>
            </a:pPr>
            <a:r>
              <a:rPr sz="2025" b="0">
                <a:solidFill>
                  <a:srgbClr val="24384A"/>
                </a:solidFill>
                <a:latin typeface="Arial"/>
                <a:ea typeface="Arial"/>
                <a:cs typeface="Arial"/>
              </a:rPr>
              <a:t>para facebook.com</a:t>
            </a:r>
          </a:p>
          <a:p xmlns:a="http://schemas.openxmlformats.org/drawingml/2006/main">
            <a:pPr algn="l">
              <a:defRPr sz="2025" b="0">
                <a:solidFill>
                  <a:srgbClr val="24384A"/>
                </a:solidFill>
                <a:latin typeface="Arial"/>
                <a:ea typeface="Arial"/>
                <a:cs typeface="Arial"/>
              </a:defRPr>
            </a:pPr>
            <a:r>
              <a:rPr sz="2025" b="0">
                <a:solidFill>
                  <a:srgbClr val="24384A"/>
                </a:solidFill>
                <a:latin typeface="Arial"/>
                <a:ea typeface="Arial"/>
                <a:cs typeface="Arial"/>
              </a:rPr>
              <a:t>(47,81% de 30.160).</a:t>
            </a:r>
          </a:p>
        </p:txBody>
      </p:sp>
      <p:sp>
        <p:nvSpPr>
          <p:cNvPr id="13" name="">
            <a:extLst xmlns:a="http://schemas.openxmlformats.org/drawingml/2006/main">
              <a:ext uri="{FF2B5EF4-FFF2-40B4-BE49-F238E27FC236}">
                <a16:creationId xmlns:a16="http://schemas.microsoft.com/office/drawing/2014/main" id="{029AC74E-72C8-48F9-B83C-D99E2A1E3D94}"/>
              </a:ext>
            </a:extLst>
          </p:cNvPr>
          <p:cNvSpPr>
            <a:spLocks xmlns:a="http://schemas.openxmlformats.org/drawingml/2006/main" noGrp="1"/>
          </p:cNvSpPr>
          <p:nvPr/>
        </p:nvSpPr>
        <p:spPr>
          <a:xfrm xmlns:a="http://schemas.openxmlformats.org/drawingml/2006/main">
            <a:off x="8448675" y="4076700"/>
            <a:ext cx="3133725"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14" name="29.952">
            <a:extLst xmlns:a="http://schemas.openxmlformats.org/drawingml/2006/main">
              <a:ext uri="{FF2B5EF4-FFF2-40B4-BE49-F238E27FC236}">
                <a16:creationId xmlns:a16="http://schemas.microsoft.com/office/drawing/2014/main" id="{EA2308F9-1D13-49D8-A44B-AEAFEDFE7D26}"/>
              </a:ext>
            </a:extLst>
          </p:cNvPr>
          <p:cNvSpPr>
            <a:spLocks xmlns:a="http://schemas.openxmlformats.org/drawingml/2006/main" noGrp="1"/>
          </p:cNvSpPr>
          <p:nvPr/>
        </p:nvSpPr>
        <p:spPr>
          <a:xfrm xmlns:a="http://schemas.openxmlformats.org/drawingml/2006/main">
            <a:off x="8448675" y="4267200"/>
            <a:ext cx="31337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174875"/>
                </a:solidFill>
                <a:latin typeface="Arial"/>
                <a:ea typeface="Arial"/>
                <a:cs typeface="Arial"/>
              </a:defRPr>
            </a:pPr>
            <a:r>
              <a:rPr sz="4050" b="1">
                <a:solidFill>
                  <a:srgbClr val="174875"/>
                </a:solidFill>
                <a:latin typeface="Arial"/>
                <a:ea typeface="Arial"/>
                <a:cs typeface="Arial"/>
              </a:rPr>
              <a:t>29.952</a:t>
            </a:r>
          </a:p>
        </p:txBody>
      </p:sp>
      <p:sp>
        <p:nvSpPr>
          <p:cNvPr id="15" name="enviaram o identificador&#10;publicitário do">
            <a:extLst xmlns:a="http://schemas.openxmlformats.org/drawingml/2006/main">
              <a:ext uri="{FF2B5EF4-FFF2-40B4-BE49-F238E27FC236}">
                <a16:creationId xmlns:a16="http://schemas.microsoft.com/office/drawing/2014/main" id="{874B5C5A-0E91-485A-A7D7-3FD93F73B134}"/>
              </a:ext>
            </a:extLst>
          </p:cNvPr>
          <p:cNvSpPr>
            <a:spLocks xmlns:a="http://schemas.openxmlformats.org/drawingml/2006/main" noGrp="1"/>
          </p:cNvSpPr>
          <p:nvPr/>
        </p:nvSpPr>
        <p:spPr>
          <a:xfrm xmlns:a="http://schemas.openxmlformats.org/drawingml/2006/main">
            <a:off x="8448675" y="5038725"/>
            <a:ext cx="31337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24384A"/>
                </a:solidFill>
                <a:latin typeface="Arial"/>
                <a:ea typeface="Arial"/>
                <a:cs typeface="Arial"/>
              </a:defRPr>
            </a:pPr>
            <a:r>
              <a:rPr sz="1725" b="0">
                <a:solidFill>
                  <a:srgbClr val="24384A"/>
                </a:solidFill>
                <a:latin typeface="Arial"/>
                <a:ea typeface="Arial"/>
                <a:cs typeface="Arial"/>
              </a:rPr>
              <a:t>enviaram o identificador</a:t>
            </a:r>
          </a:p>
          <a:p xmlns:a="http://schemas.openxmlformats.org/drawingml/2006/main">
            <a:pPr algn="l">
              <a:defRPr sz="1725" b="0">
                <a:solidFill>
                  <a:srgbClr val="24384A"/>
                </a:solidFill>
                <a:latin typeface="Arial"/>
                <a:ea typeface="Arial"/>
                <a:cs typeface="Arial"/>
              </a:defRPr>
            </a:pPr>
            <a:r>
              <a:rPr sz="1725" b="0">
                <a:solidFill>
                  <a:srgbClr val="24384A"/>
                </a:solidFill>
                <a:latin typeface="Arial"/>
                <a:ea typeface="Arial"/>
                <a:cs typeface="Arial"/>
              </a:rPr>
              <a:t>publicitário do Android (AAID).</a:t>
            </a:r>
          </a:p>
          <a:p xmlns:a="http://schemas.openxmlformats.org/drawingml/2006/main">
            <a:pPr algn="l">
              <a:defRPr sz="1725" b="0">
                <a:solidFill>
                  <a:srgbClr val="24384A"/>
                </a:solidFill>
                <a:latin typeface="Arial"/>
                <a:ea typeface="Arial"/>
                <a:cs typeface="Arial"/>
              </a:defRPr>
            </a:pPr>
            <a:r>
              <a:rPr sz="1725" b="0">
                <a:solidFill>
                  <a:srgbClr val="24384A"/>
                </a:solidFill>
                <a:latin typeface="Arial"/>
                <a:ea typeface="Arial"/>
                <a:cs typeface="Arial"/>
              </a:rPr>
              <a:t>99,31% dos 30.160 apps</a:t>
            </a:r>
          </a:p>
          <a:p xmlns:a="http://schemas.openxmlformats.org/drawingml/2006/main">
            <a:pPr algn="l">
              <a:defRPr sz="1725" b="0">
                <a:solidFill>
                  <a:srgbClr val="24384A"/>
                </a:solidFill>
                <a:latin typeface="Arial"/>
                <a:ea typeface="Arial"/>
                <a:cs typeface="Arial"/>
              </a:defRPr>
            </a:pPr>
            <a:r>
              <a:rPr sz="1725" b="0">
                <a:solidFill>
                  <a:srgbClr val="24384A"/>
                </a:solidFill>
                <a:latin typeface="Arial"/>
                <a:ea typeface="Arial"/>
                <a:cs typeface="Arial"/>
              </a:rPr>
              <a:t>sem aviso.</a:t>
            </a:r>
          </a:p>
        </p:txBody>
      </p:sp>
    </p:spTree>
    <p:extLst>
      <p:ext uri="{BB962C8B-B14F-4D97-AF65-F5344CB8AC3E}">
        <p14:creationId xmlns:p14="http://schemas.microsoft.com/office/powerpoint/2010/main" val="27538763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9100D02-73C3-4C43-B41E-454E8D9C8370}"/>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174875"/>
          </a:solidFill>
          <a:ln xmlns:a="http://schemas.openxmlformats.org/drawingml/2006/main" w="0">
            <a:noFill/>
          </a:ln>
        </p:spPr>
      </p:sp>
      <p:sp>
        <p:nvSpPr>
          <p:cNvPr id="2" name="SEÇÃO 5: RESPOSTA À PERGUNTA 3">
            <a:extLst xmlns:a="http://schemas.openxmlformats.org/drawingml/2006/main">
              <a:ext uri="{FF2B5EF4-FFF2-40B4-BE49-F238E27FC236}">
                <a16:creationId xmlns:a16="http://schemas.microsoft.com/office/drawing/2014/main" id="{94DF40E1-2CEB-4C90-A5D4-0D5F084690D9}"/>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74875"/>
                </a:solidFill>
                <a:latin typeface="Arial"/>
                <a:ea typeface="Arial"/>
                <a:cs typeface="Arial"/>
              </a:defRPr>
            </a:pPr>
            <a:r>
              <a:rPr sz="1275" b="1">
                <a:solidFill>
                  <a:srgbClr val="174875"/>
                </a:solidFill>
                <a:latin typeface="Arial"/>
                <a:ea typeface="Arial"/>
                <a:cs typeface="Arial"/>
              </a:rPr>
              <a:t>SEÇÃO 5: RESPOSTA À PERGUNTA 3</a:t>
            </a:r>
          </a:p>
        </p:txBody>
      </p:sp>
      <p:sp>
        <p:nvSpPr>
          <p:cNvPr id="3" name="Notificação: respostas e mudanças observ">
            <a:extLst xmlns:a="http://schemas.openxmlformats.org/drawingml/2006/main">
              <a:ext uri="{FF2B5EF4-FFF2-40B4-BE49-F238E27FC236}">
                <a16:creationId xmlns:a16="http://schemas.microsoft.com/office/drawing/2014/main" id="{F2333F80-D491-49D2-9FE5-57DE9FA2D7D1}"/>
              </a:ext>
            </a:extLst>
          </p:cNvPr>
          <p:cNvSpPr>
            <a:spLocks xmlns:a="http://schemas.openxmlformats.org/drawingml/2006/main" noGrp="1"/>
          </p:cNvSpPr>
          <p:nvPr/>
        </p:nvSpPr>
        <p:spPr>
          <a:xfrm xmlns:a="http://schemas.openxmlformats.org/drawingml/2006/main">
            <a:off x="609600" y="7048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2324F"/>
                </a:solidFill>
                <a:latin typeface="Arial"/>
                <a:ea typeface="Arial"/>
                <a:cs typeface="Arial"/>
              </a:defRPr>
            </a:pPr>
            <a:r>
              <a:rPr sz="3150" b="1">
                <a:solidFill>
                  <a:srgbClr val="12324F"/>
                </a:solidFill>
                <a:latin typeface="Arial"/>
                <a:ea typeface="Arial"/>
                <a:cs typeface="Arial"/>
              </a:rPr>
              <a:t>Notificação: respostas e mudanças observadas</a:t>
            </a:r>
          </a:p>
        </p:txBody>
      </p:sp>
      <p:sp>
        <p:nvSpPr>
          <p:cNvPr id="4" name="">
            <a:extLst xmlns:a="http://schemas.openxmlformats.org/drawingml/2006/main">
              <a:ext uri="{FF2B5EF4-FFF2-40B4-BE49-F238E27FC236}">
                <a16:creationId xmlns:a16="http://schemas.microsoft.com/office/drawing/2014/main" id="{61712B08-59CD-425B-9496-FAE9C15A4445}"/>
              </a:ext>
            </a:extLst>
          </p:cNvPr>
          <p:cNvSpPr>
            <a:spLocks xmlns:a="http://schemas.openxmlformats.org/drawingml/2006/main" noGrp="1"/>
          </p:cNvSpPr>
          <p:nvPr/>
        </p:nvSpPr>
        <p:spPr>
          <a:xfrm xmlns:a="http://schemas.openxmlformats.org/drawingml/2006/main">
            <a:off x="609600" y="1390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71CF591-C376-467A-A217-B5211CB6A50C}"/>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6" name="Nguyen, Backes e Stock (2022), Seção 5, ">
            <a:extLst xmlns:a="http://schemas.openxmlformats.org/drawingml/2006/main">
              <a:ext uri="{FF2B5EF4-FFF2-40B4-BE49-F238E27FC236}">
                <a16:creationId xmlns:a16="http://schemas.microsoft.com/office/drawing/2014/main" id="{23C8BC37-6079-420B-9F7E-7C34CF0CB192}"/>
              </a:ext>
            </a:extLst>
          </p:cNvPr>
          <p:cNvSpPr>
            <a:spLocks xmlns:a="http://schemas.openxmlformats.org/drawingml/2006/main" noGrp="1"/>
          </p:cNvSpPr>
          <p:nvPr/>
        </p:nvSpPr>
        <p:spPr>
          <a:xfrm xmlns:a="http://schemas.openxmlformats.org/drawingml/2006/main">
            <a:off x="609600" y="6477000"/>
            <a:ext cx="9982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96B7A"/>
                </a:solidFill>
                <a:latin typeface="Arial"/>
                <a:ea typeface="Arial"/>
                <a:cs typeface="Arial"/>
              </a:defRPr>
            </a:pPr>
            <a:r>
              <a:rPr sz="1200" b="0">
                <a:solidFill>
                  <a:srgbClr val="596B7A"/>
                </a:solidFill>
                <a:latin typeface="Arial"/>
                <a:ea typeface="Arial"/>
                <a:cs typeface="Arial"/>
              </a:rPr>
              <a:t>Nguyen, Backes e Stock (2022), Seção 5, p. 11–12. Denominadores variam conforme a pergunta respondida.</a:t>
            </a:r>
          </a:p>
        </p:txBody>
      </p:sp>
      <p:sp>
        <p:nvSpPr>
          <p:cNvPr id="7" name="18 / 23">
            <a:extLst xmlns:a="http://schemas.openxmlformats.org/drawingml/2006/main">
              <a:ext uri="{FF2B5EF4-FFF2-40B4-BE49-F238E27FC236}">
                <a16:creationId xmlns:a16="http://schemas.microsoft.com/office/drawing/2014/main" id="{2A108D72-3427-4DF0-B04E-747E364CB43E}"/>
              </a:ext>
            </a:extLst>
          </p:cNvPr>
          <p:cNvSpPr>
            <a:spLocks xmlns:a="http://schemas.openxmlformats.org/drawingml/2006/main" noGrp="1"/>
          </p:cNvSpPr>
          <p:nvPr/>
        </p:nvSpPr>
        <p:spPr>
          <a:xfrm xmlns:a="http://schemas.openxmlformats.org/drawingml/2006/main">
            <a:off x="10668000" y="64770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96B7A"/>
                </a:solidFill>
                <a:latin typeface="Arial"/>
                <a:ea typeface="Arial"/>
                <a:cs typeface="Arial"/>
              </a:defRPr>
            </a:pPr>
            <a:r>
              <a:rPr sz="1200" b="0">
                <a:solidFill>
                  <a:srgbClr val="596B7A"/>
                </a:solidFill>
                <a:latin typeface="Arial"/>
                <a:ea typeface="Arial"/>
                <a:cs typeface="Arial"/>
              </a:rPr>
              <a:t>18 / 23</a:t>
            </a:r>
          </a:p>
        </p:txBody>
      </p:sp>
      <p:sp>
        <p:nvSpPr>
          <p:cNvPr id="8" name="1.127">
            <a:extLst xmlns:a="http://schemas.openxmlformats.org/drawingml/2006/main">
              <a:ext uri="{FF2B5EF4-FFF2-40B4-BE49-F238E27FC236}">
                <a16:creationId xmlns:a16="http://schemas.microsoft.com/office/drawing/2014/main" id="{9ABB5690-8C2E-465E-A693-523762B9F8F7}"/>
              </a:ext>
            </a:extLst>
          </p:cNvPr>
          <p:cNvSpPr>
            <a:spLocks xmlns:a="http://schemas.openxmlformats.org/drawingml/2006/main" noGrp="1"/>
          </p:cNvSpPr>
          <p:nvPr/>
        </p:nvSpPr>
        <p:spPr>
          <a:xfrm xmlns:a="http://schemas.openxmlformats.org/drawingml/2006/main">
            <a:off x="609600" y="1676400"/>
            <a:ext cx="32480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a:solidFill>
                  <a:srgbClr val="174875"/>
                </a:solidFill>
                <a:latin typeface="Arial"/>
                <a:ea typeface="Arial"/>
                <a:cs typeface="Arial"/>
              </a:defRPr>
            </a:pPr>
            <a:r>
              <a:rPr sz="4200" b="1">
                <a:solidFill>
                  <a:srgbClr val="174875"/>
                </a:solidFill>
                <a:latin typeface="Arial"/>
                <a:ea typeface="Arial"/>
                <a:cs typeface="Arial"/>
              </a:rPr>
              <a:t>1.127</a:t>
            </a:r>
          </a:p>
        </p:txBody>
      </p:sp>
      <p:sp>
        <p:nvSpPr>
          <p:cNvPr id="9" name="desenvolvedores notificados">
            <a:extLst xmlns:a="http://schemas.openxmlformats.org/drawingml/2006/main">
              <a:ext uri="{FF2B5EF4-FFF2-40B4-BE49-F238E27FC236}">
                <a16:creationId xmlns:a16="http://schemas.microsoft.com/office/drawing/2014/main" id="{43FFAB82-AA4C-4EB3-9CCB-5A4BB5B26C3D}"/>
              </a:ext>
            </a:extLst>
          </p:cNvPr>
          <p:cNvSpPr>
            <a:spLocks xmlns:a="http://schemas.openxmlformats.org/drawingml/2006/main" noGrp="1"/>
          </p:cNvSpPr>
          <p:nvPr/>
        </p:nvSpPr>
        <p:spPr>
          <a:xfrm xmlns:a="http://schemas.openxmlformats.org/drawingml/2006/main">
            <a:off x="609600" y="2543175"/>
            <a:ext cx="32480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4384A"/>
                </a:solidFill>
                <a:latin typeface="Arial"/>
                <a:ea typeface="Arial"/>
                <a:cs typeface="Arial"/>
              </a:defRPr>
            </a:pPr>
            <a:r>
              <a:rPr sz="1875" b="0">
                <a:solidFill>
                  <a:srgbClr val="24384A"/>
                </a:solidFill>
                <a:latin typeface="Arial"/>
                <a:ea typeface="Arial"/>
                <a:cs typeface="Arial"/>
              </a:rPr>
              <a:t>desenvolvedores notificados</a:t>
            </a:r>
          </a:p>
        </p:txBody>
      </p:sp>
      <p:sp>
        <p:nvSpPr>
          <p:cNvPr id="10" name="1.859">
            <a:extLst xmlns:a="http://schemas.openxmlformats.org/drawingml/2006/main">
              <a:ext uri="{FF2B5EF4-FFF2-40B4-BE49-F238E27FC236}">
                <a16:creationId xmlns:a16="http://schemas.microsoft.com/office/drawing/2014/main" id="{C2D37600-4F7B-4454-B7A7-32589ED95C78}"/>
              </a:ext>
            </a:extLst>
          </p:cNvPr>
          <p:cNvSpPr>
            <a:spLocks xmlns:a="http://schemas.openxmlformats.org/drawingml/2006/main" noGrp="1"/>
          </p:cNvSpPr>
          <p:nvPr/>
        </p:nvSpPr>
        <p:spPr>
          <a:xfrm xmlns:a="http://schemas.openxmlformats.org/drawingml/2006/main">
            <a:off x="4476750" y="1676400"/>
            <a:ext cx="32480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a:solidFill>
                  <a:srgbClr val="174875"/>
                </a:solidFill>
                <a:latin typeface="Arial"/>
                <a:ea typeface="Arial"/>
                <a:cs typeface="Arial"/>
              </a:defRPr>
            </a:pPr>
            <a:r>
              <a:rPr sz="4200" b="1">
                <a:solidFill>
                  <a:srgbClr val="174875"/>
                </a:solidFill>
                <a:latin typeface="Arial"/>
                <a:ea typeface="Arial"/>
                <a:cs typeface="Arial"/>
              </a:rPr>
              <a:t>1.859</a:t>
            </a:r>
          </a:p>
        </p:txBody>
      </p:sp>
      <p:sp>
        <p:nvSpPr>
          <p:cNvPr id="11" name="aplicativos abrangidos">
            <a:extLst xmlns:a="http://schemas.openxmlformats.org/drawingml/2006/main">
              <a:ext uri="{FF2B5EF4-FFF2-40B4-BE49-F238E27FC236}">
                <a16:creationId xmlns:a16="http://schemas.microsoft.com/office/drawing/2014/main" id="{F8CDA88C-7D89-4DF1-809B-293F2CEED2E5}"/>
              </a:ext>
            </a:extLst>
          </p:cNvPr>
          <p:cNvSpPr>
            <a:spLocks xmlns:a="http://schemas.openxmlformats.org/drawingml/2006/main" noGrp="1"/>
          </p:cNvSpPr>
          <p:nvPr/>
        </p:nvSpPr>
        <p:spPr>
          <a:xfrm xmlns:a="http://schemas.openxmlformats.org/drawingml/2006/main">
            <a:off x="4476750" y="2543175"/>
            <a:ext cx="32480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4384A"/>
                </a:solidFill>
                <a:latin typeface="Arial"/>
                <a:ea typeface="Arial"/>
                <a:cs typeface="Arial"/>
              </a:defRPr>
            </a:pPr>
            <a:r>
              <a:rPr sz="1875" b="0">
                <a:solidFill>
                  <a:srgbClr val="24384A"/>
                </a:solidFill>
                <a:latin typeface="Arial"/>
                <a:ea typeface="Arial"/>
                <a:cs typeface="Arial"/>
              </a:rPr>
              <a:t>aplicativos abrangidos</a:t>
            </a:r>
          </a:p>
        </p:txBody>
      </p:sp>
      <p:sp>
        <p:nvSpPr>
          <p:cNvPr id="12" name="43">
            <a:extLst xmlns:a="http://schemas.openxmlformats.org/drawingml/2006/main">
              <a:ext uri="{FF2B5EF4-FFF2-40B4-BE49-F238E27FC236}">
                <a16:creationId xmlns:a16="http://schemas.microsoft.com/office/drawing/2014/main" id="{A8D76446-E66A-4116-A5D3-2FCAB99A5A2C}"/>
              </a:ext>
            </a:extLst>
          </p:cNvPr>
          <p:cNvSpPr>
            <a:spLocks xmlns:a="http://schemas.openxmlformats.org/drawingml/2006/main" noGrp="1"/>
          </p:cNvSpPr>
          <p:nvPr/>
        </p:nvSpPr>
        <p:spPr>
          <a:xfrm xmlns:a="http://schemas.openxmlformats.org/drawingml/2006/main">
            <a:off x="8334375" y="1676400"/>
            <a:ext cx="32480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a:solidFill>
                  <a:srgbClr val="174875"/>
                </a:solidFill>
                <a:latin typeface="Arial"/>
                <a:ea typeface="Arial"/>
                <a:cs typeface="Arial"/>
              </a:defRPr>
            </a:pPr>
            <a:r>
              <a:rPr sz="4200" b="1">
                <a:solidFill>
                  <a:srgbClr val="174875"/>
                </a:solidFill>
                <a:latin typeface="Arial"/>
                <a:ea typeface="Arial"/>
                <a:cs typeface="Arial"/>
              </a:rPr>
              <a:t>43</a:t>
            </a:r>
          </a:p>
        </p:txBody>
      </p:sp>
      <p:sp>
        <p:nvSpPr>
          <p:cNvPr id="13" name="desenvolvedores responderam">
            <a:extLst xmlns:a="http://schemas.openxmlformats.org/drawingml/2006/main">
              <a:ext uri="{FF2B5EF4-FFF2-40B4-BE49-F238E27FC236}">
                <a16:creationId xmlns:a16="http://schemas.microsoft.com/office/drawing/2014/main" id="{65C924DE-189A-463A-B06A-8A80D3755ADB}"/>
              </a:ext>
            </a:extLst>
          </p:cNvPr>
          <p:cNvSpPr>
            <a:spLocks xmlns:a="http://schemas.openxmlformats.org/drawingml/2006/main" noGrp="1"/>
          </p:cNvSpPr>
          <p:nvPr/>
        </p:nvSpPr>
        <p:spPr>
          <a:xfrm xmlns:a="http://schemas.openxmlformats.org/drawingml/2006/main">
            <a:off x="8334375" y="2543175"/>
            <a:ext cx="32480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4384A"/>
                </a:solidFill>
                <a:latin typeface="Arial"/>
                <a:ea typeface="Arial"/>
                <a:cs typeface="Arial"/>
              </a:defRPr>
            </a:pPr>
            <a:r>
              <a:rPr sz="1875" b="0">
                <a:solidFill>
                  <a:srgbClr val="24384A"/>
                </a:solidFill>
                <a:latin typeface="Arial"/>
                <a:ea typeface="Arial"/>
                <a:cs typeface="Arial"/>
              </a:rPr>
              <a:t>desenvolvedores responderam</a:t>
            </a:r>
          </a:p>
        </p:txBody>
      </p:sp>
      <p:sp>
        <p:nvSpPr>
          <p:cNvPr id="14" name="">
            <a:extLst xmlns:a="http://schemas.openxmlformats.org/drawingml/2006/main">
              <a:ext uri="{FF2B5EF4-FFF2-40B4-BE49-F238E27FC236}">
                <a16:creationId xmlns:a16="http://schemas.microsoft.com/office/drawing/2014/main" id="{2235295A-9906-4830-8783-84D33B34CC33}"/>
              </a:ext>
            </a:extLst>
          </p:cNvPr>
          <p:cNvSpPr>
            <a:spLocks xmlns:a="http://schemas.openxmlformats.org/drawingml/2006/main" noGrp="1"/>
          </p:cNvSpPr>
          <p:nvPr/>
        </p:nvSpPr>
        <p:spPr>
          <a:xfrm xmlns:a="http://schemas.openxmlformats.org/drawingml/2006/main">
            <a:off x="609600" y="32575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15" name="9/14">
            <a:extLst xmlns:a="http://schemas.openxmlformats.org/drawingml/2006/main">
              <a:ext uri="{FF2B5EF4-FFF2-40B4-BE49-F238E27FC236}">
                <a16:creationId xmlns:a16="http://schemas.microsoft.com/office/drawing/2014/main" id="{155BAFB3-40FC-47C0-8EAB-4A3A7398D9CA}"/>
              </a:ext>
            </a:extLst>
          </p:cNvPr>
          <p:cNvSpPr>
            <a:spLocks xmlns:a="http://schemas.openxmlformats.org/drawingml/2006/main" noGrp="1"/>
          </p:cNvSpPr>
          <p:nvPr/>
        </p:nvSpPr>
        <p:spPr>
          <a:xfrm xmlns:a="http://schemas.openxmlformats.org/drawingml/2006/main">
            <a:off x="609600" y="3533775"/>
            <a:ext cx="1162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87967"/>
                </a:solidFill>
                <a:latin typeface="Arial"/>
                <a:ea typeface="Arial"/>
                <a:cs typeface="Arial"/>
              </a:defRPr>
            </a:pPr>
            <a:r>
              <a:rPr sz="2550" b="1">
                <a:solidFill>
                  <a:srgbClr val="287967"/>
                </a:solidFill>
                <a:latin typeface="Arial"/>
                <a:ea typeface="Arial"/>
                <a:cs typeface="Arial"/>
              </a:rPr>
              <a:t>9/14</a:t>
            </a:r>
          </a:p>
        </p:txBody>
      </p:sp>
      <p:sp>
        <p:nvSpPr>
          <p:cNvPr id="16" name="não conheciam os tipos de dado coletados">
            <a:extLst xmlns:a="http://schemas.openxmlformats.org/drawingml/2006/main">
              <a:ext uri="{FF2B5EF4-FFF2-40B4-BE49-F238E27FC236}">
                <a16:creationId xmlns:a16="http://schemas.microsoft.com/office/drawing/2014/main" id="{C1136908-0810-4126-8EC1-8C1E6579CAD4}"/>
              </a:ext>
            </a:extLst>
          </p:cNvPr>
          <p:cNvSpPr>
            <a:spLocks xmlns:a="http://schemas.openxmlformats.org/drawingml/2006/main" noGrp="1"/>
          </p:cNvSpPr>
          <p:nvPr/>
        </p:nvSpPr>
        <p:spPr>
          <a:xfrm xmlns:a="http://schemas.openxmlformats.org/drawingml/2006/main">
            <a:off x="1924050" y="3590925"/>
            <a:ext cx="96583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4384A"/>
                </a:solidFill>
                <a:latin typeface="Arial"/>
                <a:ea typeface="Arial"/>
                <a:cs typeface="Arial"/>
              </a:defRPr>
            </a:pPr>
            <a:r>
              <a:rPr sz="2025" b="0">
                <a:solidFill>
                  <a:srgbClr val="24384A"/>
                </a:solidFill>
                <a:latin typeface="Arial"/>
                <a:ea typeface="Arial"/>
                <a:cs typeface="Arial"/>
              </a:rPr>
              <a:t>não conheciam os tipos de dado coletados.</a:t>
            </a:r>
          </a:p>
        </p:txBody>
      </p:sp>
      <p:sp>
        <p:nvSpPr>
          <p:cNvPr id="17" name="9/13">
            <a:extLst xmlns:a="http://schemas.openxmlformats.org/drawingml/2006/main">
              <a:ext uri="{FF2B5EF4-FFF2-40B4-BE49-F238E27FC236}">
                <a16:creationId xmlns:a16="http://schemas.microsoft.com/office/drawing/2014/main" id="{50B0B6DC-B4F0-424A-B871-D9D954BC001C}"/>
              </a:ext>
            </a:extLst>
          </p:cNvPr>
          <p:cNvSpPr>
            <a:spLocks xmlns:a="http://schemas.openxmlformats.org/drawingml/2006/main" noGrp="1"/>
          </p:cNvSpPr>
          <p:nvPr/>
        </p:nvSpPr>
        <p:spPr>
          <a:xfrm xmlns:a="http://schemas.openxmlformats.org/drawingml/2006/main">
            <a:off x="609600" y="4229100"/>
            <a:ext cx="1162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87967"/>
                </a:solidFill>
                <a:latin typeface="Arial"/>
                <a:ea typeface="Arial"/>
                <a:cs typeface="Arial"/>
              </a:defRPr>
            </a:pPr>
            <a:r>
              <a:rPr sz="2550" b="1">
                <a:solidFill>
                  <a:srgbClr val="287967"/>
                </a:solidFill>
                <a:latin typeface="Arial"/>
                <a:ea typeface="Arial"/>
                <a:cs typeface="Arial"/>
              </a:rPr>
              <a:t>9/13</a:t>
            </a:r>
          </a:p>
        </p:txBody>
      </p:sp>
      <p:sp>
        <p:nvSpPr>
          <p:cNvPr id="18" name="declararam conhecer os requisitos de con">
            <a:extLst xmlns:a="http://schemas.openxmlformats.org/drawingml/2006/main">
              <a:ext uri="{FF2B5EF4-FFF2-40B4-BE49-F238E27FC236}">
                <a16:creationId xmlns:a16="http://schemas.microsoft.com/office/drawing/2014/main" id="{BB8C9CC3-CD0A-435D-A83F-76DB56D9CA2B}"/>
              </a:ext>
            </a:extLst>
          </p:cNvPr>
          <p:cNvSpPr>
            <a:spLocks xmlns:a="http://schemas.openxmlformats.org/drawingml/2006/main" noGrp="1"/>
          </p:cNvSpPr>
          <p:nvPr/>
        </p:nvSpPr>
        <p:spPr>
          <a:xfrm xmlns:a="http://schemas.openxmlformats.org/drawingml/2006/main">
            <a:off x="1924050" y="4286250"/>
            <a:ext cx="96583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4384A"/>
                </a:solidFill>
                <a:latin typeface="Arial"/>
                <a:ea typeface="Arial"/>
                <a:cs typeface="Arial"/>
              </a:defRPr>
            </a:pPr>
            <a:r>
              <a:rPr sz="2025" b="0">
                <a:solidFill>
                  <a:srgbClr val="24384A"/>
                </a:solidFill>
                <a:latin typeface="Arial"/>
                <a:ea typeface="Arial"/>
                <a:cs typeface="Arial"/>
              </a:rPr>
              <a:t>declararam conhecer os requisitos de consentimento.</a:t>
            </a:r>
          </a:p>
        </p:txBody>
      </p:sp>
      <p:sp>
        <p:nvSpPr>
          <p:cNvPr id="19" name="6/7">
            <a:extLst xmlns:a="http://schemas.openxmlformats.org/drawingml/2006/main">
              <a:ext uri="{FF2B5EF4-FFF2-40B4-BE49-F238E27FC236}">
                <a16:creationId xmlns:a16="http://schemas.microsoft.com/office/drawing/2014/main" id="{8285CC02-3699-4BB1-8E03-6D33D4B433DA}"/>
              </a:ext>
            </a:extLst>
          </p:cNvPr>
          <p:cNvSpPr>
            <a:spLocks xmlns:a="http://schemas.openxmlformats.org/drawingml/2006/main" noGrp="1"/>
          </p:cNvSpPr>
          <p:nvPr/>
        </p:nvSpPr>
        <p:spPr>
          <a:xfrm xmlns:a="http://schemas.openxmlformats.org/drawingml/2006/main">
            <a:off x="609600" y="4924425"/>
            <a:ext cx="1162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87967"/>
                </a:solidFill>
                <a:latin typeface="Arial"/>
                <a:ea typeface="Arial"/>
                <a:cs typeface="Arial"/>
              </a:defRPr>
            </a:pPr>
            <a:r>
              <a:rPr sz="2550" b="1">
                <a:solidFill>
                  <a:srgbClr val="287967"/>
                </a:solidFill>
                <a:latin typeface="Arial"/>
                <a:ea typeface="Arial"/>
                <a:cs typeface="Arial"/>
              </a:rPr>
              <a:t>6/7</a:t>
            </a:r>
          </a:p>
        </p:txBody>
      </p:sp>
      <p:sp>
        <p:nvSpPr>
          <p:cNvPr id="20" name="queriam uma ferramenta automatizada de a">
            <a:extLst xmlns:a="http://schemas.openxmlformats.org/drawingml/2006/main">
              <a:ext uri="{FF2B5EF4-FFF2-40B4-BE49-F238E27FC236}">
                <a16:creationId xmlns:a16="http://schemas.microsoft.com/office/drawing/2014/main" id="{09A7C9D4-49B4-42DA-B856-1EC50593FBEF}"/>
              </a:ext>
            </a:extLst>
          </p:cNvPr>
          <p:cNvSpPr>
            <a:spLocks xmlns:a="http://schemas.openxmlformats.org/drawingml/2006/main" noGrp="1"/>
          </p:cNvSpPr>
          <p:nvPr/>
        </p:nvSpPr>
        <p:spPr>
          <a:xfrm xmlns:a="http://schemas.openxmlformats.org/drawingml/2006/main">
            <a:off x="1924050" y="4981575"/>
            <a:ext cx="96583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4384A"/>
                </a:solidFill>
                <a:latin typeface="Arial"/>
                <a:ea typeface="Arial"/>
                <a:cs typeface="Arial"/>
              </a:defRPr>
            </a:pPr>
            <a:r>
              <a:rPr sz="2025" b="0">
                <a:solidFill>
                  <a:srgbClr val="24384A"/>
                </a:solidFill>
                <a:latin typeface="Arial"/>
                <a:ea typeface="Arial"/>
                <a:cs typeface="Arial"/>
              </a:rPr>
              <a:t>queriam uma ferramenta automatizada de análise.</a:t>
            </a:r>
          </a:p>
        </p:txBody>
      </p:sp>
      <p:sp>
        <p:nvSpPr>
          <p:cNvPr id="21" name="">
            <a:extLst xmlns:a="http://schemas.openxmlformats.org/drawingml/2006/main">
              <a:ext uri="{FF2B5EF4-FFF2-40B4-BE49-F238E27FC236}">
                <a16:creationId xmlns:a16="http://schemas.microsoft.com/office/drawing/2014/main" id="{6A630AC0-145D-41D3-B105-00C2A1B4600E}"/>
              </a:ext>
            </a:extLst>
          </p:cNvPr>
          <p:cNvSpPr>
            <a:spLocks xmlns:a="http://schemas.openxmlformats.org/drawingml/2006/main" noGrp="1"/>
          </p:cNvSpPr>
          <p:nvPr/>
        </p:nvSpPr>
        <p:spPr>
          <a:xfrm xmlns:a="http://schemas.openxmlformats.org/drawingml/2006/main">
            <a:off x="609600" y="563880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22" name="147 apps atualizados">
            <a:extLst xmlns:a="http://schemas.openxmlformats.org/drawingml/2006/main">
              <a:ext uri="{FF2B5EF4-FFF2-40B4-BE49-F238E27FC236}">
                <a16:creationId xmlns:a16="http://schemas.microsoft.com/office/drawing/2014/main" id="{2F44A21F-9202-4E4B-A068-51CCD7D8D254}"/>
              </a:ext>
            </a:extLst>
          </p:cNvPr>
          <p:cNvSpPr>
            <a:spLocks xmlns:a="http://schemas.openxmlformats.org/drawingml/2006/main" noGrp="1"/>
          </p:cNvSpPr>
          <p:nvPr/>
        </p:nvSpPr>
        <p:spPr>
          <a:xfrm xmlns:a="http://schemas.openxmlformats.org/drawingml/2006/main">
            <a:off x="609600" y="5886450"/>
            <a:ext cx="337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324F"/>
                </a:solidFill>
                <a:latin typeface="Arial"/>
                <a:ea typeface="Arial"/>
                <a:cs typeface="Arial"/>
              </a:defRPr>
            </a:pPr>
            <a:r>
              <a:rPr sz="1950" b="1">
                <a:solidFill>
                  <a:srgbClr val="12324F"/>
                </a:solidFill>
                <a:latin typeface="Arial"/>
                <a:ea typeface="Arial"/>
                <a:cs typeface="Arial"/>
              </a:rPr>
              <a:t>147 apps atualizados</a:t>
            </a:r>
          </a:p>
        </p:txBody>
      </p:sp>
      <p:sp>
        <p:nvSpPr>
          <p:cNvPr id="23" name="63 corrigiram os problemas">
            <a:extLst xmlns:a="http://schemas.openxmlformats.org/drawingml/2006/main">
              <a:ext uri="{FF2B5EF4-FFF2-40B4-BE49-F238E27FC236}">
                <a16:creationId xmlns:a16="http://schemas.microsoft.com/office/drawing/2014/main" id="{D80CDE03-47D0-4406-B622-01D6D6266662}"/>
              </a:ext>
            </a:extLst>
          </p:cNvPr>
          <p:cNvSpPr>
            <a:spLocks xmlns:a="http://schemas.openxmlformats.org/drawingml/2006/main" noGrp="1"/>
          </p:cNvSpPr>
          <p:nvPr/>
        </p:nvSpPr>
        <p:spPr>
          <a:xfrm xmlns:a="http://schemas.openxmlformats.org/drawingml/2006/main">
            <a:off x="4352925" y="5886450"/>
            <a:ext cx="3638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87967"/>
                </a:solidFill>
                <a:latin typeface="Arial"/>
                <a:ea typeface="Arial"/>
                <a:cs typeface="Arial"/>
              </a:defRPr>
            </a:pPr>
            <a:r>
              <a:rPr sz="1875" b="1">
                <a:solidFill>
                  <a:srgbClr val="287967"/>
                </a:solidFill>
                <a:latin typeface="Arial"/>
                <a:ea typeface="Arial"/>
                <a:cs typeface="Arial"/>
              </a:rPr>
              <a:t>63 corrigiram os problemas</a:t>
            </a:r>
          </a:p>
        </p:txBody>
      </p:sp>
      <p:sp>
        <p:nvSpPr>
          <p:cNvPr id="24" name="84 com potencial violação">
            <a:extLst xmlns:a="http://schemas.openxmlformats.org/drawingml/2006/main">
              <a:ext uri="{FF2B5EF4-FFF2-40B4-BE49-F238E27FC236}">
                <a16:creationId xmlns:a16="http://schemas.microsoft.com/office/drawing/2014/main" id="{330BAC67-057C-4681-A475-B6E58F3BF71A}"/>
              </a:ext>
            </a:extLst>
          </p:cNvPr>
          <p:cNvSpPr>
            <a:spLocks xmlns:a="http://schemas.openxmlformats.org/drawingml/2006/main" noGrp="1"/>
          </p:cNvSpPr>
          <p:nvPr/>
        </p:nvSpPr>
        <p:spPr>
          <a:xfrm xmlns:a="http://schemas.openxmlformats.org/drawingml/2006/main">
            <a:off x="8267700" y="5886450"/>
            <a:ext cx="331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AC4C45"/>
                </a:solidFill>
                <a:latin typeface="Arial"/>
                <a:ea typeface="Arial"/>
                <a:cs typeface="Arial"/>
              </a:defRPr>
            </a:pPr>
            <a:r>
              <a:rPr sz="1875" b="1">
                <a:solidFill>
                  <a:srgbClr val="AC4C45"/>
                </a:solidFill>
                <a:latin typeface="Arial"/>
                <a:ea typeface="Arial"/>
                <a:cs typeface="Arial"/>
              </a:rPr>
              <a:t>84 com potencial violação</a:t>
            </a:r>
          </a:p>
        </p:txBody>
      </p:sp>
    </p:spTree>
    <p:extLst>
      <p:ext uri="{BB962C8B-B14F-4D97-AF65-F5344CB8AC3E}">
        <p14:creationId xmlns:p14="http://schemas.microsoft.com/office/powerpoint/2010/main" val="19155717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27D9DDA-8816-4049-BDA0-8A377B089C58}"/>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174875"/>
          </a:solidFill>
          <a:ln xmlns:a="http://schemas.openxmlformats.org/drawingml/2006/main" w="0">
            <a:noFill/>
          </a:ln>
        </p:spPr>
      </p:sp>
      <p:sp>
        <p:nvSpPr>
          <p:cNvPr id="2" name="ANÁLISE DA SEÇÃO 6">
            <a:extLst xmlns:a="http://schemas.openxmlformats.org/drawingml/2006/main">
              <a:ext uri="{FF2B5EF4-FFF2-40B4-BE49-F238E27FC236}">
                <a16:creationId xmlns:a16="http://schemas.microsoft.com/office/drawing/2014/main" id="{8972E00D-EFEF-438B-8B24-E80638926CED}"/>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74875"/>
                </a:solidFill>
                <a:latin typeface="Arial"/>
                <a:ea typeface="Arial"/>
                <a:cs typeface="Arial"/>
              </a:defRPr>
            </a:pPr>
            <a:r>
              <a:rPr sz="1275" b="1">
                <a:solidFill>
                  <a:srgbClr val="174875"/>
                </a:solidFill>
                <a:latin typeface="Arial"/>
                <a:ea typeface="Arial"/>
                <a:cs typeface="Arial"/>
              </a:rPr>
              <a:t>ANÁLISE DA SEÇÃO 6</a:t>
            </a:r>
          </a:p>
        </p:txBody>
      </p:sp>
      <p:sp>
        <p:nvSpPr>
          <p:cNvPr id="3" name="Discussão: alcance e implicações dos ach">
            <a:extLst xmlns:a="http://schemas.openxmlformats.org/drawingml/2006/main">
              <a:ext uri="{FF2B5EF4-FFF2-40B4-BE49-F238E27FC236}">
                <a16:creationId xmlns:a16="http://schemas.microsoft.com/office/drawing/2014/main" id="{2A70DB26-2E39-4C94-970E-F4FD2E41FF95}"/>
              </a:ext>
            </a:extLst>
          </p:cNvPr>
          <p:cNvSpPr>
            <a:spLocks xmlns:a="http://schemas.openxmlformats.org/drawingml/2006/main" noGrp="1"/>
          </p:cNvSpPr>
          <p:nvPr/>
        </p:nvSpPr>
        <p:spPr>
          <a:xfrm xmlns:a="http://schemas.openxmlformats.org/drawingml/2006/main">
            <a:off x="609600" y="7048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2324F"/>
                </a:solidFill>
                <a:latin typeface="Arial"/>
                <a:ea typeface="Arial"/>
                <a:cs typeface="Arial"/>
              </a:defRPr>
            </a:pPr>
            <a:r>
              <a:rPr sz="3150" b="1">
                <a:solidFill>
                  <a:srgbClr val="12324F"/>
                </a:solidFill>
                <a:latin typeface="Arial"/>
                <a:ea typeface="Arial"/>
                <a:cs typeface="Arial"/>
              </a:rPr>
              <a:t>Discussão: alcance e implicações dos achados</a:t>
            </a:r>
          </a:p>
        </p:txBody>
      </p:sp>
      <p:sp>
        <p:nvSpPr>
          <p:cNvPr id="4" name="">
            <a:extLst xmlns:a="http://schemas.openxmlformats.org/drawingml/2006/main">
              <a:ext uri="{FF2B5EF4-FFF2-40B4-BE49-F238E27FC236}">
                <a16:creationId xmlns:a16="http://schemas.microsoft.com/office/drawing/2014/main" id="{81E5E0E2-1E0E-465E-B81D-1AF449892806}"/>
              </a:ext>
            </a:extLst>
          </p:cNvPr>
          <p:cNvSpPr>
            <a:spLocks xmlns:a="http://schemas.openxmlformats.org/drawingml/2006/main" noGrp="1"/>
          </p:cNvSpPr>
          <p:nvPr/>
        </p:nvSpPr>
        <p:spPr>
          <a:xfrm xmlns:a="http://schemas.openxmlformats.org/drawingml/2006/main">
            <a:off x="609600" y="1390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49D6D15-027D-4246-933B-448283266EFE}"/>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6" name="Nguyen, Backes e Stock (2022), Seções 6.">
            <a:extLst xmlns:a="http://schemas.openxmlformats.org/drawingml/2006/main">
              <a:ext uri="{FF2B5EF4-FFF2-40B4-BE49-F238E27FC236}">
                <a16:creationId xmlns:a16="http://schemas.microsoft.com/office/drawing/2014/main" id="{A353FDBB-3C73-4D08-AD9A-C33D65F76EC1}"/>
              </a:ext>
            </a:extLst>
          </p:cNvPr>
          <p:cNvSpPr>
            <a:spLocks xmlns:a="http://schemas.openxmlformats.org/drawingml/2006/main" noGrp="1"/>
          </p:cNvSpPr>
          <p:nvPr/>
        </p:nvSpPr>
        <p:spPr>
          <a:xfrm xmlns:a="http://schemas.openxmlformats.org/drawingml/2006/main">
            <a:off x="609600" y="6477000"/>
            <a:ext cx="9982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96B7A"/>
                </a:solidFill>
                <a:latin typeface="Arial"/>
                <a:ea typeface="Arial"/>
                <a:cs typeface="Arial"/>
              </a:defRPr>
            </a:pPr>
            <a:r>
              <a:rPr sz="1200" b="0">
                <a:solidFill>
                  <a:srgbClr val="596B7A"/>
                </a:solidFill>
                <a:latin typeface="Arial"/>
                <a:ea typeface="Arial"/>
                <a:cs typeface="Arial"/>
              </a:rPr>
              <a:t>Nguyen, Backes e Stock (2022), Seções 6.1–6.3, p. 12–13. Funções argumentativas: análise do seminário.</a:t>
            </a:r>
          </a:p>
        </p:txBody>
      </p:sp>
      <p:sp>
        <p:nvSpPr>
          <p:cNvPr id="7" name="19 / 23">
            <a:extLst xmlns:a="http://schemas.openxmlformats.org/drawingml/2006/main">
              <a:ext uri="{FF2B5EF4-FFF2-40B4-BE49-F238E27FC236}">
                <a16:creationId xmlns:a16="http://schemas.microsoft.com/office/drawing/2014/main" id="{AF421531-C6C6-4925-8EB3-B42222A65B61}"/>
              </a:ext>
            </a:extLst>
          </p:cNvPr>
          <p:cNvSpPr>
            <a:spLocks xmlns:a="http://schemas.openxmlformats.org/drawingml/2006/main" noGrp="1"/>
          </p:cNvSpPr>
          <p:nvPr/>
        </p:nvSpPr>
        <p:spPr>
          <a:xfrm xmlns:a="http://schemas.openxmlformats.org/drawingml/2006/main">
            <a:off x="10668000" y="64770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96B7A"/>
                </a:solidFill>
                <a:latin typeface="Arial"/>
                <a:ea typeface="Arial"/>
                <a:cs typeface="Arial"/>
              </a:defRPr>
            </a:pPr>
            <a:r>
              <a:rPr sz="1200" b="0">
                <a:solidFill>
                  <a:srgbClr val="596B7A"/>
                </a:solidFill>
                <a:latin typeface="Arial"/>
                <a:ea typeface="Arial"/>
                <a:cs typeface="Arial"/>
              </a:rPr>
              <a:t>19 / 23</a:t>
            </a:r>
          </a:p>
        </p:txBody>
      </p:sp>
      <p:sp>
        <p:nvSpPr>
          <p:cNvPr id="8" name="6.1  Alcance das potenciais violações">
            <a:extLst xmlns:a="http://schemas.openxmlformats.org/drawingml/2006/main">
              <a:ext uri="{FF2B5EF4-FFF2-40B4-BE49-F238E27FC236}">
                <a16:creationId xmlns:a16="http://schemas.microsoft.com/office/drawing/2014/main" id="{19536961-FCB9-42EF-869F-4F0DCC763355}"/>
              </a:ext>
            </a:extLst>
          </p:cNvPr>
          <p:cNvSpPr>
            <a:spLocks xmlns:a="http://schemas.openxmlformats.org/drawingml/2006/main" noGrp="1"/>
          </p:cNvSpPr>
          <p:nvPr/>
        </p:nvSpPr>
        <p:spPr>
          <a:xfrm xmlns:a="http://schemas.openxmlformats.org/drawingml/2006/main">
            <a:off x="609600" y="1781175"/>
            <a:ext cx="5676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74875"/>
                </a:solidFill>
                <a:latin typeface="Arial"/>
                <a:ea typeface="Arial"/>
                <a:cs typeface="Arial"/>
              </a:defRPr>
            </a:pPr>
            <a:r>
              <a:rPr sz="1350" b="1">
                <a:solidFill>
                  <a:srgbClr val="174875"/>
                </a:solidFill>
                <a:latin typeface="Arial"/>
                <a:ea typeface="Arial"/>
                <a:cs typeface="Arial"/>
              </a:rPr>
              <a:t>6.1  Alcance das potenciais violações</a:t>
            </a:r>
          </a:p>
        </p:txBody>
      </p:sp>
      <p:sp>
        <p:nvSpPr>
          <p:cNvPr id="9" name="Relaciona os achados empíricos&#10;às prátic">
            <a:extLst xmlns:a="http://schemas.openxmlformats.org/drawingml/2006/main">
              <a:ext uri="{FF2B5EF4-FFF2-40B4-BE49-F238E27FC236}">
                <a16:creationId xmlns:a16="http://schemas.microsoft.com/office/drawing/2014/main" id="{29046424-8495-4727-87A4-6EC501982EC1}"/>
              </a:ext>
            </a:extLst>
          </p:cNvPr>
          <p:cNvSpPr>
            <a:spLocks xmlns:a="http://schemas.openxmlformats.org/drawingml/2006/main" noGrp="1"/>
          </p:cNvSpPr>
          <p:nvPr/>
        </p:nvSpPr>
        <p:spPr>
          <a:xfrm xmlns:a="http://schemas.openxmlformats.org/drawingml/2006/main">
            <a:off x="609600" y="2181225"/>
            <a:ext cx="5619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4384A"/>
                </a:solidFill>
                <a:latin typeface="Arial"/>
                <a:ea typeface="Arial"/>
                <a:cs typeface="Arial"/>
              </a:defRPr>
            </a:pPr>
            <a:r>
              <a:rPr sz="2025" b="0">
                <a:solidFill>
                  <a:srgbClr val="24384A"/>
                </a:solidFill>
                <a:latin typeface="Arial"/>
                <a:ea typeface="Arial"/>
                <a:cs typeface="Arial"/>
              </a:rPr>
              <a:t>Relaciona os achados empíricos</a:t>
            </a:r>
          </a:p>
          <a:p xmlns:a="http://schemas.openxmlformats.org/drawingml/2006/main">
            <a:pPr algn="l">
              <a:defRPr sz="2025" b="0">
                <a:solidFill>
                  <a:srgbClr val="24384A"/>
                </a:solidFill>
                <a:latin typeface="Arial"/>
                <a:ea typeface="Arial"/>
                <a:cs typeface="Arial"/>
              </a:defRPr>
            </a:pPr>
            <a:r>
              <a:rPr sz="2025" b="0">
                <a:solidFill>
                  <a:srgbClr val="24384A"/>
                </a:solidFill>
                <a:latin typeface="Arial"/>
                <a:ea typeface="Arial"/>
                <a:cs typeface="Arial"/>
              </a:rPr>
              <a:t>às práticas discutidas na literatura.</a:t>
            </a:r>
          </a:p>
        </p:txBody>
      </p:sp>
      <p:sp>
        <p:nvSpPr>
          <p:cNvPr id="10" name="">
            <a:extLst xmlns:a="http://schemas.openxmlformats.org/drawingml/2006/main">
              <a:ext uri="{FF2B5EF4-FFF2-40B4-BE49-F238E27FC236}">
                <a16:creationId xmlns:a16="http://schemas.microsoft.com/office/drawing/2014/main" id="{3B3998EA-75F2-40F9-B833-D6E1F88B0494}"/>
              </a:ext>
            </a:extLst>
          </p:cNvPr>
          <p:cNvSpPr>
            <a:spLocks xmlns:a="http://schemas.openxmlformats.org/drawingml/2006/main" noGrp="1"/>
          </p:cNvSpPr>
          <p:nvPr/>
        </p:nvSpPr>
        <p:spPr>
          <a:xfrm xmlns:a="http://schemas.openxmlformats.org/drawingml/2006/main">
            <a:off x="609600" y="2981325"/>
            <a:ext cx="54483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11" name="6.2  Transparência do tratamento">
            <a:extLst xmlns:a="http://schemas.openxmlformats.org/drawingml/2006/main">
              <a:ext uri="{FF2B5EF4-FFF2-40B4-BE49-F238E27FC236}">
                <a16:creationId xmlns:a16="http://schemas.microsoft.com/office/drawing/2014/main" id="{6B0FFBC1-492D-4F2C-9BDC-4B70F97DF19D}"/>
              </a:ext>
            </a:extLst>
          </p:cNvPr>
          <p:cNvSpPr>
            <a:spLocks xmlns:a="http://schemas.openxmlformats.org/drawingml/2006/main" noGrp="1"/>
          </p:cNvSpPr>
          <p:nvPr/>
        </p:nvSpPr>
        <p:spPr>
          <a:xfrm xmlns:a="http://schemas.openxmlformats.org/drawingml/2006/main">
            <a:off x="609600" y="3152775"/>
            <a:ext cx="5676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74875"/>
                </a:solidFill>
                <a:latin typeface="Arial"/>
                <a:ea typeface="Arial"/>
                <a:cs typeface="Arial"/>
              </a:defRPr>
            </a:pPr>
            <a:r>
              <a:rPr sz="1350" b="1">
                <a:solidFill>
                  <a:srgbClr val="174875"/>
                </a:solidFill>
                <a:latin typeface="Arial"/>
                <a:ea typeface="Arial"/>
                <a:cs typeface="Arial"/>
              </a:rPr>
              <a:t>6.2  Transparência do tratamento</a:t>
            </a:r>
          </a:p>
        </p:txBody>
      </p:sp>
      <p:sp>
        <p:nvSpPr>
          <p:cNvPr id="12" name="Discute a dificuldade de saber&#10;quem rece">
            <a:extLst xmlns:a="http://schemas.openxmlformats.org/drawingml/2006/main">
              <a:ext uri="{FF2B5EF4-FFF2-40B4-BE49-F238E27FC236}">
                <a16:creationId xmlns:a16="http://schemas.microsoft.com/office/drawing/2014/main" id="{2EFEFE40-F710-4A51-9522-E2DDC48C89EF}"/>
              </a:ext>
            </a:extLst>
          </p:cNvPr>
          <p:cNvSpPr>
            <a:spLocks xmlns:a="http://schemas.openxmlformats.org/drawingml/2006/main" noGrp="1"/>
          </p:cNvSpPr>
          <p:nvPr/>
        </p:nvSpPr>
        <p:spPr>
          <a:xfrm xmlns:a="http://schemas.openxmlformats.org/drawingml/2006/main">
            <a:off x="609600" y="3552825"/>
            <a:ext cx="5619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4384A"/>
                </a:solidFill>
                <a:latin typeface="Arial"/>
                <a:ea typeface="Arial"/>
                <a:cs typeface="Arial"/>
              </a:defRPr>
            </a:pPr>
            <a:r>
              <a:rPr sz="2025" b="0">
                <a:solidFill>
                  <a:srgbClr val="24384A"/>
                </a:solidFill>
                <a:latin typeface="Arial"/>
                <a:ea typeface="Arial"/>
                <a:cs typeface="Arial"/>
              </a:rPr>
              <a:t>Discute a dificuldade de saber</a:t>
            </a:r>
          </a:p>
          <a:p xmlns:a="http://schemas.openxmlformats.org/drawingml/2006/main">
            <a:pPr algn="l">
              <a:defRPr sz="2025" b="0">
                <a:solidFill>
                  <a:srgbClr val="24384A"/>
                </a:solidFill>
                <a:latin typeface="Arial"/>
                <a:ea typeface="Arial"/>
                <a:cs typeface="Arial"/>
              </a:defRPr>
            </a:pPr>
            <a:r>
              <a:rPr sz="2025" b="0">
                <a:solidFill>
                  <a:srgbClr val="24384A"/>
                </a:solidFill>
                <a:latin typeface="Arial"/>
                <a:ea typeface="Arial"/>
                <a:cs typeface="Arial"/>
              </a:rPr>
              <a:t>quem recebe e processa os dados.</a:t>
            </a:r>
          </a:p>
        </p:txBody>
      </p:sp>
      <p:sp>
        <p:nvSpPr>
          <p:cNvPr id="13" name="">
            <a:extLst xmlns:a="http://schemas.openxmlformats.org/drawingml/2006/main">
              <a:ext uri="{FF2B5EF4-FFF2-40B4-BE49-F238E27FC236}">
                <a16:creationId xmlns:a16="http://schemas.microsoft.com/office/drawing/2014/main" id="{784F1476-0A10-4BBE-90D2-4B05EC2775F4}"/>
              </a:ext>
            </a:extLst>
          </p:cNvPr>
          <p:cNvSpPr>
            <a:spLocks xmlns:a="http://schemas.openxmlformats.org/drawingml/2006/main" noGrp="1"/>
          </p:cNvSpPr>
          <p:nvPr/>
        </p:nvSpPr>
        <p:spPr>
          <a:xfrm xmlns:a="http://schemas.openxmlformats.org/drawingml/2006/main">
            <a:off x="609600" y="4352925"/>
            <a:ext cx="54483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14" name="6.3  Suporte aos desenvolvedores">
            <a:extLst xmlns:a="http://schemas.openxmlformats.org/drawingml/2006/main">
              <a:ext uri="{FF2B5EF4-FFF2-40B4-BE49-F238E27FC236}">
                <a16:creationId xmlns:a16="http://schemas.microsoft.com/office/drawing/2014/main" id="{1EB4C9EE-A268-4B4C-A851-FF510E8B3329}"/>
              </a:ext>
            </a:extLst>
          </p:cNvPr>
          <p:cNvSpPr>
            <a:spLocks xmlns:a="http://schemas.openxmlformats.org/drawingml/2006/main" noGrp="1"/>
          </p:cNvSpPr>
          <p:nvPr/>
        </p:nvSpPr>
        <p:spPr>
          <a:xfrm xmlns:a="http://schemas.openxmlformats.org/drawingml/2006/main">
            <a:off x="609600" y="4524375"/>
            <a:ext cx="5676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287967"/>
                </a:solidFill>
                <a:latin typeface="Arial"/>
                <a:ea typeface="Arial"/>
                <a:cs typeface="Arial"/>
              </a:defRPr>
            </a:pPr>
            <a:r>
              <a:rPr sz="1350" b="1">
                <a:solidFill>
                  <a:srgbClr val="287967"/>
                </a:solidFill>
                <a:latin typeface="Arial"/>
                <a:ea typeface="Arial"/>
                <a:cs typeface="Arial"/>
              </a:rPr>
              <a:t>6.3  Suporte aos desenvolvedores</a:t>
            </a:r>
          </a:p>
        </p:txBody>
      </p:sp>
      <p:sp>
        <p:nvSpPr>
          <p:cNvPr id="15" name="Defende documentação clara&#10;e ferramentas">
            <a:extLst xmlns:a="http://schemas.openxmlformats.org/drawingml/2006/main">
              <a:ext uri="{FF2B5EF4-FFF2-40B4-BE49-F238E27FC236}">
                <a16:creationId xmlns:a16="http://schemas.microsoft.com/office/drawing/2014/main" id="{0D3A2C61-1D1A-455E-A784-4DED4BAEF0FB}"/>
              </a:ext>
            </a:extLst>
          </p:cNvPr>
          <p:cNvSpPr>
            <a:spLocks xmlns:a="http://schemas.openxmlformats.org/drawingml/2006/main" noGrp="1"/>
          </p:cNvSpPr>
          <p:nvPr/>
        </p:nvSpPr>
        <p:spPr>
          <a:xfrm xmlns:a="http://schemas.openxmlformats.org/drawingml/2006/main">
            <a:off x="609600" y="4924425"/>
            <a:ext cx="5619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4384A"/>
                </a:solidFill>
                <a:latin typeface="Arial"/>
                <a:ea typeface="Arial"/>
                <a:cs typeface="Arial"/>
              </a:defRPr>
            </a:pPr>
            <a:r>
              <a:rPr sz="2025" b="0">
                <a:solidFill>
                  <a:srgbClr val="24384A"/>
                </a:solidFill>
                <a:latin typeface="Arial"/>
                <a:ea typeface="Arial"/>
                <a:cs typeface="Arial"/>
              </a:rPr>
              <a:t>Defende documentação clara</a:t>
            </a:r>
          </a:p>
          <a:p xmlns:a="http://schemas.openxmlformats.org/drawingml/2006/main">
            <a:pPr algn="l">
              <a:defRPr sz="2025" b="0">
                <a:solidFill>
                  <a:srgbClr val="24384A"/>
                </a:solidFill>
                <a:latin typeface="Arial"/>
                <a:ea typeface="Arial"/>
                <a:cs typeface="Arial"/>
              </a:defRPr>
            </a:pPr>
            <a:r>
              <a:rPr sz="2025" b="0">
                <a:solidFill>
                  <a:srgbClr val="24384A"/>
                </a:solidFill>
                <a:latin typeface="Arial"/>
                <a:ea typeface="Arial"/>
                <a:cs typeface="Arial"/>
              </a:rPr>
              <a:t>e ferramentas de verificação.</a:t>
            </a:r>
          </a:p>
        </p:txBody>
      </p:sp>
      <p:sp>
        <p:nvSpPr>
          <p:cNvPr id="16" name="">
            <a:extLst xmlns:a="http://schemas.openxmlformats.org/drawingml/2006/main">
              <a:ext uri="{FF2B5EF4-FFF2-40B4-BE49-F238E27FC236}">
                <a16:creationId xmlns:a16="http://schemas.microsoft.com/office/drawing/2014/main" id="{B0D3A798-FEAE-4772-8129-C99D3A5B9CDA}"/>
              </a:ext>
            </a:extLst>
          </p:cNvPr>
          <p:cNvSpPr>
            <a:spLocks xmlns:a="http://schemas.openxmlformats.org/drawingml/2006/main" noGrp="1"/>
          </p:cNvSpPr>
          <p:nvPr/>
        </p:nvSpPr>
        <p:spPr>
          <a:xfrm xmlns:a="http://schemas.openxmlformats.org/drawingml/2006/main">
            <a:off x="6591300" y="1752600"/>
            <a:ext cx="9525" cy="418147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17" name="EN">
            <a:extLst xmlns:a="http://schemas.openxmlformats.org/drawingml/2006/main">
              <a:ext uri="{FF2B5EF4-FFF2-40B4-BE49-F238E27FC236}">
                <a16:creationId xmlns:a16="http://schemas.microsoft.com/office/drawing/2014/main" id="{E845AFD1-0F3C-46DA-9EC7-6A1AFE96056B}"/>
              </a:ext>
            </a:extLst>
          </p:cNvPr>
          <p:cNvSpPr>
            <a:spLocks xmlns:a="http://schemas.openxmlformats.org/drawingml/2006/main" noGrp="1"/>
          </p:cNvSpPr>
          <p:nvPr/>
        </p:nvSpPr>
        <p:spPr>
          <a:xfrm xmlns:a="http://schemas.openxmlformats.org/drawingml/2006/main">
            <a:off x="7077075" y="181927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287967"/>
                </a:solidFill>
                <a:latin typeface="Arial"/>
                <a:ea typeface="Arial"/>
                <a:cs typeface="Arial"/>
              </a:defRPr>
            </a:pPr>
            <a:r>
              <a:rPr sz="1200" b="1">
                <a:solidFill>
                  <a:srgbClr val="287967"/>
                </a:solidFill>
                <a:latin typeface="Arial"/>
                <a:ea typeface="Arial"/>
                <a:cs typeface="Arial"/>
              </a:rPr>
              <a:t>EN</a:t>
            </a:r>
          </a:p>
        </p:txBody>
      </p:sp>
      <p:sp>
        <p:nvSpPr>
          <p:cNvPr id="18" name="“there is a clear need for better inform">
            <a:extLst xmlns:a="http://schemas.openxmlformats.org/drawingml/2006/main">
              <a:ext uri="{FF2B5EF4-FFF2-40B4-BE49-F238E27FC236}">
                <a16:creationId xmlns:a16="http://schemas.microsoft.com/office/drawing/2014/main" id="{BA267943-19FC-43F6-AFEC-FD1E1172A291}"/>
              </a:ext>
            </a:extLst>
          </p:cNvPr>
          <p:cNvSpPr>
            <a:spLocks xmlns:a="http://schemas.openxmlformats.org/drawingml/2006/main" noGrp="1"/>
          </p:cNvSpPr>
          <p:nvPr/>
        </p:nvSpPr>
        <p:spPr>
          <a:xfrm xmlns:a="http://schemas.openxmlformats.org/drawingml/2006/main">
            <a:off x="7496175" y="1790700"/>
            <a:ext cx="4086225"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4384A"/>
                </a:solidFill>
                <a:latin typeface="Arial"/>
                <a:ea typeface="Arial"/>
                <a:cs typeface="Arial"/>
              </a:defRPr>
            </a:pPr>
            <a:r>
              <a:rPr sz="2025" b="0">
                <a:solidFill>
                  <a:srgbClr val="24384A"/>
                </a:solidFill>
                <a:latin typeface="Arial"/>
                <a:ea typeface="Arial"/>
                <a:cs typeface="Arial"/>
              </a:rPr>
              <a:t>“there is a clear need for better information and documentation from third-party services and assurance tools”</a:t>
            </a:r>
          </a:p>
        </p:txBody>
      </p:sp>
      <p:sp>
        <p:nvSpPr>
          <p:cNvPr id="19" name="PT">
            <a:extLst xmlns:a="http://schemas.openxmlformats.org/drawingml/2006/main">
              <a:ext uri="{FF2B5EF4-FFF2-40B4-BE49-F238E27FC236}">
                <a16:creationId xmlns:a16="http://schemas.microsoft.com/office/drawing/2014/main" id="{E009C666-AA9D-4C8C-852B-2A4E04DCCD86}"/>
              </a:ext>
            </a:extLst>
          </p:cNvPr>
          <p:cNvSpPr>
            <a:spLocks xmlns:a="http://schemas.openxmlformats.org/drawingml/2006/main" noGrp="1"/>
          </p:cNvSpPr>
          <p:nvPr/>
        </p:nvSpPr>
        <p:spPr>
          <a:xfrm xmlns:a="http://schemas.openxmlformats.org/drawingml/2006/main">
            <a:off x="7077075" y="362902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287967"/>
                </a:solidFill>
                <a:latin typeface="Arial"/>
                <a:ea typeface="Arial"/>
                <a:cs typeface="Arial"/>
              </a:defRPr>
            </a:pPr>
            <a:r>
              <a:rPr sz="1200" b="1">
                <a:solidFill>
                  <a:srgbClr val="287967"/>
                </a:solidFill>
                <a:latin typeface="Arial"/>
                <a:ea typeface="Arial"/>
                <a:cs typeface="Arial"/>
              </a:rPr>
              <a:t>PT</a:t>
            </a:r>
          </a:p>
        </p:txBody>
      </p:sp>
      <p:sp>
        <p:nvSpPr>
          <p:cNvPr id="20" name="Há uma necessidade clara de melhores inf">
            <a:extLst xmlns:a="http://schemas.openxmlformats.org/drawingml/2006/main">
              <a:ext uri="{FF2B5EF4-FFF2-40B4-BE49-F238E27FC236}">
                <a16:creationId xmlns:a16="http://schemas.microsoft.com/office/drawing/2014/main" id="{01C1B801-EAEC-4B16-86B3-57CBC72C1805}"/>
              </a:ext>
            </a:extLst>
          </p:cNvPr>
          <p:cNvSpPr>
            <a:spLocks xmlns:a="http://schemas.openxmlformats.org/drawingml/2006/main" noGrp="1"/>
          </p:cNvSpPr>
          <p:nvPr/>
        </p:nvSpPr>
        <p:spPr>
          <a:xfrm xmlns:a="http://schemas.openxmlformats.org/drawingml/2006/main">
            <a:off x="7496175" y="3600450"/>
            <a:ext cx="4086225"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87967"/>
                </a:solidFill>
                <a:latin typeface="Arial"/>
                <a:ea typeface="Arial"/>
                <a:cs typeface="Arial"/>
              </a:defRPr>
            </a:pPr>
            <a:r>
              <a:rPr sz="2025" b="0">
                <a:solidFill>
                  <a:srgbClr val="287967"/>
                </a:solidFill>
                <a:latin typeface="Arial"/>
                <a:ea typeface="Arial"/>
                <a:cs typeface="Arial"/>
              </a:rPr>
              <a:t>Há uma necessidade clara de melhores informações e documentação dos serviços de terceiros e de ferramentas de verificação.</a:t>
            </a:r>
          </a:p>
        </p:txBody>
      </p:sp>
      <p:sp>
        <p:nvSpPr>
          <p:cNvPr id="21" name="Análise: os autores discutem também as&#10;d">
            <a:extLst xmlns:a="http://schemas.openxmlformats.org/drawingml/2006/main">
              <a:ext uri="{FF2B5EF4-FFF2-40B4-BE49-F238E27FC236}">
                <a16:creationId xmlns:a16="http://schemas.microsoft.com/office/drawing/2014/main" id="{B72FFAF1-8341-4984-ACAD-7C7BB77B73AC}"/>
              </a:ext>
            </a:extLst>
          </p:cNvPr>
          <p:cNvSpPr>
            <a:spLocks xmlns:a="http://schemas.openxmlformats.org/drawingml/2006/main" noGrp="1"/>
          </p:cNvSpPr>
          <p:nvPr/>
        </p:nvSpPr>
        <p:spPr>
          <a:xfrm xmlns:a="http://schemas.openxmlformats.org/drawingml/2006/main">
            <a:off x="7077075" y="5476875"/>
            <a:ext cx="45053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96B7A"/>
                </a:solidFill>
                <a:latin typeface="Arial"/>
                <a:ea typeface="Arial"/>
                <a:cs typeface="Arial"/>
              </a:defRPr>
            </a:pPr>
            <a:r>
              <a:rPr sz="1725" b="0">
                <a:solidFill>
                  <a:srgbClr val="596B7A"/>
                </a:solidFill>
                <a:latin typeface="Arial"/>
                <a:ea typeface="Arial"/>
                <a:cs typeface="Arial"/>
              </a:rPr>
              <a:t>Análise: os autores discutem também as</a:t>
            </a:r>
          </a:p>
          <a:p xmlns:a="http://schemas.openxmlformats.org/drawingml/2006/main">
            <a:pPr algn="l">
              <a:defRPr sz="1725" b="0">
                <a:solidFill>
                  <a:srgbClr val="596B7A"/>
                </a:solidFill>
                <a:latin typeface="Arial"/>
                <a:ea typeface="Arial"/>
                <a:cs typeface="Arial"/>
              </a:defRPr>
            </a:pPr>
            <a:r>
              <a:rPr sz="1725" b="0">
                <a:solidFill>
                  <a:srgbClr val="596B7A"/>
                </a:solidFill>
                <a:latin typeface="Arial"/>
                <a:ea typeface="Arial"/>
                <a:cs typeface="Arial"/>
              </a:rPr>
              <a:t>dificuldades de implementação, sem</a:t>
            </a:r>
          </a:p>
          <a:p xmlns:a="http://schemas.openxmlformats.org/drawingml/2006/main">
            <a:pPr algn="l">
              <a:defRPr sz="1725" b="0">
                <a:solidFill>
                  <a:srgbClr val="596B7A"/>
                </a:solidFill>
                <a:latin typeface="Arial"/>
                <a:ea typeface="Arial"/>
                <a:cs typeface="Arial"/>
              </a:defRPr>
            </a:pPr>
            <a:r>
              <a:rPr sz="1725" b="0">
                <a:solidFill>
                  <a:srgbClr val="596B7A"/>
                </a:solidFill>
                <a:latin typeface="Arial"/>
                <a:ea typeface="Arial"/>
                <a:cs typeface="Arial"/>
              </a:rPr>
              <a:t>atribuir uma causa única aos resultados.</a:t>
            </a:r>
          </a:p>
        </p:txBody>
      </p:sp>
    </p:spTree>
    <p:extLst>
      <p:ext uri="{BB962C8B-B14F-4D97-AF65-F5344CB8AC3E}">
        <p14:creationId xmlns:p14="http://schemas.microsoft.com/office/powerpoint/2010/main" val="141641948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DA9F88B-FE3E-497B-A76E-08C5F9E70354}"/>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174875"/>
          </a:solidFill>
          <a:ln xmlns:a="http://schemas.openxmlformats.org/drawingml/2006/main" w="0">
            <a:noFill/>
          </a:ln>
        </p:spPr>
      </p:sp>
      <p:sp>
        <p:nvSpPr>
          <p:cNvPr id="2" name="ANÁLISE METODOLÓGICA">
            <a:extLst xmlns:a="http://schemas.openxmlformats.org/drawingml/2006/main">
              <a:ext uri="{FF2B5EF4-FFF2-40B4-BE49-F238E27FC236}">
                <a16:creationId xmlns:a16="http://schemas.microsoft.com/office/drawing/2014/main" id="{183F08A2-AAEB-4017-A865-9CBF992FDF11}"/>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74875"/>
                </a:solidFill>
                <a:latin typeface="Arial"/>
                <a:ea typeface="Arial"/>
                <a:cs typeface="Arial"/>
              </a:defRPr>
            </a:pPr>
            <a:r>
              <a:rPr sz="1275" b="1">
                <a:solidFill>
                  <a:srgbClr val="174875"/>
                </a:solidFill>
                <a:latin typeface="Arial"/>
                <a:ea typeface="Arial"/>
                <a:cs typeface="Arial"/>
              </a:rPr>
              <a:t>ANÁLISE METODOLÓGICA</a:t>
            </a:r>
          </a:p>
        </p:txBody>
      </p:sp>
      <p:sp>
        <p:nvSpPr>
          <p:cNvPr id="3" name="Limites da evidência e da generalização">
            <a:extLst xmlns:a="http://schemas.openxmlformats.org/drawingml/2006/main">
              <a:ext uri="{FF2B5EF4-FFF2-40B4-BE49-F238E27FC236}">
                <a16:creationId xmlns:a16="http://schemas.microsoft.com/office/drawing/2014/main" id="{E2024A74-7707-4B18-B5C3-F89CCA620E74}"/>
              </a:ext>
            </a:extLst>
          </p:cNvPr>
          <p:cNvSpPr>
            <a:spLocks xmlns:a="http://schemas.openxmlformats.org/drawingml/2006/main" noGrp="1"/>
          </p:cNvSpPr>
          <p:nvPr/>
        </p:nvSpPr>
        <p:spPr>
          <a:xfrm xmlns:a="http://schemas.openxmlformats.org/drawingml/2006/main">
            <a:off x="609600" y="7048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2324F"/>
                </a:solidFill>
                <a:latin typeface="Arial"/>
                <a:ea typeface="Arial"/>
                <a:cs typeface="Arial"/>
              </a:defRPr>
            </a:pPr>
            <a:r>
              <a:rPr sz="3150" b="1">
                <a:solidFill>
                  <a:srgbClr val="12324F"/>
                </a:solidFill>
                <a:latin typeface="Arial"/>
                <a:ea typeface="Arial"/>
                <a:cs typeface="Arial"/>
              </a:rPr>
              <a:t>Limites da evidência e da generalização</a:t>
            </a:r>
          </a:p>
        </p:txBody>
      </p:sp>
      <p:sp>
        <p:nvSpPr>
          <p:cNvPr id="4" name="">
            <a:extLst xmlns:a="http://schemas.openxmlformats.org/drawingml/2006/main">
              <a:ext uri="{FF2B5EF4-FFF2-40B4-BE49-F238E27FC236}">
                <a16:creationId xmlns:a16="http://schemas.microsoft.com/office/drawing/2014/main" id="{C8A3F601-6D5F-4B3D-8497-0AAD227186E8}"/>
              </a:ext>
            </a:extLst>
          </p:cNvPr>
          <p:cNvSpPr>
            <a:spLocks xmlns:a="http://schemas.openxmlformats.org/drawingml/2006/main" noGrp="1"/>
          </p:cNvSpPr>
          <p:nvPr/>
        </p:nvSpPr>
        <p:spPr>
          <a:xfrm xmlns:a="http://schemas.openxmlformats.org/drawingml/2006/main">
            <a:off x="609600" y="1390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D375425-6DF0-4B95-B846-31F4EEBC6A10}"/>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6" name="Nguyen, Backes e Stock (2022), Seções 4.">
            <a:extLst xmlns:a="http://schemas.openxmlformats.org/drawingml/2006/main">
              <a:ext uri="{FF2B5EF4-FFF2-40B4-BE49-F238E27FC236}">
                <a16:creationId xmlns:a16="http://schemas.microsoft.com/office/drawing/2014/main" id="{5F827E4C-AF98-4A00-99AA-355A6046C6B8}"/>
              </a:ext>
            </a:extLst>
          </p:cNvPr>
          <p:cNvSpPr>
            <a:spLocks xmlns:a="http://schemas.openxmlformats.org/drawingml/2006/main" noGrp="1"/>
          </p:cNvSpPr>
          <p:nvPr/>
        </p:nvSpPr>
        <p:spPr>
          <a:xfrm xmlns:a="http://schemas.openxmlformats.org/drawingml/2006/main">
            <a:off x="609600" y="6477000"/>
            <a:ext cx="9982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96B7A"/>
                </a:solidFill>
                <a:latin typeface="Arial"/>
                <a:ea typeface="Arial"/>
                <a:cs typeface="Arial"/>
              </a:defRPr>
            </a:pPr>
            <a:r>
              <a:rPr sz="1200" b="0">
                <a:solidFill>
                  <a:srgbClr val="596B7A"/>
                </a:solidFill>
                <a:latin typeface="Arial"/>
                <a:ea typeface="Arial"/>
                <a:cs typeface="Arial"/>
              </a:rPr>
              <a:t>Nguyen, Backes e Stock (2022), Seções 4.1–4.3 e 4.4.1, p. 6–9. Limitações aparecem dentro da análise empírica.</a:t>
            </a:r>
          </a:p>
        </p:txBody>
      </p:sp>
      <p:sp>
        <p:nvSpPr>
          <p:cNvPr id="7" name="20 / 23">
            <a:extLst xmlns:a="http://schemas.openxmlformats.org/drawingml/2006/main">
              <a:ext uri="{FF2B5EF4-FFF2-40B4-BE49-F238E27FC236}">
                <a16:creationId xmlns:a16="http://schemas.microsoft.com/office/drawing/2014/main" id="{4A3E592A-0E64-4C51-A847-C3FFCBAF90E7}"/>
              </a:ext>
            </a:extLst>
          </p:cNvPr>
          <p:cNvSpPr>
            <a:spLocks xmlns:a="http://schemas.openxmlformats.org/drawingml/2006/main" noGrp="1"/>
          </p:cNvSpPr>
          <p:nvPr/>
        </p:nvSpPr>
        <p:spPr>
          <a:xfrm xmlns:a="http://schemas.openxmlformats.org/drawingml/2006/main">
            <a:off x="10668000" y="64770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96B7A"/>
                </a:solidFill>
                <a:latin typeface="Arial"/>
                <a:ea typeface="Arial"/>
                <a:cs typeface="Arial"/>
              </a:defRPr>
            </a:pPr>
            <a:r>
              <a:rPr sz="1200" b="0">
                <a:solidFill>
                  <a:srgbClr val="596B7A"/>
                </a:solidFill>
                <a:latin typeface="Arial"/>
                <a:ea typeface="Arial"/>
                <a:cs typeface="Arial"/>
              </a:rPr>
              <a:t>20 / 23</a:t>
            </a:r>
          </a:p>
        </p:txBody>
      </p:sp>
      <p:sp>
        <p:nvSpPr>
          <p:cNvPr id="8" name="CORPUS">
            <a:extLst xmlns:a="http://schemas.openxmlformats.org/drawingml/2006/main">
              <a:ext uri="{FF2B5EF4-FFF2-40B4-BE49-F238E27FC236}">
                <a16:creationId xmlns:a16="http://schemas.microsoft.com/office/drawing/2014/main" id="{BDC8E591-4A29-4E79-AB34-EF52FFD90AE2}"/>
              </a:ext>
            </a:extLst>
          </p:cNvPr>
          <p:cNvSpPr>
            <a:spLocks xmlns:a="http://schemas.openxmlformats.org/drawingml/2006/main" noGrp="1"/>
          </p:cNvSpPr>
          <p:nvPr/>
        </p:nvSpPr>
        <p:spPr>
          <a:xfrm xmlns:a="http://schemas.openxmlformats.org/drawingml/2006/main">
            <a:off x="609600" y="1733550"/>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95652D"/>
                </a:solidFill>
                <a:latin typeface="Arial"/>
                <a:ea typeface="Arial"/>
                <a:cs typeface="Arial"/>
              </a:defRPr>
            </a:pPr>
            <a:r>
              <a:rPr sz="1350" b="1">
                <a:solidFill>
                  <a:srgbClr val="95652D"/>
                </a:solidFill>
                <a:latin typeface="Arial"/>
                <a:ea typeface="Arial"/>
                <a:cs typeface="Arial"/>
              </a:rPr>
              <a:t>CORPUS</a:t>
            </a:r>
          </a:p>
        </p:txBody>
      </p:sp>
      <p:sp>
        <p:nvSpPr>
          <p:cNvPr id="9" name="Somente aplicativos gratuitos que atendi">
            <a:extLst xmlns:a="http://schemas.openxmlformats.org/drawingml/2006/main">
              <a:ext uri="{FF2B5EF4-FFF2-40B4-BE49-F238E27FC236}">
                <a16:creationId xmlns:a16="http://schemas.microsoft.com/office/drawing/2014/main" id="{4695400B-0B46-4EA8-80F0-CA5979EC11D0}"/>
              </a:ext>
            </a:extLst>
          </p:cNvPr>
          <p:cNvSpPr>
            <a:spLocks xmlns:a="http://schemas.openxmlformats.org/drawingml/2006/main" noGrp="1"/>
          </p:cNvSpPr>
          <p:nvPr/>
        </p:nvSpPr>
        <p:spPr>
          <a:xfrm xmlns:a="http://schemas.openxmlformats.org/drawingml/2006/main">
            <a:off x="2733675" y="1695450"/>
            <a:ext cx="88487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4384A"/>
                </a:solidFill>
                <a:latin typeface="Arial"/>
                <a:ea typeface="Arial"/>
                <a:cs typeface="Arial"/>
              </a:defRPr>
            </a:pPr>
            <a:r>
              <a:rPr sz="2025" b="0">
                <a:solidFill>
                  <a:srgbClr val="24384A"/>
                </a:solidFill>
                <a:latin typeface="Arial"/>
                <a:ea typeface="Arial"/>
                <a:cs typeface="Arial"/>
              </a:rPr>
              <a:t>Somente aplicativos gratuitos que atendiam aos filtros.</a:t>
            </a:r>
          </a:p>
          <a:p xmlns:a="http://schemas.openxmlformats.org/drawingml/2006/main">
            <a:pPr algn="l">
              <a:defRPr sz="2025" b="0">
                <a:solidFill>
                  <a:srgbClr val="24384A"/>
                </a:solidFill>
                <a:latin typeface="Arial"/>
                <a:ea typeface="Arial"/>
                <a:cs typeface="Arial"/>
              </a:defRPr>
            </a:pPr>
            <a:r>
              <a:rPr sz="2025" b="0">
                <a:solidFill>
                  <a:srgbClr val="24384A"/>
                </a:solidFill>
                <a:latin typeface="Arial"/>
                <a:ea typeface="Arial"/>
                <a:cs typeface="Arial"/>
              </a:rPr>
              <a:t>Os resultados não representam automaticamente todos os apps Android.</a:t>
            </a:r>
          </a:p>
        </p:txBody>
      </p:sp>
      <p:sp>
        <p:nvSpPr>
          <p:cNvPr id="10" name="">
            <a:extLst xmlns:a="http://schemas.openxmlformats.org/drawingml/2006/main">
              <a:ext uri="{FF2B5EF4-FFF2-40B4-BE49-F238E27FC236}">
                <a16:creationId xmlns:a16="http://schemas.microsoft.com/office/drawing/2014/main" id="{A8606D0B-57B9-49ED-81A1-560FEE54F1D3}"/>
              </a:ext>
            </a:extLst>
          </p:cNvPr>
          <p:cNvSpPr>
            <a:spLocks xmlns:a="http://schemas.openxmlformats.org/drawingml/2006/main" noGrp="1"/>
          </p:cNvSpPr>
          <p:nvPr/>
        </p:nvSpPr>
        <p:spPr>
          <a:xfrm xmlns:a="http://schemas.openxmlformats.org/drawingml/2006/main">
            <a:off x="609600" y="262890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11" name="EXECUÇÃO">
            <a:extLst xmlns:a="http://schemas.openxmlformats.org/drawingml/2006/main">
              <a:ext uri="{FF2B5EF4-FFF2-40B4-BE49-F238E27FC236}">
                <a16:creationId xmlns:a16="http://schemas.microsoft.com/office/drawing/2014/main" id="{3A566CDF-96B3-46DD-B63A-389725930293}"/>
              </a:ext>
            </a:extLst>
          </p:cNvPr>
          <p:cNvSpPr>
            <a:spLocks xmlns:a="http://schemas.openxmlformats.org/drawingml/2006/main" noGrp="1"/>
          </p:cNvSpPr>
          <p:nvPr/>
        </p:nvSpPr>
        <p:spPr>
          <a:xfrm xmlns:a="http://schemas.openxmlformats.org/drawingml/2006/main">
            <a:off x="609600" y="27908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95652D"/>
                </a:solidFill>
                <a:latin typeface="Arial"/>
                <a:ea typeface="Arial"/>
                <a:cs typeface="Arial"/>
              </a:defRPr>
            </a:pPr>
            <a:r>
              <a:rPr sz="1350" b="1">
                <a:solidFill>
                  <a:srgbClr val="95652D"/>
                </a:solidFill>
                <a:latin typeface="Arial"/>
                <a:ea typeface="Arial"/>
                <a:cs typeface="Arial"/>
              </a:rPr>
              <a:t>EXECUÇÃO</a:t>
            </a:r>
          </a:p>
        </p:txBody>
      </p:sp>
      <p:sp>
        <p:nvSpPr>
          <p:cNvPr id="12" name="11.591 apps não puderam ser analisados p">
            <a:extLst xmlns:a="http://schemas.openxmlformats.org/drawingml/2006/main">
              <a:ext uri="{FF2B5EF4-FFF2-40B4-BE49-F238E27FC236}">
                <a16:creationId xmlns:a16="http://schemas.microsoft.com/office/drawing/2014/main" id="{B9E156D7-D0D3-48B8-934B-6E65CB840679}"/>
              </a:ext>
            </a:extLst>
          </p:cNvPr>
          <p:cNvSpPr>
            <a:spLocks xmlns:a="http://schemas.openxmlformats.org/drawingml/2006/main" noGrp="1"/>
          </p:cNvSpPr>
          <p:nvPr/>
        </p:nvSpPr>
        <p:spPr>
          <a:xfrm xmlns:a="http://schemas.openxmlformats.org/drawingml/2006/main">
            <a:off x="2733675" y="2752725"/>
            <a:ext cx="88487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4384A"/>
                </a:solidFill>
                <a:latin typeface="Arial"/>
                <a:ea typeface="Arial"/>
                <a:cs typeface="Arial"/>
              </a:defRPr>
            </a:pPr>
            <a:r>
              <a:rPr sz="2025" b="0">
                <a:solidFill>
                  <a:srgbClr val="24384A"/>
                </a:solidFill>
                <a:latin typeface="Arial"/>
                <a:ea typeface="Arial"/>
                <a:cs typeface="Arial"/>
              </a:rPr>
              <a:t>11.591 apps não puderam ser analisados por falhas</a:t>
            </a:r>
          </a:p>
          <a:p xmlns:a="http://schemas.openxmlformats.org/drawingml/2006/main">
            <a:pPr algn="l">
              <a:defRPr sz="2025" b="0">
                <a:solidFill>
                  <a:srgbClr val="24384A"/>
                </a:solidFill>
                <a:latin typeface="Arial"/>
                <a:ea typeface="Arial"/>
                <a:cs typeface="Arial"/>
              </a:defRPr>
            </a:pPr>
            <a:r>
              <a:rPr sz="2025" b="0">
                <a:solidFill>
                  <a:srgbClr val="24384A"/>
                </a:solidFill>
                <a:latin typeface="Arial"/>
                <a:ea typeface="Arial"/>
                <a:cs typeface="Arial"/>
              </a:rPr>
              <a:t>ou detecção do ambiente de teste.</a:t>
            </a:r>
          </a:p>
        </p:txBody>
      </p:sp>
      <p:sp>
        <p:nvSpPr>
          <p:cNvPr id="13" name="">
            <a:extLst xmlns:a="http://schemas.openxmlformats.org/drawingml/2006/main">
              <a:ext uri="{FF2B5EF4-FFF2-40B4-BE49-F238E27FC236}">
                <a16:creationId xmlns:a16="http://schemas.microsoft.com/office/drawing/2014/main" id="{C7A831AF-606D-4B82-8A54-0F93CB6A19C1}"/>
              </a:ext>
            </a:extLst>
          </p:cNvPr>
          <p:cNvSpPr>
            <a:spLocks xmlns:a="http://schemas.openxmlformats.org/drawingml/2006/main" noGrp="1"/>
          </p:cNvSpPr>
          <p:nvPr/>
        </p:nvSpPr>
        <p:spPr>
          <a:xfrm xmlns:a="http://schemas.openxmlformats.org/drawingml/2006/main">
            <a:off x="609600" y="3686175"/>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14" name="IDIOMA E OCR">
            <a:extLst xmlns:a="http://schemas.openxmlformats.org/drawingml/2006/main">
              <a:ext uri="{FF2B5EF4-FFF2-40B4-BE49-F238E27FC236}">
                <a16:creationId xmlns:a16="http://schemas.microsoft.com/office/drawing/2014/main" id="{3FB913AE-05FB-46E2-9D4F-2A23FAE39A8D}"/>
              </a:ext>
            </a:extLst>
          </p:cNvPr>
          <p:cNvSpPr>
            <a:spLocks xmlns:a="http://schemas.openxmlformats.org/drawingml/2006/main" noGrp="1"/>
          </p:cNvSpPr>
          <p:nvPr/>
        </p:nvSpPr>
        <p:spPr>
          <a:xfrm xmlns:a="http://schemas.openxmlformats.org/drawingml/2006/main">
            <a:off x="609600" y="3848100"/>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95652D"/>
                </a:solidFill>
                <a:latin typeface="Arial"/>
                <a:ea typeface="Arial"/>
                <a:cs typeface="Arial"/>
              </a:defRPr>
            </a:pPr>
            <a:r>
              <a:rPr sz="1350" b="1">
                <a:solidFill>
                  <a:srgbClr val="95652D"/>
                </a:solidFill>
                <a:latin typeface="Arial"/>
                <a:ea typeface="Arial"/>
                <a:cs typeface="Arial"/>
              </a:rPr>
              <a:t>IDIOMA E OCR</a:t>
            </a:r>
          </a:p>
        </p:txBody>
      </p:sp>
      <p:sp>
        <p:nvSpPr>
          <p:cNvPr id="15" name="1.996 interfaces relacionadas à privacid">
            <a:extLst xmlns:a="http://schemas.openxmlformats.org/drawingml/2006/main">
              <a:ext uri="{FF2B5EF4-FFF2-40B4-BE49-F238E27FC236}">
                <a16:creationId xmlns:a16="http://schemas.microsoft.com/office/drawing/2014/main" id="{734B8C83-2520-4253-966F-85F83ECF5718}"/>
              </a:ext>
            </a:extLst>
          </p:cNvPr>
          <p:cNvSpPr>
            <a:spLocks xmlns:a="http://schemas.openxmlformats.org/drawingml/2006/main" noGrp="1"/>
          </p:cNvSpPr>
          <p:nvPr/>
        </p:nvSpPr>
        <p:spPr>
          <a:xfrm xmlns:a="http://schemas.openxmlformats.org/drawingml/2006/main">
            <a:off x="2733675" y="3810000"/>
            <a:ext cx="88487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4384A"/>
                </a:solidFill>
                <a:latin typeface="Arial"/>
                <a:ea typeface="Arial"/>
                <a:cs typeface="Arial"/>
              </a:defRPr>
            </a:pPr>
            <a:r>
              <a:rPr sz="2025" b="0">
                <a:solidFill>
                  <a:srgbClr val="24384A"/>
                </a:solidFill>
                <a:latin typeface="Arial"/>
                <a:ea typeface="Arial"/>
                <a:cs typeface="Arial"/>
              </a:rPr>
              <a:t>1.996 interfaces relacionadas à privacidade ficaram fora</a:t>
            </a:r>
          </a:p>
          <a:p xmlns:a="http://schemas.openxmlformats.org/drawingml/2006/main">
            <a:pPr algn="l">
              <a:defRPr sz="2025" b="0">
                <a:solidFill>
                  <a:srgbClr val="24384A"/>
                </a:solidFill>
                <a:latin typeface="Arial"/>
                <a:ea typeface="Arial"/>
                <a:cs typeface="Arial"/>
              </a:defRPr>
            </a:pPr>
            <a:r>
              <a:rPr sz="2025" b="0">
                <a:solidFill>
                  <a:srgbClr val="24384A"/>
                </a:solidFill>
                <a:latin typeface="Arial"/>
                <a:ea typeface="Arial"/>
                <a:cs typeface="Arial"/>
              </a:rPr>
              <a:t>por não estarem em inglês. O OCR pode perder conteúdo.</a:t>
            </a:r>
          </a:p>
        </p:txBody>
      </p:sp>
      <p:sp>
        <p:nvSpPr>
          <p:cNvPr id="16" name="">
            <a:extLst xmlns:a="http://schemas.openxmlformats.org/drawingml/2006/main">
              <a:ext uri="{FF2B5EF4-FFF2-40B4-BE49-F238E27FC236}">
                <a16:creationId xmlns:a16="http://schemas.microsoft.com/office/drawing/2014/main" id="{F8638523-8FD9-484B-8437-1DCF48E39819}"/>
              </a:ext>
            </a:extLst>
          </p:cNvPr>
          <p:cNvSpPr>
            <a:spLocks xmlns:a="http://schemas.openxmlformats.org/drawingml/2006/main" noGrp="1"/>
          </p:cNvSpPr>
          <p:nvPr/>
        </p:nvSpPr>
        <p:spPr>
          <a:xfrm xmlns:a="http://schemas.openxmlformats.org/drawingml/2006/main">
            <a:off x="609600" y="47434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17" name="OBSERVAÇÃO">
            <a:extLst xmlns:a="http://schemas.openxmlformats.org/drawingml/2006/main">
              <a:ext uri="{FF2B5EF4-FFF2-40B4-BE49-F238E27FC236}">
                <a16:creationId xmlns:a16="http://schemas.microsoft.com/office/drawing/2014/main" id="{C2769975-EA35-453E-B143-2C3C57F6702B}"/>
              </a:ext>
            </a:extLst>
          </p:cNvPr>
          <p:cNvSpPr>
            <a:spLocks xmlns:a="http://schemas.openxmlformats.org/drawingml/2006/main" noGrp="1"/>
          </p:cNvSpPr>
          <p:nvPr/>
        </p:nvSpPr>
        <p:spPr>
          <a:xfrm xmlns:a="http://schemas.openxmlformats.org/drawingml/2006/main">
            <a:off x="609600" y="490537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95652D"/>
                </a:solidFill>
                <a:latin typeface="Arial"/>
                <a:ea typeface="Arial"/>
                <a:cs typeface="Arial"/>
              </a:defRPr>
            </a:pPr>
            <a:r>
              <a:rPr sz="1350" b="1">
                <a:solidFill>
                  <a:srgbClr val="95652D"/>
                </a:solidFill>
                <a:latin typeface="Arial"/>
                <a:ea typeface="Arial"/>
                <a:cs typeface="Arial"/>
              </a:rPr>
              <a:t>OBSERVAÇÃO</a:t>
            </a:r>
          </a:p>
        </p:txBody>
      </p:sp>
      <p:sp>
        <p:nvSpPr>
          <p:cNvPr id="18" name="Execuções de até 150 s e foco em 45 domí">
            <a:extLst xmlns:a="http://schemas.openxmlformats.org/drawingml/2006/main">
              <a:ext uri="{FF2B5EF4-FFF2-40B4-BE49-F238E27FC236}">
                <a16:creationId xmlns:a16="http://schemas.microsoft.com/office/drawing/2014/main" id="{3767B76D-DA80-47E6-B703-F5C8E3F18B47}"/>
              </a:ext>
            </a:extLst>
          </p:cNvPr>
          <p:cNvSpPr>
            <a:spLocks xmlns:a="http://schemas.openxmlformats.org/drawingml/2006/main" noGrp="1"/>
          </p:cNvSpPr>
          <p:nvPr/>
        </p:nvSpPr>
        <p:spPr>
          <a:xfrm xmlns:a="http://schemas.openxmlformats.org/drawingml/2006/main">
            <a:off x="2733675" y="4867275"/>
            <a:ext cx="88487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4384A"/>
                </a:solidFill>
                <a:latin typeface="Arial"/>
                <a:ea typeface="Arial"/>
                <a:cs typeface="Arial"/>
              </a:defRPr>
            </a:pPr>
            <a:r>
              <a:rPr sz="2025" b="0">
                <a:solidFill>
                  <a:srgbClr val="24384A"/>
                </a:solidFill>
                <a:latin typeface="Arial"/>
                <a:ea typeface="Arial"/>
                <a:cs typeface="Arial"/>
              </a:rPr>
              <a:t>Execuções de até 150 s e foco em 45 domínios publicitários.</a:t>
            </a:r>
          </a:p>
          <a:p xmlns:a="http://schemas.openxmlformats.org/drawingml/2006/main">
            <a:pPr algn="l">
              <a:defRPr sz="2025" b="0">
                <a:solidFill>
                  <a:srgbClr val="24384A"/>
                </a:solidFill>
                <a:latin typeface="Arial"/>
                <a:ea typeface="Arial"/>
                <a:cs typeface="Arial"/>
              </a:defRPr>
            </a:pPr>
            <a:r>
              <a:rPr sz="2025" b="0">
                <a:solidFill>
                  <a:srgbClr val="24384A"/>
                </a:solidFill>
                <a:latin typeface="Arial"/>
                <a:ea typeface="Arial"/>
                <a:cs typeface="Arial"/>
              </a:rPr>
              <a:t>Comportamentos fora desse recorte podem não aparecer.</a:t>
            </a:r>
          </a:p>
        </p:txBody>
      </p:sp>
      <p:sp>
        <p:nvSpPr>
          <p:cNvPr id="19" name="Análise do seminário: uma falha não obse">
            <a:extLst xmlns:a="http://schemas.openxmlformats.org/drawingml/2006/main">
              <a:ext uri="{FF2B5EF4-FFF2-40B4-BE49-F238E27FC236}">
                <a16:creationId xmlns:a16="http://schemas.microsoft.com/office/drawing/2014/main" id="{0520765C-E7B8-4107-AB3F-973F0595B527}"/>
              </a:ext>
            </a:extLst>
          </p:cNvPr>
          <p:cNvSpPr>
            <a:spLocks xmlns:a="http://schemas.openxmlformats.org/drawingml/2006/main" noGrp="1"/>
          </p:cNvSpPr>
          <p:nvPr/>
        </p:nvSpPr>
        <p:spPr>
          <a:xfrm xmlns:a="http://schemas.openxmlformats.org/drawingml/2006/main">
            <a:off x="609600" y="60388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96B7A"/>
                </a:solidFill>
                <a:latin typeface="Arial"/>
                <a:ea typeface="Arial"/>
                <a:cs typeface="Arial"/>
              </a:defRPr>
            </a:pPr>
            <a:r>
              <a:rPr sz="1575" b="0">
                <a:solidFill>
                  <a:srgbClr val="596B7A"/>
                </a:solidFill>
                <a:latin typeface="Arial"/>
                <a:ea typeface="Arial"/>
                <a:cs typeface="Arial"/>
              </a:rPr>
              <a:t>Análise do seminário: uma falha não observada no experimento não equivale à ausência de falha.</a:t>
            </a:r>
          </a:p>
        </p:txBody>
      </p:sp>
    </p:spTree>
    <p:extLst>
      <p:ext uri="{BB962C8B-B14F-4D97-AF65-F5344CB8AC3E}">
        <p14:creationId xmlns:p14="http://schemas.microsoft.com/office/powerpoint/2010/main" val="161057254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93E5FA4-FC6A-46F8-B760-9D44C61C7AA9}"/>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174875"/>
          </a:solidFill>
          <a:ln xmlns:a="http://schemas.openxmlformats.org/drawingml/2006/main" w="0">
            <a:noFill/>
          </a:ln>
        </p:spPr>
      </p:sp>
      <p:sp>
        <p:nvSpPr>
          <p:cNvPr id="2" name="ANÁLISE DA SEÇÃO 8">
            <a:extLst xmlns:a="http://schemas.openxmlformats.org/drawingml/2006/main">
              <a:ext uri="{FF2B5EF4-FFF2-40B4-BE49-F238E27FC236}">
                <a16:creationId xmlns:a16="http://schemas.microsoft.com/office/drawing/2014/main" id="{19126533-2EC4-42AD-BA8D-FC23E7FC3B07}"/>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74875"/>
                </a:solidFill>
                <a:latin typeface="Arial"/>
                <a:ea typeface="Arial"/>
                <a:cs typeface="Arial"/>
              </a:defRPr>
            </a:pPr>
            <a:r>
              <a:rPr sz="1275" b="1">
                <a:solidFill>
                  <a:srgbClr val="174875"/>
                </a:solidFill>
                <a:latin typeface="Arial"/>
                <a:ea typeface="Arial"/>
                <a:cs typeface="Arial"/>
              </a:rPr>
              <a:t>ANÁLISE DA SEÇÃO 8</a:t>
            </a:r>
          </a:p>
        </p:txBody>
      </p:sp>
      <p:sp>
        <p:nvSpPr>
          <p:cNvPr id="3" name="Conclusão: retomada do objetivo e dos nú">
            <a:extLst xmlns:a="http://schemas.openxmlformats.org/drawingml/2006/main">
              <a:ext uri="{FF2B5EF4-FFF2-40B4-BE49-F238E27FC236}">
                <a16:creationId xmlns:a16="http://schemas.microsoft.com/office/drawing/2014/main" id="{50C54A69-E316-40A1-B52A-AFF2563FA27C}"/>
              </a:ext>
            </a:extLst>
          </p:cNvPr>
          <p:cNvSpPr>
            <a:spLocks xmlns:a="http://schemas.openxmlformats.org/drawingml/2006/main" noGrp="1"/>
          </p:cNvSpPr>
          <p:nvPr/>
        </p:nvSpPr>
        <p:spPr>
          <a:xfrm xmlns:a="http://schemas.openxmlformats.org/drawingml/2006/main">
            <a:off x="609600" y="7048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2324F"/>
                </a:solidFill>
                <a:latin typeface="Arial"/>
                <a:ea typeface="Arial"/>
                <a:cs typeface="Arial"/>
              </a:defRPr>
            </a:pPr>
            <a:r>
              <a:rPr sz="3150" b="1">
                <a:solidFill>
                  <a:srgbClr val="12324F"/>
                </a:solidFill>
                <a:latin typeface="Arial"/>
                <a:ea typeface="Arial"/>
                <a:cs typeface="Arial"/>
              </a:rPr>
              <a:t>Conclusão: retomada do objetivo e dos números</a:t>
            </a:r>
          </a:p>
        </p:txBody>
      </p:sp>
      <p:sp>
        <p:nvSpPr>
          <p:cNvPr id="4" name="">
            <a:extLst xmlns:a="http://schemas.openxmlformats.org/drawingml/2006/main">
              <a:ext uri="{FF2B5EF4-FFF2-40B4-BE49-F238E27FC236}">
                <a16:creationId xmlns:a16="http://schemas.microsoft.com/office/drawing/2014/main" id="{B1D062E5-7F1E-43FE-A173-836DD745B4DE}"/>
              </a:ext>
            </a:extLst>
          </p:cNvPr>
          <p:cNvSpPr>
            <a:spLocks xmlns:a="http://schemas.openxmlformats.org/drawingml/2006/main" noGrp="1"/>
          </p:cNvSpPr>
          <p:nvPr/>
        </p:nvSpPr>
        <p:spPr>
          <a:xfrm xmlns:a="http://schemas.openxmlformats.org/drawingml/2006/main">
            <a:off x="609600" y="1390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8FB664F-B7A7-48B6-9A4B-1F45FE29DB70}"/>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6" name="Nguyen, Backes e Stock (2022), Seção 8, ">
            <a:extLst xmlns:a="http://schemas.openxmlformats.org/drawingml/2006/main">
              <a:ext uri="{FF2B5EF4-FFF2-40B4-BE49-F238E27FC236}">
                <a16:creationId xmlns:a16="http://schemas.microsoft.com/office/drawing/2014/main" id="{1EC389C5-5E98-48FE-93F8-04C2BFACFBDF}"/>
              </a:ext>
            </a:extLst>
          </p:cNvPr>
          <p:cNvSpPr>
            <a:spLocks xmlns:a="http://schemas.openxmlformats.org/drawingml/2006/main" noGrp="1"/>
          </p:cNvSpPr>
          <p:nvPr/>
        </p:nvSpPr>
        <p:spPr>
          <a:xfrm xmlns:a="http://schemas.openxmlformats.org/drawingml/2006/main">
            <a:off x="609600" y="6477000"/>
            <a:ext cx="9982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96B7A"/>
                </a:solidFill>
                <a:latin typeface="Arial"/>
                <a:ea typeface="Arial"/>
                <a:cs typeface="Arial"/>
              </a:defRPr>
            </a:pPr>
            <a:r>
              <a:rPr sz="1200" b="0">
                <a:solidFill>
                  <a:srgbClr val="596B7A"/>
                </a:solidFill>
                <a:latin typeface="Arial"/>
                <a:ea typeface="Arial"/>
                <a:cs typeface="Arial"/>
              </a:rPr>
              <a:t>Nguyen, Backes e Stock (2022), Seção 8, p. 13. Recorte integral da conclusão, sem agradecimentos ou referências.</a:t>
            </a:r>
          </a:p>
        </p:txBody>
      </p:sp>
      <p:sp>
        <p:nvSpPr>
          <p:cNvPr id="7" name="21 / 23">
            <a:extLst xmlns:a="http://schemas.openxmlformats.org/drawingml/2006/main">
              <a:ext uri="{FF2B5EF4-FFF2-40B4-BE49-F238E27FC236}">
                <a16:creationId xmlns:a16="http://schemas.microsoft.com/office/drawing/2014/main" id="{A692DA4A-880A-4DBA-B8F2-1772241713C3}"/>
              </a:ext>
            </a:extLst>
          </p:cNvPr>
          <p:cNvSpPr>
            <a:spLocks xmlns:a="http://schemas.openxmlformats.org/drawingml/2006/main" noGrp="1"/>
          </p:cNvSpPr>
          <p:nvPr/>
        </p:nvSpPr>
        <p:spPr>
          <a:xfrm xmlns:a="http://schemas.openxmlformats.org/drawingml/2006/main">
            <a:off x="10668000" y="64770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96B7A"/>
                </a:solidFill>
                <a:latin typeface="Arial"/>
                <a:ea typeface="Arial"/>
                <a:cs typeface="Arial"/>
              </a:defRPr>
            </a:pPr>
            <a:r>
              <a:rPr sz="1200" b="0">
                <a:solidFill>
                  <a:srgbClr val="596B7A"/>
                </a:solidFill>
                <a:latin typeface="Arial"/>
                <a:ea typeface="Arial"/>
                <a:cs typeface="Arial"/>
              </a:rPr>
              <a:t>21 / 23</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572fa5a25a994f55"/>
          <a:stretch xmlns:a="http://schemas.openxmlformats.org/drawingml/2006/main"/>
        </p:blipFill>
        <p:spPr>
          <a:xfrm xmlns:a="http://schemas.openxmlformats.org/drawingml/2006/main">
            <a:off x="609600" y="1727897"/>
            <a:ext cx="4267200" cy="3764156"/>
          </a:xfrm>
          <a:prstGeom xmlns:a="http://schemas.openxmlformats.org/drawingml/2006/main" prst="rect">
            <a:avLst/>
          </a:prstGeom>
        </p:spPr>
      </p:pic>
      <p:sp>
        <p:nvSpPr>
          <p:cNvPr id="9" name="Seção 8 do artigo, reproduzida integralm">
            <a:extLst xmlns:a="http://schemas.openxmlformats.org/drawingml/2006/main">
              <a:ext uri="{FF2B5EF4-FFF2-40B4-BE49-F238E27FC236}">
                <a16:creationId xmlns:a16="http://schemas.microsoft.com/office/drawing/2014/main" id="{EA56A8EA-5ACD-422D-B056-B7D330AC719D}"/>
              </a:ext>
            </a:extLst>
          </p:cNvPr>
          <p:cNvSpPr>
            <a:spLocks xmlns:a="http://schemas.openxmlformats.org/drawingml/2006/main" noGrp="1"/>
          </p:cNvSpPr>
          <p:nvPr/>
        </p:nvSpPr>
        <p:spPr>
          <a:xfrm xmlns:a="http://schemas.openxmlformats.org/drawingml/2006/main">
            <a:off x="609600" y="5638800"/>
            <a:ext cx="4267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96B7A"/>
                </a:solidFill>
                <a:latin typeface="Arial"/>
                <a:ea typeface="Arial"/>
                <a:cs typeface="Arial"/>
              </a:defRPr>
            </a:pPr>
            <a:r>
              <a:rPr sz="1500" b="0">
                <a:solidFill>
                  <a:srgbClr val="596B7A"/>
                </a:solidFill>
                <a:latin typeface="Arial"/>
                <a:ea typeface="Arial"/>
                <a:cs typeface="Arial"/>
              </a:rPr>
              <a:t>Seção 8 do artigo, reproduzida integralmente.</a:t>
            </a:r>
          </a:p>
        </p:txBody>
      </p:sp>
      <p:sp>
        <p:nvSpPr>
          <p:cNvPr id="10" name="EN">
            <a:extLst xmlns:a="http://schemas.openxmlformats.org/drawingml/2006/main">
              <a:ext uri="{FF2B5EF4-FFF2-40B4-BE49-F238E27FC236}">
                <a16:creationId xmlns:a16="http://schemas.microsoft.com/office/drawing/2014/main" id="{4BA4C7FE-4E39-496F-8730-213FA636C924}"/>
              </a:ext>
            </a:extLst>
          </p:cNvPr>
          <p:cNvSpPr>
            <a:spLocks xmlns:a="http://schemas.openxmlformats.org/drawingml/2006/main" noGrp="1"/>
          </p:cNvSpPr>
          <p:nvPr/>
        </p:nvSpPr>
        <p:spPr>
          <a:xfrm xmlns:a="http://schemas.openxmlformats.org/drawingml/2006/main">
            <a:off x="5334000" y="17335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174875"/>
                </a:solidFill>
                <a:latin typeface="Arial"/>
                <a:ea typeface="Arial"/>
                <a:cs typeface="Arial"/>
              </a:defRPr>
            </a:pPr>
            <a:r>
              <a:rPr sz="1200" b="1">
                <a:solidFill>
                  <a:srgbClr val="174875"/>
                </a:solidFill>
                <a:latin typeface="Arial"/>
                <a:ea typeface="Arial"/>
                <a:cs typeface="Arial"/>
              </a:rPr>
              <a:t>EN</a:t>
            </a:r>
          </a:p>
        </p:txBody>
      </p:sp>
      <p:sp>
        <p:nvSpPr>
          <p:cNvPr id="11" name="“we performed a systematic study into co">
            <a:extLst xmlns:a="http://schemas.openxmlformats.org/drawingml/2006/main">
              <a:ext uri="{FF2B5EF4-FFF2-40B4-BE49-F238E27FC236}">
                <a16:creationId xmlns:a16="http://schemas.microsoft.com/office/drawing/2014/main" id="{C3ED219F-33D9-444E-8364-BF89685BC909}"/>
              </a:ext>
            </a:extLst>
          </p:cNvPr>
          <p:cNvSpPr>
            <a:spLocks xmlns:a="http://schemas.openxmlformats.org/drawingml/2006/main" noGrp="1"/>
          </p:cNvSpPr>
          <p:nvPr/>
        </p:nvSpPr>
        <p:spPr>
          <a:xfrm xmlns:a="http://schemas.openxmlformats.org/drawingml/2006/main">
            <a:off x="5753100" y="1704975"/>
            <a:ext cx="58293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4384A"/>
                </a:solidFill>
                <a:latin typeface="Arial"/>
                <a:ea typeface="Arial"/>
                <a:cs typeface="Arial"/>
              </a:defRPr>
            </a:pPr>
            <a:r>
              <a:rPr sz="2025" b="0">
                <a:solidFill>
                  <a:srgbClr val="24384A"/>
                </a:solidFill>
                <a:latin typeface="Arial"/>
                <a:ea typeface="Arial"/>
                <a:cs typeface="Arial"/>
              </a:rPr>
              <a:t>“we performed a systematic study into consent notices of third-party tracking in 239,381 Android apps”</a:t>
            </a:r>
          </a:p>
        </p:txBody>
      </p:sp>
      <p:sp>
        <p:nvSpPr>
          <p:cNvPr id="12" name="PT">
            <a:extLst xmlns:a="http://schemas.openxmlformats.org/drawingml/2006/main">
              <a:ext uri="{FF2B5EF4-FFF2-40B4-BE49-F238E27FC236}">
                <a16:creationId xmlns:a16="http://schemas.microsoft.com/office/drawing/2014/main" id="{AB703EF2-4F64-40C4-850F-8B587DB5A97A}"/>
              </a:ext>
            </a:extLst>
          </p:cNvPr>
          <p:cNvSpPr>
            <a:spLocks xmlns:a="http://schemas.openxmlformats.org/drawingml/2006/main" noGrp="1"/>
          </p:cNvSpPr>
          <p:nvPr/>
        </p:nvSpPr>
        <p:spPr>
          <a:xfrm xmlns:a="http://schemas.openxmlformats.org/drawingml/2006/main">
            <a:off x="5334000" y="303847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174875"/>
                </a:solidFill>
                <a:latin typeface="Arial"/>
                <a:ea typeface="Arial"/>
                <a:cs typeface="Arial"/>
              </a:defRPr>
            </a:pPr>
            <a:r>
              <a:rPr sz="1200" b="1">
                <a:solidFill>
                  <a:srgbClr val="174875"/>
                </a:solidFill>
                <a:latin typeface="Arial"/>
                <a:ea typeface="Arial"/>
                <a:cs typeface="Arial"/>
              </a:rPr>
              <a:t>PT</a:t>
            </a:r>
          </a:p>
        </p:txBody>
      </p:sp>
      <p:sp>
        <p:nvSpPr>
          <p:cNvPr id="13" name="Realizamos um estudo sistemático dos avi">
            <a:extLst xmlns:a="http://schemas.openxmlformats.org/drawingml/2006/main">
              <a:ext uri="{FF2B5EF4-FFF2-40B4-BE49-F238E27FC236}">
                <a16:creationId xmlns:a16="http://schemas.microsoft.com/office/drawing/2014/main" id="{0873B924-8B57-4552-8CBF-E66F2BB1961B}"/>
              </a:ext>
            </a:extLst>
          </p:cNvPr>
          <p:cNvSpPr>
            <a:spLocks xmlns:a="http://schemas.openxmlformats.org/drawingml/2006/main" noGrp="1"/>
          </p:cNvSpPr>
          <p:nvPr/>
        </p:nvSpPr>
        <p:spPr>
          <a:xfrm xmlns:a="http://schemas.openxmlformats.org/drawingml/2006/main">
            <a:off x="5753100" y="3009900"/>
            <a:ext cx="58293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4875"/>
                </a:solidFill>
                <a:latin typeface="Arial"/>
                <a:ea typeface="Arial"/>
                <a:cs typeface="Arial"/>
              </a:defRPr>
            </a:pPr>
            <a:r>
              <a:rPr sz="2025" b="0">
                <a:solidFill>
                  <a:srgbClr val="174875"/>
                </a:solidFill>
                <a:latin typeface="Arial"/>
                <a:ea typeface="Arial"/>
                <a:cs typeface="Arial"/>
              </a:rPr>
              <a:t>Realizamos um estudo sistemático dos avisos de consentimento para rastreamento de terceiros em 239.381 apps Android.</a:t>
            </a:r>
          </a:p>
        </p:txBody>
      </p:sp>
      <p:sp>
        <p:nvSpPr>
          <p:cNvPr id="14" name="">
            <a:extLst xmlns:a="http://schemas.openxmlformats.org/drawingml/2006/main">
              <a:ext uri="{FF2B5EF4-FFF2-40B4-BE49-F238E27FC236}">
                <a16:creationId xmlns:a16="http://schemas.microsoft.com/office/drawing/2014/main" id="{606011F4-056C-49CF-9DEB-8A74C7474F5A}"/>
              </a:ext>
            </a:extLst>
          </p:cNvPr>
          <p:cNvSpPr>
            <a:spLocks xmlns:a="http://schemas.openxmlformats.org/drawingml/2006/main" noGrp="1"/>
          </p:cNvSpPr>
          <p:nvPr/>
        </p:nvSpPr>
        <p:spPr>
          <a:xfrm xmlns:a="http://schemas.openxmlformats.org/drawingml/2006/main">
            <a:off x="5334000" y="4419600"/>
            <a:ext cx="62484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15" name="30.160">
            <a:extLst xmlns:a="http://schemas.openxmlformats.org/drawingml/2006/main">
              <a:ext uri="{FF2B5EF4-FFF2-40B4-BE49-F238E27FC236}">
                <a16:creationId xmlns:a16="http://schemas.microsoft.com/office/drawing/2014/main" id="{B701385C-0D68-48B2-B7B1-883AB6FCA681}"/>
              </a:ext>
            </a:extLst>
          </p:cNvPr>
          <p:cNvSpPr>
            <a:spLocks xmlns:a="http://schemas.openxmlformats.org/drawingml/2006/main" noGrp="1"/>
          </p:cNvSpPr>
          <p:nvPr/>
        </p:nvSpPr>
        <p:spPr>
          <a:xfrm xmlns:a="http://schemas.openxmlformats.org/drawingml/2006/main">
            <a:off x="5334000" y="4667250"/>
            <a:ext cx="26479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4875"/>
                </a:solidFill>
                <a:latin typeface="Arial"/>
                <a:ea typeface="Arial"/>
                <a:cs typeface="Arial"/>
              </a:defRPr>
            </a:pPr>
            <a:r>
              <a:rPr sz="3450" b="1">
                <a:solidFill>
                  <a:srgbClr val="174875"/>
                </a:solidFill>
                <a:latin typeface="Arial"/>
                <a:ea typeface="Arial"/>
                <a:cs typeface="Arial"/>
              </a:rPr>
              <a:t>30.160</a:t>
            </a:r>
          </a:p>
        </p:txBody>
      </p:sp>
      <p:sp>
        <p:nvSpPr>
          <p:cNvPr id="16" name="apps sem aviso que&#10;enviaram dados">
            <a:extLst xmlns:a="http://schemas.openxmlformats.org/drawingml/2006/main">
              <a:ext uri="{FF2B5EF4-FFF2-40B4-BE49-F238E27FC236}">
                <a16:creationId xmlns:a16="http://schemas.microsoft.com/office/drawing/2014/main" id="{A834C251-8136-4FE2-9A00-DA98660195BF}"/>
              </a:ext>
            </a:extLst>
          </p:cNvPr>
          <p:cNvSpPr>
            <a:spLocks xmlns:a="http://schemas.openxmlformats.org/drawingml/2006/main" noGrp="1"/>
          </p:cNvSpPr>
          <p:nvPr/>
        </p:nvSpPr>
        <p:spPr>
          <a:xfrm xmlns:a="http://schemas.openxmlformats.org/drawingml/2006/main">
            <a:off x="5334000" y="5400675"/>
            <a:ext cx="28765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4384A"/>
                </a:solidFill>
                <a:latin typeface="Arial"/>
                <a:ea typeface="Arial"/>
                <a:cs typeface="Arial"/>
              </a:defRPr>
            </a:pPr>
            <a:r>
              <a:rPr sz="1875" b="0">
                <a:solidFill>
                  <a:srgbClr val="24384A"/>
                </a:solidFill>
                <a:latin typeface="Arial"/>
                <a:ea typeface="Arial"/>
                <a:cs typeface="Arial"/>
              </a:rPr>
              <a:t>apps sem aviso que</a:t>
            </a:r>
          </a:p>
          <a:p xmlns:a="http://schemas.openxmlformats.org/drawingml/2006/main">
            <a:pPr algn="l">
              <a:defRPr sz="1875" b="0">
                <a:solidFill>
                  <a:srgbClr val="24384A"/>
                </a:solidFill>
                <a:latin typeface="Arial"/>
                <a:ea typeface="Arial"/>
                <a:cs typeface="Arial"/>
              </a:defRPr>
            </a:pPr>
            <a:r>
              <a:rPr sz="1875" b="0">
                <a:solidFill>
                  <a:srgbClr val="24384A"/>
                </a:solidFill>
                <a:latin typeface="Arial"/>
                <a:ea typeface="Arial"/>
                <a:cs typeface="Arial"/>
              </a:rPr>
              <a:t>enviaram dados</a:t>
            </a:r>
          </a:p>
        </p:txBody>
      </p:sp>
      <p:sp>
        <p:nvSpPr>
          <p:cNvPr id="17" name="2.688 (20,54%)">
            <a:extLst xmlns:a="http://schemas.openxmlformats.org/drawingml/2006/main">
              <a:ext uri="{FF2B5EF4-FFF2-40B4-BE49-F238E27FC236}">
                <a16:creationId xmlns:a16="http://schemas.microsoft.com/office/drawing/2014/main" id="{74561AFA-9FCD-48CC-B8FE-6E9A023CA14B}"/>
              </a:ext>
            </a:extLst>
          </p:cNvPr>
          <p:cNvSpPr>
            <a:spLocks xmlns:a="http://schemas.openxmlformats.org/drawingml/2006/main" noGrp="1"/>
          </p:cNvSpPr>
          <p:nvPr/>
        </p:nvSpPr>
        <p:spPr>
          <a:xfrm xmlns:a="http://schemas.openxmlformats.org/drawingml/2006/main">
            <a:off x="8420100" y="4705350"/>
            <a:ext cx="3162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AC4C45"/>
                </a:solidFill>
                <a:latin typeface="Arial"/>
                <a:ea typeface="Arial"/>
                <a:cs typeface="Arial"/>
              </a:defRPr>
            </a:pPr>
            <a:r>
              <a:rPr sz="2775" b="1">
                <a:solidFill>
                  <a:srgbClr val="AC4C45"/>
                </a:solidFill>
                <a:latin typeface="Arial"/>
                <a:ea typeface="Arial"/>
                <a:cs typeface="Arial"/>
              </a:rPr>
              <a:t>2.688 (20,54%)</a:t>
            </a:r>
          </a:p>
        </p:txBody>
      </p:sp>
      <p:sp>
        <p:nvSpPr>
          <p:cNvPr id="18" name="dos 13.082 apps com aviso,&#10;com potencial">
            <a:extLst xmlns:a="http://schemas.openxmlformats.org/drawingml/2006/main">
              <a:ext uri="{FF2B5EF4-FFF2-40B4-BE49-F238E27FC236}">
                <a16:creationId xmlns:a16="http://schemas.microsoft.com/office/drawing/2014/main" id="{1092C222-CDF8-4D4E-95A9-45BC4CF9843D}"/>
              </a:ext>
            </a:extLst>
          </p:cNvPr>
          <p:cNvSpPr>
            <a:spLocks xmlns:a="http://schemas.openxmlformats.org/drawingml/2006/main" noGrp="1"/>
          </p:cNvSpPr>
          <p:nvPr/>
        </p:nvSpPr>
        <p:spPr>
          <a:xfrm xmlns:a="http://schemas.openxmlformats.org/drawingml/2006/main">
            <a:off x="8420100" y="5400675"/>
            <a:ext cx="31623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4384A"/>
                </a:solidFill>
                <a:latin typeface="Arial"/>
                <a:ea typeface="Arial"/>
                <a:cs typeface="Arial"/>
              </a:defRPr>
            </a:pPr>
            <a:r>
              <a:rPr sz="1875" b="0">
                <a:solidFill>
                  <a:srgbClr val="24384A"/>
                </a:solidFill>
                <a:latin typeface="Arial"/>
                <a:ea typeface="Arial"/>
                <a:cs typeface="Arial"/>
              </a:rPr>
              <a:t>dos 13.082 apps com aviso,</a:t>
            </a:r>
          </a:p>
          <a:p xmlns:a="http://schemas.openxmlformats.org/drawingml/2006/main">
            <a:pPr algn="l">
              <a:defRPr sz="1875" b="0">
                <a:solidFill>
                  <a:srgbClr val="24384A"/>
                </a:solidFill>
                <a:latin typeface="Arial"/>
                <a:ea typeface="Arial"/>
                <a:cs typeface="Arial"/>
              </a:defRPr>
            </a:pPr>
            <a:r>
              <a:rPr sz="1875" b="0">
                <a:solidFill>
                  <a:srgbClr val="24384A"/>
                </a:solidFill>
                <a:latin typeface="Arial"/>
                <a:ea typeface="Arial"/>
                <a:cs typeface="Arial"/>
              </a:rPr>
              <a:t>com potencial violação</a:t>
            </a:r>
          </a:p>
        </p:txBody>
      </p:sp>
    </p:spTree>
    <p:extLst>
      <p:ext uri="{BB962C8B-B14F-4D97-AF65-F5344CB8AC3E}">
        <p14:creationId xmlns:p14="http://schemas.microsoft.com/office/powerpoint/2010/main" val="126162316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E66ABFB-6C76-48E7-ABA6-AB1DA1F428C6}"/>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174875"/>
          </a:solidFill>
          <a:ln xmlns:a="http://schemas.openxmlformats.org/drawingml/2006/main" w="0">
            <a:noFill/>
          </a:ln>
        </p:spPr>
      </p:sp>
      <p:sp>
        <p:nvSpPr>
          <p:cNvPr id="2" name="ANÁLISE DA SEÇÃO 8">
            <a:extLst xmlns:a="http://schemas.openxmlformats.org/drawingml/2006/main">
              <a:ext uri="{FF2B5EF4-FFF2-40B4-BE49-F238E27FC236}">
                <a16:creationId xmlns:a16="http://schemas.microsoft.com/office/drawing/2014/main" id="{018FD4D6-9F1C-4598-A99A-F815301DECF3}"/>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74875"/>
                </a:solidFill>
                <a:latin typeface="Arial"/>
                <a:ea typeface="Arial"/>
                <a:cs typeface="Arial"/>
              </a:defRPr>
            </a:pPr>
            <a:r>
              <a:rPr sz="1275" b="1">
                <a:solidFill>
                  <a:srgbClr val="174875"/>
                </a:solidFill>
                <a:latin typeface="Arial"/>
                <a:ea typeface="Arial"/>
                <a:cs typeface="Arial"/>
              </a:rPr>
              <a:t>ANÁLISE DA SEÇÃO 8</a:t>
            </a:r>
          </a:p>
        </p:txBody>
      </p:sp>
      <p:sp>
        <p:nvSpPr>
          <p:cNvPr id="3" name="Conclusão: transparência, suporte e caut">
            <a:extLst xmlns:a="http://schemas.openxmlformats.org/drawingml/2006/main">
              <a:ext uri="{FF2B5EF4-FFF2-40B4-BE49-F238E27FC236}">
                <a16:creationId xmlns:a16="http://schemas.microsoft.com/office/drawing/2014/main" id="{3E2153A0-3AAF-434D-B98E-1603B75E2FC6}"/>
              </a:ext>
            </a:extLst>
          </p:cNvPr>
          <p:cNvSpPr>
            <a:spLocks xmlns:a="http://schemas.openxmlformats.org/drawingml/2006/main" noGrp="1"/>
          </p:cNvSpPr>
          <p:nvPr/>
        </p:nvSpPr>
        <p:spPr>
          <a:xfrm xmlns:a="http://schemas.openxmlformats.org/drawingml/2006/main">
            <a:off x="609600" y="7048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2324F"/>
                </a:solidFill>
                <a:latin typeface="Arial"/>
                <a:ea typeface="Arial"/>
                <a:cs typeface="Arial"/>
              </a:defRPr>
            </a:pPr>
            <a:r>
              <a:rPr sz="3150" b="1">
                <a:solidFill>
                  <a:srgbClr val="12324F"/>
                </a:solidFill>
                <a:latin typeface="Arial"/>
                <a:ea typeface="Arial"/>
                <a:cs typeface="Arial"/>
              </a:rPr>
              <a:t>Conclusão: transparência, suporte e cautela</a:t>
            </a:r>
          </a:p>
        </p:txBody>
      </p:sp>
      <p:sp>
        <p:nvSpPr>
          <p:cNvPr id="4" name="">
            <a:extLst xmlns:a="http://schemas.openxmlformats.org/drawingml/2006/main">
              <a:ext uri="{FF2B5EF4-FFF2-40B4-BE49-F238E27FC236}">
                <a16:creationId xmlns:a16="http://schemas.microsoft.com/office/drawing/2014/main" id="{C393C677-51C1-4B93-8C3D-A601BD68C4A0}"/>
              </a:ext>
            </a:extLst>
          </p:cNvPr>
          <p:cNvSpPr>
            <a:spLocks xmlns:a="http://schemas.openxmlformats.org/drawingml/2006/main" noGrp="1"/>
          </p:cNvSpPr>
          <p:nvPr/>
        </p:nvSpPr>
        <p:spPr>
          <a:xfrm xmlns:a="http://schemas.openxmlformats.org/drawingml/2006/main">
            <a:off x="609600" y="1390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C262B17-621A-4624-84F8-42EFA898646F}"/>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6" name="Nguyen, Backes e Stock (2022), Abstract,">
            <a:extLst xmlns:a="http://schemas.openxmlformats.org/drawingml/2006/main">
              <a:ext uri="{FF2B5EF4-FFF2-40B4-BE49-F238E27FC236}">
                <a16:creationId xmlns:a16="http://schemas.microsoft.com/office/drawing/2014/main" id="{71D9E55D-37B3-49E0-8EE2-799B400236ED}"/>
              </a:ext>
            </a:extLst>
          </p:cNvPr>
          <p:cNvSpPr>
            <a:spLocks xmlns:a="http://schemas.openxmlformats.org/drawingml/2006/main" noGrp="1"/>
          </p:cNvSpPr>
          <p:nvPr/>
        </p:nvSpPr>
        <p:spPr>
          <a:xfrm xmlns:a="http://schemas.openxmlformats.org/drawingml/2006/main">
            <a:off x="609600" y="6477000"/>
            <a:ext cx="9982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96B7A"/>
                </a:solidFill>
                <a:latin typeface="Arial"/>
                <a:ea typeface="Arial"/>
                <a:cs typeface="Arial"/>
              </a:defRPr>
            </a:pPr>
            <a:r>
              <a:rPr sz="1200" b="0">
                <a:solidFill>
                  <a:srgbClr val="596B7A"/>
                </a:solidFill>
                <a:latin typeface="Arial"/>
                <a:ea typeface="Arial"/>
                <a:cs typeface="Arial"/>
              </a:rPr>
              <a:t>Nguyen, Backes e Stock (2022), Abstract, p. 1, nota 1, p. 2–3, e Conclusion, p. 13.</a:t>
            </a:r>
          </a:p>
        </p:txBody>
      </p:sp>
      <p:sp>
        <p:nvSpPr>
          <p:cNvPr id="7" name="22 / 23">
            <a:extLst xmlns:a="http://schemas.openxmlformats.org/drawingml/2006/main">
              <a:ext uri="{FF2B5EF4-FFF2-40B4-BE49-F238E27FC236}">
                <a16:creationId xmlns:a16="http://schemas.microsoft.com/office/drawing/2014/main" id="{97F17288-0888-467F-807E-45929B7B224B}"/>
              </a:ext>
            </a:extLst>
          </p:cNvPr>
          <p:cNvSpPr>
            <a:spLocks xmlns:a="http://schemas.openxmlformats.org/drawingml/2006/main" noGrp="1"/>
          </p:cNvSpPr>
          <p:nvPr/>
        </p:nvSpPr>
        <p:spPr>
          <a:xfrm xmlns:a="http://schemas.openxmlformats.org/drawingml/2006/main">
            <a:off x="10668000" y="64770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96B7A"/>
                </a:solidFill>
                <a:latin typeface="Arial"/>
                <a:ea typeface="Arial"/>
                <a:cs typeface="Arial"/>
              </a:defRPr>
            </a:pPr>
            <a:r>
              <a:rPr sz="1200" b="0">
                <a:solidFill>
                  <a:srgbClr val="596B7A"/>
                </a:solidFill>
                <a:latin typeface="Arial"/>
                <a:ea typeface="Arial"/>
                <a:cs typeface="Arial"/>
              </a:rPr>
              <a:t>22 / 23</a:t>
            </a:r>
          </a:p>
        </p:txBody>
      </p:sp>
      <p:sp>
        <p:nvSpPr>
          <p:cNvPr id="8" name="EN">
            <a:extLst xmlns:a="http://schemas.openxmlformats.org/drawingml/2006/main">
              <a:ext uri="{FF2B5EF4-FFF2-40B4-BE49-F238E27FC236}">
                <a16:creationId xmlns:a16="http://schemas.microsoft.com/office/drawing/2014/main" id="{F4B6627A-6864-4582-BAC4-CAE9F7533977}"/>
              </a:ext>
            </a:extLst>
          </p:cNvPr>
          <p:cNvSpPr>
            <a:spLocks xmlns:a="http://schemas.openxmlformats.org/drawingml/2006/main" noGrp="1"/>
          </p:cNvSpPr>
          <p:nvPr/>
        </p:nvSpPr>
        <p:spPr>
          <a:xfrm xmlns:a="http://schemas.openxmlformats.org/drawingml/2006/main">
            <a:off x="609600" y="1762125"/>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287967"/>
                </a:solidFill>
                <a:latin typeface="Arial"/>
                <a:ea typeface="Arial"/>
                <a:cs typeface="Arial"/>
              </a:defRPr>
            </a:pPr>
            <a:r>
              <a:rPr sz="1200" b="1">
                <a:solidFill>
                  <a:srgbClr val="287967"/>
                </a:solidFill>
                <a:latin typeface="Arial"/>
                <a:ea typeface="Arial"/>
                <a:cs typeface="Arial"/>
              </a:rPr>
              <a:t>EN</a:t>
            </a:r>
          </a:p>
        </p:txBody>
      </p:sp>
      <p:sp>
        <p:nvSpPr>
          <p:cNvPr id="9" name="“Our study showed the urgent need for mo">
            <a:extLst xmlns:a="http://schemas.openxmlformats.org/drawingml/2006/main">
              <a:ext uri="{FF2B5EF4-FFF2-40B4-BE49-F238E27FC236}">
                <a16:creationId xmlns:a16="http://schemas.microsoft.com/office/drawing/2014/main" id="{CEF5311B-C839-48D8-B3CB-E2C5EF0AB97B}"/>
              </a:ext>
            </a:extLst>
          </p:cNvPr>
          <p:cNvSpPr>
            <a:spLocks xmlns:a="http://schemas.openxmlformats.org/drawingml/2006/main" noGrp="1"/>
          </p:cNvSpPr>
          <p:nvPr/>
        </p:nvSpPr>
        <p:spPr>
          <a:xfrm xmlns:a="http://schemas.openxmlformats.org/drawingml/2006/main">
            <a:off x="1028700" y="173355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4384A"/>
                </a:solidFill>
                <a:latin typeface="Arial"/>
                <a:ea typeface="Arial"/>
                <a:cs typeface="Arial"/>
              </a:defRPr>
            </a:pPr>
            <a:r>
              <a:rPr sz="2175" b="0">
                <a:solidFill>
                  <a:srgbClr val="24384A"/>
                </a:solidFill>
                <a:latin typeface="Arial"/>
                <a:ea typeface="Arial"/>
                <a:cs typeface="Arial"/>
              </a:rPr>
              <a:t>“Our study showed the urgent need for more transparent processing of personal data and supporting developers”</a:t>
            </a:r>
          </a:p>
        </p:txBody>
      </p:sp>
      <p:sp>
        <p:nvSpPr>
          <p:cNvPr id="10" name="PT">
            <a:extLst xmlns:a="http://schemas.openxmlformats.org/drawingml/2006/main">
              <a:ext uri="{FF2B5EF4-FFF2-40B4-BE49-F238E27FC236}">
                <a16:creationId xmlns:a16="http://schemas.microsoft.com/office/drawing/2014/main" id="{D30ABBD3-6934-4FA0-838E-6922234B9D71}"/>
              </a:ext>
            </a:extLst>
          </p:cNvPr>
          <p:cNvSpPr>
            <a:spLocks xmlns:a="http://schemas.openxmlformats.org/drawingml/2006/main" noGrp="1"/>
          </p:cNvSpPr>
          <p:nvPr/>
        </p:nvSpPr>
        <p:spPr>
          <a:xfrm xmlns:a="http://schemas.openxmlformats.org/drawingml/2006/main">
            <a:off x="609600" y="26479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287967"/>
                </a:solidFill>
                <a:latin typeface="Arial"/>
                <a:ea typeface="Arial"/>
                <a:cs typeface="Arial"/>
              </a:defRPr>
            </a:pPr>
            <a:r>
              <a:rPr sz="1200" b="1">
                <a:solidFill>
                  <a:srgbClr val="287967"/>
                </a:solidFill>
                <a:latin typeface="Arial"/>
                <a:ea typeface="Arial"/>
                <a:cs typeface="Arial"/>
              </a:rPr>
              <a:t>PT</a:t>
            </a:r>
          </a:p>
        </p:txBody>
      </p:sp>
      <p:sp>
        <p:nvSpPr>
          <p:cNvPr id="11" name="Nosso estudo mostrou a necessidade urgen">
            <a:extLst xmlns:a="http://schemas.openxmlformats.org/drawingml/2006/main">
              <a:ext uri="{FF2B5EF4-FFF2-40B4-BE49-F238E27FC236}">
                <a16:creationId xmlns:a16="http://schemas.microsoft.com/office/drawing/2014/main" id="{19465716-C18A-445D-BD63-D9B48385AA82}"/>
              </a:ext>
            </a:extLst>
          </p:cNvPr>
          <p:cNvSpPr>
            <a:spLocks xmlns:a="http://schemas.openxmlformats.org/drawingml/2006/main" noGrp="1"/>
          </p:cNvSpPr>
          <p:nvPr/>
        </p:nvSpPr>
        <p:spPr>
          <a:xfrm xmlns:a="http://schemas.openxmlformats.org/drawingml/2006/main">
            <a:off x="1028700" y="2619375"/>
            <a:ext cx="105537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87967"/>
                </a:solidFill>
                <a:latin typeface="Arial"/>
                <a:ea typeface="Arial"/>
                <a:cs typeface="Arial"/>
              </a:defRPr>
            </a:pPr>
            <a:r>
              <a:rPr sz="2175" b="0">
                <a:solidFill>
                  <a:srgbClr val="287967"/>
                </a:solidFill>
                <a:latin typeface="Arial"/>
                <a:ea typeface="Arial"/>
                <a:cs typeface="Arial"/>
              </a:rPr>
              <a:t>Nosso estudo mostrou a necessidade urgente de maior transparência no tratamento de dados pessoais e de apoio aos desenvolvedores.</a:t>
            </a:r>
          </a:p>
        </p:txBody>
      </p:sp>
      <p:sp>
        <p:nvSpPr>
          <p:cNvPr id="12" name="">
            <a:extLst xmlns:a="http://schemas.openxmlformats.org/drawingml/2006/main">
              <a:ext uri="{FF2B5EF4-FFF2-40B4-BE49-F238E27FC236}">
                <a16:creationId xmlns:a16="http://schemas.microsoft.com/office/drawing/2014/main" id="{F8CF8C0F-7F44-4F9B-94C5-5F2EBE85BFCD}"/>
              </a:ext>
            </a:extLst>
          </p:cNvPr>
          <p:cNvSpPr>
            <a:spLocks xmlns:a="http://schemas.openxmlformats.org/drawingml/2006/main" noGrp="1"/>
          </p:cNvSpPr>
          <p:nvPr/>
        </p:nvSpPr>
        <p:spPr>
          <a:xfrm xmlns:a="http://schemas.openxmlformats.org/drawingml/2006/main">
            <a:off x="609600" y="3800475"/>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13" name="ABSTRACT">
            <a:extLst xmlns:a="http://schemas.openxmlformats.org/drawingml/2006/main">
              <a:ext uri="{FF2B5EF4-FFF2-40B4-BE49-F238E27FC236}">
                <a16:creationId xmlns:a16="http://schemas.microsoft.com/office/drawing/2014/main" id="{192C9E6B-9577-4C66-833D-FA200AD5953A}"/>
              </a:ext>
            </a:extLst>
          </p:cNvPr>
          <p:cNvSpPr>
            <a:spLocks xmlns:a="http://schemas.openxmlformats.org/drawingml/2006/main" noGrp="1"/>
          </p:cNvSpPr>
          <p:nvPr/>
        </p:nvSpPr>
        <p:spPr>
          <a:xfrm xmlns:a="http://schemas.openxmlformats.org/drawingml/2006/main">
            <a:off x="609600" y="4095750"/>
            <a:ext cx="5162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AC4C45"/>
                </a:solidFill>
                <a:latin typeface="Arial"/>
                <a:ea typeface="Arial"/>
                <a:cs typeface="Arial"/>
              </a:defRPr>
            </a:pPr>
            <a:r>
              <a:rPr sz="1350" b="1">
                <a:solidFill>
                  <a:srgbClr val="AC4C45"/>
                </a:solidFill>
                <a:latin typeface="Arial"/>
                <a:ea typeface="Arial"/>
                <a:cs typeface="Arial"/>
              </a:rPr>
              <a:t>ABSTRACT</a:t>
            </a:r>
          </a:p>
        </p:txBody>
      </p:sp>
      <p:sp>
        <p:nvSpPr>
          <p:cNvPr id="14" name="EN  “apps violate”">
            <a:extLst xmlns:a="http://schemas.openxmlformats.org/drawingml/2006/main">
              <a:ext uri="{FF2B5EF4-FFF2-40B4-BE49-F238E27FC236}">
                <a16:creationId xmlns:a16="http://schemas.microsoft.com/office/drawing/2014/main" id="{58A6A5F8-0E7D-43F1-950E-837952220AC2}"/>
              </a:ext>
            </a:extLst>
          </p:cNvPr>
          <p:cNvSpPr>
            <a:spLocks xmlns:a="http://schemas.openxmlformats.org/drawingml/2006/main" noGrp="1"/>
          </p:cNvSpPr>
          <p:nvPr/>
        </p:nvSpPr>
        <p:spPr>
          <a:xfrm xmlns:a="http://schemas.openxmlformats.org/drawingml/2006/main">
            <a:off x="609600" y="4495800"/>
            <a:ext cx="5162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4384A"/>
                </a:solidFill>
                <a:latin typeface="Arial"/>
                <a:ea typeface="Arial"/>
                <a:cs typeface="Arial"/>
              </a:defRPr>
            </a:pPr>
            <a:r>
              <a:rPr sz="2325" b="1">
                <a:solidFill>
                  <a:srgbClr val="24384A"/>
                </a:solidFill>
                <a:latin typeface="Arial"/>
                <a:ea typeface="Arial"/>
                <a:cs typeface="Arial"/>
              </a:rPr>
              <a:t>EN  “apps violate”</a:t>
            </a:r>
          </a:p>
        </p:txBody>
      </p:sp>
      <p:sp>
        <p:nvSpPr>
          <p:cNvPr id="15" name="PT  aplicativos violam">
            <a:extLst xmlns:a="http://schemas.openxmlformats.org/drawingml/2006/main">
              <a:ext uri="{FF2B5EF4-FFF2-40B4-BE49-F238E27FC236}">
                <a16:creationId xmlns:a16="http://schemas.microsoft.com/office/drawing/2014/main" id="{18448069-E63B-47BE-8ADC-1C441A940553}"/>
              </a:ext>
            </a:extLst>
          </p:cNvPr>
          <p:cNvSpPr>
            <a:spLocks xmlns:a="http://schemas.openxmlformats.org/drawingml/2006/main" noGrp="1"/>
          </p:cNvSpPr>
          <p:nvPr/>
        </p:nvSpPr>
        <p:spPr>
          <a:xfrm xmlns:a="http://schemas.openxmlformats.org/drawingml/2006/main">
            <a:off x="609600" y="5010150"/>
            <a:ext cx="5162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AC4C45"/>
                </a:solidFill>
                <a:latin typeface="Arial"/>
                <a:ea typeface="Arial"/>
                <a:cs typeface="Arial"/>
              </a:defRPr>
            </a:pPr>
            <a:r>
              <a:rPr sz="2175" b="0">
                <a:solidFill>
                  <a:srgbClr val="AC4C45"/>
                </a:solidFill>
                <a:latin typeface="Arial"/>
                <a:ea typeface="Arial"/>
                <a:cs typeface="Arial"/>
              </a:rPr>
              <a:t>PT  aplicativos violam</a:t>
            </a:r>
          </a:p>
        </p:txBody>
      </p:sp>
      <p:sp>
        <p:nvSpPr>
          <p:cNvPr id="16" name="CONCLUSION">
            <a:extLst xmlns:a="http://schemas.openxmlformats.org/drawingml/2006/main">
              <a:ext uri="{FF2B5EF4-FFF2-40B4-BE49-F238E27FC236}">
                <a16:creationId xmlns:a16="http://schemas.microsoft.com/office/drawing/2014/main" id="{5372C517-5941-4C1B-8DF7-47AB20A68EB9}"/>
              </a:ext>
            </a:extLst>
          </p:cNvPr>
          <p:cNvSpPr>
            <a:spLocks xmlns:a="http://schemas.openxmlformats.org/drawingml/2006/main" noGrp="1"/>
          </p:cNvSpPr>
          <p:nvPr/>
        </p:nvSpPr>
        <p:spPr>
          <a:xfrm xmlns:a="http://schemas.openxmlformats.org/drawingml/2006/main">
            <a:off x="6438900" y="4095750"/>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74875"/>
                </a:solidFill>
                <a:latin typeface="Arial"/>
                <a:ea typeface="Arial"/>
                <a:cs typeface="Arial"/>
              </a:defRPr>
            </a:pPr>
            <a:r>
              <a:rPr sz="1350" b="1">
                <a:solidFill>
                  <a:srgbClr val="174875"/>
                </a:solidFill>
                <a:latin typeface="Arial"/>
                <a:ea typeface="Arial"/>
                <a:cs typeface="Arial"/>
              </a:rPr>
              <a:t>CONCLUSION</a:t>
            </a:r>
          </a:p>
        </p:txBody>
      </p:sp>
      <p:sp>
        <p:nvSpPr>
          <p:cNvPr id="17" name="EN  “apps potentially violate”">
            <a:extLst xmlns:a="http://schemas.openxmlformats.org/drawingml/2006/main">
              <a:ext uri="{FF2B5EF4-FFF2-40B4-BE49-F238E27FC236}">
                <a16:creationId xmlns:a16="http://schemas.microsoft.com/office/drawing/2014/main" id="{DB03AC1F-30DC-4472-8811-9E75C8C9493A}"/>
              </a:ext>
            </a:extLst>
          </p:cNvPr>
          <p:cNvSpPr>
            <a:spLocks xmlns:a="http://schemas.openxmlformats.org/drawingml/2006/main" noGrp="1"/>
          </p:cNvSpPr>
          <p:nvPr/>
        </p:nvSpPr>
        <p:spPr>
          <a:xfrm xmlns:a="http://schemas.openxmlformats.org/drawingml/2006/main">
            <a:off x="6438900" y="449580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4384A"/>
                </a:solidFill>
                <a:latin typeface="Arial"/>
                <a:ea typeface="Arial"/>
                <a:cs typeface="Arial"/>
              </a:defRPr>
            </a:pPr>
            <a:r>
              <a:rPr sz="2325" b="1">
                <a:solidFill>
                  <a:srgbClr val="24384A"/>
                </a:solidFill>
                <a:latin typeface="Arial"/>
                <a:ea typeface="Arial"/>
                <a:cs typeface="Arial"/>
              </a:rPr>
              <a:t>EN  “apps potentially violate”</a:t>
            </a:r>
          </a:p>
        </p:txBody>
      </p:sp>
      <p:sp>
        <p:nvSpPr>
          <p:cNvPr id="18" name="PT  aplicativos potencialmente violam">
            <a:extLst xmlns:a="http://schemas.openxmlformats.org/drawingml/2006/main">
              <a:ext uri="{FF2B5EF4-FFF2-40B4-BE49-F238E27FC236}">
                <a16:creationId xmlns:a16="http://schemas.microsoft.com/office/drawing/2014/main" id="{08221B71-40FE-491B-ADF8-9A79E14F654B}"/>
              </a:ext>
            </a:extLst>
          </p:cNvPr>
          <p:cNvSpPr>
            <a:spLocks xmlns:a="http://schemas.openxmlformats.org/drawingml/2006/main" noGrp="1"/>
          </p:cNvSpPr>
          <p:nvPr/>
        </p:nvSpPr>
        <p:spPr>
          <a:xfrm xmlns:a="http://schemas.openxmlformats.org/drawingml/2006/main">
            <a:off x="6438900" y="5010150"/>
            <a:ext cx="5143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4875"/>
                </a:solidFill>
                <a:latin typeface="Arial"/>
                <a:ea typeface="Arial"/>
                <a:cs typeface="Arial"/>
              </a:defRPr>
            </a:pPr>
            <a:r>
              <a:rPr sz="2175" b="0">
                <a:solidFill>
                  <a:srgbClr val="174875"/>
                </a:solidFill>
                <a:latin typeface="Arial"/>
                <a:ea typeface="Arial"/>
                <a:cs typeface="Arial"/>
              </a:rPr>
              <a:t>PT  aplicativos potencialmente violam</a:t>
            </a:r>
          </a:p>
        </p:txBody>
      </p:sp>
      <p:sp>
        <p:nvSpPr>
          <p:cNvPr id="19" name="Análise do seminário: “potentially” expl">
            <a:extLst xmlns:a="http://schemas.openxmlformats.org/drawingml/2006/main">
              <a:ext uri="{FF2B5EF4-FFF2-40B4-BE49-F238E27FC236}">
                <a16:creationId xmlns:a16="http://schemas.microsoft.com/office/drawing/2014/main" id="{AD61CFAA-AEA9-479D-BFAA-878E79062081}"/>
              </a:ext>
            </a:extLst>
          </p:cNvPr>
          <p:cNvSpPr>
            <a:spLocks xmlns:a="http://schemas.openxmlformats.org/drawingml/2006/main" noGrp="1"/>
          </p:cNvSpPr>
          <p:nvPr/>
        </p:nvSpPr>
        <p:spPr>
          <a:xfrm xmlns:a="http://schemas.openxmlformats.org/drawingml/2006/main">
            <a:off x="609600" y="58864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2324F"/>
                </a:solidFill>
                <a:latin typeface="Arial"/>
                <a:ea typeface="Arial"/>
                <a:cs typeface="Arial"/>
              </a:defRPr>
            </a:pPr>
            <a:r>
              <a:rPr sz="1875" b="1">
                <a:solidFill>
                  <a:srgbClr val="12324F"/>
                </a:solidFill>
                <a:latin typeface="Arial"/>
                <a:ea typeface="Arial"/>
                <a:cs typeface="Arial"/>
              </a:rPr>
              <a:t>Análise do seminário: “potentially” explicita no fechamento a cautela anunciada na nota 1.</a:t>
            </a:r>
          </a:p>
        </p:txBody>
      </p:sp>
    </p:spTree>
    <p:extLst>
      <p:ext uri="{BB962C8B-B14F-4D97-AF65-F5344CB8AC3E}">
        <p14:creationId xmlns:p14="http://schemas.microsoft.com/office/powerpoint/2010/main" val="207465954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CEF2252-BD3A-4390-B12F-4FB1BC7E2B73}"/>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174875"/>
          </a:solidFill>
          <a:ln xmlns:a="http://schemas.openxmlformats.org/drawingml/2006/main" w="0">
            <a:noFill/>
          </a:ln>
        </p:spPr>
      </p:sp>
      <p:sp>
        <p:nvSpPr>
          <p:cNvPr id="2" name="APLICAÇÃO AO PROJETO">
            <a:extLst xmlns:a="http://schemas.openxmlformats.org/drawingml/2006/main">
              <a:ext uri="{FF2B5EF4-FFF2-40B4-BE49-F238E27FC236}">
                <a16:creationId xmlns:a16="http://schemas.microsoft.com/office/drawing/2014/main" id="{5EB49831-4BD0-4982-A699-31A13177703C}"/>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74875"/>
                </a:solidFill>
                <a:latin typeface="Arial"/>
                <a:ea typeface="Arial"/>
                <a:cs typeface="Arial"/>
              </a:defRPr>
            </a:pPr>
            <a:r>
              <a:rPr sz="1275" b="1">
                <a:solidFill>
                  <a:srgbClr val="174875"/>
                </a:solidFill>
                <a:latin typeface="Arial"/>
                <a:ea typeface="Arial"/>
                <a:cs typeface="Arial"/>
              </a:rPr>
              <a:t>APLICAÇÃO AO PROJETO</a:t>
            </a:r>
          </a:p>
        </p:txBody>
      </p:sp>
      <p:sp>
        <p:nvSpPr>
          <p:cNvPr id="3" name="Contribuições para o meu TCC">
            <a:extLst xmlns:a="http://schemas.openxmlformats.org/drawingml/2006/main">
              <a:ext uri="{FF2B5EF4-FFF2-40B4-BE49-F238E27FC236}">
                <a16:creationId xmlns:a16="http://schemas.microsoft.com/office/drawing/2014/main" id="{9FFC13B1-F8D6-48D1-841B-E7BAD2EDFEFE}"/>
              </a:ext>
            </a:extLst>
          </p:cNvPr>
          <p:cNvSpPr>
            <a:spLocks xmlns:a="http://schemas.openxmlformats.org/drawingml/2006/main" noGrp="1"/>
          </p:cNvSpPr>
          <p:nvPr/>
        </p:nvSpPr>
        <p:spPr>
          <a:xfrm xmlns:a="http://schemas.openxmlformats.org/drawingml/2006/main">
            <a:off x="609600" y="7048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2324F"/>
                </a:solidFill>
                <a:latin typeface="Arial"/>
                <a:ea typeface="Arial"/>
                <a:cs typeface="Arial"/>
              </a:defRPr>
            </a:pPr>
            <a:r>
              <a:rPr sz="3150" b="1">
                <a:solidFill>
                  <a:srgbClr val="12324F"/>
                </a:solidFill>
                <a:latin typeface="Arial"/>
                <a:ea typeface="Arial"/>
                <a:cs typeface="Arial"/>
              </a:rPr>
              <a:t>Contribuições para o meu TCC</a:t>
            </a:r>
          </a:p>
        </p:txBody>
      </p:sp>
      <p:sp>
        <p:nvSpPr>
          <p:cNvPr id="4" name="">
            <a:extLst xmlns:a="http://schemas.openxmlformats.org/drawingml/2006/main">
              <a:ext uri="{FF2B5EF4-FFF2-40B4-BE49-F238E27FC236}">
                <a16:creationId xmlns:a16="http://schemas.microsoft.com/office/drawing/2014/main" id="{153FB4D8-D91D-4E01-A2C8-549A1B147F8B}"/>
              </a:ext>
            </a:extLst>
          </p:cNvPr>
          <p:cNvSpPr>
            <a:spLocks xmlns:a="http://schemas.openxmlformats.org/drawingml/2006/main" noGrp="1"/>
          </p:cNvSpPr>
          <p:nvPr/>
        </p:nvSpPr>
        <p:spPr>
          <a:xfrm xmlns:a="http://schemas.openxmlformats.org/drawingml/2006/main">
            <a:off x="609600" y="1390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BA95A01-321C-4FA9-9433-B4E12CAC85F8}"/>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6" name="Fontes: artigo de Nguyen et al. (2022) e">
            <a:extLst xmlns:a="http://schemas.openxmlformats.org/drawingml/2006/main">
              <a:ext uri="{FF2B5EF4-FFF2-40B4-BE49-F238E27FC236}">
                <a16:creationId xmlns:a16="http://schemas.microsoft.com/office/drawing/2014/main" id="{43A02A25-FD24-4D70-A9D4-2823C35E10B4}"/>
              </a:ext>
            </a:extLst>
          </p:cNvPr>
          <p:cNvSpPr>
            <a:spLocks xmlns:a="http://schemas.openxmlformats.org/drawingml/2006/main" noGrp="1"/>
          </p:cNvSpPr>
          <p:nvPr/>
        </p:nvSpPr>
        <p:spPr>
          <a:xfrm xmlns:a="http://schemas.openxmlformats.org/drawingml/2006/main">
            <a:off x="609600" y="6477000"/>
            <a:ext cx="9982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96B7A"/>
                </a:solidFill>
                <a:latin typeface="Arial"/>
                <a:ea typeface="Arial"/>
                <a:cs typeface="Arial"/>
              </a:defRPr>
            </a:pPr>
            <a:r>
              <a:rPr sz="1200" b="0">
                <a:solidFill>
                  <a:srgbClr val="596B7A"/>
                </a:solidFill>
                <a:latin typeface="Arial"/>
                <a:ea typeface="Arial"/>
                <a:cs typeface="Arial"/>
              </a:rPr>
              <a:t>Fontes: artigo de Nguyen et al. (2022) e proposta N3 no repositório ClaudioAMF1/TCC.</a:t>
            </a:r>
          </a:p>
        </p:txBody>
      </p:sp>
      <p:sp>
        <p:nvSpPr>
          <p:cNvPr id="7" name="23 / 23">
            <a:extLst xmlns:a="http://schemas.openxmlformats.org/drawingml/2006/main">
              <a:ext uri="{FF2B5EF4-FFF2-40B4-BE49-F238E27FC236}">
                <a16:creationId xmlns:a16="http://schemas.microsoft.com/office/drawing/2014/main" id="{D4C9E6AC-F7B1-4CFC-BA24-FC233022C469}"/>
              </a:ext>
            </a:extLst>
          </p:cNvPr>
          <p:cNvSpPr>
            <a:spLocks xmlns:a="http://schemas.openxmlformats.org/drawingml/2006/main" noGrp="1"/>
          </p:cNvSpPr>
          <p:nvPr/>
        </p:nvSpPr>
        <p:spPr>
          <a:xfrm xmlns:a="http://schemas.openxmlformats.org/drawingml/2006/main">
            <a:off x="10668000" y="64770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96B7A"/>
                </a:solidFill>
                <a:latin typeface="Arial"/>
                <a:ea typeface="Arial"/>
                <a:cs typeface="Arial"/>
              </a:defRPr>
            </a:pPr>
            <a:r>
              <a:rPr sz="1200" b="0">
                <a:solidFill>
                  <a:srgbClr val="596B7A"/>
                </a:solidFill>
                <a:latin typeface="Arial"/>
                <a:ea typeface="Arial"/>
                <a:cs typeface="Arial"/>
              </a:rPr>
              <a:t>23 / 23</a:t>
            </a:r>
          </a:p>
        </p:txBody>
      </p:sp>
      <p:sp>
        <p:nvSpPr>
          <p:cNvPr id="8" name="MÉTODO">
            <a:extLst xmlns:a="http://schemas.openxmlformats.org/drawingml/2006/main">
              <a:ext uri="{FF2B5EF4-FFF2-40B4-BE49-F238E27FC236}">
                <a16:creationId xmlns:a16="http://schemas.microsoft.com/office/drawing/2014/main" id="{F3F1C5B8-42C2-44DD-A6DF-E482CD338E45}"/>
              </a:ext>
            </a:extLst>
          </p:cNvPr>
          <p:cNvSpPr>
            <a:spLocks xmlns:a="http://schemas.openxmlformats.org/drawingml/2006/main" noGrp="1"/>
          </p:cNvSpPr>
          <p:nvPr/>
        </p:nvSpPr>
        <p:spPr>
          <a:xfrm xmlns:a="http://schemas.openxmlformats.org/drawingml/2006/main">
            <a:off x="609600" y="1781175"/>
            <a:ext cx="1695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287967"/>
                </a:solidFill>
                <a:latin typeface="Arial"/>
                <a:ea typeface="Arial"/>
                <a:cs typeface="Arial"/>
              </a:defRPr>
            </a:pPr>
            <a:r>
              <a:rPr sz="1350" b="1">
                <a:solidFill>
                  <a:srgbClr val="287967"/>
                </a:solidFill>
                <a:latin typeface="Arial"/>
                <a:ea typeface="Arial"/>
                <a:cs typeface="Arial"/>
              </a:rPr>
              <a:t>MÉTODO</a:t>
            </a:r>
          </a:p>
        </p:txBody>
      </p:sp>
      <p:sp>
        <p:nvSpPr>
          <p:cNvPr id="9" name="Relacionar as interfaces e declarações d">
            <a:extLst xmlns:a="http://schemas.openxmlformats.org/drawingml/2006/main">
              <a:ext uri="{FF2B5EF4-FFF2-40B4-BE49-F238E27FC236}">
                <a16:creationId xmlns:a16="http://schemas.microsoft.com/office/drawing/2014/main" id="{CCC9F957-0B5F-4969-B83E-BD3FEAC5C46C}"/>
              </a:ext>
            </a:extLst>
          </p:cNvPr>
          <p:cNvSpPr>
            <a:spLocks xmlns:a="http://schemas.openxmlformats.org/drawingml/2006/main" noGrp="1"/>
          </p:cNvSpPr>
          <p:nvPr/>
        </p:nvSpPr>
        <p:spPr>
          <a:xfrm xmlns:a="http://schemas.openxmlformats.org/drawingml/2006/main">
            <a:off x="2714625" y="1752600"/>
            <a:ext cx="8858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4384A"/>
                </a:solidFill>
                <a:latin typeface="Arial"/>
                <a:ea typeface="Arial"/>
                <a:cs typeface="Arial"/>
              </a:defRPr>
            </a:pPr>
            <a:r>
              <a:rPr sz="2175" b="0">
                <a:solidFill>
                  <a:srgbClr val="24384A"/>
                </a:solidFill>
                <a:latin typeface="Arial"/>
                <a:ea typeface="Arial"/>
                <a:cs typeface="Arial"/>
              </a:rPr>
              <a:t>Relacionar as interfaces e declarações do app</a:t>
            </a:r>
          </a:p>
          <a:p xmlns:a="http://schemas.openxmlformats.org/drawingml/2006/main">
            <a:pPr algn="l">
              <a:defRPr sz="2175" b="0">
                <a:solidFill>
                  <a:srgbClr val="24384A"/>
                </a:solidFill>
                <a:latin typeface="Arial"/>
                <a:ea typeface="Arial"/>
                <a:cs typeface="Arial"/>
              </a:defRPr>
            </a:pPr>
            <a:r>
              <a:rPr sz="2175" b="0">
                <a:solidFill>
                  <a:srgbClr val="24384A"/>
                </a:solidFill>
                <a:latin typeface="Arial"/>
                <a:ea typeface="Arial"/>
                <a:cs typeface="Arial"/>
              </a:rPr>
              <a:t>a evidências do comportamento observado no tráfego.</a:t>
            </a:r>
          </a:p>
        </p:txBody>
      </p:sp>
      <p:sp>
        <p:nvSpPr>
          <p:cNvPr id="10" name="">
            <a:extLst xmlns:a="http://schemas.openxmlformats.org/drawingml/2006/main">
              <a:ext uri="{FF2B5EF4-FFF2-40B4-BE49-F238E27FC236}">
                <a16:creationId xmlns:a16="http://schemas.microsoft.com/office/drawing/2014/main" id="{4B57598C-90D8-4197-8BA1-CB7629678183}"/>
              </a:ext>
            </a:extLst>
          </p:cNvPr>
          <p:cNvSpPr>
            <a:spLocks xmlns:a="http://schemas.openxmlformats.org/drawingml/2006/main" noGrp="1"/>
          </p:cNvSpPr>
          <p:nvPr/>
        </p:nvSpPr>
        <p:spPr>
          <a:xfrm xmlns:a="http://schemas.openxmlformats.org/drawingml/2006/main">
            <a:off x="609600" y="278130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11" name="ESCRITA">
            <a:extLst xmlns:a="http://schemas.openxmlformats.org/drawingml/2006/main">
              <a:ext uri="{FF2B5EF4-FFF2-40B4-BE49-F238E27FC236}">
                <a16:creationId xmlns:a16="http://schemas.microsoft.com/office/drawing/2014/main" id="{1A7D13C7-0D41-4773-B216-0A0DC0E41ADA}"/>
              </a:ext>
            </a:extLst>
          </p:cNvPr>
          <p:cNvSpPr>
            <a:spLocks xmlns:a="http://schemas.openxmlformats.org/drawingml/2006/main" noGrp="1"/>
          </p:cNvSpPr>
          <p:nvPr/>
        </p:nvSpPr>
        <p:spPr>
          <a:xfrm xmlns:a="http://schemas.openxmlformats.org/drawingml/2006/main">
            <a:off x="609600" y="2990850"/>
            <a:ext cx="1695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74875"/>
                </a:solidFill>
                <a:latin typeface="Arial"/>
                <a:ea typeface="Arial"/>
                <a:cs typeface="Arial"/>
              </a:defRPr>
            </a:pPr>
            <a:r>
              <a:rPr sz="1350" b="1">
                <a:solidFill>
                  <a:srgbClr val="174875"/>
                </a:solidFill>
                <a:latin typeface="Arial"/>
                <a:ea typeface="Arial"/>
                <a:cs typeface="Arial"/>
              </a:rPr>
              <a:t>ESCRITA</a:t>
            </a:r>
          </a:p>
        </p:txBody>
      </p:sp>
      <p:sp>
        <p:nvSpPr>
          <p:cNvPr id="12" name="Informar perdas da análise, limitações e">
            <a:extLst xmlns:a="http://schemas.openxmlformats.org/drawingml/2006/main">
              <a:ext uri="{FF2B5EF4-FFF2-40B4-BE49-F238E27FC236}">
                <a16:creationId xmlns:a16="http://schemas.microsoft.com/office/drawing/2014/main" id="{C3B3F1D4-5F1E-4CB2-B705-9859303AEA37}"/>
              </a:ext>
            </a:extLst>
          </p:cNvPr>
          <p:cNvSpPr>
            <a:spLocks xmlns:a="http://schemas.openxmlformats.org/drawingml/2006/main" noGrp="1"/>
          </p:cNvSpPr>
          <p:nvPr/>
        </p:nvSpPr>
        <p:spPr>
          <a:xfrm xmlns:a="http://schemas.openxmlformats.org/drawingml/2006/main">
            <a:off x="2714625" y="2962275"/>
            <a:ext cx="8858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4384A"/>
                </a:solidFill>
                <a:latin typeface="Arial"/>
                <a:ea typeface="Arial"/>
                <a:cs typeface="Arial"/>
              </a:defRPr>
            </a:pPr>
            <a:r>
              <a:rPr sz="2175" b="0">
                <a:solidFill>
                  <a:srgbClr val="24384A"/>
                </a:solidFill>
                <a:latin typeface="Arial"/>
                <a:ea typeface="Arial"/>
                <a:cs typeface="Arial"/>
              </a:rPr>
              <a:t>Informar perdas da análise, limitações e denominadores.</a:t>
            </a:r>
          </a:p>
          <a:p xmlns:a="http://schemas.openxmlformats.org/drawingml/2006/main">
            <a:pPr algn="l">
              <a:defRPr sz="2175" b="0">
                <a:solidFill>
                  <a:srgbClr val="24384A"/>
                </a:solidFill>
                <a:latin typeface="Arial"/>
                <a:ea typeface="Arial"/>
                <a:cs typeface="Arial"/>
              </a:defRPr>
            </a:pPr>
            <a:r>
              <a:rPr sz="2175" b="0">
                <a:solidFill>
                  <a:srgbClr val="24384A"/>
                </a:solidFill>
                <a:latin typeface="Arial"/>
                <a:ea typeface="Arial"/>
                <a:cs typeface="Arial"/>
              </a:rPr>
              <a:t>Distinguir indícios técnicos de conclusões jurídicas.</a:t>
            </a:r>
          </a:p>
        </p:txBody>
      </p:sp>
      <p:sp>
        <p:nvSpPr>
          <p:cNvPr id="13" name="">
            <a:extLst xmlns:a="http://schemas.openxmlformats.org/drawingml/2006/main">
              <a:ext uri="{FF2B5EF4-FFF2-40B4-BE49-F238E27FC236}">
                <a16:creationId xmlns:a16="http://schemas.microsoft.com/office/drawing/2014/main" id="{571236BE-6489-4D3C-950F-754E6D311577}"/>
              </a:ext>
            </a:extLst>
          </p:cNvPr>
          <p:cNvSpPr>
            <a:spLocks xmlns:a="http://schemas.openxmlformats.org/drawingml/2006/main" noGrp="1"/>
          </p:cNvSpPr>
          <p:nvPr/>
        </p:nvSpPr>
        <p:spPr>
          <a:xfrm xmlns:a="http://schemas.openxmlformats.org/drawingml/2006/main">
            <a:off x="609600" y="3990975"/>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14" name="RECORTE">
            <a:extLst xmlns:a="http://schemas.openxmlformats.org/drawingml/2006/main">
              <a:ext uri="{FF2B5EF4-FFF2-40B4-BE49-F238E27FC236}">
                <a16:creationId xmlns:a16="http://schemas.microsoft.com/office/drawing/2014/main" id="{FAAA7B0A-5245-4BFA-9F81-567A6AB26D46}"/>
              </a:ext>
            </a:extLst>
          </p:cNvPr>
          <p:cNvSpPr>
            <a:spLocks xmlns:a="http://schemas.openxmlformats.org/drawingml/2006/main" noGrp="1"/>
          </p:cNvSpPr>
          <p:nvPr/>
        </p:nvSpPr>
        <p:spPr>
          <a:xfrm xmlns:a="http://schemas.openxmlformats.org/drawingml/2006/main">
            <a:off x="609600" y="4200525"/>
            <a:ext cx="1695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69558B"/>
                </a:solidFill>
                <a:latin typeface="Arial"/>
                <a:ea typeface="Arial"/>
                <a:cs typeface="Arial"/>
              </a:defRPr>
            </a:pPr>
            <a:r>
              <a:rPr sz="1350" b="1">
                <a:solidFill>
                  <a:srgbClr val="69558B"/>
                </a:solidFill>
                <a:latin typeface="Arial"/>
                <a:ea typeface="Arial"/>
                <a:cs typeface="Arial"/>
              </a:rPr>
              <a:t>RECORTE</a:t>
            </a:r>
          </a:p>
        </p:txBody>
      </p:sp>
      <p:sp>
        <p:nvSpPr>
          <p:cNvPr id="15" name="Investigar aplicativos governamentais br">
            <a:extLst xmlns:a="http://schemas.openxmlformats.org/drawingml/2006/main">
              <a:ext uri="{FF2B5EF4-FFF2-40B4-BE49-F238E27FC236}">
                <a16:creationId xmlns:a16="http://schemas.microsoft.com/office/drawing/2014/main" id="{1D0ADE23-F91B-46AF-85A6-09ED94D83AC6}"/>
              </a:ext>
            </a:extLst>
          </p:cNvPr>
          <p:cNvSpPr>
            <a:spLocks xmlns:a="http://schemas.openxmlformats.org/drawingml/2006/main" noGrp="1"/>
          </p:cNvSpPr>
          <p:nvPr/>
        </p:nvSpPr>
        <p:spPr>
          <a:xfrm xmlns:a="http://schemas.openxmlformats.org/drawingml/2006/main">
            <a:off x="2714625" y="4171950"/>
            <a:ext cx="8858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4384A"/>
                </a:solidFill>
                <a:latin typeface="Arial"/>
                <a:ea typeface="Arial"/>
                <a:cs typeface="Arial"/>
              </a:defRPr>
            </a:pPr>
            <a:r>
              <a:rPr sz="2175" b="0">
                <a:solidFill>
                  <a:srgbClr val="24384A"/>
                </a:solidFill>
                <a:latin typeface="Arial"/>
                <a:ea typeface="Arial"/>
                <a:cs typeface="Arial"/>
              </a:rPr>
              <a:t>Investigar aplicativos governamentais brasileiros</a:t>
            </a:r>
          </a:p>
          <a:p xmlns:a="http://schemas.openxmlformats.org/drawingml/2006/main">
            <a:pPr algn="l">
              <a:defRPr sz="2175" b="0">
                <a:solidFill>
                  <a:srgbClr val="24384A"/>
                </a:solidFill>
                <a:latin typeface="Arial"/>
                <a:ea typeface="Arial"/>
                <a:cs typeface="Arial"/>
              </a:defRPr>
            </a:pPr>
            <a:r>
              <a:rPr sz="2175" b="0">
                <a:solidFill>
                  <a:srgbClr val="24384A"/>
                </a:solidFill>
                <a:latin typeface="Arial"/>
                <a:ea typeface="Arial"/>
                <a:cs typeface="Arial"/>
              </a:rPr>
              <a:t>e compará-los com um grupo comercial pareado.</a:t>
            </a:r>
          </a:p>
        </p:txBody>
      </p:sp>
      <p:sp>
        <p:nvSpPr>
          <p:cNvPr id="16" name="">
            <a:extLst xmlns:a="http://schemas.openxmlformats.org/drawingml/2006/main">
              <a:ext uri="{FF2B5EF4-FFF2-40B4-BE49-F238E27FC236}">
                <a16:creationId xmlns:a16="http://schemas.microsoft.com/office/drawing/2014/main" id="{B794715D-E115-46D2-97B5-EAEC3CB1C42E}"/>
              </a:ext>
            </a:extLst>
          </p:cNvPr>
          <p:cNvSpPr>
            <a:spLocks xmlns:a="http://schemas.openxmlformats.org/drawingml/2006/main" noGrp="1"/>
          </p:cNvSpPr>
          <p:nvPr/>
        </p:nvSpPr>
        <p:spPr>
          <a:xfrm xmlns:a="http://schemas.openxmlformats.org/drawingml/2006/main">
            <a:off x="609600" y="5391150"/>
            <a:ext cx="10972800" cy="19050"/>
          </a:xfrm>
          <a:prstGeom xmlns:a="http://schemas.openxmlformats.org/drawingml/2006/main" prst="rect">
            <a:avLst/>
          </a:prstGeom>
          <a:solidFill xmlns:a="http://schemas.openxmlformats.org/drawingml/2006/main">
            <a:srgbClr val="174875"/>
          </a:solidFill>
          <a:ln xmlns:a="http://schemas.openxmlformats.org/drawingml/2006/main" w="0">
            <a:noFill/>
          </a:ln>
        </p:spPr>
      </p:sp>
      <p:sp>
        <p:nvSpPr>
          <p:cNvPr id="17" name="Que dados os apps governamentais enviam ">
            <a:extLst xmlns:a="http://schemas.openxmlformats.org/drawingml/2006/main">
              <a:ext uri="{FF2B5EF4-FFF2-40B4-BE49-F238E27FC236}">
                <a16:creationId xmlns:a16="http://schemas.microsoft.com/office/drawing/2014/main" id="{4B725100-75B4-4DD1-80D9-2A84B36121B8}"/>
              </a:ext>
            </a:extLst>
          </p:cNvPr>
          <p:cNvSpPr>
            <a:spLocks xmlns:a="http://schemas.openxmlformats.org/drawingml/2006/main" noGrp="1"/>
          </p:cNvSpPr>
          <p:nvPr/>
        </p:nvSpPr>
        <p:spPr>
          <a:xfrm xmlns:a="http://schemas.openxmlformats.org/drawingml/2006/main">
            <a:off x="609600" y="55816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2324F"/>
                </a:solidFill>
                <a:latin typeface="Arial"/>
                <a:ea typeface="Arial"/>
                <a:cs typeface="Arial"/>
              </a:defRPr>
            </a:pPr>
            <a:r>
              <a:rPr sz="2175" b="1">
                <a:solidFill>
                  <a:srgbClr val="12324F"/>
                </a:solidFill>
                <a:latin typeface="Arial"/>
                <a:ea typeface="Arial"/>
                <a:cs typeface="Arial"/>
              </a:rPr>
              <a:t>Que dados os apps governamentais enviam a terceiros,</a:t>
            </a:r>
          </a:p>
          <a:p xmlns:a="http://schemas.openxmlformats.org/drawingml/2006/main">
            <a:pPr algn="l">
              <a:defRPr sz="2175" b="1">
                <a:solidFill>
                  <a:srgbClr val="12324F"/>
                </a:solidFill>
                <a:latin typeface="Arial"/>
                <a:ea typeface="Arial"/>
                <a:cs typeface="Arial"/>
              </a:defRPr>
            </a:pPr>
            <a:r>
              <a:rPr sz="2175" b="1">
                <a:solidFill>
                  <a:srgbClr val="12324F"/>
                </a:solidFill>
                <a:latin typeface="Arial"/>
                <a:ea typeface="Arial"/>
                <a:cs typeface="Arial"/>
              </a:rPr>
              <a:t>e como esse comportamento difere do controle comercial?</a:t>
            </a:r>
          </a:p>
        </p:txBody>
      </p:sp>
    </p:spTree>
    <p:extLst>
      <p:ext uri="{BB962C8B-B14F-4D97-AF65-F5344CB8AC3E}">
        <p14:creationId xmlns:p14="http://schemas.microsoft.com/office/powerpoint/2010/main" val="164887005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53FE043-7F5F-470F-B0D9-CC336B558C90}"/>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174875"/>
          </a:solidFill>
          <a:ln xmlns:a="http://schemas.openxmlformats.org/drawingml/2006/main" w="0">
            <a:noFill/>
          </a:ln>
        </p:spPr>
      </p:sp>
      <p:sp>
        <p:nvSpPr>
          <p:cNvPr id="2" name="APOIO: SELEÇÃO">
            <a:extLst xmlns:a="http://schemas.openxmlformats.org/drawingml/2006/main">
              <a:ext uri="{FF2B5EF4-FFF2-40B4-BE49-F238E27FC236}">
                <a16:creationId xmlns:a16="http://schemas.microsoft.com/office/drawing/2014/main" id="{0B90D7FE-D1E5-4E3F-B50B-86ABCC1B238D}"/>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74875"/>
                </a:solidFill>
                <a:latin typeface="Arial"/>
                <a:ea typeface="Arial"/>
                <a:cs typeface="Arial"/>
              </a:defRPr>
            </a:pPr>
            <a:r>
              <a:rPr sz="1275" b="1">
                <a:solidFill>
                  <a:srgbClr val="174875"/>
                </a:solidFill>
                <a:latin typeface="Arial"/>
                <a:ea typeface="Arial"/>
                <a:cs typeface="Arial"/>
              </a:rPr>
              <a:t>APOIO: SELEÇÃO</a:t>
            </a:r>
          </a:p>
        </p:txBody>
      </p:sp>
      <p:sp>
        <p:nvSpPr>
          <p:cNvPr id="3" name="Os cinco finalistas da seleção">
            <a:extLst xmlns:a="http://schemas.openxmlformats.org/drawingml/2006/main">
              <a:ext uri="{FF2B5EF4-FFF2-40B4-BE49-F238E27FC236}">
                <a16:creationId xmlns:a16="http://schemas.microsoft.com/office/drawing/2014/main" id="{CB9C0884-BB49-4670-8F82-7ABA9A7E49F0}"/>
              </a:ext>
            </a:extLst>
          </p:cNvPr>
          <p:cNvSpPr>
            <a:spLocks xmlns:a="http://schemas.openxmlformats.org/drawingml/2006/main" noGrp="1"/>
          </p:cNvSpPr>
          <p:nvPr/>
        </p:nvSpPr>
        <p:spPr>
          <a:xfrm xmlns:a="http://schemas.openxmlformats.org/drawingml/2006/main">
            <a:off x="609600" y="7048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2324F"/>
                </a:solidFill>
                <a:latin typeface="Arial"/>
                <a:ea typeface="Arial"/>
                <a:cs typeface="Arial"/>
              </a:defRPr>
            </a:pPr>
            <a:r>
              <a:rPr sz="3150" b="1">
                <a:solidFill>
                  <a:srgbClr val="12324F"/>
                </a:solidFill>
                <a:latin typeface="Arial"/>
                <a:ea typeface="Arial"/>
                <a:cs typeface="Arial"/>
              </a:rPr>
              <a:t>Os cinco finalistas da seleção</a:t>
            </a:r>
          </a:p>
        </p:txBody>
      </p:sp>
      <p:sp>
        <p:nvSpPr>
          <p:cNvPr id="4" name="">
            <a:extLst xmlns:a="http://schemas.openxmlformats.org/drawingml/2006/main">
              <a:ext uri="{FF2B5EF4-FFF2-40B4-BE49-F238E27FC236}">
                <a16:creationId xmlns:a16="http://schemas.microsoft.com/office/drawing/2014/main" id="{05B0E472-2071-492C-B42F-CC43EB3C709E}"/>
              </a:ext>
            </a:extLst>
          </p:cNvPr>
          <p:cNvSpPr>
            <a:spLocks xmlns:a="http://schemas.openxmlformats.org/drawingml/2006/main" noGrp="1"/>
          </p:cNvSpPr>
          <p:nvPr/>
        </p:nvSpPr>
        <p:spPr>
          <a:xfrm xmlns:a="http://schemas.openxmlformats.org/drawingml/2006/main">
            <a:off x="609600" y="1390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619AA50-3875-45C7-BDCB-77BFFE087582}"/>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6" name="Fontes: Scopus via CAPES/CAFe (21/09/202">
            <a:extLst xmlns:a="http://schemas.openxmlformats.org/drawingml/2006/main">
              <a:ext uri="{FF2B5EF4-FFF2-40B4-BE49-F238E27FC236}">
                <a16:creationId xmlns:a16="http://schemas.microsoft.com/office/drawing/2014/main" id="{4C89A84E-004D-4922-95D5-FE0B8A69C521}"/>
              </a:ext>
            </a:extLst>
          </p:cNvPr>
          <p:cNvSpPr>
            <a:spLocks xmlns:a="http://schemas.openxmlformats.org/drawingml/2006/main" noGrp="1"/>
          </p:cNvSpPr>
          <p:nvPr/>
        </p:nvSpPr>
        <p:spPr>
          <a:xfrm xmlns:a="http://schemas.openxmlformats.org/drawingml/2006/main">
            <a:off x="609600" y="6477000"/>
            <a:ext cx="9982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96B7A"/>
                </a:solidFill>
                <a:latin typeface="Arial"/>
                <a:ea typeface="Arial"/>
                <a:cs typeface="Arial"/>
              </a:defRPr>
            </a:pPr>
            <a:r>
              <a:rPr sz="1200" b="0">
                <a:solidFill>
                  <a:srgbClr val="596B7A"/>
                </a:solidFill>
                <a:latin typeface="Arial"/>
                <a:ea typeface="Arial"/>
                <a:cs typeface="Arial"/>
              </a:rPr>
              <a:t>Fontes: Scopus via CAPES/CAFe (21/09/2026) e ICORE2026, registro SOUPS (22/09/2026).</a:t>
            </a:r>
          </a:p>
        </p:txBody>
      </p:sp>
      <p:sp>
        <p:nvSpPr>
          <p:cNvPr id="7" name="APOIO 1">
            <a:extLst xmlns:a="http://schemas.openxmlformats.org/drawingml/2006/main">
              <a:ext uri="{FF2B5EF4-FFF2-40B4-BE49-F238E27FC236}">
                <a16:creationId xmlns:a16="http://schemas.microsoft.com/office/drawing/2014/main" id="{99AC486B-2E5D-405F-B10B-6A0D7C1AEC3C}"/>
              </a:ext>
            </a:extLst>
          </p:cNvPr>
          <p:cNvSpPr>
            <a:spLocks xmlns:a="http://schemas.openxmlformats.org/drawingml/2006/main" noGrp="1"/>
          </p:cNvSpPr>
          <p:nvPr/>
        </p:nvSpPr>
        <p:spPr>
          <a:xfrm xmlns:a="http://schemas.openxmlformats.org/drawingml/2006/main">
            <a:off x="10668000" y="64770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96B7A"/>
                </a:solidFill>
                <a:latin typeface="Arial"/>
                <a:ea typeface="Arial"/>
                <a:cs typeface="Arial"/>
              </a:defRPr>
            </a:pPr>
            <a:r>
              <a:rPr sz="1200" b="0">
                <a:solidFill>
                  <a:srgbClr val="596B7A"/>
                </a:solidFill>
                <a:latin typeface="Arial"/>
                <a:ea typeface="Arial"/>
                <a:cs typeface="Arial"/>
              </a:rPr>
              <a:t>APOIO 1</a:t>
            </a:r>
          </a:p>
        </p:txBody>
      </p:sp>
      <p:graphicFrame>
        <p:nvGraphicFramePr>
          <p:cNvPr id="17" name=""/>
          <p:cNvGraphicFramePr/>
          <p:nvPr/>
        </p:nvGraphicFramePr>
        <p:xfrm>
          <a:off xmlns:a="http://schemas.openxmlformats.org/drawingml/2006/main" x="609600" y="1790700"/>
          <a:ext xmlns:a="http://schemas.openxmlformats.org/drawingml/2006/main" cx="10972800" cy="3886200"/>
        </p:xfrm>
        <a:graphic xmlns:a="http://schemas.openxmlformats.org/drawingml/2006/main">
          <a:graphicData uri="http://schemas.openxmlformats.org/drawingml/2006/table">
            <a:tbl>
              <a:tblPr firstRow="0" bandRow="0"/>
              <a:tblGrid>
                <a:gridCol w="4667250"/>
                <a:gridCol w="2152650"/>
                <a:gridCol w="1095375"/>
                <a:gridCol w="3057525"/>
              </a:tblGrid>
              <a:tr h="647700">
                <a:tc>
                  <a:txBody>
                    <a:bodyPr wrap="square" lIns="114300" tIns="57150" rIns="114300" bIns="57150">
                      <a:noAutofit/>
                    </a:bodyPr>
                    <a:lstStyle/>
                    <a:p>
                      <a:pPr algn="l"/>
                      <a:r>
                        <a:rPr sz="1575" b="1">
                          <a:solidFill>
                            <a:srgbClr val="FFFFFF"/>
                          </a:solidFill>
                          <a:latin typeface="Arial"/>
                          <a:ea typeface="Arial"/>
                          <a:cs typeface="Arial"/>
                        </a:rPr>
                        <a:t>Artigo</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174875"/>
                    </a:solidFill>
                  </a:tcPr>
                </a:tc>
                <a:tc>
                  <a:txBody>
                    <a:bodyPr wrap="square" lIns="114300" tIns="57150" rIns="114300" bIns="57150">
                      <a:noAutofit/>
                    </a:bodyPr>
                    <a:lstStyle/>
                    <a:p>
                      <a:pPr algn="ctr"/>
                      <a:r>
                        <a:rPr sz="1575" b="1">
                          <a:solidFill>
                            <a:srgbClr val="FFFFFF"/>
                          </a:solidFill>
                          <a:latin typeface="Arial"/>
                          <a:ea typeface="Arial"/>
                          <a:cs typeface="Arial"/>
                        </a:rPr>
                        <a:t>Veículo / ano</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174875"/>
                    </a:solidFill>
                  </a:tcPr>
                </a:tc>
                <a:tc>
                  <a:txBody>
                    <a:bodyPr wrap="square" lIns="114300" tIns="57150" rIns="114300" bIns="57150">
                      <a:noAutofit/>
                    </a:bodyPr>
                    <a:lstStyle/>
                    <a:p>
                      <a:pPr algn="ctr"/>
                      <a:r>
                        <a:rPr sz="1575" b="1">
                          <a:solidFill>
                            <a:srgbClr val="FFFFFF"/>
                          </a:solidFill>
                          <a:latin typeface="Arial"/>
                          <a:ea typeface="Arial"/>
                          <a:cs typeface="Arial"/>
                        </a:rPr>
                        <a:t>Citações</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174875"/>
                    </a:solidFill>
                  </a:tcPr>
                </a:tc>
                <a:tc>
                  <a:txBody>
                    <a:bodyPr wrap="square" lIns="114300" tIns="57150" rIns="114300" bIns="57150">
                      <a:noAutofit/>
                    </a:bodyPr>
                    <a:lstStyle/>
                    <a:p>
                      <a:pPr algn="ctr"/>
                      <a:r>
                        <a:rPr sz="1575" b="1">
                          <a:solidFill>
                            <a:srgbClr val="FFFFFF"/>
                          </a:solidFill>
                          <a:latin typeface="Arial"/>
                          <a:ea typeface="Arial"/>
                          <a:cs typeface="Arial"/>
                        </a:rPr>
                        <a:t>Decisão registrada</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174875"/>
                    </a:solidFill>
                  </a:tcPr>
                </a:tc>
              </a:tr>
              <a:tr h="647700">
                <a:tc>
                  <a:txBody>
                    <a:bodyPr wrap="square" lIns="114300" tIns="57150" rIns="114300" bIns="57150">
                      <a:noAutofit/>
                    </a:bodyPr>
                    <a:lstStyle/>
                    <a:p>
                      <a:pPr algn="l"/>
                      <a:r>
                        <a:rPr sz="1575" b="0">
                          <a:solidFill>
                            <a:srgbClr val="24384A"/>
                          </a:solidFill>
                          <a:latin typeface="Arial"/>
                          <a:ea typeface="Arial"/>
                          <a:cs typeface="Arial"/>
                        </a:rPr>
                        <a:t>Freely Given Consent?</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EDF3F8"/>
                    </a:solidFill>
                  </a:tcPr>
                </a:tc>
                <a:tc>
                  <a:txBody>
                    <a:bodyPr wrap="square" lIns="114300" tIns="57150" rIns="114300" bIns="57150">
                      <a:noAutofit/>
                    </a:bodyPr>
                    <a:lstStyle/>
                    <a:p>
                      <a:pPr algn="ctr"/>
                      <a:r>
                        <a:rPr sz="1575" b="0">
                          <a:solidFill>
                            <a:srgbClr val="24384A"/>
                          </a:solidFill>
                          <a:latin typeface="Arial"/>
                          <a:ea typeface="Arial"/>
                          <a:cs typeface="Arial"/>
                        </a:rPr>
                        <a:t>CCS / 2022</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EDF3F8"/>
                    </a:solidFill>
                  </a:tcPr>
                </a:tc>
                <a:tc>
                  <a:txBody>
                    <a:bodyPr wrap="square" lIns="114300" tIns="57150" rIns="114300" bIns="57150">
                      <a:noAutofit/>
                    </a:bodyPr>
                    <a:lstStyle/>
                    <a:p>
                      <a:pPr algn="ctr"/>
                      <a:r>
                        <a:rPr sz="1575" b="0">
                          <a:solidFill>
                            <a:srgbClr val="24384A"/>
                          </a:solidFill>
                          <a:latin typeface="Arial"/>
                          <a:ea typeface="Arial"/>
                          <a:cs typeface="Arial"/>
                        </a:rPr>
                        <a:t>52</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EDF3F8"/>
                    </a:solidFill>
                  </a:tcPr>
                </a:tc>
                <a:tc>
                  <a:txBody>
                    <a:bodyPr wrap="square" lIns="114300" tIns="57150" rIns="114300" bIns="57150">
                      <a:noAutofit/>
                    </a:bodyPr>
                    <a:lstStyle/>
                    <a:p>
                      <a:pPr algn="ctr"/>
                      <a:r>
                        <a:rPr sz="1575" b="0">
                          <a:solidFill>
                            <a:srgbClr val="24384A"/>
                          </a:solidFill>
                          <a:latin typeface="Arial"/>
                          <a:ea typeface="Arial"/>
                          <a:cs typeface="Arial"/>
                        </a:rPr>
                        <a:t>Selecionado</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EDF3F8"/>
                    </a:solidFill>
                  </a:tcPr>
                </a:tc>
              </a:tr>
              <a:tr h="647700">
                <a:tc>
                  <a:txBody>
                    <a:bodyPr wrap="square" lIns="114300" tIns="57150" rIns="114300" bIns="57150">
                      <a:noAutofit/>
                    </a:bodyPr>
                    <a:lstStyle/>
                    <a:p>
                      <a:pPr algn="l"/>
                      <a:r>
                        <a:rPr sz="1575" b="0">
                          <a:solidFill>
                            <a:srgbClr val="24384A"/>
                          </a:solidFill>
                          <a:latin typeface="Arial"/>
                          <a:ea typeface="Arial"/>
                          <a:cs typeface="Arial"/>
                        </a:rPr>
                        <a:t>A fait accompli?</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FFFFFF"/>
                    </a:solidFill>
                  </a:tcPr>
                </a:tc>
                <a:tc>
                  <a:txBody>
                    <a:bodyPr wrap="square" lIns="114300" tIns="57150" rIns="114300" bIns="57150">
                      <a:noAutofit/>
                    </a:bodyPr>
                    <a:lstStyle/>
                    <a:p>
                      <a:pPr algn="ctr"/>
                      <a:r>
                        <a:rPr sz="1575" b="0">
                          <a:solidFill>
                            <a:srgbClr val="24384A"/>
                          </a:solidFill>
                          <a:latin typeface="Arial"/>
                          <a:ea typeface="Arial"/>
                          <a:cs typeface="Arial"/>
                        </a:rPr>
                        <a:t>SOUPS / 2021</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FFFFFF"/>
                    </a:solidFill>
                  </a:tcPr>
                </a:tc>
                <a:tc>
                  <a:txBody>
                    <a:bodyPr wrap="square" lIns="114300" tIns="57150" rIns="114300" bIns="57150">
                      <a:noAutofit/>
                    </a:bodyPr>
                    <a:lstStyle/>
                    <a:p>
                      <a:pPr algn="ctr"/>
                      <a:r>
                        <a:rPr sz="1575" b="0">
                          <a:solidFill>
                            <a:srgbClr val="24384A"/>
                          </a:solidFill>
                          <a:latin typeface="Arial"/>
                          <a:ea typeface="Arial"/>
                          <a:cs typeface="Arial"/>
                        </a:rPr>
                        <a:t>34</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FFFFFF"/>
                    </a:solidFill>
                  </a:tcPr>
                </a:tc>
                <a:tc>
                  <a:txBody>
                    <a:bodyPr wrap="square" lIns="114300" tIns="57150" rIns="114300" bIns="57150">
                      <a:noAutofit/>
                    </a:bodyPr>
                    <a:lstStyle/>
                    <a:p>
                      <a:pPr algn="ctr"/>
                      <a:r>
                        <a:rPr sz="1575" b="0">
                          <a:solidFill>
                            <a:srgbClr val="24384A"/>
                          </a:solidFill>
                          <a:latin typeface="Arial"/>
                          <a:ea typeface="Arial"/>
                          <a:cs typeface="Arial"/>
                        </a:rPr>
                        <a:t>Veículo ICORE A (2026)</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FFFFFF"/>
                    </a:solidFill>
                  </a:tcPr>
                </a:tc>
              </a:tr>
              <a:tr h="647700">
                <a:tc>
                  <a:txBody>
                    <a:bodyPr wrap="square" lIns="114300" tIns="57150" rIns="114300" bIns="57150">
                      <a:noAutofit/>
                    </a:bodyPr>
                    <a:lstStyle/>
                    <a:p>
                      <a:pPr algn="l"/>
                      <a:r>
                        <a:rPr sz="1575" b="0">
                          <a:solidFill>
                            <a:srgbClr val="24384A"/>
                          </a:solidFill>
                          <a:latin typeface="Arial"/>
                          <a:ea typeface="Arial"/>
                          <a:cs typeface="Arial"/>
                        </a:rPr>
                        <a:t>A Comprehensive Study on</a:t>
                      </a:r>
                    </a:p>
                    <a:p>
                      <a:pPr algn="l"/>
                      <a:r>
                        <a:rPr sz="1575" b="0">
                          <a:solidFill>
                            <a:srgbClr val="24384A"/>
                          </a:solidFill>
                          <a:latin typeface="Arial"/>
                          <a:ea typeface="Arial"/>
                          <a:cs typeface="Arial"/>
                        </a:rPr>
                        <a:t>Third-Party User Tracking</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EDF3F8"/>
                    </a:solidFill>
                  </a:tcPr>
                </a:tc>
                <a:tc>
                  <a:txBody>
                    <a:bodyPr wrap="square" lIns="114300" tIns="57150" rIns="114300" bIns="57150">
                      <a:noAutofit/>
                    </a:bodyPr>
                    <a:lstStyle/>
                    <a:p>
                      <a:pPr algn="ctr"/>
                      <a:r>
                        <a:rPr sz="1575" b="0">
                          <a:solidFill>
                            <a:srgbClr val="24384A"/>
                          </a:solidFill>
                          <a:latin typeface="Arial"/>
                          <a:ea typeface="Arial"/>
                          <a:cs typeface="Arial"/>
                        </a:rPr>
                        <a:t>ACM ICPS / 2023</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EDF3F8"/>
                    </a:solidFill>
                  </a:tcPr>
                </a:tc>
                <a:tc>
                  <a:txBody>
                    <a:bodyPr wrap="square" lIns="114300" tIns="57150" rIns="114300" bIns="57150">
                      <a:noAutofit/>
                    </a:bodyPr>
                    <a:lstStyle/>
                    <a:p>
                      <a:pPr algn="ctr"/>
                      <a:r>
                        <a:rPr sz="1575" b="0">
                          <a:solidFill>
                            <a:srgbClr val="24384A"/>
                          </a:solidFill>
                          <a:latin typeface="Arial"/>
                          <a:ea typeface="Arial"/>
                          <a:cs typeface="Arial"/>
                        </a:rPr>
                        <a:t>10</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EDF3F8"/>
                    </a:solidFill>
                  </a:tcPr>
                </a:tc>
                <a:tc>
                  <a:txBody>
                    <a:bodyPr wrap="square" lIns="114300" tIns="57150" rIns="114300" bIns="57150">
                      <a:noAutofit/>
                    </a:bodyPr>
                    <a:lstStyle/>
                    <a:p>
                      <a:pPr algn="ctr"/>
                      <a:r>
                        <a:rPr sz="1575" b="0">
                          <a:solidFill>
                            <a:srgbClr val="24384A"/>
                          </a:solidFill>
                          <a:latin typeface="Arial"/>
                          <a:ea typeface="Arial"/>
                          <a:cs typeface="Arial"/>
                        </a:rPr>
                        <a:t>Menos citado na busca</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EDF3F8"/>
                    </a:solidFill>
                  </a:tcPr>
                </a:tc>
              </a:tr>
              <a:tr h="647700">
                <a:tc>
                  <a:txBody>
                    <a:bodyPr wrap="square" lIns="114300" tIns="57150" rIns="114300" bIns="57150">
                      <a:noAutofit/>
                    </a:bodyPr>
                    <a:lstStyle/>
                    <a:p>
                      <a:pPr algn="l"/>
                      <a:r>
                        <a:rPr sz="1575" b="0">
                          <a:solidFill>
                            <a:srgbClr val="24384A"/>
                          </a:solidFill>
                          <a:latin typeface="Arial"/>
                          <a:ea typeface="Arial"/>
                          <a:cs typeface="Arial"/>
                        </a:rPr>
                        <a:t>Protecting privacy on the web</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FFFFFF"/>
                    </a:solidFill>
                  </a:tcPr>
                </a:tc>
                <a:tc>
                  <a:txBody>
                    <a:bodyPr wrap="square" lIns="114300" tIns="57150" rIns="114300" bIns="57150">
                      <a:noAutofit/>
                    </a:bodyPr>
                    <a:lstStyle/>
                    <a:p>
                      <a:pPr algn="ctr"/>
                      <a:r>
                        <a:rPr sz="1575" b="0">
                          <a:solidFill>
                            <a:srgbClr val="24384A"/>
                          </a:solidFill>
                          <a:latin typeface="Arial"/>
                          <a:ea typeface="Arial"/>
                          <a:cs typeface="Arial"/>
                        </a:rPr>
                        <a:t>Online Information</a:t>
                      </a:r>
                    </a:p>
                    <a:p>
                      <a:pPr algn="ctr"/>
                      <a:r>
                        <a:rPr sz="1575" b="0">
                          <a:solidFill>
                            <a:srgbClr val="24384A"/>
                          </a:solidFill>
                          <a:latin typeface="Arial"/>
                          <a:ea typeface="Arial"/>
                          <a:cs typeface="Arial"/>
                        </a:rPr>
                        <a:t>Review / 2018</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FFFFFF"/>
                    </a:solidFill>
                  </a:tcPr>
                </a:tc>
                <a:tc>
                  <a:txBody>
                    <a:bodyPr wrap="square" lIns="114300" tIns="57150" rIns="114300" bIns="57150">
                      <a:noAutofit/>
                    </a:bodyPr>
                    <a:lstStyle/>
                    <a:p>
                      <a:pPr algn="ctr"/>
                      <a:r>
                        <a:rPr sz="1575" b="0">
                          <a:solidFill>
                            <a:srgbClr val="24384A"/>
                          </a:solidFill>
                          <a:latin typeface="Arial"/>
                          <a:ea typeface="Arial"/>
                          <a:cs typeface="Arial"/>
                        </a:rPr>
                        <a:t>23</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FFFFFF"/>
                    </a:solidFill>
                  </a:tcPr>
                </a:tc>
                <a:tc>
                  <a:txBody>
                    <a:bodyPr wrap="square" lIns="114300" tIns="57150" rIns="114300" bIns="57150">
                      <a:noAutofit/>
                    </a:bodyPr>
                    <a:lstStyle/>
                    <a:p>
                      <a:pPr algn="ctr"/>
                      <a:r>
                        <a:rPr sz="1575" b="0">
                          <a:solidFill>
                            <a:srgbClr val="24384A"/>
                          </a:solidFill>
                          <a:latin typeface="Arial"/>
                          <a:ea typeface="Arial"/>
                          <a:cs typeface="Arial"/>
                        </a:rPr>
                        <a:t>Recorte web</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FFFFFF"/>
                    </a:solidFill>
                  </a:tcPr>
                </a:tc>
              </a:tr>
              <a:tr h="647700">
                <a:tc>
                  <a:txBody>
                    <a:bodyPr wrap="square" lIns="114300" tIns="57150" rIns="114300" bIns="57150">
                      <a:noAutofit/>
                    </a:bodyPr>
                    <a:lstStyle/>
                    <a:p>
                      <a:pPr algn="l"/>
                      <a:r>
                        <a:rPr sz="1575" b="0">
                          <a:solidFill>
                            <a:srgbClr val="24384A"/>
                          </a:solidFill>
                          <a:latin typeface="Arial"/>
                          <a:ea typeface="Arial"/>
                          <a:cs typeface="Arial"/>
                        </a:rPr>
                        <a:t>Cookie Banners: Potential Legal</a:t>
                      </a:r>
                    </a:p>
                    <a:p>
                      <a:pPr algn="l"/>
                      <a:r>
                        <a:rPr sz="1575" b="0">
                          <a:solidFill>
                            <a:srgbClr val="24384A"/>
                          </a:solidFill>
                          <a:latin typeface="Arial"/>
                          <a:ea typeface="Arial"/>
                          <a:cs typeface="Arial"/>
                        </a:rPr>
                        <a:t>Violations in EU vs US Websites</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EDF3F8"/>
                    </a:solidFill>
                  </a:tcPr>
                </a:tc>
                <a:tc>
                  <a:txBody>
                    <a:bodyPr wrap="square" lIns="114300" tIns="57150" rIns="114300" bIns="57150">
                      <a:noAutofit/>
                    </a:bodyPr>
                    <a:lstStyle/>
                    <a:p>
                      <a:pPr algn="ctr"/>
                      <a:r>
                        <a:rPr sz="1575" b="0">
                          <a:solidFill>
                            <a:srgbClr val="24384A"/>
                          </a:solidFill>
                          <a:latin typeface="Arial"/>
                          <a:ea typeface="Arial"/>
                          <a:cs typeface="Arial"/>
                        </a:rPr>
                        <a:t>LNCS / 2025</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EDF3F8"/>
                    </a:solidFill>
                  </a:tcPr>
                </a:tc>
                <a:tc>
                  <a:txBody>
                    <a:bodyPr wrap="square" lIns="114300" tIns="57150" rIns="114300" bIns="57150">
                      <a:noAutofit/>
                    </a:bodyPr>
                    <a:lstStyle/>
                    <a:p>
                      <a:pPr algn="ctr"/>
                      <a:r>
                        <a:rPr sz="1575" b="0">
                          <a:solidFill>
                            <a:srgbClr val="24384A"/>
                          </a:solidFill>
                          <a:latin typeface="Arial"/>
                          <a:ea typeface="Arial"/>
                          <a:cs typeface="Arial"/>
                        </a:rPr>
                        <a:t>0</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EDF3F8"/>
                    </a:solidFill>
                  </a:tcPr>
                </a:tc>
                <a:tc>
                  <a:txBody>
                    <a:bodyPr wrap="square" lIns="114300" tIns="57150" rIns="114300" bIns="57150">
                      <a:noAutofit/>
                    </a:bodyPr>
                    <a:lstStyle/>
                    <a:p>
                      <a:pPr algn="ctr"/>
                      <a:r>
                        <a:rPr sz="1575" b="0">
                          <a:solidFill>
                            <a:srgbClr val="24384A"/>
                          </a:solidFill>
                          <a:latin typeface="Arial"/>
                          <a:ea typeface="Arial"/>
                          <a:cs typeface="Arial"/>
                        </a:rPr>
                        <a:t>Recorte web</a:t>
                      </a:r>
                    </a:p>
                  </a:txBody>
                  <a:tcPr marL="91440" marR="91440" marT="45720" marB="45720" anchor="ctr">
                    <a:lnB w="6350" cap="flat" cmpd="sng" algn="ctr">
                      <a:solidFill>
                        <a:srgbClr val="C5D1DB"/>
                      </a:solidFill>
                      <a:prstDash val="solid"/>
                    </a:lnB>
                    <a:lnT w="6350" cap="flat" cmpd="sng" algn="ctr">
                      <a:solidFill>
                        <a:srgbClr val="C5D1DB"/>
                      </a:solidFill>
                      <a:prstDash val="solid"/>
                    </a:lnT>
                    <a:lnR w="6350" cap="flat" cmpd="sng" algn="ctr">
                      <a:solidFill>
                        <a:srgbClr val="C5D1DB"/>
                      </a:solidFill>
                      <a:prstDash val="solid"/>
                    </a:lnR>
                    <a:lnL w="6350" cap="flat" cmpd="sng" algn="ctr">
                      <a:solidFill>
                        <a:srgbClr val="C5D1DB"/>
                      </a:solidFill>
                      <a:prstDash val="solid"/>
                    </a:lnL>
                    <a:solidFill>
                      <a:srgbClr val="EDF3F8"/>
                    </a:solidFill>
                  </a:tcPr>
                </a:tc>
              </a:tr>
            </a:tbl>
          </a:graphicData>
        </a:graphic>
      </p:graphicFrame>
      <p:sp>
        <p:nvSpPr>
          <p:cNvPr id="9" name="Citações e classificação complementam a ">
            <a:extLst xmlns:a="http://schemas.openxmlformats.org/drawingml/2006/main">
              <a:ext uri="{FF2B5EF4-FFF2-40B4-BE49-F238E27FC236}">
                <a16:creationId xmlns:a16="http://schemas.microsoft.com/office/drawing/2014/main" id="{B8BE6745-1EAA-4C55-845C-26938D590D75}"/>
              </a:ext>
            </a:extLst>
          </p:cNvPr>
          <p:cNvSpPr>
            <a:spLocks xmlns:a="http://schemas.openxmlformats.org/drawingml/2006/main" noGrp="1"/>
          </p:cNvSpPr>
          <p:nvPr/>
        </p:nvSpPr>
        <p:spPr>
          <a:xfrm xmlns:a="http://schemas.openxmlformats.org/drawingml/2006/main">
            <a:off x="609600" y="59436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4875"/>
                </a:solidFill>
                <a:latin typeface="Arial"/>
                <a:ea typeface="Arial"/>
                <a:cs typeface="Arial"/>
              </a:defRPr>
            </a:pPr>
            <a:r>
              <a:rPr sz="1875" b="1">
                <a:solidFill>
                  <a:srgbClr val="174875"/>
                </a:solidFill>
                <a:latin typeface="Arial"/>
                <a:ea typeface="Arial"/>
                <a:cs typeface="Arial"/>
              </a:rPr>
              <a:t>Citações e classificação complementam a análise da aderência temática e do método.</a:t>
            </a:r>
          </a:p>
        </p:txBody>
      </p:sp>
    </p:spTree>
    <p:extLst>
      <p:ext uri="{BB962C8B-B14F-4D97-AF65-F5344CB8AC3E}">
        <p14:creationId xmlns:p14="http://schemas.microsoft.com/office/powerpoint/2010/main" val="87290121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B4B1A20-9371-4A0F-B665-A161C2B2C3AE}"/>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174875"/>
          </a:solidFill>
          <a:ln xmlns:a="http://schemas.openxmlformats.org/drawingml/2006/main" w="0">
            <a:noFill/>
          </a:ln>
        </p:spPr>
      </p:sp>
      <p:sp>
        <p:nvSpPr>
          <p:cNvPr id="2" name="APOIO: FONTES">
            <a:extLst xmlns:a="http://schemas.openxmlformats.org/drawingml/2006/main">
              <a:ext uri="{FF2B5EF4-FFF2-40B4-BE49-F238E27FC236}">
                <a16:creationId xmlns:a16="http://schemas.microsoft.com/office/drawing/2014/main" id="{C4565919-BD4E-4A9A-A93B-FA482D05C410}"/>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74875"/>
                </a:solidFill>
                <a:latin typeface="Arial"/>
                <a:ea typeface="Arial"/>
                <a:cs typeface="Arial"/>
              </a:defRPr>
            </a:pPr>
            <a:r>
              <a:rPr sz="1275" b="1">
                <a:solidFill>
                  <a:srgbClr val="174875"/>
                </a:solidFill>
                <a:latin typeface="Arial"/>
                <a:ea typeface="Arial"/>
                <a:cs typeface="Arial"/>
              </a:rPr>
              <a:t>APOIO: FONTES</a:t>
            </a:r>
          </a:p>
        </p:txBody>
      </p:sp>
      <p:sp>
        <p:nvSpPr>
          <p:cNvPr id="3" name="Referências e rastreabilidade">
            <a:extLst xmlns:a="http://schemas.openxmlformats.org/drawingml/2006/main">
              <a:ext uri="{FF2B5EF4-FFF2-40B4-BE49-F238E27FC236}">
                <a16:creationId xmlns:a16="http://schemas.microsoft.com/office/drawing/2014/main" id="{2D3F848C-6125-4427-8A84-2FF2B478CA78}"/>
              </a:ext>
            </a:extLst>
          </p:cNvPr>
          <p:cNvSpPr>
            <a:spLocks xmlns:a="http://schemas.openxmlformats.org/drawingml/2006/main" noGrp="1"/>
          </p:cNvSpPr>
          <p:nvPr/>
        </p:nvSpPr>
        <p:spPr>
          <a:xfrm xmlns:a="http://schemas.openxmlformats.org/drawingml/2006/main">
            <a:off x="609600" y="7048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2324F"/>
                </a:solidFill>
                <a:latin typeface="Arial"/>
                <a:ea typeface="Arial"/>
                <a:cs typeface="Arial"/>
              </a:defRPr>
            </a:pPr>
            <a:r>
              <a:rPr sz="3150" b="1">
                <a:solidFill>
                  <a:srgbClr val="12324F"/>
                </a:solidFill>
                <a:latin typeface="Arial"/>
                <a:ea typeface="Arial"/>
                <a:cs typeface="Arial"/>
              </a:rPr>
              <a:t>Referências e rastreabilidade</a:t>
            </a:r>
          </a:p>
        </p:txBody>
      </p:sp>
      <p:sp>
        <p:nvSpPr>
          <p:cNvPr id="4" name="">
            <a:extLst xmlns:a="http://schemas.openxmlformats.org/drawingml/2006/main">
              <a:ext uri="{FF2B5EF4-FFF2-40B4-BE49-F238E27FC236}">
                <a16:creationId xmlns:a16="http://schemas.microsoft.com/office/drawing/2014/main" id="{71AEB447-9CB2-4235-9B2F-F96E6D88DE7D}"/>
              </a:ext>
            </a:extLst>
          </p:cNvPr>
          <p:cNvSpPr>
            <a:spLocks xmlns:a="http://schemas.openxmlformats.org/drawingml/2006/main" noGrp="1"/>
          </p:cNvSpPr>
          <p:nvPr/>
        </p:nvSpPr>
        <p:spPr>
          <a:xfrm xmlns:a="http://schemas.openxmlformats.org/drawingml/2006/main">
            <a:off x="609600" y="1390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0CE2D65-8AD3-4CAE-BE2A-EA903D528E6E}"/>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6" name="Páginas dos slides: contagem interna do ">
            <a:extLst xmlns:a="http://schemas.openxmlformats.org/drawingml/2006/main">
              <a:ext uri="{FF2B5EF4-FFF2-40B4-BE49-F238E27FC236}">
                <a16:creationId xmlns:a16="http://schemas.microsoft.com/office/drawing/2014/main" id="{6BFC9537-51C5-485E-A5FF-9F78681E8D0A}"/>
              </a:ext>
            </a:extLst>
          </p:cNvPr>
          <p:cNvSpPr>
            <a:spLocks xmlns:a="http://schemas.openxmlformats.org/drawingml/2006/main" noGrp="1"/>
          </p:cNvSpPr>
          <p:nvPr/>
        </p:nvSpPr>
        <p:spPr>
          <a:xfrm xmlns:a="http://schemas.openxmlformats.org/drawingml/2006/main">
            <a:off x="609600" y="6477000"/>
            <a:ext cx="9982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96B7A"/>
                </a:solidFill>
                <a:latin typeface="Arial"/>
                <a:ea typeface="Arial"/>
                <a:cs typeface="Arial"/>
              </a:defRPr>
            </a:pPr>
            <a:r>
              <a:rPr sz="1200" b="0">
                <a:solidFill>
                  <a:srgbClr val="596B7A"/>
                </a:solidFill>
                <a:latin typeface="Arial"/>
                <a:ea typeface="Arial"/>
                <a:cs typeface="Arial"/>
              </a:rPr>
              <a:t>Páginas dos slides: contagem interna do PDF ACM 3548606.3560564, de 1 a 15 (anais: p. 2369–2383).</a:t>
            </a:r>
          </a:p>
        </p:txBody>
      </p:sp>
      <p:sp>
        <p:nvSpPr>
          <p:cNvPr id="7" name="APOIO 2">
            <a:extLst xmlns:a="http://schemas.openxmlformats.org/drawingml/2006/main">
              <a:ext uri="{FF2B5EF4-FFF2-40B4-BE49-F238E27FC236}">
                <a16:creationId xmlns:a16="http://schemas.microsoft.com/office/drawing/2014/main" id="{B8FD1BA0-334B-4048-A8C8-986A7E84FBD9}"/>
              </a:ext>
            </a:extLst>
          </p:cNvPr>
          <p:cNvSpPr>
            <a:spLocks xmlns:a="http://schemas.openxmlformats.org/drawingml/2006/main" noGrp="1"/>
          </p:cNvSpPr>
          <p:nvPr/>
        </p:nvSpPr>
        <p:spPr>
          <a:xfrm xmlns:a="http://schemas.openxmlformats.org/drawingml/2006/main">
            <a:off x="10668000" y="64770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96B7A"/>
                </a:solidFill>
                <a:latin typeface="Arial"/>
                <a:ea typeface="Arial"/>
                <a:cs typeface="Arial"/>
              </a:defRPr>
            </a:pPr>
            <a:r>
              <a:rPr sz="1200" b="0">
                <a:solidFill>
                  <a:srgbClr val="596B7A"/>
                </a:solidFill>
                <a:latin typeface="Arial"/>
                <a:ea typeface="Arial"/>
                <a:cs typeface="Arial"/>
              </a:rPr>
              <a:t>APOIO 2</a:t>
            </a:r>
          </a:p>
        </p:txBody>
      </p:sp>
      <p:sp>
        <p:nvSpPr>
          <p:cNvPr id="8" name="ARTIGO ANALISADO">
            <a:extLst xmlns:a="http://schemas.openxmlformats.org/drawingml/2006/main">
              <a:ext uri="{FF2B5EF4-FFF2-40B4-BE49-F238E27FC236}">
                <a16:creationId xmlns:a16="http://schemas.microsoft.com/office/drawing/2014/main" id="{E6BB84C6-BE0C-4BAE-929C-BAED615AF7EF}"/>
              </a:ext>
            </a:extLst>
          </p:cNvPr>
          <p:cNvSpPr>
            <a:spLocks xmlns:a="http://schemas.openxmlformats.org/drawingml/2006/main" noGrp="1"/>
          </p:cNvSpPr>
          <p:nvPr/>
        </p:nvSpPr>
        <p:spPr>
          <a:xfrm xmlns:a="http://schemas.openxmlformats.org/drawingml/2006/main">
            <a:off x="609600" y="17526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74875"/>
                </a:solidFill>
                <a:latin typeface="Arial"/>
                <a:ea typeface="Arial"/>
                <a:cs typeface="Arial"/>
              </a:defRPr>
            </a:pPr>
            <a:r>
              <a:rPr sz="1350" b="1">
                <a:solidFill>
                  <a:srgbClr val="174875"/>
                </a:solidFill>
                <a:latin typeface="Arial"/>
                <a:ea typeface="Arial"/>
                <a:cs typeface="Arial"/>
              </a:rPr>
              <a:t>ARTIGO ANALISADO</a:t>
            </a:r>
          </a:p>
        </p:txBody>
      </p:sp>
      <p:sp>
        <p:nvSpPr>
          <p:cNvPr id="9" name="NGUYEN, Trung Tin; BACKES, Michael; STOC">
            <a:extLst xmlns:a="http://schemas.openxmlformats.org/drawingml/2006/main">
              <a:ext uri="{FF2B5EF4-FFF2-40B4-BE49-F238E27FC236}">
                <a16:creationId xmlns:a16="http://schemas.microsoft.com/office/drawing/2014/main" id="{F52C0600-BB4D-4173-93B4-7D354D455626}"/>
              </a:ext>
            </a:extLst>
          </p:cNvPr>
          <p:cNvSpPr>
            <a:spLocks xmlns:a="http://schemas.openxmlformats.org/drawingml/2006/main" noGrp="1"/>
          </p:cNvSpPr>
          <p:nvPr/>
        </p:nvSpPr>
        <p:spPr>
          <a:xfrm xmlns:a="http://schemas.openxmlformats.org/drawingml/2006/main">
            <a:off x="609600" y="2133600"/>
            <a:ext cx="109728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4384A"/>
                </a:solidFill>
                <a:latin typeface="Arial"/>
                <a:ea typeface="Arial"/>
                <a:cs typeface="Arial"/>
              </a:defRPr>
            </a:pPr>
            <a:r>
              <a:rPr sz="1875" b="0">
                <a:solidFill>
                  <a:srgbClr val="24384A"/>
                </a:solidFill>
                <a:latin typeface="Arial"/>
                <a:ea typeface="Arial"/>
                <a:cs typeface="Arial"/>
              </a:rPr>
              <a:t>NGUYEN, Trung Tin; BACKES, Michael; STOCK, Ben. Freely Given Consent?</a:t>
            </a:r>
          </a:p>
          <a:p xmlns:a="http://schemas.openxmlformats.org/drawingml/2006/main">
            <a:pPr algn="l">
              <a:defRPr sz="1875" b="0">
                <a:solidFill>
                  <a:srgbClr val="24384A"/>
                </a:solidFill>
                <a:latin typeface="Arial"/>
                <a:ea typeface="Arial"/>
                <a:cs typeface="Arial"/>
              </a:defRPr>
            </a:pPr>
            <a:r>
              <a:rPr sz="1875" b="0">
                <a:solidFill>
                  <a:srgbClr val="24384A"/>
                </a:solidFill>
                <a:latin typeface="Arial"/>
                <a:ea typeface="Arial"/>
                <a:cs typeface="Arial"/>
              </a:rPr>
              <a:t>Studying Consent Notice of Third-Party Tracking and Its Violations of GDPR</a:t>
            </a:r>
          </a:p>
          <a:p xmlns:a="http://schemas.openxmlformats.org/drawingml/2006/main">
            <a:pPr algn="l">
              <a:defRPr sz="1875" b="0">
                <a:solidFill>
                  <a:srgbClr val="24384A"/>
                </a:solidFill>
                <a:latin typeface="Arial"/>
                <a:ea typeface="Arial"/>
                <a:cs typeface="Arial"/>
              </a:defRPr>
            </a:pPr>
            <a:r>
              <a:rPr sz="1875" b="0">
                <a:solidFill>
                  <a:srgbClr val="24384A"/>
                </a:solidFill>
                <a:latin typeface="Arial"/>
                <a:ea typeface="Arial"/>
                <a:cs typeface="Arial"/>
              </a:rPr>
              <a:t>in Android Apps. ACM CCS, 2022, p. 2369–2383.</a:t>
            </a:r>
          </a:p>
        </p:txBody>
      </p:sp>
      <p:sp>
        <p:nvSpPr>
          <p:cNvPr id="10" name="https://doi.org/10.1145/3548606.3560564">
            <a:extLst xmlns:a="http://schemas.openxmlformats.org/drawingml/2006/main">
              <a:ext uri="{FF2B5EF4-FFF2-40B4-BE49-F238E27FC236}">
                <a16:creationId xmlns:a16="http://schemas.microsoft.com/office/drawing/2014/main" id="{95F8C60D-0A49-4747-9BB4-813D5EBAFB64}"/>
              </a:ext>
            </a:extLst>
          </p:cNvPr>
          <p:cNvSpPr>
            <a:spLocks xmlns:a="http://schemas.openxmlformats.org/drawingml/2006/main" noGrp="1"/>
          </p:cNvSpPr>
          <p:nvPr/>
        </p:nvSpPr>
        <p:spPr>
          <a:xfrm xmlns:a="http://schemas.openxmlformats.org/drawingml/2006/main">
            <a:off x="609600" y="32194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4875"/>
                </a:solidFill>
                <a:latin typeface="Arial"/>
                <a:ea typeface="Arial"/>
                <a:cs typeface="Arial"/>
              </a:defRPr>
            </a:pPr>
            <a:r>
              <a:rPr sz="1800" b="0">
                <a:solidFill>
                  <a:srgbClr val="174875"/>
                </a:solidFill>
                <a:latin typeface="Arial"/>
                <a:ea typeface="Arial"/>
                <a:cs typeface="Arial"/>
              </a:rPr>
              <a:t>https://doi.org/10.1145/3548606.3560564</a:t>
            </a:r>
          </a:p>
        </p:txBody>
      </p:sp>
      <p:sp>
        <p:nvSpPr>
          <p:cNvPr id="11" name="PROJETO E REGISTRO DA SELEÇÃO">
            <a:extLst xmlns:a="http://schemas.openxmlformats.org/drawingml/2006/main">
              <a:ext uri="{FF2B5EF4-FFF2-40B4-BE49-F238E27FC236}">
                <a16:creationId xmlns:a16="http://schemas.microsoft.com/office/drawing/2014/main" id="{E4386D60-3836-4531-9AE6-28DA3535164E}"/>
              </a:ext>
            </a:extLst>
          </p:cNvPr>
          <p:cNvSpPr>
            <a:spLocks xmlns:a="http://schemas.openxmlformats.org/drawingml/2006/main" noGrp="1"/>
          </p:cNvSpPr>
          <p:nvPr/>
        </p:nvSpPr>
        <p:spPr>
          <a:xfrm xmlns:a="http://schemas.openxmlformats.org/drawingml/2006/main">
            <a:off x="609600" y="36480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74875"/>
                </a:solidFill>
                <a:latin typeface="Arial"/>
                <a:ea typeface="Arial"/>
                <a:cs typeface="Arial"/>
              </a:defRPr>
            </a:pPr>
            <a:r>
              <a:rPr sz="1350" b="1">
                <a:solidFill>
                  <a:srgbClr val="174875"/>
                </a:solidFill>
                <a:latin typeface="Arial"/>
                <a:ea typeface="Arial"/>
                <a:cs typeface="Arial"/>
              </a:rPr>
              <a:t>PROJETO E REGISTRO DA SELEÇÃO</a:t>
            </a:r>
          </a:p>
        </p:txBody>
      </p:sp>
      <p:sp>
        <p:nvSpPr>
          <p:cNvPr id="12" name="github.com/ClaudioAMF1/TCC&#10;Proposta N3, ">
            <a:extLst xmlns:a="http://schemas.openxmlformats.org/drawingml/2006/main">
              <a:ext uri="{FF2B5EF4-FFF2-40B4-BE49-F238E27FC236}">
                <a16:creationId xmlns:a16="http://schemas.microsoft.com/office/drawing/2014/main" id="{0814ED54-1943-4DF1-9B9A-4D920B42E14C}"/>
              </a:ext>
            </a:extLst>
          </p:cNvPr>
          <p:cNvSpPr>
            <a:spLocks xmlns:a="http://schemas.openxmlformats.org/drawingml/2006/main" noGrp="1"/>
          </p:cNvSpPr>
          <p:nvPr/>
        </p:nvSpPr>
        <p:spPr>
          <a:xfrm xmlns:a="http://schemas.openxmlformats.org/drawingml/2006/main">
            <a:off x="609600" y="40005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4384A"/>
                </a:solidFill>
                <a:latin typeface="Arial"/>
                <a:ea typeface="Arial"/>
                <a:cs typeface="Arial"/>
              </a:defRPr>
            </a:pPr>
            <a:r>
              <a:rPr sz="1875" b="0">
                <a:solidFill>
                  <a:srgbClr val="24384A"/>
                </a:solidFill>
                <a:latin typeface="Arial"/>
                <a:ea typeface="Arial"/>
                <a:cs typeface="Arial"/>
              </a:rPr>
              <a:t>github.com/ClaudioAMF1/TCC</a:t>
            </a:r>
          </a:p>
          <a:p xmlns:a="http://schemas.openxmlformats.org/drawingml/2006/main">
            <a:pPr algn="l">
              <a:defRPr sz="1875" b="0">
                <a:solidFill>
                  <a:srgbClr val="24384A"/>
                </a:solidFill>
                <a:latin typeface="Arial"/>
                <a:ea typeface="Arial"/>
                <a:cs typeface="Arial"/>
              </a:defRPr>
            </a:pPr>
            <a:r>
              <a:rPr sz="1875" b="0">
                <a:solidFill>
                  <a:srgbClr val="24384A"/>
                </a:solidFill>
                <a:latin typeface="Arial"/>
                <a:ea typeface="Arial"/>
                <a:cs typeface="Arial"/>
              </a:rPr>
              <a:t>Proposta N3, enunciado da atividade e registro da busca no Scopus.</a:t>
            </a:r>
          </a:p>
        </p:txBody>
      </p:sp>
      <p:sp>
        <p:nvSpPr>
          <p:cNvPr id="13" name="MÉTRICAS E CLASSIFICAÇÃO">
            <a:extLst xmlns:a="http://schemas.openxmlformats.org/drawingml/2006/main">
              <a:ext uri="{FF2B5EF4-FFF2-40B4-BE49-F238E27FC236}">
                <a16:creationId xmlns:a16="http://schemas.microsoft.com/office/drawing/2014/main" id="{C8B51932-A531-40B5-8052-50C5101F1F9E}"/>
              </a:ext>
            </a:extLst>
          </p:cNvPr>
          <p:cNvSpPr>
            <a:spLocks xmlns:a="http://schemas.openxmlformats.org/drawingml/2006/main" noGrp="1"/>
          </p:cNvSpPr>
          <p:nvPr/>
        </p:nvSpPr>
        <p:spPr>
          <a:xfrm xmlns:a="http://schemas.openxmlformats.org/drawingml/2006/main">
            <a:off x="609600" y="49339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74875"/>
                </a:solidFill>
                <a:latin typeface="Arial"/>
                <a:ea typeface="Arial"/>
                <a:cs typeface="Arial"/>
              </a:defRPr>
            </a:pPr>
            <a:r>
              <a:rPr sz="1350" b="1">
                <a:solidFill>
                  <a:srgbClr val="174875"/>
                </a:solidFill>
                <a:latin typeface="Arial"/>
                <a:ea typeface="Arial"/>
                <a:cs typeface="Arial"/>
              </a:rPr>
              <a:t>MÉTRICAS E CLASSIFICAÇÃO</a:t>
            </a:r>
          </a:p>
        </p:txBody>
      </p:sp>
      <p:sp>
        <p:nvSpPr>
          <p:cNvPr id="14" name="Google Scholar Metrics, Computer Securit">
            <a:extLst xmlns:a="http://schemas.openxmlformats.org/drawingml/2006/main">
              <a:ext uri="{FF2B5EF4-FFF2-40B4-BE49-F238E27FC236}">
                <a16:creationId xmlns:a16="http://schemas.microsoft.com/office/drawing/2014/main" id="{29E36387-C6C7-4B9E-8012-A300EFD3156E}"/>
              </a:ext>
            </a:extLst>
          </p:cNvPr>
          <p:cNvSpPr>
            <a:spLocks xmlns:a="http://schemas.openxmlformats.org/drawingml/2006/main" noGrp="1"/>
          </p:cNvSpPr>
          <p:nvPr/>
        </p:nvSpPr>
        <p:spPr>
          <a:xfrm xmlns:a="http://schemas.openxmlformats.org/drawingml/2006/main">
            <a:off x="609600" y="526732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4384A"/>
                </a:solidFill>
                <a:latin typeface="Arial"/>
                <a:ea typeface="Arial"/>
                <a:cs typeface="Arial"/>
              </a:defRPr>
            </a:pPr>
            <a:r>
              <a:rPr sz="1575" b="0">
                <a:solidFill>
                  <a:srgbClr val="24384A"/>
                </a:solidFill>
                <a:latin typeface="Arial"/>
                <a:ea typeface="Arial"/>
                <a:cs typeface="Arial"/>
              </a:rPr>
              <a:t>Google Scholar Metrics, Computer Security &amp; Cryptography. Consulta: 17/09/2026.</a:t>
            </a:r>
          </a:p>
          <a:p xmlns:a="http://schemas.openxmlformats.org/drawingml/2006/main">
            <a:pPr algn="l">
              <a:defRPr sz="1575" b="0">
                <a:solidFill>
                  <a:srgbClr val="24384A"/>
                </a:solidFill>
                <a:latin typeface="Arial"/>
                <a:ea typeface="Arial"/>
                <a:cs typeface="Arial"/>
              </a:defRPr>
            </a:pPr>
            <a:r>
              <a:rPr sz="1575" b="0">
                <a:solidFill>
                  <a:srgbClr val="24384A"/>
                </a:solidFill>
                <a:latin typeface="Arial"/>
                <a:ea typeface="Arial"/>
                <a:cs typeface="Arial"/>
              </a:rPr>
              <a:t>ICORE Conference Portal, registro CCS, edição 2026. Consulta: 17/09/2026.</a:t>
            </a:r>
          </a:p>
          <a:p xmlns:a="http://schemas.openxmlformats.org/drawingml/2006/main">
            <a:pPr algn="l">
              <a:defRPr sz="1575" b="0">
                <a:solidFill>
                  <a:srgbClr val="24384A"/>
                </a:solidFill>
                <a:latin typeface="Arial"/>
                <a:ea typeface="Arial"/>
                <a:cs typeface="Arial"/>
              </a:defRPr>
            </a:pPr>
            <a:r>
              <a:rPr sz="1575" b="0">
                <a:solidFill>
                  <a:srgbClr val="24384A"/>
                </a:solidFill>
                <a:latin typeface="Arial"/>
                <a:ea typeface="Arial"/>
                <a:cs typeface="Arial"/>
              </a:rPr>
              <a:t>CAPES/Sucupira. Qualis Eventos, Computação, 2021–2024. Consulta: 28/09/2026.</a:t>
            </a:r>
          </a:p>
          <a:p xmlns:a="http://schemas.openxmlformats.org/drawingml/2006/main">
            <a:pPr algn="l">
              <a:defRPr sz="1575" b="0">
                <a:solidFill>
                  <a:srgbClr val="24384A"/>
                </a:solidFill>
                <a:latin typeface="Arial"/>
                <a:ea typeface="Arial"/>
                <a:cs typeface="Arial"/>
              </a:defRPr>
            </a:pPr>
            <a:r>
              <a:rPr sz="1575" b="0">
                <a:solidFill>
                  <a:srgbClr val="24384A"/>
                </a:solidFill>
                <a:latin typeface="Arial"/>
                <a:ea typeface="Arial"/>
                <a:cs typeface="Arial"/>
              </a:rPr>
              <a:t>CAPES. Documento técnico do Qualis Periódicos. Brasília, 2023.</a:t>
            </a:r>
          </a:p>
        </p:txBody>
      </p:sp>
    </p:spTree>
    <p:extLst>
      <p:ext uri="{BB962C8B-B14F-4D97-AF65-F5344CB8AC3E}">
        <p14:creationId xmlns:p14="http://schemas.microsoft.com/office/powerpoint/2010/main" val="12782518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2026-09-28T18:43:12.6100000Z</dcterms:created>
  <dcterms:modified xsi:type="dcterms:W3CDTF">2026-09-28T18:43:12.6100000Z</dcterms:modified>
</coreProperties>
</file>