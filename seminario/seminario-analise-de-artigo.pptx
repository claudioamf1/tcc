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minutos. A busca tambem trouxe um artigo de 2026 no IEEE S&amp;P com ZERO citacoes: e a prova de que recencia e citacoes se excluem por construcao. E trouxe o Kollnig 2021, a alternativa mais seria, descartada com numero.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minuto. A etiqueta RESEARCH-ARTICLE e a propria base classificando, nao interpretacao minha.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minutos. Este e o momento mais forte da apresentacao. Ensaie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minutos. Nao existe Qualis oficial para conferencia: o Qualis Referencia classifica periodicos. O enunciado pede para derivar do h5, e a p.12 do Documento Tecnico reconhece que o Google Scholar nao fornece percentil dentro dos agrupamentos tematicos, motivo pelo qual a CAPES criou a base ampliada por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segundos. Tres observacoes: Related Work e a secao 7 e nao a 2, porque o posicionamento na literatura e feito na introducao; metodo (3) vem separado da aplicacao em escala (4); e as duas juntas ocupam metade das 15 paginas, o que e consequencia da escala. Nao existe secao de Limitacoes nem de Etica: aparecem diluidas no corpo do 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segundos. Cada movimento cabe em uma ou duas frases. As palavras-chave trazem Consent e GDPR, mas nao trazem tracking nem third-party, que estao no titulo: isso diz como os autores querem ser encontrados.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segundos. As tres questoes sao respondiveis por medicao, nao sao temas: e o que a Aula 05 e 06 chama de problema bem formulado. A terceira exige um metodo diferente das outras duas, o que justifica a existencia da secao 5. Mencionar a nota de rodape 1: eles dizem violacao POTENCIAL de proposito, para nao emitir juizo juridico, que seria consultoria legal regulada.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segundos. Dois pontos: o denominador MUDA no meio do funil, os 20,54% sao sobre os 13.082 e nao sobre os 239 mil; e os 30.160 sao categoria separada, nao tem aviso nenhum. O AndroZoo e a mesma fonte que eu vou usar no meu TCC.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segundos. Presenca nao e transmissao: detectar a biblioteca no aplicativo nao prova que ela enviou dado. E o mesmo par de instrumentos que eu vou precisar.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segundos. O movimento mais interessante e a 6.3: depois de medir 2.688 violacoes, eles NAO concluem que os desenvolvedores agem de ma-fe. Usam as respostas coletadas na secao 5 para reenquadrar a causa. E o mesmo movimento que o meu proprio resultado pede.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segundos. Esta e a observacao mais forte da apresentacao: uma inconsistencia real num artigo de conferencia A*, encontrada comparando resumo e conclusao.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segundos. Fecha e para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16002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Análise de Artigo Científico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30428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Freely Given Consent?  Avisos de consentimento de rastreamento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terceiros e as violações do GDPR em aplicativos Android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9319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   ·   Projeto Capstone I   ·   IDP   ·   29 de setembro de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6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79576" y="256032"/>
            <a:ext cx="7424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cheguei até este artigo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786384"/>
            <a:ext cx="8138160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88696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Scopus, pelo portal da CAPES via CAFe, em 21 de setembro de 2026.</a:t>
            </a:r>
            <a:endParaRPr lang="en-US" sz="1200" dirty="0"/>
          </a:p>
        </p:txBody>
      </p:sp>
      <p:pic>
        <p:nvPicPr>
          <p:cNvPr id="6" name="Image 0" descr="/home/user/TCC/seminario/pesquisa/funil-1-1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2590800" cy="149748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2741066"/>
            <a:ext cx="259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 expressão exata, sem filtro</a:t>
            </a:r>
            <a:endParaRPr lang="en-US" sz="1700" dirty="0"/>
          </a:p>
        </p:txBody>
      </p:sp>
      <p:pic>
        <p:nvPicPr>
          <p:cNvPr id="8" name="Image 1" descr="/home/user/TCC/seminario/pesquisa/funil-2-7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6600" y="1188720"/>
            <a:ext cx="2590800" cy="149748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76600" y="2741066"/>
            <a:ext cx="259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ano, área e tipo de documento</a:t>
            </a:r>
            <a:endParaRPr lang="en-US" sz="1700" dirty="0"/>
          </a:p>
        </p:txBody>
      </p:sp>
      <p:pic>
        <p:nvPicPr>
          <p:cNvPr id="10" name="Image 2" descr="/home/user/TCC/seminario/pesquisa/funil-3-5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0280" y="1188720"/>
            <a:ext cx="2590800" cy="149748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050280" y="2741066"/>
            <a:ext cx="259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palavras-chave do Scopus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502920" y="307238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Busca:   "third-party tracking"      campo: Article title, Abstract, Keywords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01568"/>
          <a:ext cx="813816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1371600"/>
                <a:gridCol w="457200"/>
                <a:gridCol w="457200"/>
                <a:gridCol w="2697480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cinco finalistas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Veículo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Freely Given Consent?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fait accompli?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veículo CORE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Comprehensive Study on 3rd-Party Tracking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ACM ICPS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citado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Protecting privacy on the web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Inf. Review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 web, não Android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WhisperTest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 iOS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7424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artigo selecionado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786384"/>
            <a:ext cx="8138160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914400"/>
            <a:ext cx="8138160" cy="1353312"/>
          </a:xfrm>
          <a:prstGeom prst="roundRect">
            <a:avLst>
              <a:gd name="adj" fmla="val 3378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042416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Freely Given Consent? Studying Consent Notice of Third-Party Tracking and Its Violations of GDPR in Android Apps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09344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NGUYEN, Trung Tin; BACKES, Michael; STOCK, Ben. In: CCS '22, Proceedings of the 2022 ACM SIGSAC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Conference on Computer and Communications Security. Los Angeles, 7 a 11 nov. 2022, p. 2369-2383.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 10.1145/3548606.3560564      15 páginas      acesso livre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432304"/>
            <a:ext cx="3954780" cy="1737360"/>
          </a:xfrm>
          <a:prstGeom prst="roundRect">
            <a:avLst>
              <a:gd name="adj" fmla="val 2632"/>
            </a:avLst>
          </a:prstGeom>
          <a:solidFill>
            <a:srgbClr val="F4F6F9"/>
          </a:solidFill>
          <a:ln w="12700">
            <a:solidFill>
              <a:srgbClr val="1E6B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2532888"/>
            <a:ext cx="36621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ARTIGO ORIGINAL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49224" y="2798064"/>
            <a:ext cx="36621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é o que relata pela primeira vez uma pesquisa inédita. Três fontes confirmam: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Digital Library, etiqueta RESEARCH-ARTICLE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Scopus, tipo de documento Conference Paper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próprio artigo: corpus e ferramenta feitos pelos autores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86300" y="2432304"/>
            <a:ext cx="3954780" cy="1737360"/>
          </a:xfrm>
          <a:prstGeom prst="roundRect">
            <a:avLst>
              <a:gd name="adj" fmla="val 2632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32604" y="2532888"/>
            <a:ext cx="36621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ESCALA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832604" y="2798064"/>
            <a:ext cx="366217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239.381 aplicativos Android analisados.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primeiro estudo em larga escala sobre avisos de consentimento no Android, duas ordens de grandeza acima das alternativas que apareceram na busca.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7424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Relevância do artigo para o meu TCC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786384"/>
            <a:ext cx="8138160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88696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enunciado pede critérios quantitativos e/ou qualitativos. Trago os dois.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16152"/>
            <a:ext cx="3954780" cy="1371600"/>
          </a:xfrm>
          <a:prstGeom prst="roundRect">
            <a:avLst>
              <a:gd name="adj" fmla="val 3333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9224" y="1316736"/>
            <a:ext cx="36621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QUANTITATIVO      citações em 17/09/2026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9224" y="1581912"/>
            <a:ext cx="36621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Digital Library        42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Scopus                     52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Acadêmico           99      (9 versões)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reflete a cobertura de cada base.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216152"/>
            <a:ext cx="3954780" cy="1371600"/>
          </a:xfrm>
          <a:prstGeom prst="roundRect">
            <a:avLst>
              <a:gd name="adj" fmla="val 3333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32604" y="1316736"/>
            <a:ext cx="36621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QUALITATIVO      o que eu reuso e o que falta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832604" y="1581912"/>
            <a:ext cx="36621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Reuso o método: análise estática e dinâmica em escala, com detecção de bibliotecas de terceiros.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lacuna é a minha contribuição: o artigo não tem grupo de controle nem recorte governamental.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770632"/>
            <a:ext cx="8138160" cy="1417320"/>
          </a:xfrm>
          <a:prstGeom prst="roundRect">
            <a:avLst>
              <a:gd name="adj" fmla="val 3226"/>
            </a:avLst>
          </a:prstGeom>
          <a:solidFill>
            <a:srgbClr val="1B2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8952" y="2907792"/>
            <a:ext cx="762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eu já tenho um resultado preliminar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58952" y="3182112"/>
            <a:ext cx="7626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dos 396 aplicativos de governo que levantei exibe anúncio. No grupo de controle comercial, 33,2% exibem.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intervalos de confiança não se sobrepõem: [0,000; 0,010] contra [0,269; 0,401].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houver rastreador num aplicativo de governo, ele não está lá para vender publicidade. É dependência técnica.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6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79576" y="256032"/>
            <a:ext cx="7424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Métricas e classificação do veículo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786384"/>
            <a:ext cx="8138160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886968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 é conferência: o enunciado pede h5, o Qualis correspondente e o rank no CORE.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16152"/>
            <a:ext cx="2560320" cy="1298448"/>
          </a:xfrm>
          <a:prstGeom prst="roundRect">
            <a:avLst>
              <a:gd name="adj" fmla="val 3521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3075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h5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5179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97510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146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Acadêmico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posição 5 de 20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91840" y="1216152"/>
            <a:ext cx="2560320" cy="1298448"/>
          </a:xfrm>
          <a:prstGeom prst="roundRect">
            <a:avLst>
              <a:gd name="adj" fmla="val 3521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3075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5179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97510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derivado do percentil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abaixo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80760" y="1216152"/>
            <a:ext cx="2560320" cy="1298448"/>
          </a:xfrm>
          <a:prstGeom prst="roundRect">
            <a:avLst>
              <a:gd name="adj" fmla="val 3521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3075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15179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A*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97510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ICORE2026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em todas as edições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2008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26883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A1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2926080"/>
            <a:ext cx="5532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Qualis trabalha com percentil, não com h5 bruto. O Google Acadêmico publica apenas as 20 primeiras publicações de cada subárea, então essa lista é truncada e não é a população.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20 no denominador, a posição 5 dá percentil 75, que seria A2. Esse valor é um piso: qualquer universo maior empurra o percentil para cima. O limiar do A1 é 87,5, e a posição 5 o atinge a partir de 40 veículos. A subárea tem centenas.</a:t>
            </a:r>
            <a:endParaRPr lang="en-US" sz="1050" dirty="0"/>
          </a:p>
        </p:txBody>
      </p:sp>
      <p:pic>
        <p:nvPicPr>
          <p:cNvPr id="20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9632" y="2999232"/>
            <a:ext cx="2441448" cy="56515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199632" y="3610102"/>
            <a:ext cx="2441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6, p. 13 do Documento Técnico do Qualis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6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79576" y="256032"/>
            <a:ext cx="7424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ANÁLISE DA ESTRUTURA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786384"/>
            <a:ext cx="8138160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941832"/>
            <a:ext cx="5623560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ABSTRACT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Introduction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382512" y="923544"/>
            <a:ext cx="2258568" cy="398678"/>
          </a:xfrm>
          <a:prstGeom prst="roundRect">
            <a:avLst>
              <a:gd name="adj" fmla="val 9174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923544"/>
            <a:ext cx="2075688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 o trabalho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390802"/>
            <a:ext cx="5623560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Legal Background of GDPR Consent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  2.1  Legal Background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  2.2  Legal Analysis of Potential GDPR Consent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82512" y="1372514"/>
            <a:ext cx="2258568" cy="561442"/>
          </a:xfrm>
          <a:prstGeom prst="roundRect">
            <a:avLst>
              <a:gd name="adj" fmla="val 6515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1372514"/>
            <a:ext cx="2075688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 e jurídico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002536"/>
            <a:ext cx="5623560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Methodology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  3.1  Collecting Privacy-Related User Interface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  3.2  Identifying Consent Notices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82512" y="1984248"/>
            <a:ext cx="2258568" cy="561442"/>
          </a:xfrm>
          <a:prstGeom prst="roundRect">
            <a:avLst>
              <a:gd name="adj" fmla="val 6515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1984248"/>
            <a:ext cx="2075688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metodológico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14270"/>
            <a:ext cx="5623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Large-Scale Analysis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  4.1  App Dataset Construction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  4.2  Identifying Consent Notices In The Wild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  4.3  Automating Potential GDPR Violations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  4.4  Observed Potential Violations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82512" y="2595982"/>
            <a:ext cx="2258568" cy="603504"/>
          </a:xfrm>
          <a:prstGeom prst="roundRect">
            <a:avLst>
              <a:gd name="adj" fmla="val 6061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3952" y="2595982"/>
            <a:ext cx="207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do trabalho e resultados obtidos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55153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Developer Notification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82512" y="3533242"/>
            <a:ext cx="2258568" cy="274320"/>
          </a:xfrm>
          <a:prstGeom prst="roundRect">
            <a:avLst>
              <a:gd name="adj" fmla="val 13333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73952" y="3533242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junto aos desenvolvedores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3876142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Discussion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82512" y="3857854"/>
            <a:ext cx="2258568" cy="274320"/>
          </a:xfrm>
          <a:prstGeom prst="roundRect">
            <a:avLst>
              <a:gd name="adj" fmla="val 13333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73952" y="3857854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 obtidos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4200754"/>
            <a:ext cx="5623560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Related Work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Conclusion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82512" y="4182466"/>
            <a:ext cx="2258568" cy="561442"/>
          </a:xfrm>
          <a:prstGeom prst="roundRect">
            <a:avLst>
              <a:gd name="adj" fmla="val 6515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73952" y="4182466"/>
            <a:ext cx="2075688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e fechamento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6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79576" y="256032"/>
            <a:ext cx="7424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ANÁLISE DO RESUMO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786384"/>
            <a:ext cx="8138160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941832"/>
            <a:ext cx="5623560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“Adopted in May 2018, the European Union's General Data Protection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Regulation (GDPR) requires the consent for processing users' personal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to be freely given, specific, informed, and unambiguous.”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382512" y="923544"/>
            <a:ext cx="2258568" cy="561442"/>
          </a:xfrm>
          <a:prstGeom prst="roundRect">
            <a:avLst>
              <a:gd name="adj" fmla="val 6515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923544"/>
            <a:ext cx="2075688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553566"/>
            <a:ext cx="5623560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“While prior work has shown that this often is not given (...), no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has systematically studied how consent notices are currently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implemented and whether they conform to GDPR in mobile apps.”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82512" y="1535278"/>
            <a:ext cx="2258568" cy="561442"/>
          </a:xfrm>
          <a:prstGeom prst="roundRect">
            <a:avLst>
              <a:gd name="adj" fmla="val 6515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1535278"/>
            <a:ext cx="2075688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 a lacuna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165299"/>
            <a:ext cx="5623560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“To close this research gap, we perform the first large-scale study into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consent notices for third-party tracking in Android apps (...)”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82512" y="2147011"/>
            <a:ext cx="2258568" cy="398678"/>
          </a:xfrm>
          <a:prstGeom prst="roundRect">
            <a:avLst>
              <a:gd name="adj" fmla="val 9174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2147011"/>
            <a:ext cx="2075688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14270"/>
            <a:ext cx="5623560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“(...) we propose a mostly automated and scalable approach to identify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currently implemented consent notices and apply it to a set of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239,381 Android apps.”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82512" y="2595982"/>
            <a:ext cx="2258568" cy="561442"/>
          </a:xfrm>
          <a:prstGeom prst="roundRect">
            <a:avLst>
              <a:gd name="adj" fmla="val 6515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3952" y="2595982"/>
            <a:ext cx="2075688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empregado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226003"/>
            <a:ext cx="5623560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“We find 30,160 apps do not even attempt to implement consent notices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(...) out of 13,082 apps implemented consent notices, we identify 2,688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(20.54%) apps violate at least one of the GDPR consent requirements.”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82512" y="3207715"/>
            <a:ext cx="2258568" cy="561442"/>
          </a:xfrm>
          <a:prstGeom prst="roundRect">
            <a:avLst>
              <a:gd name="adj" fmla="val 6515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73952" y="3207715"/>
            <a:ext cx="2075688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dos resultados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3837737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KEYWORDS:   Android Security;  Consent;  GDPR;  User Privacy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82512" y="3819449"/>
            <a:ext cx="2258568" cy="274320"/>
          </a:xfrm>
          <a:prstGeom prst="roundRect">
            <a:avLst>
              <a:gd name="adj" fmla="val 13333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73952" y="3819449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Palavras-chave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6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79576" y="256032"/>
            <a:ext cx="7424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ANÁLISE DA INTRODUÇÃO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786384"/>
            <a:ext cx="8138160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941832"/>
            <a:ext cx="56235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“Every time we load a page on a commercial website or use a mobile app,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information about us and about what we are doing online will be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broadcast to large numbers of companies, most notably for advertising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purposes.”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382512" y="923544"/>
            <a:ext cx="2258568" cy="603504"/>
          </a:xfrm>
          <a:prstGeom prst="roundRect">
            <a:avLst>
              <a:gd name="adj" fmla="val 6061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923544"/>
            <a:ext cx="207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 pelo fenômeno, não pela técnica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716329"/>
            <a:ext cx="5623560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“However, no study has systematically analyzed the current practices of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implemented consent notices in mobile apps or, more importantly, whether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these consent notices can be legally justified under GDPR.”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82512" y="1698041"/>
            <a:ext cx="2258568" cy="561442"/>
          </a:xfrm>
          <a:prstGeom prst="roundRect">
            <a:avLst>
              <a:gd name="adj" fmla="val 6515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1698041"/>
            <a:ext cx="2075688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a problemática e a lacuna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328062"/>
            <a:ext cx="5623560" cy="1049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“Our work is the first to close this research gap by answering the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following research questions:”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•  Do mobile apps implement any form of consent notices?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•  Can these consent notices be legally justified under GDPR?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•  Are developers aware of the GDPR consent requirements and the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  violations of their implementation?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82512" y="2309774"/>
            <a:ext cx="2258568" cy="603504"/>
          </a:xfrm>
          <a:prstGeom prst="roundRect">
            <a:avLst>
              <a:gd name="adj" fmla="val 6061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2309774"/>
            <a:ext cx="207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Objetivo, em três questões de pesquisa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428086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“In summary, our paper makes the following contributions: (...)”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82512" y="3409798"/>
            <a:ext cx="2258568" cy="274320"/>
          </a:xfrm>
          <a:prstGeom prst="roundRect">
            <a:avLst>
              <a:gd name="adj" fmla="val 13333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3952" y="3409798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Contribuições, declaradas em lista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6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79576" y="256032"/>
            <a:ext cx="7424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ANÁLISE DO MÉTODO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786384"/>
            <a:ext cx="8138160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941832"/>
            <a:ext cx="5623560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“we crawled all free Android apps from October 2021 to March 2022 on the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Play store (EEA country location-based) based on the list of apps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AndroZoo [1] (which has 5,8M of Android apps' names).”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382512" y="923544"/>
            <a:ext cx="2258568" cy="561442"/>
          </a:xfrm>
          <a:prstGeom prst="roundRect">
            <a:avLst>
              <a:gd name="adj" fmla="val 6515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923544"/>
            <a:ext cx="2075688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do corpus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553566"/>
            <a:ext cx="56235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“Apps have at least 10,000 downloads (...)”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“Apps request sensitive permission such as GPS location, contact (...)”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“Apps have the latest update later than May 2018, when GDPR went into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effect (...)”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82512" y="1535278"/>
            <a:ext cx="2258568" cy="603504"/>
          </a:xfrm>
          <a:prstGeom prst="roundRect">
            <a:avLst>
              <a:gd name="adj" fmla="val 6061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1535278"/>
            <a:ext cx="207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critérios de inclusão, declarados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328062"/>
            <a:ext cx="5623560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“we successfully analyzed about 239,381 (95.38% of 250,972) apps by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dynamic analysis”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82512" y="2309774"/>
            <a:ext cx="2258568" cy="398678"/>
          </a:xfrm>
          <a:prstGeom prst="roundRect">
            <a:avLst>
              <a:gd name="adj" fmla="val 9174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2309774"/>
            <a:ext cx="2075688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Reportam a taxa de sucesso da ferramenta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777033"/>
            <a:ext cx="56235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5.800.000    nomes na lista do AndroZoo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250.972    após os três critérios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239.381    analisados com sucesso   (95,38%)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13.082    com aviso de consentimento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2.688    violam ao menos um requisito   (20,54% dos 13.082)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30.160    não têm aviso nenhum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82512" y="2758745"/>
            <a:ext cx="2258568" cy="603504"/>
          </a:xfrm>
          <a:prstGeom prst="roundRect">
            <a:avLst>
              <a:gd name="adj" fmla="val 6061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3952" y="2758745"/>
            <a:ext cx="207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funil amostral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6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79576" y="256032"/>
            <a:ext cx="7424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ANÁLISE DOS RESULTADOS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786384"/>
            <a:ext cx="8138160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941832"/>
            <a:ext cx="5623560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“2,181 (16,67% of 13,082) apps sent personal data to third-party data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controllers before given explicit consent.”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382512" y="923544"/>
            <a:ext cx="2258568" cy="398678"/>
          </a:xfrm>
          <a:prstGeom prst="roundRect">
            <a:avLst>
              <a:gd name="adj" fmla="val 9174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923544"/>
            <a:ext cx="2075688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antes do consentimento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390802"/>
            <a:ext cx="5623560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“1,084 (8.28% of 13,082) apps sent to third-party data controllers in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their consent notices do not offer a way to refuse consent.”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82512" y="1372514"/>
            <a:ext cx="2258568" cy="398678"/>
          </a:xfrm>
          <a:prstGeom prst="roundRect">
            <a:avLst>
              <a:gd name="adj" fmla="val 9174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1372514"/>
            <a:ext cx="2075688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forma de recusar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1839773"/>
            <a:ext cx="5623560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“Further, 134 apps that still sent data after explicitly opting out of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sharing from the consent user interface.”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82512" y="1821485"/>
            <a:ext cx="2258568" cy="398678"/>
          </a:xfrm>
          <a:prstGeom prst="roundRect">
            <a:avLst>
              <a:gd name="adj" fmla="val 9174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1821485"/>
            <a:ext cx="2075688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depois da recusa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288743"/>
            <a:ext cx="5623560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“nearly 99% of apps at least sharing this personal data”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     (o identificador de anúncio do Android, o AAID)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82512" y="2270455"/>
            <a:ext cx="2258568" cy="398678"/>
          </a:xfrm>
          <a:prstGeom prst="roundRect">
            <a:avLst>
              <a:gd name="adj" fmla="val 9174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3952" y="2270455"/>
            <a:ext cx="2075688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dado é compartilhado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2737714"/>
            <a:ext cx="5623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validam:  a tela prova que o aviso existe; o tráfego de rede prova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 dado saiu. Um instrumento sozinho não sustentaria a afirmação.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há intervalo de confiança, não há tamanho de efeito e não há grupo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controle. É exatamente a lacuna que o meu trabalho preenche.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82512" y="2719426"/>
            <a:ext cx="2258568" cy="603504"/>
          </a:xfrm>
          <a:prstGeom prst="roundRect">
            <a:avLst>
              <a:gd name="adj" fmla="val 6061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73952" y="2719426"/>
            <a:ext cx="207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falta, e é a minha contribuição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6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79576" y="256032"/>
            <a:ext cx="7424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ANÁLISE DA DISCUSSÃO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786384"/>
            <a:ext cx="8138160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941832"/>
            <a:ext cx="5623560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“Our results thus far have shown that many apps do not even attempt to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 consent notices (...). Given these insights, we now discuss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further the problems.”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382512" y="923544"/>
            <a:ext cx="2258568" cy="561442"/>
          </a:xfrm>
          <a:prstGeom prst="roundRect">
            <a:avLst>
              <a:gd name="adj" fmla="val 6515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923544"/>
            <a:ext cx="2075688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 o resultado antes de interpretar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553566"/>
            <a:ext cx="56235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6.1  Widespread Violation of GDPR Consent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“On the legal side, EU regulators have already been active. Recently,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Norwegian DPA imposed a fine of $7.17M on Grindr (...). The France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DPA fined Google $170M and Facebook $68M (...)”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82512" y="1535278"/>
            <a:ext cx="2258568" cy="603504"/>
          </a:xfrm>
          <a:prstGeom prst="roundRect">
            <a:avLst>
              <a:gd name="adj" fmla="val 6061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1535278"/>
            <a:ext cx="207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 com casos reais, não só com a literatura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328062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6.2  Transparency of Processing Users' Data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82512" y="2309774"/>
            <a:ext cx="2258568" cy="274320"/>
          </a:xfrm>
          <a:prstGeom prst="roundRect">
            <a:avLst>
              <a:gd name="adj" fmla="val 13333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2309774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 normativa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2674"/>
            <a:ext cx="56235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6.3  Lack of Support for Developers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“Based on the received responses, there is a clear need for better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information and documentation from third-party services and assurance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that help developers comply with strict law standards (...)”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82512" y="2634386"/>
            <a:ext cx="2258568" cy="603504"/>
          </a:xfrm>
          <a:prstGeom prst="roundRect">
            <a:avLst>
              <a:gd name="adj" fmla="val 6061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3952" y="2634386"/>
            <a:ext cx="207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 a causa, em vez de acusar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6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1179576" y="256032"/>
            <a:ext cx="7424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ANÁLISE DA CONCLUSÃO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786384"/>
            <a:ext cx="8138160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941832"/>
            <a:ext cx="56235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“In this paper, we performed a systematic study into consent notices of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third-party tracking in 239,381 Android apps in the wild to understand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current practices and the current state of GDPR's consent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violations.”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382512" y="923544"/>
            <a:ext cx="2258568" cy="603504"/>
          </a:xfrm>
          <a:prstGeom prst="roundRect">
            <a:avLst>
              <a:gd name="adj" fmla="val 6061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923544"/>
            <a:ext cx="207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 objetivo e escala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716329"/>
            <a:ext cx="5623560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“We found 30,160 apps do not even attempt to implement consent notices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(...) we identified 2,688 (20.54%) apps potentially violate at least one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GDPR consent requirements (...)”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82512" y="1698041"/>
            <a:ext cx="2258568" cy="561442"/>
          </a:xfrm>
          <a:prstGeom prst="roundRect">
            <a:avLst>
              <a:gd name="adj" fmla="val 6515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1698041"/>
            <a:ext cx="2075688" cy="561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 obtidos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328062"/>
            <a:ext cx="5623560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“Our study showed the urgent need for more transparent processing of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3340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data and supporting developers in this endeavor (...)”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82512" y="2309774"/>
            <a:ext cx="2258568" cy="398678"/>
          </a:xfrm>
          <a:prstGeom prst="roundRect">
            <a:avLst>
              <a:gd name="adj" fmla="val 9174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2309774"/>
            <a:ext cx="2075688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 normativa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777033"/>
            <a:ext cx="5623560" cy="1212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Comparando o resumo com a conclusão: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RESUMO         “2,688 apps VIOLATE at least one (...)”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CONCLUSÃO      “2,688 apps POTENTIALLY VIOLATE at least one (...)”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nota de rodapé 1 diz que “potential” foi escolha deliberada, para não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emitir juízo jurídico. A conclusão está correta e o resumo escorrega.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82512" y="2758745"/>
            <a:ext cx="2258568" cy="603504"/>
          </a:xfrm>
          <a:prstGeom prst="roundRect">
            <a:avLst>
              <a:gd name="adj" fmla="val 6061"/>
            </a:avLst>
          </a:prstGeom>
          <a:solidFill>
            <a:srgbClr val="EAF2F7"/>
          </a:solidFill>
          <a:ln w="9525">
            <a:solidFill>
              <a:srgbClr val="2E86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3952" y="2758745"/>
            <a:ext cx="207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resumo promete e o que a conclusão entrega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7424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este artigo muda no meu TCC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786384"/>
            <a:ext cx="8138160" cy="0"/>
          </a:xfrm>
          <a:prstGeom prst="line">
            <a:avLst/>
          </a:prstGeom>
          <a:noFill/>
          <a:ln w="12700">
            <a:solidFill>
              <a:srgbClr val="DD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51560"/>
            <a:ext cx="2560320" cy="1645920"/>
          </a:xfrm>
          <a:prstGeom prst="roundRect">
            <a:avLst>
              <a:gd name="adj" fmla="val 2778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9224" y="115214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49224" y="1417320"/>
            <a:ext cx="22677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par estático e dinâmico: detectar a biblioteca no aplicativo e confirmar no tráfego que o dado saiu.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560320" cy="1645920"/>
          </a:xfrm>
          <a:prstGeom prst="roundRect">
            <a:avLst>
              <a:gd name="adj" fmla="val 2778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38144" y="115214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ESCRITA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438144" y="1417320"/>
            <a:ext cx="22677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Copio a disciplina de reportar a taxa de sucesso da ferramenta e o cuidado de linguagem ao falar de lei.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80760" y="1051560"/>
            <a:ext cx="2560320" cy="1645920"/>
          </a:xfrm>
          <a:prstGeom prst="roundRect">
            <a:avLst>
              <a:gd name="adj" fmla="val 2778"/>
            </a:avLst>
          </a:prstGeom>
          <a:solidFill>
            <a:srgbClr val="F4F6F9"/>
          </a:solidFill>
          <a:ln w="12700">
            <a:solidFill>
              <a:srgbClr val="2E86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27064" y="115214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LACUNA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227064" y="1417320"/>
            <a:ext cx="22677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cobre, e acrescento grupo de controle pareado.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926080"/>
            <a:ext cx="8138160" cy="1207008"/>
          </a:xfrm>
          <a:prstGeom prst="roundRect">
            <a:avLst>
              <a:gd name="adj" fmla="val 3788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10896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me deixa uma pergunta que eu não tinha antes: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401568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o rastreamento nos aplicativos de governo não é comercial, o que explica ele estar lá?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2026-09-21T20:11:46Z</dcterms:created>
  <dcterms:modified xsi:type="dcterms:W3CDTF">2026-09-21T20:11:46Z</dcterms:modified>
</cp:coreProperties>
</file>