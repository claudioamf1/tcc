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Confirme seu nome completo e a data da sua apresentação (29/09 ou 01/10).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Abra dizendo que o tema está em definição mas que a escolha do artigo não depende disso — o que se reaproveita é o método.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Trinta segundos no máximo por tema descartado. O objetivo é mostrar que a escolha foi testada, não contar a história inteira.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busca encontrou o Kollnig et al. SOUPS 2021, que e a alternativa mais seria. Se perguntarem se voce avaliou outras opcoes, a resposta esta no proprio print: 34 citacoes contra 52, um ano mais velho, e SOUPS e CORE B contra A* do CCS.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Destaque a escala - 239 mil apps - e que CCS e uma das quatro principais conferencias de seguranca do mundo. O PDF e aberto e o artefato esta no GitHub.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Não leia os números; interprete. Um número sem contexto não diz nada.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terceiro cartão é o diferencial: não é hipótese, é medida própria. Zero em 396 é um resultado limpo. Diga que isso descarta o enquadramento de que o governo vende dados e deixa a questão mais difícil: por que o rastreador está lá, então?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Mostre a tabela na tela e aponte onde o seu veículo cai. Mencione a ressalva da estimativa por h5.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Não leia o texto colado em voz alta. Aponte os rótulos e explique a função de cada trecho.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Não leia o texto colado em voz alta. Aponte os rótulos e explique a função de cada trecho.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Não leia o texto colado em voz alta. Aponte os rótulos e explique a função de cada trecho.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Não leia o texto colado em voz alta. Aponte os rótulos e explique a função de cada trecho.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Não leia o texto colado em voz alta. Aponte os rótulos e explique a função de cada trecho.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Não leia o texto colado em voz alta. Aponte os rótulos e explique a função de cada trecho.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Não leia o texto colado em voz alta. Aponte os rótulos e explique a função de cada trecho.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Feche conectando o artigo ao seu próximo passo concreto. Deixe claro que há trabalho já feito, não só plano.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1600200"/>
            <a:ext cx="8138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Análise de Artigo Científico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2304288"/>
            <a:ext cx="8138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FC5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Segurança e privacidade em aplicativos móveis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502920" y="2880360"/>
            <a:ext cx="777240" cy="32004"/>
          </a:xfrm>
          <a:prstGeom prst="rect">
            <a:avLst/>
          </a:prstGeom>
          <a:solidFill>
            <a:srgbClr val="2E86A8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02920" y="315468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300"/>
              </a:spcAft>
              <a:buNone/>
            </a:pPr>
            <a:r>
              <a:rPr lang="en-US" sz="1250" b="1" dirty="0">
                <a:solidFill>
                  <a:srgbClr val="CFE0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Claudio Meireles</a:t>
            </a:r>
            <a:endParaRPr lang="en-US" sz="12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50" dirty="0">
                <a:solidFill>
                  <a:srgbClr val="CFE0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Projeto Capstone I  ·  Ciência da Computação  ·  IDP</a:t>
            </a:r>
            <a:endParaRPr lang="en-US" sz="12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50" dirty="0">
                <a:solidFill>
                  <a:srgbClr val="CFE0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Profa. Ma. Patrícia da Silva Oliveira  ·  setembro de 2026</a:t>
            </a:r>
            <a:endParaRPr lang="en-US" sz="12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E86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1500" dirty="0"/>
          </a:p>
        </p:txBody>
      </p:sp>
      <p:sp>
        <p:nvSpPr>
          <p:cNvPr id="3" name="Text 1"/>
          <p:cNvSpPr txBox="1"/>
          <p:nvPr/>
        </p:nvSpPr>
        <p:spPr>
          <a:xfrm>
            <a:off x="978408" y="256032"/>
            <a:ext cx="7662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Onde este artigo se encaixa</a:t>
            </a:r>
            <a:endParaRPr lang="en-US" sz="25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96012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2E8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Área do TCC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261872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Cibersegurança — medição empírica</a:t>
            </a:r>
            <a:endParaRPr lang="en-US" sz="21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783080"/>
            <a:ext cx="3840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 a vertente ofensiva, mas a de medir: coletar, caracterizar e comparar evidência sobre sistemas reais.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617720" y="960120"/>
            <a:ext cx="4023360" cy="1600200"/>
          </a:xfrm>
          <a:prstGeom prst="roundRect">
            <a:avLst>
              <a:gd name="adj" fmla="val 3429"/>
            </a:avLst>
          </a:prstGeom>
          <a:solidFill>
            <a:srgbClr val="F4F6F9"/>
          </a:solidFill>
          <a:ln w="12700">
            <a:solidFill>
              <a:srgbClr val="DDE3E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800600" y="1088136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Tema do TCC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4800600" y="1399032"/>
            <a:ext cx="3657600" cy="1014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Rastreamento por terceiros e soberania de dados em aplicativos móveis governamentais brasileiros.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Quando o cidadão usa o Meu SUS ou o Meu INSS, quais empresas além do governo recebem dados dele?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02920" y="2788920"/>
            <a:ext cx="1897380" cy="1417320"/>
          </a:xfrm>
          <a:prstGeom prst="roundRect">
            <a:avLst>
              <a:gd name="adj" fmla="val 3871"/>
            </a:avLst>
          </a:prstGeom>
          <a:solidFill>
            <a:srgbClr val="F4F6F9"/>
          </a:solidFill>
          <a:ln w="12700">
            <a:solidFill>
              <a:srgbClr val="DDE3E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85800" y="2916936"/>
            <a:ext cx="15316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8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Corpus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685800" y="3227832"/>
            <a:ext cx="153162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396 aplicativos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71 publicadores públicos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três esferas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2583180" y="2788920"/>
            <a:ext cx="1897380" cy="1417320"/>
          </a:xfrm>
          <a:prstGeom prst="roundRect">
            <a:avLst>
              <a:gd name="adj" fmla="val 3871"/>
            </a:avLst>
          </a:prstGeom>
          <a:solidFill>
            <a:srgbClr val="F4F6F9"/>
          </a:solidFill>
          <a:ln w="12700">
            <a:solidFill>
              <a:srgbClr val="DDE3EA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2766060" y="2916936"/>
            <a:ext cx="15316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8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Dado sensível — Art. 11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2766060" y="3227832"/>
            <a:ext cx="153162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152 aplicativos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saúde 125 · previdência 28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biometria 17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4663440" y="2788920"/>
            <a:ext cx="1897380" cy="1417320"/>
          </a:xfrm>
          <a:prstGeom prst="roundRect">
            <a:avLst>
              <a:gd name="adj" fmla="val 3871"/>
            </a:avLst>
          </a:prstGeom>
          <a:solidFill>
            <a:srgbClr val="F4F6F9"/>
          </a:solidFill>
          <a:ln w="12700">
            <a:solidFill>
              <a:srgbClr val="DDE3EA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846320" y="2916936"/>
            <a:ext cx="15316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8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Instrumento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4846320" y="3227832"/>
            <a:ext cx="153162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81,6% das políticas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acessíveis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potência: 5,1 p.p.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743700" y="2788920"/>
            <a:ext cx="1897380" cy="1417320"/>
          </a:xfrm>
          <a:prstGeom prst="roundRect">
            <a:avLst>
              <a:gd name="adj" fmla="val 3871"/>
            </a:avLst>
          </a:prstGeom>
          <a:solidFill>
            <a:srgbClr val="F4F6F9"/>
          </a:solidFill>
          <a:ln w="12700">
            <a:solidFill>
              <a:srgbClr val="DDE3EA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926580" y="2916936"/>
            <a:ext cx="15316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6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 de APKs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6926580" y="3227832"/>
            <a:ext cx="153162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AndroZoo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acesso concedido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17/09/2026</a:t>
            </a:r>
            <a:endParaRPr lang="en-US" sz="1150" dirty="0"/>
          </a:p>
        </p:txBody>
      </p:sp>
      <p:sp>
        <p:nvSpPr>
          <p:cNvPr id="22" name="Text 20"/>
          <p:cNvSpPr txBox="1"/>
          <p:nvPr/>
        </p:nvSpPr>
        <p:spPr>
          <a:xfrm>
            <a:off x="502920" y="4718304"/>
            <a:ext cx="8138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98A2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minuto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E86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1500" dirty="0"/>
          </a:p>
        </p:txBody>
      </p:sp>
      <p:sp>
        <p:nvSpPr>
          <p:cNvPr id="3" name="Text 1"/>
          <p:cNvSpPr txBox="1"/>
          <p:nvPr/>
        </p:nvSpPr>
        <p:spPr>
          <a:xfrm>
            <a:off x="978408" y="256032"/>
            <a:ext cx="7662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cheguei a este recorte</a:t>
            </a:r>
            <a:endParaRPr lang="en-US" sz="25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914400"/>
            <a:ext cx="8138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Seis temas passaram por teste de viabilidade antes de virar projeto. Três caíram, um ficou inconclusivo.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02920" y="1325880"/>
            <a:ext cx="1897380" cy="2331720"/>
          </a:xfrm>
          <a:prstGeom prst="roundRect">
            <a:avLst>
              <a:gd name="adj" fmla="val 2892"/>
            </a:avLst>
          </a:prstGeom>
          <a:solidFill>
            <a:srgbClr val="F4F6F9"/>
          </a:solidFill>
          <a:ln w="12700">
            <a:solidFill>
              <a:srgbClr val="DDE3EA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85800" y="1453896"/>
            <a:ext cx="15316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9B2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Descartado — ICS exposta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764792"/>
            <a:ext cx="1531620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mesmos hosts respondiam em Modbus, IEC-104 e EtherNet/IP ao mesmo tempo — equipamento industrial real não faz isso.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variável independente (o setor do operador) era inobservável.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2583180" y="1325880"/>
            <a:ext cx="1897380" cy="2331720"/>
          </a:xfrm>
          <a:prstGeom prst="roundRect">
            <a:avLst>
              <a:gd name="adj" fmla="val 2892"/>
            </a:avLst>
          </a:prstGeom>
          <a:solidFill>
            <a:srgbClr val="F4F6F9"/>
          </a:solidFill>
          <a:ln w="12700">
            <a:solidFill>
              <a:srgbClr val="DDE3EA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2766060" y="1453896"/>
            <a:ext cx="15316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9B2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Descartado — abuso de marca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2766060" y="1764792"/>
            <a:ext cx="1531620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20.007 entradas de log de Certificate Transparency analisadas.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Nenhuma imitação real encontrada: phishing moderno raramente põe a marca no domínio, o que impõe teto de recall.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4663440" y="1325880"/>
            <a:ext cx="1897380" cy="2331720"/>
          </a:xfrm>
          <a:prstGeom prst="roundRect">
            <a:avLst>
              <a:gd name="adj" fmla="val 2892"/>
            </a:avLst>
          </a:prstGeom>
          <a:solidFill>
            <a:srgbClr val="F4F6F9"/>
          </a:solidFill>
          <a:ln w="12700">
            <a:solidFill>
              <a:srgbClr val="DDE3EA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846320" y="1453896"/>
            <a:ext cx="15316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A6D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Inconclusivo — malware bancário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4846320" y="1764792"/>
            <a:ext cx="1531620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repositório rotula a CAMPANHA, não o payload.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85% do acervo brasileiro são containers, onde a métrica que eu usava nem existe. Erro meu, registrado.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743700" y="1325880"/>
            <a:ext cx="1897380" cy="2331720"/>
          </a:xfrm>
          <a:prstGeom prst="roundRect">
            <a:avLst>
              <a:gd name="adj" fmla="val 2892"/>
            </a:avLst>
          </a:prstGeom>
          <a:solidFill>
            <a:srgbClr val="F4F6F9"/>
          </a:solidFill>
          <a:ln w="12700">
            <a:solidFill>
              <a:srgbClr val="DDE3EA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926580" y="1453896"/>
            <a:ext cx="15316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6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Confirmado — apps de governo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6926580" y="1764792"/>
            <a:ext cx="1531620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396 aplicativos, 71 publicadores públicos, três esferas.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Publicador identificado na origem: sem trabalho de atribuição — que foi o que matou o primeiro tema.</a:t>
            </a:r>
            <a:endParaRPr lang="en-US" sz="1150" dirty="0"/>
          </a:p>
        </p:txBody>
      </p:sp>
      <p:sp>
        <p:nvSpPr>
          <p:cNvPr id="17" name="Text 15"/>
          <p:cNvSpPr txBox="1"/>
          <p:nvPr/>
        </p:nvSpPr>
        <p:spPr>
          <a:xfrm>
            <a:off x="502920" y="3840480"/>
            <a:ext cx="8138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2E8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Descartar com evidência é parte do método (Aula 04 — maturidade em pesquisa; Aula 07 — evitar o fundamento vazio).</a:t>
            </a:r>
            <a:endParaRPr lang="en-US" sz="1150" dirty="0"/>
          </a:p>
        </p:txBody>
      </p:sp>
      <p:sp>
        <p:nvSpPr>
          <p:cNvPr id="18" name="Text 16"/>
          <p:cNvSpPr txBox="1"/>
          <p:nvPr/>
        </p:nvSpPr>
        <p:spPr>
          <a:xfrm>
            <a:off x="502920" y="4718304"/>
            <a:ext cx="8138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98A2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minuto  ·  não se alongue aqui — é contexto, não o conteúdo principal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E86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1500" dirty="0"/>
          </a:p>
        </p:txBody>
      </p:sp>
      <p:sp>
        <p:nvSpPr>
          <p:cNvPr id="3" name="Text 1"/>
          <p:cNvSpPr txBox="1"/>
          <p:nvPr/>
        </p:nvSpPr>
        <p:spPr>
          <a:xfrm>
            <a:off x="978408" y="256032"/>
            <a:ext cx="7662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Passo a passo da seleção</a:t>
            </a:r>
            <a:endParaRPr lang="en-US" sz="25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89611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Scopus, via portal da CAPES / CAFe  ·  21 de setembro de 2026  ·  prints de cada tela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02920" y="1243584"/>
            <a:ext cx="3968496" cy="1371600"/>
          </a:xfrm>
          <a:prstGeom prst="roundRect">
            <a:avLst>
              <a:gd name="adj" fmla="val 4000"/>
            </a:avLst>
          </a:prstGeom>
          <a:solidFill>
            <a:srgbClr val="F4F6F9"/>
          </a:solidFill>
          <a:ln w="12700">
            <a:solidFill>
              <a:srgbClr val="DDE3EA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85800" y="1371600"/>
            <a:ext cx="36027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Tentativa 1 — expressão exata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682496"/>
            <a:ext cx="360273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"third-party tracking" AND consent AND android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campo: Article title, Abstract, Keywords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4 documentos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672584" y="1243584"/>
            <a:ext cx="3968496" cy="1371600"/>
          </a:xfrm>
          <a:prstGeom prst="roundRect">
            <a:avLst>
              <a:gd name="adj" fmla="val 4000"/>
            </a:avLst>
          </a:prstGeom>
          <a:solidFill>
            <a:srgbClr val="F4F6F9"/>
          </a:solidFill>
          <a:ln w="12700">
            <a:solidFill>
              <a:srgbClr val="DDE3EA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855464" y="1371600"/>
            <a:ext cx="36027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8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Tentativa 2 — ampliada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4855464" y="1682496"/>
            <a:ext cx="360273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"third party" AND tracking AND android AND (consent OR GDPR)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12 documentos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 11 · Eng 3 · Soc 3 · Env 2</a:t>
            </a:r>
            <a:endParaRPr lang="en-US" sz="1150" dirty="0"/>
          </a:p>
        </p:txBody>
      </p:sp>
      <p:sp>
        <p:nvSpPr>
          <p:cNvPr id="11" name="Text 9"/>
          <p:cNvSpPr txBox="1"/>
          <p:nvPr/>
        </p:nvSpPr>
        <p:spPr>
          <a:xfrm>
            <a:off x="502920" y="2697480"/>
            <a:ext cx="8138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2E8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Filtros na T1: Year 2021–2025 · Computer Science · Conference paper · English   →   4 (nenhum perdido)</a:t>
            </a:r>
            <a:endParaRPr lang="en-US" sz="10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3017520"/>
          <a:ext cx="8138160" cy="914400"/>
        </p:xfrm>
        <a:graphic>
          <a:graphicData uri="http://schemas.openxmlformats.org/drawingml/2006/table">
            <a:tbl>
              <a:tblPr/>
              <a:tblGrid>
                <a:gridCol w="274320"/>
                <a:gridCol w="4206240"/>
                <a:gridCol w="502920"/>
                <a:gridCol w="502920"/>
                <a:gridCol w="2011680"/>
              </a:tblGrid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Artigo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Cit.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Decisão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B2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B2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WhisperTest — iOS UI Automation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B2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B2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B2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iOS, não Android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B2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B2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Comprehensive Study on 3rd-Party User Tracking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B2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B2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B2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menos citado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E6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E6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Freely Given Consent?  (Nguyen, Backes, Stock)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E6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E6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E6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SELECIONADO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B2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B2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fait accompli?  (Kollnig, Binns)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B2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B2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B2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SOUPS = CORE B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 10"/>
          <p:cNvSpPr txBox="1"/>
          <p:nvPr/>
        </p:nvSpPr>
        <p:spPr>
          <a:xfrm>
            <a:off x="502920" y="4718304"/>
            <a:ext cx="8138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98A2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minutos  ·  4 encontrados  →  3 avaliados  →  1 selecionado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E86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1500" dirty="0"/>
          </a:p>
        </p:txBody>
      </p:sp>
      <p:sp>
        <p:nvSpPr>
          <p:cNvPr id="3" name="Text 1"/>
          <p:cNvSpPr txBox="1"/>
          <p:nvPr/>
        </p:nvSpPr>
        <p:spPr>
          <a:xfrm>
            <a:off x="978408" y="256032"/>
            <a:ext cx="7662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artigo selecionado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02920" y="960120"/>
            <a:ext cx="8138160" cy="1417320"/>
          </a:xfrm>
          <a:prstGeom prst="roundRect">
            <a:avLst>
              <a:gd name="adj" fmla="val 3871"/>
            </a:avLst>
          </a:prstGeom>
          <a:solidFill>
            <a:srgbClr val="1B2A4A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31520" y="1115568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Freely Given Consent? Studying Consent Notice of Third-Party Tracking and Its Violations of GDPR in Android Apps</a:t>
            </a:r>
            <a:endParaRPr lang="en-US" sz="165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173736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9FC5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NGUYEN, Trung Tin; BACKES, Michael; STOCK, Ben.   In: CCS '22 — Proceedings of the 2022 ACM SIGSAC Conference on Computer and Communications Security. Los Angeles, 7–11 nov. 2022, p. 2369–2383.   DOI: 10.1145/3548606.3560564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9FC5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RESEARCH-ARTICLE  ·  FREE ACCESS  ·  15 páginas  ·  artefato: github.com/cispa/gdpr-consent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02920" y="2560320"/>
            <a:ext cx="3954780" cy="1417320"/>
          </a:xfrm>
          <a:prstGeom prst="roundRect">
            <a:avLst>
              <a:gd name="adj" fmla="val 3871"/>
            </a:avLst>
          </a:prstGeom>
          <a:solidFill>
            <a:srgbClr val="F4F6F9"/>
          </a:solidFill>
          <a:ln w="12700">
            <a:solidFill>
              <a:srgbClr val="DDE3E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85800" y="2688336"/>
            <a:ext cx="35890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8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que é pesquisa original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685800" y="2999232"/>
            <a:ext cx="358902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Coleta e análise próprias em larga escala: 239.381 aplicativos Android analisados, 13.082 com mecanismo de consentimento identificado. Primeiro estudo em escala sobre avisos de consentimento no Android.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686300" y="2560320"/>
            <a:ext cx="3954780" cy="1417320"/>
          </a:xfrm>
          <a:prstGeom prst="roundRect">
            <a:avLst>
              <a:gd name="adj" fmla="val 3871"/>
            </a:avLst>
          </a:prstGeom>
          <a:solidFill>
            <a:srgbClr val="F4F6F9"/>
          </a:solidFill>
          <a:ln w="12700">
            <a:solidFill>
              <a:srgbClr val="DDE3E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869180" y="2688336"/>
            <a:ext cx="35890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6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Três fontes confirmam que é original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4869180" y="2999232"/>
            <a:ext cx="358902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ACM Digital Library:  etiqueta RESEARCH-ARTICLE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Scopus:  tipo de documento Conference Paper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próprio artigo:  corpus e ferramenta construídos pelos autores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502920" y="4718304"/>
            <a:ext cx="8138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98A2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minuto  ·  CCS é CONFERÊNCIA — use h5 + Qualis + CORE Rank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E86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lang="en-US" sz="1500" dirty="0"/>
          </a:p>
        </p:txBody>
      </p:sp>
      <p:sp>
        <p:nvSpPr>
          <p:cNvPr id="3" name="Text 1"/>
          <p:cNvSpPr txBox="1"/>
          <p:nvPr/>
        </p:nvSpPr>
        <p:spPr>
          <a:xfrm>
            <a:off x="978408" y="256032"/>
            <a:ext cx="7662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Relevância — critérios quantitativos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02920" y="960120"/>
            <a:ext cx="8138160" cy="1371600"/>
          </a:xfrm>
          <a:prstGeom prst="roundRect">
            <a:avLst>
              <a:gd name="adj" fmla="val 4000"/>
            </a:avLst>
          </a:prstGeom>
          <a:solidFill>
            <a:srgbClr val="F4F6F9"/>
          </a:solidFill>
          <a:ln w="12700">
            <a:solidFill>
              <a:srgbClr val="DDE3E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85800" y="1088136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6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CITAÇÕES — levantadas em 17/09/2026, as três nas bases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1399032"/>
            <a:ext cx="77724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ACM Digital Library  42          Scopus  52          Google Acadêmico  99  (9 versões)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Publicado em 07/11/2022  ·  1.539 downloads na ACM  ·  239.381 apps analisados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02920" y="2468880"/>
            <a:ext cx="3954780" cy="1600200"/>
          </a:xfrm>
          <a:prstGeom prst="roundRect">
            <a:avLst>
              <a:gd name="adj" fmla="val 3429"/>
            </a:avLst>
          </a:prstGeom>
          <a:solidFill>
            <a:srgbClr val="F4F6F9"/>
          </a:solidFill>
          <a:ln w="12700">
            <a:solidFill>
              <a:srgbClr val="DDE3E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85800" y="2596896"/>
            <a:ext cx="35890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que 42 &lt; 52 &lt; 99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685800" y="2907792"/>
            <a:ext cx="3589020" cy="1014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 a hierarquia de cobertura das bases.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ACM conta só o próprio acervo. O Scopus acrescenta IEEE, Springer e Elsevier. O Scholar agrupa 9 versões do trabalho e ainda conta teses e relatórios.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686300" y="2468880"/>
            <a:ext cx="3954780" cy="1600200"/>
          </a:xfrm>
          <a:prstGeom prst="roundRect">
            <a:avLst>
              <a:gd name="adj" fmla="val 3429"/>
            </a:avLst>
          </a:prstGeom>
          <a:solidFill>
            <a:srgbClr val="F4F6F9"/>
          </a:solidFill>
          <a:ln w="12700">
            <a:solidFill>
              <a:srgbClr val="DDE3E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869180" y="2596896"/>
            <a:ext cx="35890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Recência × citações: a troca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4869180" y="2907792"/>
            <a:ext cx="3589020" cy="1014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artigo de 2025 teve um ano para ser citado; um muito citado é antigo por construção.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2022 em CCS é o ponto de equilíbrio — e 239 mil apps é critério quantitativo por si só.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502920" y="4718304"/>
            <a:ext cx="8138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98A2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1,5 minuto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E86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06</a:t>
            </a:r>
            <a:endParaRPr lang="en-US" sz="1500" dirty="0"/>
          </a:p>
        </p:txBody>
      </p:sp>
      <p:sp>
        <p:nvSpPr>
          <p:cNvPr id="3" name="Text 1"/>
          <p:cNvSpPr txBox="1"/>
          <p:nvPr/>
        </p:nvSpPr>
        <p:spPr>
          <a:xfrm>
            <a:off x="978408" y="256032"/>
            <a:ext cx="7662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Relevância — critérios qualitativos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02920" y="960120"/>
            <a:ext cx="2590800" cy="2286000"/>
          </a:xfrm>
          <a:prstGeom prst="roundRect">
            <a:avLst>
              <a:gd name="adj" fmla="val 2400"/>
            </a:avLst>
          </a:prstGeom>
          <a:solidFill>
            <a:srgbClr val="F4F6F9"/>
          </a:solidFill>
          <a:ln w="12700">
            <a:solidFill>
              <a:srgbClr val="DDE3E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85800" y="1088136"/>
            <a:ext cx="2225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8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· O método é o que eu reuso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1399032"/>
            <a:ext cx="2225040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Análise estática de APKs em escala, detecção de SDKs de rastreamento, verificação de backend e inspeção manual de subamostra.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 o pipeline que pretendo aplicar.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3276600" y="960120"/>
            <a:ext cx="2590800" cy="2286000"/>
          </a:xfrm>
          <a:prstGeom prst="roundRect">
            <a:avLst>
              <a:gd name="adj" fmla="val 2400"/>
            </a:avLst>
          </a:prstGeom>
          <a:solidFill>
            <a:srgbClr val="F4F6F9"/>
          </a:solidFill>
          <a:ln w="12700">
            <a:solidFill>
              <a:srgbClr val="DDE3E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459480" y="1088136"/>
            <a:ext cx="2225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8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A lacuna que ele deixa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3459480" y="1399032"/>
            <a:ext cx="2225040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Corpus de apps comerciais de controle parental.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 recorte governamental, sem grupo de controle pareado e sem contexto brasileiro — exatamente onde meu trabalho entra.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050280" y="960120"/>
            <a:ext cx="2590800" cy="2286000"/>
          </a:xfrm>
          <a:prstGeom prst="roundRect">
            <a:avLst>
              <a:gd name="adj" fmla="val 2400"/>
            </a:avLst>
          </a:prstGeom>
          <a:solidFill>
            <a:srgbClr val="F4F6F9"/>
          </a:solidFill>
          <a:ln w="12700">
            <a:solidFill>
              <a:srgbClr val="DDE3E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233160" y="1088136"/>
            <a:ext cx="2225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6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· Já tenho um resultado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6233160" y="1399032"/>
            <a:ext cx="2225040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de 396 apps de governo exibem anúncio. No controle comercial, 33,2%.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IC95% [0,000; 0,010] contra [0,269; 0,401] — não se sobrepõem.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02920" y="3429000"/>
            <a:ext cx="8138160" cy="777240"/>
          </a:xfrm>
          <a:prstGeom prst="roundRect">
            <a:avLst>
              <a:gd name="adj" fmla="val 7059"/>
            </a:avLst>
          </a:prstGeom>
          <a:solidFill>
            <a:srgbClr val="1B2A4A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31520" y="3593592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 o app de governo não monetiza, o rastreador que houver não é de publicidade — é dependência técnica. Isso muda a pergunta.</a:t>
            </a:r>
            <a:endParaRPr lang="en-US" sz="1450" dirty="0"/>
          </a:p>
        </p:txBody>
      </p:sp>
      <p:sp>
        <p:nvSpPr>
          <p:cNvPr id="15" name="Text 13"/>
          <p:cNvSpPr txBox="1"/>
          <p:nvPr/>
        </p:nvSpPr>
        <p:spPr>
          <a:xfrm>
            <a:off x="502920" y="4718304"/>
            <a:ext cx="8138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98A2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1,5 minuto  ·  este é o slide mais forte da sua justificativa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E86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07</a:t>
            </a:r>
            <a:endParaRPr lang="en-US" sz="1500" dirty="0"/>
          </a:p>
        </p:txBody>
      </p:sp>
      <p:sp>
        <p:nvSpPr>
          <p:cNvPr id="3" name="Text 1"/>
          <p:cNvSpPr txBox="1"/>
          <p:nvPr/>
        </p:nvSpPr>
        <p:spPr>
          <a:xfrm>
            <a:off x="978408" y="256032"/>
            <a:ext cx="7662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Métricas do veículo e Qualis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02920" y="932688"/>
            <a:ext cx="3954780" cy="1691640"/>
          </a:xfrm>
          <a:prstGeom prst="roundRect">
            <a:avLst>
              <a:gd name="adj" fmla="val 3243"/>
            </a:avLst>
          </a:prstGeom>
          <a:solidFill>
            <a:srgbClr val="F4F6F9"/>
          </a:solidFill>
          <a:ln w="12700">
            <a:solidFill>
              <a:srgbClr val="DDE3E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85800" y="1060704"/>
            <a:ext cx="35890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6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TRÊS OBRIGATÓRIOS — todos levantados em 17/09/2026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1371600"/>
            <a:ext cx="3589020" cy="1106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· h5 = 90   (mediana 146)   posição 5 de 20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(posição 19 = AsiaCCS, h5 41 — outro evento; conferido)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Qualis = A1   (ver o limiar ao lado)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· CORE = A*   ICORE2026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02920" y="2761488"/>
            <a:ext cx="3954780" cy="1673352"/>
          </a:xfrm>
          <a:prstGeom prst="roundRect">
            <a:avLst>
              <a:gd name="adj" fmla="val 3279"/>
            </a:avLst>
          </a:prstGeom>
          <a:solidFill>
            <a:srgbClr val="F4F6F9"/>
          </a:solidFill>
          <a:ln w="12700">
            <a:solidFill>
              <a:srgbClr val="DDE3E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85800" y="2889504"/>
            <a:ext cx="35890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que A1, e não A2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685800" y="3200400"/>
            <a:ext cx="3589020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 N=20 o percentil dá 75 (A2) — mas 20 é lista TRUNCADA, não população. Esse 75 é PISO: universo maior só empurra para cima.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A1 exige percentil 87,5.  (N-5)/N &gt;= 0,875  -&gt;  N &gt;= 40.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Basta a área ter 40 veículos. Tem centenas. Logo A1 — limite, não estimativa.</a:t>
            </a:r>
            <a:endParaRPr lang="en-US" sz="1150" dirty="0"/>
          </a:p>
        </p:txBody>
      </p:sp>
      <p:sp>
        <p:nvSpPr>
          <p:cNvPr id="10" name="Text 8"/>
          <p:cNvSpPr txBox="1"/>
          <p:nvPr/>
        </p:nvSpPr>
        <p:spPr>
          <a:xfrm>
            <a:off x="4686300" y="932688"/>
            <a:ext cx="39547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Faixas de percentil → estrato  (Figura 6, p. 13 do Documento Técnico)</a:t>
            </a:r>
            <a:endParaRPr lang="en-US" sz="1050" dirty="0"/>
          </a:p>
        </p:txBody>
      </p:sp>
      <p:pic>
        <p:nvPicPr>
          <p:cNvPr id="11" name="Image 0" descr="/home/user/TCC/seminario/qualis-faixas-de-percenti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686300" y="1280160"/>
            <a:ext cx="3954780" cy="914400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4686300" y="2359152"/>
            <a:ext cx="39547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050" b="1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Classes de 12,5% de amplitude.</a:t>
            </a:r>
            <a:endParaRPr lang="en-US" sz="10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Estrato C: periódicos sem nenhum dos indicadores do modelo.</a:t>
            </a:r>
            <a:endParaRPr lang="en-US" sz="10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 mais de um indicador, considera-se o MAIOR percentil.</a:t>
            </a:r>
            <a:endParaRPr lang="en-US" sz="10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áreas podem ajustar até 30% dos estratos — o valor publicado pode divergir da tabela.</a:t>
            </a:r>
            <a:endParaRPr lang="en-US" sz="1050" dirty="0"/>
          </a:p>
        </p:txBody>
      </p:sp>
      <p:sp>
        <p:nvSpPr>
          <p:cNvPr id="13" name="Text 10"/>
          <p:cNvSpPr txBox="1"/>
          <p:nvPr/>
        </p:nvSpPr>
        <p:spPr>
          <a:xfrm>
            <a:off x="502920" y="4718304"/>
            <a:ext cx="8138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98A2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minutos  ·  use a figura original no slide — é fonte primária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E86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08</a:t>
            </a:r>
            <a:endParaRPr lang="en-US" sz="1500" dirty="0"/>
          </a:p>
        </p:txBody>
      </p:sp>
      <p:sp>
        <p:nvSpPr>
          <p:cNvPr id="3" name="Text 1"/>
          <p:cNvSpPr txBox="1"/>
          <p:nvPr/>
        </p:nvSpPr>
        <p:spPr>
          <a:xfrm>
            <a:off x="978408" y="256032"/>
            <a:ext cx="7662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Análise da estrutura</a:t>
            </a:r>
            <a:endParaRPr lang="en-US" sz="25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89611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8 seções do artigo e a função de cada uma. 15 páginas.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02920" y="1261872"/>
            <a:ext cx="5532120" cy="2212848"/>
          </a:xfrm>
          <a:prstGeom prst="roundRect">
            <a:avLst>
              <a:gd name="adj" fmla="val 2479"/>
            </a:avLst>
          </a:prstGeom>
          <a:solidFill>
            <a:srgbClr val="F4F6F9"/>
          </a:solidFill>
          <a:ln w="12700">
            <a:solidFill>
              <a:srgbClr val="2E86A8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67512" y="1371600"/>
            <a:ext cx="52120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950" dirty="0">
                <a:solidFill>
                  <a:srgbClr val="1B2A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  Introduction  (p.1-3)   contextualiza, 3 questões de pesquisa, contribuições</a:t>
            </a:r>
            <a:endParaRPr lang="en-US" sz="9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950" dirty="0">
                <a:solidFill>
                  <a:srgbClr val="1B2A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  Legal Background of GDPR Consent  (p.3-4)   define juridicamente as 4 violações</a:t>
            </a:r>
            <a:endParaRPr lang="en-US" sz="9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950" dirty="0">
                <a:solidFill>
                  <a:srgbClr val="1B2A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  Methodology  (p.4-6)   como identificar os avisos de consentimento</a:t>
            </a:r>
            <a:endParaRPr lang="en-US" sz="9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950" dirty="0">
                <a:solidFill>
                  <a:srgbClr val="1B2A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  Large-Scale Analysis  (p.6-11)   aplicação em escala + resultados</a:t>
            </a:r>
            <a:endParaRPr lang="en-US" sz="9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950" dirty="0">
                <a:solidFill>
                  <a:srgbClr val="1B2A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  Developer Notification  (p.11-12)   notifica devs e coleta respostas</a:t>
            </a:r>
            <a:endParaRPr lang="en-US" sz="9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950" dirty="0">
                <a:solidFill>
                  <a:srgbClr val="1B2A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  Discussion  (p.12-13)   ·  7  Related Work  (p.13)  ·  8  Conclusion  (p.13)</a:t>
            </a:r>
            <a:endParaRPr lang="en-US" sz="950" dirty="0"/>
          </a:p>
        </p:txBody>
      </p:sp>
      <p:sp>
        <p:nvSpPr>
          <p:cNvPr id="7" name="Text 5"/>
          <p:cNvSpPr txBox="1"/>
          <p:nvPr/>
        </p:nvSpPr>
        <p:spPr>
          <a:xfrm>
            <a:off x="6263640" y="1261872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2E8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Rótulos a usar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6263640" y="1572768"/>
            <a:ext cx="2377440" cy="1901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Related Work é a seção 7, NÃO a 2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Método (3) separado da aplicação (4)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Seções 3+4 = 7,5 de 15 páginas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 há seção de Limitações nem de Ética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02920" y="3611880"/>
            <a:ext cx="8138160" cy="1051560"/>
          </a:xfrm>
          <a:prstGeom prst="roundRect">
            <a:avLst>
              <a:gd name="adj" fmla="val 5217"/>
            </a:avLst>
          </a:prstGeom>
          <a:solidFill>
            <a:srgbClr val="F4F6F9"/>
          </a:solidFill>
          <a:ln w="12700">
            <a:solidFill>
              <a:srgbClr val="DDE3EA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85800" y="3739896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8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Observação para esta seção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685800" y="4050792"/>
            <a:ext cx="7772400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Metodologia detalhada é CONSEQUÊNCIA da escala. No exemplo da professora o avaliador teve de reconstruir o método; com 239 mil apps isso seria impossível.</a:t>
            </a:r>
            <a:endParaRPr lang="en-US" sz="1150" dirty="0"/>
          </a:p>
        </p:txBody>
      </p:sp>
      <p:sp>
        <p:nvSpPr>
          <p:cNvPr id="12" name="Text 10"/>
          <p:cNvSpPr txBox="1"/>
          <p:nvPr/>
        </p:nvSpPr>
        <p:spPr>
          <a:xfrm>
            <a:off x="502920" y="4718304"/>
            <a:ext cx="8138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98A2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~50 segundos por slide  ·  a análise da estrutura vale 5 dos 15 minutos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E86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09</a:t>
            </a:r>
            <a:endParaRPr lang="en-US" sz="1500" dirty="0"/>
          </a:p>
        </p:txBody>
      </p:sp>
      <p:sp>
        <p:nvSpPr>
          <p:cNvPr id="3" name="Text 1"/>
          <p:cNvSpPr txBox="1"/>
          <p:nvPr/>
        </p:nvSpPr>
        <p:spPr>
          <a:xfrm>
            <a:off x="978408" y="256032"/>
            <a:ext cx="7662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Análise do resumo</a:t>
            </a:r>
            <a:endParaRPr lang="en-US" sz="25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89611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Seis movimentos, cada um em uma ou duas frases.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02920" y="1261872"/>
            <a:ext cx="5532120" cy="2212848"/>
          </a:xfrm>
          <a:prstGeom prst="roundRect">
            <a:avLst>
              <a:gd name="adj" fmla="val 2479"/>
            </a:avLst>
          </a:prstGeom>
          <a:solidFill>
            <a:srgbClr val="F4F6F9"/>
          </a:solidFill>
          <a:ln w="12700">
            <a:solidFill>
              <a:srgbClr val="2E86A8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67512" y="1371600"/>
            <a:ext cx="52120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950" dirty="0">
                <a:solidFill>
                  <a:srgbClr val="1B2A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Contextualiza:  "Adopted in May 2018, the GDPR requires the consent... to be freely given"</a:t>
            </a:r>
            <a:endParaRPr lang="en-US" sz="9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950" dirty="0">
                <a:solidFill>
                  <a:srgbClr val="1B2A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Lacuna:  "no research has systematically studied how consent notices are implemented"</a:t>
            </a:r>
            <a:endParaRPr lang="en-US" sz="9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950" dirty="0">
                <a:solidFill>
                  <a:srgbClr val="1B2A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Objetivo:  "we perform the first large-scale study into consent notices"</a:t>
            </a:r>
            <a:endParaRPr lang="en-US" sz="9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950" dirty="0">
                <a:solidFill>
                  <a:srgbClr val="1B2A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Método:  "a mostly automated and scalable approach... 239,381 Android apps"</a:t>
            </a:r>
            <a:endParaRPr lang="en-US" sz="9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950" dirty="0">
                <a:solidFill>
                  <a:srgbClr val="1B2A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Resultados:  4 mecanismos · 13.082 apps · 30.160 sem aviso · 2.688 (20,54%) violam</a:t>
            </a:r>
            <a:endParaRPr lang="en-US" sz="9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950" dirty="0">
                <a:solidFill>
                  <a:srgbClr val="1B2A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Palavras-chave:  Android Security; Consent; GDPR; User Privacy</a:t>
            </a:r>
            <a:endParaRPr lang="en-US" sz="950" dirty="0"/>
          </a:p>
        </p:txBody>
      </p:sp>
      <p:sp>
        <p:nvSpPr>
          <p:cNvPr id="7" name="Text 5"/>
          <p:cNvSpPr txBox="1"/>
          <p:nvPr/>
        </p:nvSpPr>
        <p:spPr>
          <a:xfrm>
            <a:off x="6263640" y="1261872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2E8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Rótulos a usar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6263640" y="1572768"/>
            <a:ext cx="2377440" cy="1901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Contextualiza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Declara a lacuna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Método empregado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Resultados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Implicação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02920" y="3611880"/>
            <a:ext cx="8138160" cy="1051560"/>
          </a:xfrm>
          <a:prstGeom prst="roundRect">
            <a:avLst>
              <a:gd name="adj" fmla="val 5217"/>
            </a:avLst>
          </a:prstGeom>
          <a:solidFill>
            <a:srgbClr val="F4F6F9"/>
          </a:solidFill>
          <a:ln w="12700">
            <a:solidFill>
              <a:srgbClr val="DDE3EA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85800" y="3739896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8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Observação para esta seção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685800" y="4050792"/>
            <a:ext cx="7772400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palavras-chave trazem Consent e GDPR, mas NÃO trazem tracking nem third-party — que estão no título. Isso diz como os autores querem ser encontrados.</a:t>
            </a:r>
            <a:endParaRPr lang="en-US" sz="1150" dirty="0"/>
          </a:p>
        </p:txBody>
      </p:sp>
      <p:sp>
        <p:nvSpPr>
          <p:cNvPr id="12" name="Text 10"/>
          <p:cNvSpPr txBox="1"/>
          <p:nvPr/>
        </p:nvSpPr>
        <p:spPr>
          <a:xfrm>
            <a:off x="502920" y="4718304"/>
            <a:ext cx="8138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98A2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~50 segundos por slide  ·  a análise da estrutura vale 5 dos 15 minutos</a:t>
            </a:r>
            <a:endParaRPr lang="en-US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E86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</a:t>
            </a:r>
            <a:endParaRPr lang="en-US" sz="1500" dirty="0"/>
          </a:p>
        </p:txBody>
      </p:sp>
      <p:sp>
        <p:nvSpPr>
          <p:cNvPr id="3" name="Text 1"/>
          <p:cNvSpPr txBox="1"/>
          <p:nvPr/>
        </p:nvSpPr>
        <p:spPr>
          <a:xfrm>
            <a:off x="978408" y="256032"/>
            <a:ext cx="7662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Análise da introdução</a:t>
            </a:r>
            <a:endParaRPr lang="en-US" sz="25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89611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Abre pelo fenômeno cotidiano, não pela técnica. E declara 3 questões.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02920" y="1261872"/>
            <a:ext cx="5532120" cy="2212848"/>
          </a:xfrm>
          <a:prstGeom prst="roundRect">
            <a:avLst>
              <a:gd name="adj" fmla="val 2479"/>
            </a:avLst>
          </a:prstGeom>
          <a:solidFill>
            <a:srgbClr val="F4F6F9"/>
          </a:solidFill>
          <a:ln w="12700">
            <a:solidFill>
              <a:srgbClr val="2E86A8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67512" y="1371600"/>
            <a:ext cx="52120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950" dirty="0">
                <a:solidFill>
                  <a:srgbClr val="1B2A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"Every time we load a page... information about us will be broadcast to large</a:t>
            </a:r>
            <a:endParaRPr lang="en-US" sz="9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950" dirty="0">
                <a:solidFill>
                  <a:srgbClr val="1B2A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numbers of companies, most notably for advertising purposes."</a:t>
            </a:r>
            <a:endParaRPr lang="en-US" sz="950" dirty="0"/>
          </a:p>
          <a:p>
            <a:pPr indent="0" marL="0">
              <a:lnSpc>
                <a:spcPct val="122000"/>
              </a:lnSpc>
              <a:buNone/>
            </a:pPr>
            <a:endParaRPr lang="en-US" sz="9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950" dirty="0">
                <a:solidFill>
                  <a:srgbClr val="1B2A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Q1  Do mobile apps implement any form of consent notices?</a:t>
            </a:r>
            <a:endParaRPr lang="en-US" sz="9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950" dirty="0">
                <a:solidFill>
                  <a:srgbClr val="1B2A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Q2  Can these consent notices be legally justified under GDPR?</a:t>
            </a:r>
            <a:endParaRPr lang="en-US" sz="9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950" dirty="0">
                <a:solidFill>
                  <a:srgbClr val="1B2A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Q3  Are developers aware of the requirements and of their own violations?</a:t>
            </a:r>
            <a:endParaRPr lang="en-US" sz="950" dirty="0"/>
          </a:p>
        </p:txBody>
      </p:sp>
      <p:sp>
        <p:nvSpPr>
          <p:cNvPr id="7" name="Text 5"/>
          <p:cNvSpPr txBox="1"/>
          <p:nvPr/>
        </p:nvSpPr>
        <p:spPr>
          <a:xfrm>
            <a:off x="6263640" y="1261872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2E8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Rótulos a usar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6263640" y="1572768"/>
            <a:ext cx="2377440" cy="1901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Contextualiza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Descreve a problemática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Posiciona na literatura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Questões de pesquisa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Contribuições em lista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02920" y="3611880"/>
            <a:ext cx="8138160" cy="1051560"/>
          </a:xfrm>
          <a:prstGeom prst="roundRect">
            <a:avLst>
              <a:gd name="adj" fmla="val 5217"/>
            </a:avLst>
          </a:prstGeom>
          <a:solidFill>
            <a:srgbClr val="F4F6F9"/>
          </a:solidFill>
          <a:ln w="12700">
            <a:solidFill>
              <a:srgbClr val="DDE3EA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85800" y="3739896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8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Observação para esta seção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685800" y="4050792"/>
            <a:ext cx="7772400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Nota de rodapé 1: eles chamam de violação POTENCIAL de propósito, para não emitir juízo jurídico — que seria consultoria legal regulada. Mesmo cuidado que a LGPD exige de mim.</a:t>
            </a:r>
            <a:endParaRPr lang="en-US" sz="1150" dirty="0"/>
          </a:p>
        </p:txBody>
      </p:sp>
      <p:sp>
        <p:nvSpPr>
          <p:cNvPr id="12" name="Text 10"/>
          <p:cNvSpPr txBox="1"/>
          <p:nvPr/>
        </p:nvSpPr>
        <p:spPr>
          <a:xfrm>
            <a:off x="502920" y="4718304"/>
            <a:ext cx="8138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98A2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~50 segundos por slide  ·  a análise da estrutura vale 5 dos 15 minutos</a:t>
            </a:r>
            <a:endParaRPr lang="en-US" sz="9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E86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</a:t>
            </a:r>
            <a:endParaRPr lang="en-US" sz="1500" dirty="0"/>
          </a:p>
        </p:txBody>
      </p:sp>
      <p:sp>
        <p:nvSpPr>
          <p:cNvPr id="3" name="Text 1"/>
          <p:cNvSpPr txBox="1"/>
          <p:nvPr/>
        </p:nvSpPr>
        <p:spPr>
          <a:xfrm>
            <a:off x="978408" y="256032"/>
            <a:ext cx="7662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Análise do método — o funil</a:t>
            </a:r>
            <a:endParaRPr lang="en-US" sz="25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89611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Corpus do AndroZoo, três critérios de inclusão, dois instrumentos.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02920" y="1261872"/>
            <a:ext cx="5532120" cy="2212848"/>
          </a:xfrm>
          <a:prstGeom prst="roundRect">
            <a:avLst>
              <a:gd name="adj" fmla="val 2479"/>
            </a:avLst>
          </a:prstGeom>
          <a:solidFill>
            <a:srgbClr val="F4F6F9"/>
          </a:solidFill>
          <a:ln w="12700">
            <a:solidFill>
              <a:srgbClr val="2E86A8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67512" y="1371600"/>
            <a:ext cx="52120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950" dirty="0">
                <a:solidFill>
                  <a:srgbClr val="1B2A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5.800.000   nomes de apps na lista do AndroZoo</a:t>
            </a:r>
            <a:endParaRPr lang="en-US" sz="9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950" dirty="0">
                <a:solidFill>
                  <a:srgbClr val="1B2A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↓     ≥10k downloads · permissão sensível · atualizado após maio/2018</a:t>
            </a:r>
            <a:endParaRPr lang="en-US" sz="9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950" dirty="0">
                <a:solidFill>
                  <a:srgbClr val="1B2A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250.972   aplicativos obtidos</a:t>
            </a:r>
            <a:endParaRPr lang="en-US" sz="9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950" dirty="0">
                <a:solidFill>
                  <a:srgbClr val="1B2A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↓     análise dinâmica bem-sucedida em 95,38%</a:t>
            </a:r>
            <a:endParaRPr lang="en-US" sz="9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950" dirty="0">
                <a:solidFill>
                  <a:srgbClr val="1B2A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239.381   analisados  →  13.082 com aviso  →  2.688 (20,54%) violam</a:t>
            </a:r>
            <a:endParaRPr lang="en-US" sz="9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950" dirty="0">
                <a:solidFill>
                  <a:srgbClr val="1B2A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30.160   não tentam sequer implementar aviso  ·  1.127 devs notificados</a:t>
            </a:r>
            <a:endParaRPr lang="en-US" sz="950" dirty="0"/>
          </a:p>
        </p:txBody>
      </p:sp>
      <p:sp>
        <p:nvSpPr>
          <p:cNvPr id="7" name="Text 5"/>
          <p:cNvSpPr txBox="1"/>
          <p:nvPr/>
        </p:nvSpPr>
        <p:spPr>
          <a:xfrm>
            <a:off x="6263640" y="1261872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2E8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Rótulos a usar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6263640" y="1572768"/>
            <a:ext cx="2377440" cy="1901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Fonte: AndroZoo — a MESMA do meu TCC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critérios de inclusão explícitos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OCR + PLN + clustering + verificação manual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Análise dinâmica de tráfego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Reportam a taxa de sucesso, não só o total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02920" y="3611880"/>
            <a:ext cx="8138160" cy="1051560"/>
          </a:xfrm>
          <a:prstGeom prst="roundRect">
            <a:avLst>
              <a:gd name="adj" fmla="val 5217"/>
            </a:avLst>
          </a:prstGeom>
          <a:solidFill>
            <a:srgbClr val="F4F6F9"/>
          </a:solidFill>
          <a:ln w="12700">
            <a:solidFill>
              <a:srgbClr val="DDE3EA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85800" y="3739896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8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Observação para esta seção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685800" y="4050792"/>
            <a:ext cx="7772400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denominador MUDA no meio: os 20,54% são sobre os 13.082 que têm mecanismo, não sobre os 239.381. E os 30.160 são categoria separada — não têm mecanismo nenhum.</a:t>
            </a:r>
            <a:endParaRPr lang="en-US" sz="1150" dirty="0"/>
          </a:p>
        </p:txBody>
      </p:sp>
      <p:sp>
        <p:nvSpPr>
          <p:cNvPr id="12" name="Text 10"/>
          <p:cNvSpPr txBox="1"/>
          <p:nvPr/>
        </p:nvSpPr>
        <p:spPr>
          <a:xfrm>
            <a:off x="502920" y="4718304"/>
            <a:ext cx="8138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98A2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~50 segundos por slide  ·  a análise da estrutura vale 5 dos 15 minutos</a:t>
            </a:r>
            <a:endParaRPr lang="en-US" sz="9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E86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</a:t>
            </a:r>
            <a:endParaRPr lang="en-US" sz="1500" dirty="0"/>
          </a:p>
        </p:txBody>
      </p:sp>
      <p:sp>
        <p:nvSpPr>
          <p:cNvPr id="3" name="Text 1"/>
          <p:cNvSpPr txBox="1"/>
          <p:nvPr/>
        </p:nvSpPr>
        <p:spPr>
          <a:xfrm>
            <a:off x="978408" y="256032"/>
            <a:ext cx="7662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Análise dos resultados</a:t>
            </a:r>
            <a:endParaRPr lang="en-US" sz="25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89611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Dois instrumentos independentes validam cada afirmação.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02920" y="1261872"/>
            <a:ext cx="5532120" cy="2212848"/>
          </a:xfrm>
          <a:prstGeom prst="roundRect">
            <a:avLst>
              <a:gd name="adj" fmla="val 2479"/>
            </a:avLst>
          </a:prstGeom>
          <a:solidFill>
            <a:srgbClr val="F4F6F9"/>
          </a:solidFill>
          <a:ln w="12700">
            <a:solidFill>
              <a:srgbClr val="2E86A8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67512" y="1371600"/>
            <a:ext cx="52120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950" dirty="0">
                <a:solidFill>
                  <a:srgbClr val="1B2A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2.181  (16,67%)  enviaram dado ANTES do consentimento explícito</a:t>
            </a:r>
            <a:endParaRPr lang="en-US" sz="9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950" dirty="0">
                <a:solidFill>
                  <a:srgbClr val="1B2A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1.084  ( 8,28%)  sem qualquer forma de recusar</a:t>
            </a:r>
            <a:endParaRPr lang="en-US" sz="9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950" dirty="0">
                <a:solidFill>
                  <a:srgbClr val="1B2A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134            enviaram dado DEPOIS do opt-out explícito</a:t>
            </a:r>
            <a:endParaRPr lang="en-US" sz="9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950" dirty="0">
                <a:solidFill>
                  <a:srgbClr val="1B2A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~99%           das violações envolvem o Android Advertising ID (AAID)</a:t>
            </a:r>
            <a:endParaRPr lang="en-US" sz="950" dirty="0"/>
          </a:p>
          <a:p>
            <a:pPr indent="0" marL="0">
              <a:lnSpc>
                <a:spcPct val="122000"/>
              </a:lnSpc>
              <a:buNone/>
            </a:pPr>
            <a:endParaRPr lang="en-US" sz="9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950" dirty="0">
                <a:solidFill>
                  <a:srgbClr val="1B2A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Validação:  a tela prova que o aviso existe; o tráfego prova que o dado saiu.</a:t>
            </a:r>
            <a:endParaRPr lang="en-US" sz="950" dirty="0"/>
          </a:p>
        </p:txBody>
      </p:sp>
      <p:sp>
        <p:nvSpPr>
          <p:cNvPr id="7" name="Text 5"/>
          <p:cNvSpPr txBox="1"/>
          <p:nvPr/>
        </p:nvSpPr>
        <p:spPr>
          <a:xfrm>
            <a:off x="6263640" y="1261872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2E8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Rótulos a usar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6263640" y="1572768"/>
            <a:ext cx="2377440" cy="1901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 intervalo de confiança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 tamanho de efeito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 grupo de controle ← minha lacuna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 artefato público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02920" y="3611880"/>
            <a:ext cx="8138160" cy="1051560"/>
          </a:xfrm>
          <a:prstGeom prst="roundRect">
            <a:avLst>
              <a:gd name="adj" fmla="val 5217"/>
            </a:avLst>
          </a:prstGeom>
          <a:solidFill>
            <a:srgbClr val="F4F6F9"/>
          </a:solidFill>
          <a:ln w="12700">
            <a:solidFill>
              <a:srgbClr val="DDE3EA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85800" y="3739896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8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Observação para esta seção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685800" y="4050792"/>
            <a:ext cx="7772400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Presença não é transmissão. É o mesmo par estático+dinâmico que eu vou precisar no meu trabalho: detectar o SDK não prova que ele enviou dado.</a:t>
            </a:r>
            <a:endParaRPr lang="en-US" sz="1150" dirty="0"/>
          </a:p>
        </p:txBody>
      </p:sp>
      <p:sp>
        <p:nvSpPr>
          <p:cNvPr id="12" name="Text 10"/>
          <p:cNvSpPr txBox="1"/>
          <p:nvPr/>
        </p:nvSpPr>
        <p:spPr>
          <a:xfrm>
            <a:off x="502920" y="4718304"/>
            <a:ext cx="8138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98A2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~50 segundos por slide  ·  a análise da estrutura vale 5 dos 15 minutos</a:t>
            </a:r>
            <a:endParaRPr lang="en-US" sz="9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E86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</a:t>
            </a:r>
            <a:endParaRPr lang="en-US" sz="1500" dirty="0"/>
          </a:p>
        </p:txBody>
      </p:sp>
      <p:sp>
        <p:nvSpPr>
          <p:cNvPr id="3" name="Text 1"/>
          <p:cNvSpPr txBox="1"/>
          <p:nvPr/>
        </p:nvSpPr>
        <p:spPr>
          <a:xfrm>
            <a:off x="978408" y="256032"/>
            <a:ext cx="7662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Análise da discussão</a:t>
            </a:r>
            <a:endParaRPr lang="en-US" sz="25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89611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Seção 6, autônoma, com três subseções.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02920" y="1261872"/>
            <a:ext cx="5532120" cy="2212848"/>
          </a:xfrm>
          <a:prstGeom prst="roundRect">
            <a:avLst>
              <a:gd name="adj" fmla="val 2479"/>
            </a:avLst>
          </a:prstGeom>
          <a:solidFill>
            <a:srgbClr val="F4F6F9"/>
          </a:solidFill>
          <a:ln w="12700">
            <a:solidFill>
              <a:srgbClr val="2E86A8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67512" y="1371600"/>
            <a:ext cx="52120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950" dirty="0">
                <a:solidFill>
                  <a:srgbClr val="1B2A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6.1  Widespread Violation of GDPR Consent   →  não é caso isolado, é prática difundida</a:t>
            </a:r>
            <a:endParaRPr lang="en-US" sz="9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950" dirty="0">
                <a:solidFill>
                  <a:srgbClr val="1B2A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6.2  Transparency of Processing Users' Data  →  o problema não é só ilegalidade, é opacidade</a:t>
            </a:r>
            <a:endParaRPr lang="en-US" sz="9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950" dirty="0">
                <a:solidFill>
                  <a:srgbClr val="1B2A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6.3  Lack of Support for Developers          →  falta ferramenta e orientação, não sobra má-fé</a:t>
            </a:r>
            <a:endParaRPr lang="en-US" sz="950" dirty="0"/>
          </a:p>
          <a:p>
            <a:pPr indent="0" marL="0">
              <a:lnSpc>
                <a:spcPct val="122000"/>
              </a:lnSpc>
              <a:buNone/>
            </a:pPr>
            <a:endParaRPr lang="en-US" sz="9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950" dirty="0">
                <a:solidFill>
                  <a:srgbClr val="1B2A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Depois de medir 2.688 violações, eles NÃO concluem que os devs agem de má-fé.</a:t>
            </a:r>
            <a:endParaRPr lang="en-US" sz="9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950" dirty="0">
                <a:solidFill>
                  <a:srgbClr val="1B2A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Usam as respostas coletadas na Seção 5 para reenquadrar a causa.</a:t>
            </a:r>
            <a:endParaRPr lang="en-US" sz="950" dirty="0"/>
          </a:p>
        </p:txBody>
      </p:sp>
      <p:sp>
        <p:nvSpPr>
          <p:cNvPr id="7" name="Text 5"/>
          <p:cNvSpPr txBox="1"/>
          <p:nvPr/>
        </p:nvSpPr>
        <p:spPr>
          <a:xfrm>
            <a:off x="6263640" y="1261872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2E8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Rótulos a usar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6263640" y="1572768"/>
            <a:ext cx="2377440" cy="1901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Interpreta o resultado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Confronta com a literatura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Implicação normativa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Resiste à explicação fácil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02920" y="3611880"/>
            <a:ext cx="8138160" cy="1051560"/>
          </a:xfrm>
          <a:prstGeom prst="roundRect">
            <a:avLst>
              <a:gd name="adj" fmla="val 5217"/>
            </a:avLst>
          </a:prstGeom>
          <a:solidFill>
            <a:srgbClr val="F4F6F9"/>
          </a:solidFill>
          <a:ln w="12700">
            <a:solidFill>
              <a:srgbClr val="DDE3EA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85800" y="3739896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8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Observação para esta seção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685800" y="4050792"/>
            <a:ext cx="7772400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 o movimento que o MEU resultado pede: 0 de 396 apps de governo com anúncio. Se houver rastreador, não é monetização — é dependência técnica.</a:t>
            </a:r>
            <a:endParaRPr lang="en-US" sz="1150" dirty="0"/>
          </a:p>
        </p:txBody>
      </p:sp>
      <p:sp>
        <p:nvSpPr>
          <p:cNvPr id="12" name="Text 10"/>
          <p:cNvSpPr txBox="1"/>
          <p:nvPr/>
        </p:nvSpPr>
        <p:spPr>
          <a:xfrm>
            <a:off x="502920" y="4718304"/>
            <a:ext cx="8138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98A2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~50 segundos por slide  ·  a análise da estrutura vale 5 dos 15 minutos</a:t>
            </a:r>
            <a:endParaRPr lang="en-US" sz="9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E86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</a:t>
            </a:r>
            <a:endParaRPr lang="en-US" sz="1500" dirty="0"/>
          </a:p>
        </p:txBody>
      </p:sp>
      <p:sp>
        <p:nvSpPr>
          <p:cNvPr id="3" name="Text 1"/>
          <p:cNvSpPr txBox="1"/>
          <p:nvPr/>
        </p:nvSpPr>
        <p:spPr>
          <a:xfrm>
            <a:off x="978408" y="256032"/>
            <a:ext cx="7662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Análise da conclusão</a:t>
            </a:r>
            <a:endParaRPr lang="en-US" sz="25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89611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Repete o resumo quase palavra por palavra — com UMA diferença.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02920" y="1261872"/>
            <a:ext cx="5532120" cy="2212848"/>
          </a:xfrm>
          <a:prstGeom prst="roundRect">
            <a:avLst>
              <a:gd name="adj" fmla="val 2479"/>
            </a:avLst>
          </a:prstGeom>
          <a:solidFill>
            <a:srgbClr val="F4F6F9"/>
          </a:solidFill>
          <a:ln w="12700">
            <a:solidFill>
              <a:srgbClr val="2E86A8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67512" y="1371600"/>
            <a:ext cx="52120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950" dirty="0">
                <a:solidFill>
                  <a:srgbClr val="1B2A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RESUMO:      "2,688 (20.54%) apps VIOLATE at least one..."</a:t>
            </a:r>
            <a:endParaRPr lang="en-US" sz="9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950" dirty="0">
                <a:solidFill>
                  <a:srgbClr val="1B2A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CONCLUSÃO:   "2,688 (20.54%) apps POTENTIALLY VIOLATE at least one..."</a:t>
            </a:r>
            <a:endParaRPr lang="en-US" sz="950" dirty="0"/>
          </a:p>
          <a:p>
            <a:pPr indent="0" marL="0">
              <a:lnSpc>
                <a:spcPct val="122000"/>
              </a:lnSpc>
              <a:buNone/>
            </a:pPr>
            <a:endParaRPr lang="en-US" sz="9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950" dirty="0">
                <a:solidFill>
                  <a:srgbClr val="1B2A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 nota de rodapé 1 explica que "potencial" foi escolha deliberada, para não</a:t>
            </a:r>
            <a:endParaRPr lang="en-US" sz="9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950" dirty="0">
                <a:solidFill>
                  <a:srgbClr val="1B2A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emitir juízo jurídico. Logo a CONCLUSÃO está correta e o RESUMO escorrega.</a:t>
            </a:r>
            <a:endParaRPr lang="en-US" sz="950" dirty="0"/>
          </a:p>
        </p:txBody>
      </p:sp>
      <p:sp>
        <p:nvSpPr>
          <p:cNvPr id="7" name="Text 5"/>
          <p:cNvSpPr txBox="1"/>
          <p:nvPr/>
        </p:nvSpPr>
        <p:spPr>
          <a:xfrm>
            <a:off x="6263640" y="1261872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2E8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Rótulos a usar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6263640" y="1572768"/>
            <a:ext cx="2377440" cy="1901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Retoma o objetivo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Infere a partir dos dados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Retoma a 3ª questão de pesquisa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Implicação normativa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02920" y="3611880"/>
            <a:ext cx="8138160" cy="1051560"/>
          </a:xfrm>
          <a:prstGeom prst="roundRect">
            <a:avLst>
              <a:gd name="adj" fmla="val 5217"/>
            </a:avLst>
          </a:prstGeom>
          <a:solidFill>
            <a:srgbClr val="F4F6F9"/>
          </a:solidFill>
          <a:ln w="12700">
            <a:solidFill>
              <a:srgbClr val="DDE3EA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85800" y="3739896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8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Observação para esta seção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685800" y="4050792"/>
            <a:ext cx="7772400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Comparar o que o resumo promete com o que a conclusão entrega é análise crítica de verdade — e aqui ela encontra uma inconsistência real num artigo A*.</a:t>
            </a:r>
            <a:endParaRPr lang="en-US" sz="1150" dirty="0"/>
          </a:p>
        </p:txBody>
      </p:sp>
      <p:sp>
        <p:nvSpPr>
          <p:cNvPr id="12" name="Text 10"/>
          <p:cNvSpPr txBox="1"/>
          <p:nvPr/>
        </p:nvSpPr>
        <p:spPr>
          <a:xfrm>
            <a:off x="502920" y="4718304"/>
            <a:ext cx="8138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98A2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~50 segundos por slide  ·  a análise da estrutura vale 5 dos 15 minutos</a:t>
            </a:r>
            <a:endParaRPr lang="en-US" sz="9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777240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este artigo muda no meu TCC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02920" y="1444752"/>
            <a:ext cx="777240" cy="32004"/>
          </a:xfrm>
          <a:prstGeom prst="rect">
            <a:avLst/>
          </a:prstGeom>
          <a:solidFill>
            <a:srgbClr val="2E86A8"/>
          </a:solidFill>
          <a:ln/>
        </p:spPr>
      </p:sp>
      <p:sp>
        <p:nvSpPr>
          <p:cNvPr id="4" name="Shape 2"/>
          <p:cNvSpPr/>
          <p:nvPr/>
        </p:nvSpPr>
        <p:spPr>
          <a:xfrm>
            <a:off x="502920" y="1819656"/>
            <a:ext cx="274320" cy="274320"/>
          </a:xfrm>
          <a:prstGeom prst="ellipse">
            <a:avLst/>
          </a:prstGeom>
          <a:solidFill>
            <a:srgbClr val="2E86A8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02920" y="181965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914400" y="178308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9FC5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Método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2514600" y="1783080"/>
            <a:ext cx="6126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E6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Adoto o pipeline de análise estática de APKs com detecção de SDKs de rastreamento e validação manual de subamostra.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02920" y="2688336"/>
            <a:ext cx="274320" cy="274320"/>
          </a:xfrm>
          <a:prstGeom prst="ellipse">
            <a:avLst/>
          </a:prstGeom>
          <a:solidFill>
            <a:srgbClr val="2E86A8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02920" y="268833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914400" y="265176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9FC5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Recorte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2514600" y="2651760"/>
            <a:ext cx="6126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E6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Aplico ao parque governamental brasileiro, que o artigo não cobre — com grupo de controle comercial pareado.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02920" y="3557016"/>
            <a:ext cx="274320" cy="274320"/>
          </a:xfrm>
          <a:prstGeom prst="ellipse">
            <a:avLst/>
          </a:prstGeom>
          <a:solidFill>
            <a:srgbClr val="2E86A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02920" y="35570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914400" y="352044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9FC5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Próximo passo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2514600" y="3520440"/>
            <a:ext cx="6126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E6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Validar manualmente os 396 aplicativos e rodar o piloto com os 20 maiores.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502920" y="4343400"/>
            <a:ext cx="8138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2E86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Obrigado.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Seminario - Analise de Artigo Cientifico</dc:title>
  <dc:subject>PptxGenJS Presentation</dc:subject>
  <dc:creator>Claudio Meireles</dc:creator>
  <cp:lastModifiedBy>Claudio Meireles</cp:lastModifiedBy>
  <cp:revision>1</cp:revision>
  <dcterms:created xsi:type="dcterms:W3CDTF">2026-09-21T11:58:23Z</dcterms:created>
  <dcterms:modified xsi:type="dcterms:W3CDTF">2026-09-21T11:58:23Z</dcterms:modified>
</cp:coreProperties>
</file>