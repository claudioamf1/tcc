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Confirme seu nome completo e a data da sua apresentação (29/09 ou 01/10).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Abra dizendo que o tema está em definição mas que a escolha do artigo não depende disso — o que se reaproveita é o método.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Trinta segundos no máximo por tema descartado. O objetivo é mostrar que a escolha foi testada, não contar a história inteira.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você fizer a busca sem anotar, este slide fica impossível. Anote em um arquivo enquanto pesquisa.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Destaque a escala - 239 mil apps - e que CCS e uma das quatro principais conferencias de seguranca do mundo. O PDF e aberto e o artefato esta no GitHub.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os números; interprete. Um número sem contexto não diz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terceiro cartão é o diferencial: não é hipótese, é medida própria. Zero em 396 é um resultado limpo. Diga que isso descarta o enquadramento de que o governo vende dados e deixa a questão mais difícil: por que o rastreador está lá, então?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a tabela na tela e aponte onde o seu veículo cai. Mencione a ressalva da estimativa por h5.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Feche conectando o artigo ao seu próximo passo concreto. Deixe claro que há trabalho já feito, não só plano.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60020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de Artigo Científico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230428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e privacidade em aplicativos móveis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2880360"/>
            <a:ext cx="777240" cy="32004"/>
          </a:xfrm>
          <a:prstGeom prst="rect">
            <a:avLst/>
          </a:prstGeom>
          <a:solidFill>
            <a:srgbClr val="2E86A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315468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Claudio Meireles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Capstone I  ·  Ciência da Computação  ·  IDP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Profa. Ma. Patrícia da Silva Oliveira  ·  setembro de 2026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este artigo se encaixa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601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do TCC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6187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Cibersegurança — medição empírica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7830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a vertente ofensiva, mas a de medir: coletar, caracterizar e comparar evidência sobre sistemas reais.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17720" y="960120"/>
            <a:ext cx="4023360" cy="1600200"/>
          </a:xfrm>
          <a:prstGeom prst="roundRect">
            <a:avLst>
              <a:gd name="adj" fmla="val 3429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08813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do TCC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1399032"/>
            <a:ext cx="365760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Rastreamento por terceiros e soberania de dados em aplicativos móveis governamentais brasileiros.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cidadão usa o Meu SUS ou o Meu INSS, quais empresas além do governo recebem dados dele?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788920"/>
            <a:ext cx="1897380" cy="1417320"/>
          </a:xfrm>
          <a:prstGeom prst="roundRect">
            <a:avLst>
              <a:gd name="adj" fmla="val 3871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291693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227832"/>
            <a:ext cx="15316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396 aplicativos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 publicadores públicos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esferas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583180" y="2788920"/>
            <a:ext cx="1897380" cy="1417320"/>
          </a:xfrm>
          <a:prstGeom prst="roundRect">
            <a:avLst>
              <a:gd name="adj" fmla="val 3871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766060" y="291693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 sensível — Art. 11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766060" y="3227832"/>
            <a:ext cx="15316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152 aplicativos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125 · previdência 28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biometria 17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663440" y="2788920"/>
            <a:ext cx="1897380" cy="1417320"/>
          </a:xfrm>
          <a:prstGeom prst="roundRect">
            <a:avLst>
              <a:gd name="adj" fmla="val 3871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46320" y="291693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Instrumento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3227832"/>
            <a:ext cx="15316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81,6% das políticas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acessíveis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potência: 5,1 p.p.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743700" y="2788920"/>
            <a:ext cx="1897380" cy="1417320"/>
          </a:xfrm>
          <a:prstGeom prst="roundRect">
            <a:avLst>
              <a:gd name="adj" fmla="val 3871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926580" y="291693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 de APKs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926580" y="3227832"/>
            <a:ext cx="15316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AndroZoo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concedido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17/09/2026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minuto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cheguei a este recorte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1440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temas passaram por teste de viabilidade antes de virar projeto. Três caíram, um ficou inconclusivo.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1897380" cy="2331720"/>
          </a:xfrm>
          <a:prstGeom prst="roundRect">
            <a:avLst>
              <a:gd name="adj" fmla="val 2892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45389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Descartado — ICS exposta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764792"/>
            <a:ext cx="153162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mesmos hosts respondiam em Modbus, IEC-104 e EtherNet/IP ao mesmo tempo — equipamento industrial real não faz isso.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variável independente (o setor do operador) era inobservável.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583180" y="1325880"/>
            <a:ext cx="1897380" cy="2331720"/>
          </a:xfrm>
          <a:prstGeom prst="roundRect">
            <a:avLst>
              <a:gd name="adj" fmla="val 2892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766060" y="145389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Descartado — abuso de marca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766060" y="1764792"/>
            <a:ext cx="153162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20.007 entradas de log de Certificate Transparency analisadas.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imitação real encontrada: phishing moderno raramente põe a marca no domínio, o que impõe teto de recall.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663440" y="1325880"/>
            <a:ext cx="1897380" cy="2331720"/>
          </a:xfrm>
          <a:prstGeom prst="roundRect">
            <a:avLst>
              <a:gd name="adj" fmla="val 2892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46320" y="145389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Inconclusivo — malware bancário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764792"/>
            <a:ext cx="153162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repositório rotula a CAMPANHA, não o payload.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 do acervo brasileiro são containers, onde a métrica que eu usava nem existe. Erro meu, registrado.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743700" y="1325880"/>
            <a:ext cx="1897380" cy="2331720"/>
          </a:xfrm>
          <a:prstGeom prst="roundRect">
            <a:avLst>
              <a:gd name="adj" fmla="val 2892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26580" y="145389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Confirmado — apps de governo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926580" y="1764792"/>
            <a:ext cx="153162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396 aplicativos, 71 publicadores públicos, três esferas.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Publicador identificado na origem: sem trabalho de atribuição — que foi o que matou o primeiro tema.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384048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Descartar com evidência é parte do método (Aula 04 — maturidade em pesquisa; Aula 07 — evitar o fundamento vazio).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minuto  ·  não se alongue aqui — é contexto, não o conteúdo principal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a passo da seleção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1440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atividade pede o processo, não só o resultado. Anote enquanto pesquisa — depois é irrecuperável.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3954780" cy="3154680"/>
          </a:xfrm>
          <a:prstGeom prst="roundRect">
            <a:avLst>
              <a:gd name="adj" fmla="val 173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67512" y="1435608"/>
            <a:ext cx="36255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registre a sua busca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1709928"/>
            <a:ext cx="3625596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Base(s) usada(s) via CAFe: ACM DL, IEEE Xplore, Scopus, Web of Science…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 de busca exata, com os operadores booleanos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Filtros: período, tipo de documento, idioma, área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Nº de resultados retornados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Nº após leitura de título e resumo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Nº após leitura do texto completo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de inclusão e exclusão aplicados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da consulta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86300" y="1325880"/>
            <a:ext cx="3954780" cy="3154680"/>
          </a:xfrm>
          <a:prstGeom prst="roundRect">
            <a:avLst>
              <a:gd name="adj" fmla="val 173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4850892" y="1435608"/>
            <a:ext cx="36255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por que este e não outro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850892" y="1709928"/>
            <a:ext cx="3625596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é artigo ORIGINAL e não revisão — aponte no texto onde isso fica claro (coleta própria, experimento, dados novos)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candidatos você descartou e por quê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das telas de busca (guarde; ela pode pedir)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minutos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artigo selecionado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138160" cy="1417320"/>
          </a:xfrm>
          <a:prstGeom prst="roundRect">
            <a:avLst>
              <a:gd name="adj" fmla="val 3871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115568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Freely Given Consent? Studying Consent Notice of Third-Party Tracking and Its Violations of GDPR in Android Apps</a:t>
            </a:r>
            <a:endParaRPr lang="en-US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7373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NGUYEN, T. T.; BACKES, M.; STOCK, B.   In: Proceedings of the 2022 ACM SIGSAC Conference on Computer and Communications Security (CCS '22), 2022.   DOI: 10.1145/3548606.3560564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aberto: swag.cispa.saarland   ·   artefato: github.com/cispa/consent-notices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560320"/>
            <a:ext cx="3954780" cy="1417320"/>
          </a:xfrm>
          <a:prstGeom prst="roundRect">
            <a:avLst>
              <a:gd name="adj" fmla="val 3871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688336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é pesquisa original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999232"/>
            <a:ext cx="35890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Coleta e análise próprias em larga escala: 239.381 aplicativos Android analisados, 13.082 com mecanismo de consentimento identificado. Primeiro estudo em escala sobre avisos de consentimento no Android.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6300" y="2560320"/>
            <a:ext cx="3954780" cy="1417320"/>
          </a:xfrm>
          <a:prstGeom prst="roundRect">
            <a:avLst>
              <a:gd name="adj" fmla="val 3871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4850892" y="2670048"/>
            <a:ext cx="36255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confirme ao ler o artigo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850892" y="2944368"/>
            <a:ext cx="3625596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Paginação exata nos anais do CCS '22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 corpus afunilou de 239.381 para 13.082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o artefato é citado no texto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minuto  ·  CCS é CONFERÊNCIA — use h5 + Qualis + CORE Rank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Relevância — critérios quantitativos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138160" cy="1371600"/>
          </a:xfrm>
          <a:prstGeom prst="roundRect">
            <a:avLst>
              <a:gd name="adj" fmla="val 4000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667512" y="1069848"/>
            <a:ext cx="7808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citações — anote as três, elas divergem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1344168"/>
            <a:ext cx="780897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Scholar:  ______        Scopus:  ______        Web of Science:  ______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da consulta: ____/____/2026   ·   Ano de publicação do artigo: 2022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468880"/>
            <a:ext cx="3954780" cy="1600200"/>
          </a:xfrm>
          <a:prstGeom prst="roundRect">
            <a:avLst>
              <a:gd name="adj" fmla="val 3429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596896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comentar sobre os números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907792"/>
            <a:ext cx="358902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Divergência entre as bases é esperada e vale explicar: cada uma indexa um conjunto diferente de veículos.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 sempre a base e a data junto do número.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6300" y="2468880"/>
            <a:ext cx="3954780" cy="1600200"/>
          </a:xfrm>
          <a:prstGeom prst="roundRect">
            <a:avLst>
              <a:gd name="adj" fmla="val 3429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69180" y="2596896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Recência × citações: a troca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869180" y="2907792"/>
            <a:ext cx="358902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artigo de 2025 teve um ano para ser citado; um muito citado é antigo por construção.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 em CCS é o ponto de equilíbrio — e 239 mil apps é critério quantitativo por si só.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 minuto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Relevância — critérios qualitativos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2590800" cy="2286000"/>
          </a:xfrm>
          <a:prstGeom prst="roundRect">
            <a:avLst>
              <a:gd name="adj" fmla="val 2400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088136"/>
            <a:ext cx="222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O método é o que eu reuso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399032"/>
            <a:ext cx="222504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estática de APKs em escala, detecção de SDKs de rastreamento, verificação de backend e inspeção manual de subamostra.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pipeline que pretendo aplicar.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276600" y="960120"/>
            <a:ext cx="2590800" cy="2286000"/>
          </a:xfrm>
          <a:prstGeom prst="roundRect">
            <a:avLst>
              <a:gd name="adj" fmla="val 2400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59480" y="1088136"/>
            <a:ext cx="222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 lacuna que ele deixa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459480" y="1399032"/>
            <a:ext cx="222504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de apps comerciais de controle parental.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recorte governamental, sem grupo de controle pareado e sem contexto brasileiro — exatamente onde meu trabalho entra.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050280" y="960120"/>
            <a:ext cx="2590800" cy="2286000"/>
          </a:xfrm>
          <a:prstGeom prst="roundRect">
            <a:avLst>
              <a:gd name="adj" fmla="val 2400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33160" y="1088136"/>
            <a:ext cx="222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Já tenho um resultado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233160" y="1399032"/>
            <a:ext cx="222504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de 396 apps de governo exibem anúncio. No controle comercial, 33,2%.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IC95% [0,000; 0,010] contra [0,269; 0,401] — não se sobrepõem.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429000"/>
            <a:ext cx="8138160" cy="777240"/>
          </a:xfrm>
          <a:prstGeom prst="roundRect">
            <a:avLst>
              <a:gd name="adj" fmla="val 7059"/>
            </a:avLst>
          </a:prstGeom>
          <a:solidFill>
            <a:srgbClr val="1B2A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35935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o app de governo não monetiza, o rastreador que houver não é de publicidade — é dependência técnica. Isso muda a pergunta.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 minuto  ·  este é o slide mais forte da sua justificativa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Métricas do veículo e Qualis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932688"/>
            <a:ext cx="3954780" cy="1481328"/>
          </a:xfrm>
          <a:prstGeom prst="roundRect">
            <a:avLst>
              <a:gd name="adj" fmla="val 3704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060704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TRÊS OBRIGATÓRIOS — todos levantados em 17/09/2026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371600"/>
            <a:ext cx="35890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h5 = 90   (mediana 146)   posição 5 de 20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Qualis = A1   (ver o limiar ao lado)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CORE = A*   ICORE2026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560320"/>
            <a:ext cx="3954780" cy="1874520"/>
          </a:xfrm>
          <a:prstGeom prst="roundRect">
            <a:avLst>
              <a:gd name="adj" fmla="val 292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688336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A1, e não A2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999232"/>
            <a:ext cx="3589020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N=20 o percentil dá 75 (A2) — mas 20 é lista TRUNCADA, não população. Esse 75 é PISO: universo maior só empurra para cima.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 exige percentil 87,5.  (N-5)/N &gt;= 0,875  -&gt;  N &gt;= 40.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Basta a área ter 40 veículos. Tem centenas. Logo A1 — limite, não estimativa.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686300" y="932688"/>
            <a:ext cx="39547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Faixas de percentil → estrato  (Figura 6, p. 13 do Documento Técnico)</a:t>
            </a:r>
            <a:endParaRPr lang="en-US" sz="1050" dirty="0"/>
          </a:p>
        </p:txBody>
      </p:sp>
      <p:pic>
        <p:nvPicPr>
          <p:cNvPr id="11" name="Image 0" descr="/home/user/TCC/seminario/qualis-faixas-de-percent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86300" y="1280160"/>
            <a:ext cx="3954780" cy="91440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686300" y="2359152"/>
            <a:ext cx="39547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de 12,5% de amplitude.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Estrato C: periódicos sem nenhum dos indicadores do modelo.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mais de um indicador, considera-se o MAIOR percentil.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áreas podem ajustar até 30% dos estratos — o valor publicado pode divergir da tabela.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minutos  ·  use a figura original no slide — é fonte primária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da estrutura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Reproduza o sumário do artigo e marque a função de cada seção.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8580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cole aqui o texto do artigo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Transcreva o trecho real do artigo e posicione os rótulos ao lado, ligando cada anotação ao parágrafo correspondente — como nos dois exemplos fornecidos pela professora.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Contextualização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Procedimento metodológico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Desenvolvimento do trabalho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obtidos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 a partir dos dados obtidos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artigo do ACSAC, a estrutura é organizada POR TIPO DE SOLUÇÃO analisada (rede, Android, Windows, extensões), não na sequência clássica. Comente isso: método e resultados aparecem entrelaçados dentro de cada bloco.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do resumo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 o abstract e marque cada trecho com sua função.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8580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cole aqui o texto do artigo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Transcreva o trecho real do artigo e posicione os rótulos ao lado, ligando cada anotação ao parágrafo correspondente — como nos dois exemplos fornecidos pela professora.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empregado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Apresentação dos resultados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Palavras-chave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Verifique se o resumo cobre os quatro elementos. Se faltar algum, APONTE — identificar o que falta também é análise.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da introdução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 os parágrafos da introdução e marque cada movimento.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8580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cole aqui o texto do artigo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Transcreva o trecho real do artigo e posicione os rótulos ao lado, ligando cada anotação ao parágrafo correspondente — como nos dois exemplos fornecidos pela professora.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Contextualiza o trabalho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Descreve a problemática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e contribuição da proposta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e organização do artigo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Quase toda introdução em Computação termina anunciando a organização das seções. Confirme se esta tem, e onde.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do método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Percorra as seções metodológicas e explique o que cada uma faz.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8580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cole aqui o texto do artigo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Transcreva o trecho real do artigo e posicione os rótulos ao lado, ligando cada anotação ao parágrafo correspondente — como nos dois exemplos fornecidos pela professora.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 corpus foi montado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Ferramentas e instrumentos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estática × dinâmica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foi manual e o que foi automatizado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exemplo da professora, o avaliador anotou que o método NÃO estava numa seção explícita e o reconstruiu a partir do texto. Se for o caso aqui, faça o mesmo — é o tipo de observação que rende nota.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dos resultados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foi encontrado e como os autores sustentam o achado.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8580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cole aqui o texto do artigo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Transcreva o trecho real do artigo e posicione os rótulos ao lado, ligando cada anotação ao parágrafo correspondente — como nos dois exemplos fornecidos pela professora.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Achados principais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foram validados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Tabelas e figuras que sustentam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Limitações reconhecidas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Separe o que é medição do que é interpretação. Essa distinção é exatamente o que você vai precisar fazer no seu próprio trabalho.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da discussão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enunciado nomeia a discussão. É o que separa o medido do que ele significa.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8580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cole aqui o texto do artigo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Transcreva o trecho real do artigo e posicione os rótulos ao lado, ligando cada anotação ao parágrafo correspondente — como nos dois exemplos fornecidos pela professora.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Interpretação do resultado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Confronto com a literatura anterior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Implicação prática ou normativa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Ameaças à validade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Artigo de segurança com frequência funde discussão e resultados, ou a chama de Implications. Se não houver seção autônoma, DIGA — apontar isso é análise de estrutura.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da conclusão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 a conclusão e marque o que os autores inferem.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8580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cole aqui o texto do artigo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Transcreva o trecho real do artigo e posicione os rótulos ao lado, ligando cada anotação ao parágrafo correspondente — como nos dois exemplos fornecidos pela professora.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Inferência a partir dos dados obtidos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Trabalhos futuros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ficou fora do escopo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clássica de banca: a conclusão vai além do que os dados sustentam? Ter uma opinião formada aqui te protege.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77724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este artigo muda no meu TCC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444752"/>
            <a:ext cx="777240" cy="32004"/>
          </a:xfrm>
          <a:prstGeom prst="rect">
            <a:avLst/>
          </a:prstGeom>
          <a:solidFill>
            <a:srgbClr val="2E86A8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1819656"/>
            <a:ext cx="274320" cy="274320"/>
          </a:xfrm>
          <a:prstGeom prst="ellipse">
            <a:avLst/>
          </a:prstGeom>
          <a:solidFill>
            <a:srgbClr val="2E86A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18196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783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514600" y="1783080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Adoto o pipeline de análise estática de APKs com detecção de SDKs de rastreamento e validação manual de subamostra.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88336"/>
            <a:ext cx="274320" cy="274320"/>
          </a:xfrm>
          <a:prstGeom prst="ellipse">
            <a:avLst/>
          </a:prstGeom>
          <a:solidFill>
            <a:srgbClr val="2E86A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02920" y="26883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6517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Recorte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514600" y="2651760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Aplico ao parque governamental brasileiro, que o artigo não cobre — com grupo de controle comercial pareado.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57016"/>
            <a:ext cx="274320" cy="274320"/>
          </a:xfrm>
          <a:prstGeom prst="ellipse">
            <a:avLst/>
          </a:prstGeom>
          <a:solidFill>
            <a:srgbClr val="2E86A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02920" y="3557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520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passo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514600" y="3520440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manualmente os 396 aplicativos e rodar o piloto com os 20 maiores.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3434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Seminario - Analise de Artigo Cientifico</dc:title>
  <dc:subject>PptxGenJS Presentation</dc:subject>
  <dc:creator>Claudio Meireles</dc:creator>
  <cp:lastModifiedBy>Claudio Meireles</cp:lastModifiedBy>
  <cp:revision>1</cp:revision>
  <dcterms:created xsi:type="dcterms:W3CDTF">2026-09-17T14:39:30Z</dcterms:created>
  <dcterms:modified xsi:type="dcterms:W3CDTF">2026-09-17T14:39:30Z</dcterms:modified>
</cp:coreProperties>
</file>