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 seu nome completo e a data da sua apresentação (29/09 ou 01/10).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dizendo que o tema está em definição mas que a escolha do artigo não depende disso — o que se reaproveita é 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Trinta segundos no máximo por tema descartado. O objetivo é mostrar que a escolha foi testada, não contar a história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 fizer a busca sem anotar, este slide fica impossível. Anote em um arquivo enquanto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a escala - 239 mil apps - e que CCS e uma das quatro principais conferencias de seguranca do mundo. O PDF e aberto e o artefato esta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os números; interprete. Um número sem contexto não diz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terceiro cartão é o diferencial: não é hipótese, é medida própria. Zero em 396 é um resultado limpo. Diga que isso descarta o enquadramento de que o governo vende dados e deixa a questão mais difícil: por que o rastreador está lá, então?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tabela na tela e aponte onde o seu veículo cai. Mencione a ressalva da estimativa por h5.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 texto colado em voz alta. Aponte os rótulos e explique a função de cada trecho.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conectando o artigo ao seu próximo passo concreto. Deixe claro que há trabalho já feito, não só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Artigo Científico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304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 em aplicativos móveis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880360"/>
            <a:ext cx="777240" cy="32004"/>
          </a:xfrm>
          <a:prstGeom prst="rect">
            <a:avLst/>
          </a:prstGeom>
          <a:solidFill>
            <a:srgbClr val="2E86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31546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Claudio Meireles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Capstone I  ·  Ciência da Computação  ·  IDP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Ma. Patrícia da Silva Oliveira  ·  setembro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este artigo se encaixa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TCC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Cibersegurança — medição empírica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 vertente ofensiva, mas a de medir: coletar, caracterizar e comparar evidência sobre sistemas reais.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088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 TCC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399032"/>
            <a:ext cx="3657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por terceiros e soberania de dados em aplicativos móveis governamentais brasileiros.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cidadão usa o Meu SUS ou o Meu INSS, quais empresas além do governo recebem dados dele?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8973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1693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27832"/>
            <a:ext cx="15316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 aplicativos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publicadores públicos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esferas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83180" y="2788920"/>
            <a:ext cx="18973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66060" y="291693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— Art. 11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66060" y="3227832"/>
            <a:ext cx="15316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aplicativos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125 · previdência 28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 17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18973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1693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27832"/>
            <a:ext cx="15316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81,6% das políticas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acessíveis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potência: 5,1 p.p.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43700" y="2788920"/>
            <a:ext cx="18973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26580" y="291693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APKs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26580" y="3227832"/>
            <a:ext cx="15316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AndroZoo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concedido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17/09/2026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cheguei a este recorte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temas passaram por teste de viabilidade antes de virar projeto. Três caíram, um ficou inconclusivo.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897380" cy="2331720"/>
          </a:xfrm>
          <a:prstGeom prst="roundRect">
            <a:avLst>
              <a:gd name="adj" fmla="val 2892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5389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 — ICS exposta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64792"/>
            <a:ext cx="15316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hosts respondiam em Modbus, IEC-104 e EtherNet/IP ao mesmo tempo — equipamento industrial real não faz isso.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variável independente (o setor do operador) era inobservável.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83180" y="1325880"/>
            <a:ext cx="1897380" cy="2331720"/>
          </a:xfrm>
          <a:prstGeom prst="roundRect">
            <a:avLst>
              <a:gd name="adj" fmla="val 2892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6060" y="145389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 — abuso de marca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66060" y="1764792"/>
            <a:ext cx="15316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20.007 entradas de log de Certificate Transparency analisadas.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imitação real encontrada: phishing moderno raramente põe a marca no domínio, o que impõe teto de recall.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897380" cy="2331720"/>
          </a:xfrm>
          <a:prstGeom prst="roundRect">
            <a:avLst>
              <a:gd name="adj" fmla="val 2892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5389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Inconclusivo — malware bancário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64792"/>
            <a:ext cx="15316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rotula a CAMPANHA, não o payload.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do acervo brasileiro são containers, onde a métrica que eu usava nem existe. Erro meu, registrado.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43700" y="1325880"/>
            <a:ext cx="1897380" cy="2331720"/>
          </a:xfrm>
          <a:prstGeom prst="roundRect">
            <a:avLst>
              <a:gd name="adj" fmla="val 2892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6580" y="1453896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— apps de governo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26580" y="1764792"/>
            <a:ext cx="153162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 aplicativos, 71 publicadores públicos, três esferas.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Publicador identificado na origem: sem trabalho de atribuição — que foi o que matou o primeiro tema.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840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com evidência é parte do método (Aula 04 — maturidade em pesquisa; Aula 07 — evitar o fundamento vazio).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  ·  não se alongue aqui — é contexto, não o conteúdo principal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 da seleção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atividade pede o processo, não só o resultado. Anote enquanto pesquisa — depois é irrecuperável.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54780" cy="3154680"/>
          </a:xfrm>
          <a:prstGeom prst="roundRect">
            <a:avLst>
              <a:gd name="adj" fmla="val 173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67512" y="1435608"/>
            <a:ext cx="362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registre a sua busca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09928"/>
            <a:ext cx="362559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Base(s) usada(s) via CAFe: ACM DL, IEEE Xplore, Scopus, Web of Science…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de busca exata, com os operadores booleanos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período, tipo de documento, idioma, área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resultados retornados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após leitura de título e resumo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após leitura do texto completo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inclusão e exclusão aplicados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 consulta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6300" y="1325880"/>
            <a:ext cx="3954780" cy="3154680"/>
          </a:xfrm>
          <a:prstGeom prst="roundRect">
            <a:avLst>
              <a:gd name="adj" fmla="val 173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850892" y="1435608"/>
            <a:ext cx="362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por que este e não outro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850892" y="1709928"/>
            <a:ext cx="362559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artigo ORIGINAL e não revisão — aponte no texto onde isso fica claro (coleta própria, experimento, dados novos)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candidatos você descartou e por quê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das telas de busca (guarde; ela pode pedir)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artigo selecionado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1556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Freely Given Consent? Studying Consent Notice of Third-Party Tracking and Its Violations of GDPR in Android Apps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NGUYEN, T. T.; BACKES, M.; STOCK, B.   In: Proceedings of the 2022 ACM SIGSAC Conference on Computer and Communications Security (CCS '22), 2022.   DOI: 10.1145/3548606.3560564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aberto: swag.cispa.saarland   ·   artefato: github.com/cispa/consent-notices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395478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88336"/>
            <a:ext cx="3589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pesquisa original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99232"/>
            <a:ext cx="35890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análise próprias em larga escala: 239.381 aplicativos Android analisados, 13.082 com mecanismo de consentimento identificado. Primeiro estudo em escala sobre avisos de consentimento no Android.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2560320"/>
            <a:ext cx="3954780" cy="1417320"/>
          </a:xfrm>
          <a:prstGeom prst="roundRect">
            <a:avLst>
              <a:gd name="adj" fmla="val 3871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850892" y="2670048"/>
            <a:ext cx="362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confirme ao ler o artigo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2944368"/>
            <a:ext cx="36255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exata nos anais do CCS '22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corpus afunilou de 239.381 para 13.082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artefato é citado no texto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  ·  CCS é CONFERÊNCIA — use h5 + Qualis + CORE Rank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Relevância — critérios quantitativos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67512" y="1069848"/>
            <a:ext cx="7808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citações — anote as três, elas divergem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344168"/>
            <a:ext cx="7808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Scholar:  ______        Scopus:  ______        Web of Science:  ______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 consulta: ____/____/2026   ·   Ano de publicação do artigo: 2022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95478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96896"/>
            <a:ext cx="3589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comentar sobre os números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07792"/>
            <a:ext cx="35890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entre as bases é esperada e vale explicar: cada uma indexa um conjunto diferente de veículos.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sempre a base e a data junto do número.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2468880"/>
            <a:ext cx="395478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2596896"/>
            <a:ext cx="3589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 × citações: a troca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2907792"/>
            <a:ext cx="35890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artigo de 2025 teve um ano para ser citado; um muito citado é antigo por construção.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em CCS é o ponto de equilíbrio — e 239 mil apps é critério quantitativo por si só.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minuto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Relevância — critérios qualitativos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59080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88136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método é o que eu reuso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399032"/>
            <a:ext cx="2225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de APKs em escala, detecção de SDKs de rastreamento, verificação de backend e inspeção manual de subamostra.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pipeline que pretendo aplicar.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6600" y="960120"/>
            <a:ext cx="259080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088136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lacuna que ele deixa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399032"/>
            <a:ext cx="2225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apps comerciais de controle parental.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recorte governamental, sem grupo de controle pareado e sem contexto brasileiro — exatamente onde meu trabalho entra.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50280" y="960120"/>
            <a:ext cx="2590800" cy="2286000"/>
          </a:xfrm>
          <a:prstGeom prst="roundRect">
            <a:avLst>
              <a:gd name="adj" fmla="val 2400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160" y="1088136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Já tenho um resultado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33160" y="1399032"/>
            <a:ext cx="2225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 396 apps de governo exibem anúncio. No controle comercial, 33,2%.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 [0,000; 0,010] contra [0,269; 0,401] — não se sobrepõem.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5935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app de governo não monetiza, o rastreador que houver não é de publicidade — é dependência técnica. Isso muda a pergunta.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minuto  ·  este é o slide mais forte da sua justificativa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do veículo e Qualis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3954780" cy="2057400"/>
          </a:xfrm>
          <a:prstGeom prst="roundRect">
            <a:avLst>
              <a:gd name="adj" fmla="val 2667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67512" y="1042416"/>
            <a:ext cx="3625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OS TRÊS ITENS OBRIGATÓRIOS — CCS é conferência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316736"/>
            <a:ext cx="362559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h5-index (Google Scholar → Metrics):  ______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Qualis correspondente ao h5:  ______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posição ___ de ___  →  percentil ___  →  estrato ___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CORE Rank (portal.core.edu.au):  ______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95478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82696"/>
            <a:ext cx="3589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esse percentil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93592"/>
            <a:ext cx="35890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Técnico, p. 12: a base do Google Scholar NÃO fornece percentis dentro dos agrupamentos temáticos. A CAPES contorna com uma base ampliada por área, o "Universo".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a ele, use a lista da subárea — e DECLARE qual foi.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32688"/>
            <a:ext cx="3954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percentil → estrato  (Figura 6, p. 13 do Documento Técnico)</a:t>
            </a:r>
            <a:endParaRPr lang="en-US" sz="1050" dirty="0"/>
          </a:p>
        </p:txBody>
      </p:sp>
      <p:pic>
        <p:nvPicPr>
          <p:cNvPr id="11" name="Image 0" descr="/home/user/TCC/seminario/qualis-faixas-de-percen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1280160"/>
            <a:ext cx="3954780" cy="914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86300" y="2359152"/>
            <a:ext cx="39547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12,5% de amplitude.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 C: periódicos sem nenhum dos indicadores do modelo.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mais de um indicador, considera-se o MAIOR percentil.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áreas podem ajustar até 30% dos estratos — o valor publicado pode divergir da tabela.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 ·  use a figura original no slide — é fonte primária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 estrutura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Reproduza o sumário do artigo e marque a função de cada seção.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metodológico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trabalho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obtidos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 a partir dos dados obtidos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artigo do ACSAC, a estrutura é organizada POR TIPO DE SOLUÇÃO analisada (rede, Android, Windows, extensões), não na sequência clássica. Comente isso: método e resultados aparecem entrelaçados dentro de cada bloco.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do resumo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abstract e marque cada trecho com sua função.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empregado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resultados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o resumo cobre os quatro elementos. Se faltar algum, APONTE — identificar o que falta também é análise.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 introdução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os parágrafos da introdução e marque cada movimento.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 o trabalho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problemática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contribuição da proposta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organização do artigo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toda introdução em Computação termina anunciando a organização das seções. Confirme se esta tem, e onde.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do método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as seções metodológicas e explique o que cada uma faz.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corpus foi montado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instrumentos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 × dinâmica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manual e o que foi automatizado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 da professora, o avaliador anotou que o método NÃO estava numa seção explícita e o reconstruiu a partir do texto. Se for o caso aqui, faça o mesmo — é o tipo de observação que rende nota.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dos resultados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encontrado e como os autores sustentam o achado.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principais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foram validados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e figuras que sustentam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reconhecidas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que é medição do que é interpretação. Essa distinção é exatamente o que você vai precisar fazer no seu próprio trabalho.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 discussão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nomeia a discussão. É o que separa o medido do que ele significa.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 resultado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com a literatura anterior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prática ou normativa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 à validade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de segurança com frequência funde discussão e resultados, ou a chama de Implications. Se não houver seção autônoma, DIGA — apontar isso é análise de estrutura.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25603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 conclusão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 conclusão e marque o que os autores inferem.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DF4E0"/>
          </a:solidFill>
          <a:ln w="12700">
            <a:solidFill>
              <a:srgbClr val="C8860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  ·  cole aqui o texto do artigo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Transcreva o trecho real do artigo e posicione os rótulos ao lado, ligando cada anotação ao parágrafo correspondente — como nos dois exemplos fornecidos pela professora.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 usar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72768"/>
            <a:ext cx="23774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a partir dos dados obtidos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fora do escopo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39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para esta seção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50792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clássica de banca: a conclusão vai além do que os dados sustentam? Ter uma opinião formada aqui te protege.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718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segundos por slide  ·  a análise da estrutura vale 5 dos 15 minutos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777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artigo muda no meu TCC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44752"/>
            <a:ext cx="777240" cy="32004"/>
          </a:xfrm>
          <a:prstGeom prst="rect">
            <a:avLst/>
          </a:prstGeom>
          <a:solidFill>
            <a:srgbClr val="2E86A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19656"/>
            <a:ext cx="274320" cy="274320"/>
          </a:xfrm>
          <a:prstGeom prst="ellipse">
            <a:avLst/>
          </a:prstGeom>
          <a:solidFill>
            <a:srgbClr val="2E86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83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Adoto o pipeline de análise estática de APKs com detecção de SDKs de rastreamento e validação manual de subamostra.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88336"/>
            <a:ext cx="274320" cy="274320"/>
          </a:xfrm>
          <a:prstGeom prst="ellipse">
            <a:avLst/>
          </a:prstGeom>
          <a:solidFill>
            <a:srgbClr val="2E86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6517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Aplico ao parque governamental brasileiro, que o artigo não cobre — com grupo de controle comercial pareado.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57016"/>
            <a:ext cx="274320" cy="274320"/>
          </a:xfrm>
          <a:prstGeom prst="ellipse">
            <a:avLst/>
          </a:prstGeom>
          <a:solidFill>
            <a:srgbClr val="2E86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5204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manualmente os 396 aplicativos e rodar o piloto com os 20 maiores.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Seminario - Analise de Artigo Cientifico</dc:title>
  <dc:subject>PptxGenJS Presentation</dc:subject>
  <dc:creator>Claudio Meireles</dc:creator>
  <cp:lastModifiedBy>Claudio Meireles</cp:lastModifiedBy>
  <cp:revision>1</cp:revision>
  <dcterms:created xsi:type="dcterms:W3CDTF">2026-09-17T14:22:36Z</dcterms:created>
  <dcterms:modified xsi:type="dcterms:W3CDTF">2026-09-17T14:22:36Z</dcterms:modified>
</cp:coreProperties>
</file>