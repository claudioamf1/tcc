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seu nome completo e a data da sua apresentação (29/09 ou 01/10).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dizendo que o tema está em definição mas que a escolha do artigo não depende disso — o que se reaproveita é o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Trinta segundos no maximo por tema. O objetivo e mostrar que a escolha foi testada, nao contar a historia inteira. Se alguem perguntar detalhe de algum deles, o registro completo esta no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busca encontrou o Kollnig et al. SOUPS 2021, que e a alternativa mais seria. Se perguntarem se voce avaliou outras opcoes, a resposta esta no proprio print: 34 citacoes contra 52, um ano mais velho, e SOUPS e CORE B contra A* do CCS.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escala - 239 mil apps - e que CCS e uma das quatro principais conferencias de seguranca do mundo. O PDF e aberto e o artefato esta no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números; interprete. Um número sem contexto não diz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cartão é o diferencial: não é hipótese, é medida própria. Zero em 396 é um resultado limpo. Diga que isso descarta o enquadramento de que o governo vende dados e deixa a questão mais difícil: por que o rastreador está lá, então?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tabela na tela e aponte onde o seu veículo cai. Mencione a ressalva da estimativa por h5.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conectando o artigo ao seu próximo passo concreto. Deixe claro que há trabalho já feito, não só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Artigo Científico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privacidade em aplicativos móveis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880360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1546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Capstone I  ·  Ciência da Computação  ·  IDP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Ma. Patrícia da Silva Oliveira  ·  setembro de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artigo se encaixa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TCC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Cibersegurança, na vertente de medição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vertente ofensiva, mas a de medir: coletar, caracterizar e comparar evidência sobre sistemas reais.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do TCC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99032"/>
            <a:ext cx="3657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Rastreamento por terceiros e soberania de dados em aplicativos móveis governamentais brasileiros.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cidadão usa o Meu SUS ou o Meu INSS, quais empresas além do governo recebem dados dele?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publicadores públicos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esferas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8318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6606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sensível, Art. 11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6606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125 · previdência 28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biometria 17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81,6% das políticas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acessíveis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potência: 5,1 p.p.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4370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2658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APKs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2658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AndroZoo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concedido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17/09/2026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 este recorte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Testei quatro temas antes de escolher. Três não sobreviveram aos dados.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Infraestrutura industrial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Queria medir equipamento de indústria exposto na internet.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endereços que achei respondiam a três protocolos ao mesmo tempo. Equipamento de verdade não faz isso: eram armadilhas e servidores de nuvem.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8318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606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que imitam bancos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6606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Procurei endereços falsos em 20 mil registros de certificado digital.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achei nenhum. Golpe hoje quase nunca põe o nome do banco no endereço do site.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Vírus de banco brasileiro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Quis medir o parentesco entre famílias de vírus.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 que o repositório identifica a campanha do golpe, não o programa. Eu estava medindo a coisa errada. Registrei o erro.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4370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2658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de governo   ✓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2658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 de 71 órgãos públicos, nas três esferas.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loja diz quem publicou cada um. Não preciso descobrir de quem é o app, que foi justamente o que faltou nos outros três.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840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com evidência faz parte do método. É o que as aulas 04 e 07 chamam de maturidade em pesquisa.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até este artigo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Scopus, pelo portal da CAPES via CAFe, em 21 de setembro de 2026.</a:t>
            </a:r>
            <a:endParaRPr lang="en-US" sz="1250" dirty="0"/>
          </a:p>
        </p:txBody>
      </p:sp>
      <p:pic>
        <p:nvPicPr>
          <p:cNvPr id="5" name="Image 0" descr="/home/user/TCC/seminario/pesquisa/busca-scopus-resultad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07008"/>
            <a:ext cx="5074920" cy="29352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49240" y="12070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buscas, no campo título, resumo e palavras-chave: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349240" y="1499616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"third-party tracking" AND consent AND android      4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"third party" AND tracking AND android AND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(consent OR GDPR)                                  12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 "third-party tracking"                            131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349240" y="22402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E8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131</a:t>
            </a:r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expressão exata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2E8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70</a:t>
            </a:r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ano, área e tipo de documento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2E8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5</a:t>
            </a:r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palavras-chave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E6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</a:t>
            </a:r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selecionado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2999232"/>
          <a:ext cx="32918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84048"/>
                <a:gridCol w="384048"/>
                <a:gridCol w="91440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WhisperTest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 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Third-Party User Tracking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citado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Freely Given Consent?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escolhido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fait accompli?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veículo menor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349240" y="4160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Apareceu também um artigo de 2026 no IEEE S&amp;P, com 0 citações.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selecionado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1155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Freely Given Consent? Studying Consent Notice of Third-Party Tracking and Its Violations of GDPR in Android Apps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NGUYEN, Trung Tin; BACKES, Michael; STOCK, Ben.   In: CCS '22, Proceedings of the 2022 ACM SIGSAC Conference on Computer and Communications Security. Los Angeles, 7–11 nov. 2022, p. 2369–2383.   DOI: 10.1145/3548606.3560564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RESEARCH-ARTICLE  ·  FREE ACCESS  ·  15 páginas  ·  artefato: github.com/cispa/gdpr-consent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pesquisa original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análise próprias em larga escala: 239.381 aplicativos Android analisados, 13.082 com mecanismo de consentimento identificado. Primeiro estudo em escala sobre avisos de consentimento no Android.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confirmam que é original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Digital Library:  etiqueta RESEARCH-ARTICLE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Scopus:  tipo de documento Conference Paper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próprio artigo:  corpus e ferramenta construídos pelos autores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 artigo importa: os números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CITAÇÕES levantadas nas três bases em 17/09/2026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7772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Digital Library  42          Scopus  52          Google Acadêmico  99  (9 versões)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em 07/11/2022  ·  1.539 downloads na ACM  ·  239.381 apps analisados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42 &lt; 52 &lt; 99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hierarquia de cobertura das bases.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ACM conta só o próprio acervo. O Scopus acrescenta IEEE, Springer e Elsevier. O Scholar agrupa 9 versões do trabalho e ainda conta teses e relatórios.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× citações: a troca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artigo de 2025 teve um ano para ser citado; um muito citado é antigo por construção.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em CCS é o ponto de equilíbrio, e 239 mil apps já é critério quantitativo por si só.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 artigo importa: o conteúdo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método é o que eu reuso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de APKs em escala, detecção de SDKs de rastreamento, verificação de backend e inspeção manual de subamostra.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pipeline que pretendo aplicar.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660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948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lacuna que ele deixa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948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aplicativos comerciais, estudados sob o GDPR.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recorte governamental, sem grupo de controle pareado e sem contexto brasileiro. É onde o meu trabalho entra.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5028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16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Já tenho um resultado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3316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396 apps de governo exibem anúncio. No controle comercial, 33,2%.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[0,000; 0,010] contra [0,269; 0,401]. Não se sobrepõem.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app de governo não monetiza, o rastreador que houver não é de publicidade. é dependência técnica. Isso muda a pergunta.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do veículo e Qualis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3954780" cy="1691640"/>
          </a:xfrm>
          <a:prstGeom prst="roundRect">
            <a:avLst>
              <a:gd name="adj" fmla="val 3243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60704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OBRIGATÓRIOS, levantados em 17/09/2026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71600"/>
            <a:ext cx="35890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h5 = 90   (mediana 146)   posição 5 de 20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(posição 19 é a AsiaCCS, h5 41, outro evento)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Qualis = A1   (ver o limiar ao lado)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CORE = A*   ICORE2026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761488"/>
            <a:ext cx="3954780" cy="1673352"/>
          </a:xfrm>
          <a:prstGeom prst="roundRect">
            <a:avLst>
              <a:gd name="adj" fmla="val 327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889504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A1, e não A2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00400"/>
            <a:ext cx="35890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N=20 o percentil dá 75, que seria A2. Mas 20 é lista TRUNCADA, não população. Esse 75 é PISO: universo maior só empurra para cima.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exige percentil 87,5.  (N-5)/N &gt;= 0,875  -&gt;  N &gt;= 40.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a área ter 40 veículos. Tem centenas. Logo A1. É limite, não estimativa.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32688"/>
            <a:ext cx="39547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percentil → estrato  (Figura 6, p. 13 do Documento Técnico)</a:t>
            </a:r>
            <a:endParaRPr lang="en-US" sz="1050" dirty="0"/>
          </a:p>
        </p:txBody>
      </p:sp>
      <p:pic>
        <p:nvPicPr>
          <p:cNvPr id="11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1280160"/>
            <a:ext cx="395478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86300" y="2359152"/>
            <a:ext cx="39547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12,5% de amplitude.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C: periódicos sem nenhum dos indicadores do modelo.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de um indicador, considera-se o MAIOR percentil.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podem ajustar até 30% dos estratos, então o valor publicado pode divergir da tabela.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do artigo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Oito seções em quinze páginas. À direita, o que chama atenção.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Introduction            p.1-3    contexto, 3 perguntas, contribuições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 Legal Background        p.3-4    define na lei as 4 violações que vai medir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Methodology             p.4-6    como achar os avisos de consentimento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 Large-Scale Analysis    p.6-11   aplica em escala e mostra os resultados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 Developer Notification  p.11-12  avisa os desenvolvedores, coleta respostas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 Discussion              p.12-13  interpreta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 Related Work            p.13     revisão da literatura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 Conclusion              p.13     fecha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revisão da literatura é a seção 7, não a 2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(3) vem separado da aplicação (4)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seções 3 e 4 ocupam metade do artigo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seção de Limitações nem de Ética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estudo de 239 mil aplicativos, método detalhado é consequência da escala. No exemplo da professora o avaliador teve que reconstruir o método porque não havia seção.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resumo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movimentos, um por frase. É modelo de como escrever o meu.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CONTEXTO      o GDPR exige consentimento livre, específico e informado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LACUNA        ninguém estudou como os avisos são de fato implementados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      primeiro estudo em larga escala sobre esses avisos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MÉTODO        abordagem automatizada aplicada a 239.381 aplicativos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     30.160 sem aviso nenhum; 2.688 dos que têm, violam a lei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IMPLICAÇÃO    falta transparência e falta apoio aos desenvolvedores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Palavras-chave: Android Security, Consent, GDPR, User Privacy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movimento cabe em uma frase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palavras-chave trazem Consent e GDPR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não trazem tracking nem third-party,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estão no título do artigo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palavras-chave mostram como os autores querem ser encontrados. Compare com os termos que eu usei na minha busca.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introdução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pelo que acontece com o usuário, não pela técnica.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"Toda vez que abrimos uma página ou usamos um aplicativo, informação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sobre nós é transmitida a um grande número de empresas."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Depois declara três perguntas de pesquisa: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os aplicativos implementam algum tipo de aviso de consentimento?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  esses avisos se justificam juridicamente sob o GDPR?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3  os desenvolvedores sabem que estão em violação?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o problema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a lacuna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 objetivo e contribuições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3 perguntas são respondíveis por medição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nota de rodapé 1 eles explicam que dizem violação POTENCIAL de propósito, para não emitir juízo jurídico. Mesmo cuidado que a LGPD vai exigir de mim.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método, e o funil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vindo do AndroZoo, três critérios de entrada, dois instrumentos.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5.800.000   nomes de aplicativos na lista do AndroZoo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↓     mais de 10 mil downloads, pede permissão sensível,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atualizado depois de maio de 2018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250.972   aplicativos obtidos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↓     a análise funcionou em 95,38% deles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239.381   analisados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13.082   têm aviso de consentimento   →   2.688 violam a lei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30.160   não têm aviso nenhum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AndroZoo é a mesma fonte que eu vou usar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critérios de entrada declarados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instrumentos: a tela e o tráfego de rede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Reportam quanto NÃO conseguiram analisar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denominador muda no meio do funil: os 2.688 são sobre os 13.082 que têm aviso, não sobre os 239 mil. E os 30.160 são outra categoria, não têm aviso nenhum.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resultados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afirmação é sustentada por dois instrumentos independentes.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2.181   mandaram dado ANTES de o usuário consentir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1.084   não oferecem nenhuma forma de recusar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134   mandaram dado DEPOIS de o usuário recusar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Quase todas as violações envolvem o identificador de anúncio do Android.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tela prova que o aviso existe. O tráfego prova que o dado saiu.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Um sozinho não sustenta a afirmação.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tem intervalo de confiança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tem tamanho de efeito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tem grupo de controle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essa é a minha lacuna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não é transmissão. E o mesmo par de instrumentos que eu vou precisar: detectar o SDK no aplicativo nao prova que ele enviou dado.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discussão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seção própria, com três subseções.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6.1   a violação é generalizada, não é caso isolado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6.2   o problema não é só ilegalidade, é falta de transparência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6.3   falta ferramenta e orientação para o desenvolvedor cumprir a lei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Depois de encontrar 2.688 violações, eles NÃO concluem que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desenvolvedores agem de má-fé. Usam as respostas que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coletaram na seção 5 para deslocar a causa.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 o resultado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 com a literatura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 implicação prática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Resiste à explicação fácil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mesmo movimento que o meu resultado pede: nenhum dos 396 apps de governo tem anuncio. Se houver rastreador, nao e para ganhar dinheiro, e dependencia tecnica.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conclusão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o resumo quase palavra por palavra. Com uma diferença.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RESUMO:      2.688 aplicativos VIOLAM ao menos um requisito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 CONCLUSÃO:   2.688 aplicativos POTENCIALMENTE VIOLAM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nota de rodapé 1 diz que "potencialmente" foi escolha deliberada,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 não emitir juízo jurídico.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 a conclusão está certa e o resumo escorrega.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 o objetivo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a terceira pergunta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 implicação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o que o resumo promete com o que a conclusao entrega e analise critica de verdade. Aqui ela encontra uma inconsistencia real num artigo de conferencia A*.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artigo muda no meu TCC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44752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pipeline de análise estática de APKs com detecção de SDKs de rastreamento e validação manual de subamostra.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cobre, e acrescento grupo de controle comercial pareado.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5701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5204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manualmente os 396 aplicativos e rodar o piloto com os 20 maiores.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2026-09-21T12:19:22Z</dcterms:created>
  <dcterms:modified xsi:type="dcterms:W3CDTF">2026-09-21T12:19:22Z</dcterms:modified>
</cp:coreProperties>
</file>