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19924f5bbd14797" /><Relationship Type="http://schemas.openxmlformats.org/officeDocument/2006/relationships/extended-properties" Target="/docProps/app.xml" Id="R1dfed728d1344f5f" /><Relationship Type="http://schemas.openxmlformats.org/officeDocument/2006/relationships/officeDocument" Target="/ppt/presentation.xml" Id="R62e2af0112634a65" /></Relationships>
</file>

<file path=ppt/presentation.xml><?xml version="1.0" encoding="utf-8"?>
<p:presentation xmlns:p="http://schemas.openxmlformats.org/presentationml/2006/main">
  <p:sldMasterIdLst>
    <p:sldMasterId xmlns:r="http://schemas.openxmlformats.org/officeDocument/2006/relationships" id="2147483648" r:id="R168c1d5a26a54e11"/>
  </p:sldMasterIdLst>
  <p:notesMasterIdLst>
    <p:notesMasterId xmlns:r="http://schemas.openxmlformats.org/officeDocument/2006/relationships" r:id="R886338eba5984c52"/>
  </p:notesMasterIdLst>
  <p:sldIdLst>
    <p:sldId xmlns:r="http://schemas.openxmlformats.org/officeDocument/2006/relationships" id="256" r:id="Rb783c370015c4830"/>
    <p:sldId xmlns:r="http://schemas.openxmlformats.org/officeDocument/2006/relationships" id="257" r:id="R4fb18a045be149f7"/>
    <p:sldId xmlns:r="http://schemas.openxmlformats.org/officeDocument/2006/relationships" id="258" r:id="R12f8199041b24024"/>
    <p:sldId xmlns:r="http://schemas.openxmlformats.org/officeDocument/2006/relationships" id="259" r:id="Rd0d5281d4f324663"/>
    <p:sldId xmlns:r="http://schemas.openxmlformats.org/officeDocument/2006/relationships" id="260" r:id="Rd9bef246e8c14cce"/>
    <p:sldId xmlns:r="http://schemas.openxmlformats.org/officeDocument/2006/relationships" id="261" r:id="R9892d3efdfbc425a"/>
    <p:sldId xmlns:r="http://schemas.openxmlformats.org/officeDocument/2006/relationships" id="262" r:id="Rfba07bdbd3ac4142"/>
    <p:sldId xmlns:r="http://schemas.openxmlformats.org/officeDocument/2006/relationships" id="263" r:id="Rd0eb98a28ee34d4b"/>
    <p:sldId xmlns:r="http://schemas.openxmlformats.org/officeDocument/2006/relationships" id="264" r:id="R7a16fb16207b4b0f"/>
    <p:sldId xmlns:r="http://schemas.openxmlformats.org/officeDocument/2006/relationships" id="265" r:id="Rb7dbeffd19cb4013"/>
    <p:sldId xmlns:r="http://schemas.openxmlformats.org/officeDocument/2006/relationships" id="266" r:id="R4facf6f217b64a3f"/>
    <p:sldId xmlns:r="http://schemas.openxmlformats.org/officeDocument/2006/relationships" id="267" r:id="R0ed357648b14434d"/>
    <p:sldId xmlns:r="http://schemas.openxmlformats.org/officeDocument/2006/relationships" id="268" r:id="R2c891ef6ccc34379"/>
    <p:sldId xmlns:r="http://schemas.openxmlformats.org/officeDocument/2006/relationships" id="269" r:id="Rc0e39f73071b4cd4"/>
    <p:sldId xmlns:r="http://schemas.openxmlformats.org/officeDocument/2006/relationships" id="270" r:id="R527ba1cc678d40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054aa2bd714f66" /><Relationship Type="http://schemas.openxmlformats.org/officeDocument/2006/relationships/slideMaster" Target="/ppt/slideMasters/slideMaster1.xml" Id="R168c1d5a26a54e11" /><Relationship Type="http://schemas.openxmlformats.org/officeDocument/2006/relationships/notesMaster" Target="/ppt/notesMasters/notesMaster1.xml" Id="R886338eba5984c52" /><Relationship Type="http://schemas.openxmlformats.org/officeDocument/2006/relationships/presProps" Target="/ppt/presProps.xml" Id="R709beb99d4f74330" /><Relationship Type="http://schemas.openxmlformats.org/officeDocument/2006/relationships/tableStyles" Target="/ppt/tableStyles.xml" Id="Rfcf8deca750240ee" /><Relationship Type="http://schemas.openxmlformats.org/officeDocument/2006/relationships/slide" Target="/ppt/slides/slide1.xml" Id="Rb783c370015c4830" /><Relationship Type="http://schemas.openxmlformats.org/officeDocument/2006/relationships/slide" Target="/ppt/slides/slide2.xml" Id="R4fb18a045be149f7" /><Relationship Type="http://schemas.openxmlformats.org/officeDocument/2006/relationships/slide" Target="/ppt/slides/slide3.xml" Id="R12f8199041b24024" /><Relationship Type="http://schemas.openxmlformats.org/officeDocument/2006/relationships/slide" Target="/ppt/slides/slide4.xml" Id="Rd0d5281d4f324663" /><Relationship Type="http://schemas.openxmlformats.org/officeDocument/2006/relationships/slide" Target="/ppt/slides/slide5.xml" Id="Rd9bef246e8c14cce" /><Relationship Type="http://schemas.openxmlformats.org/officeDocument/2006/relationships/slide" Target="/ppt/slides/slide6.xml" Id="R9892d3efdfbc425a" /><Relationship Type="http://schemas.openxmlformats.org/officeDocument/2006/relationships/slide" Target="/ppt/slides/slide7.xml" Id="Rfba07bdbd3ac4142" /><Relationship Type="http://schemas.openxmlformats.org/officeDocument/2006/relationships/slide" Target="/ppt/slides/slide8.xml" Id="Rd0eb98a28ee34d4b" /><Relationship Type="http://schemas.openxmlformats.org/officeDocument/2006/relationships/slide" Target="/ppt/slides/slide9.xml" Id="R7a16fb16207b4b0f" /><Relationship Type="http://schemas.openxmlformats.org/officeDocument/2006/relationships/slide" Target="/ppt/slides/slide10.xml" Id="Rb7dbeffd19cb4013" /><Relationship Type="http://schemas.openxmlformats.org/officeDocument/2006/relationships/slide" Target="/ppt/slides/slide11.xml" Id="R4facf6f217b64a3f" /><Relationship Type="http://schemas.openxmlformats.org/officeDocument/2006/relationships/slide" Target="/ppt/slides/slide12.xml" Id="R0ed357648b14434d" /><Relationship Type="http://schemas.openxmlformats.org/officeDocument/2006/relationships/slide" Target="/ppt/slides/slide13.xml" Id="R2c891ef6ccc34379" /><Relationship Type="http://schemas.openxmlformats.org/officeDocument/2006/relationships/slide" Target="/ppt/slides/slide14.xml" Id="Rc0e39f73071b4cd4" /><Relationship Type="http://schemas.openxmlformats.org/officeDocument/2006/relationships/slide" Target="/ppt/slides/slide15.xml" Id="R527ba1cc678d40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623d4918324a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03d2342ae74ec5" /><Relationship Type="http://schemas.openxmlformats.org/officeDocument/2006/relationships/notesMaster" Target="/ppt/notesMasters/notesMaster1.xml" Id="Re03c4d3ce04644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6f87cf71b9480d" /><Relationship Type="http://schemas.openxmlformats.org/officeDocument/2006/relationships/notesMaster" Target="/ppt/notesMasters/notesMaster1.xml" Id="R9ef5749940f94c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0996d7c3364586" /><Relationship Type="http://schemas.openxmlformats.org/officeDocument/2006/relationships/notesMaster" Target="/ppt/notesMasters/notesMaster1.xml" Id="R0878b10586794a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b821d887eb435e" /><Relationship Type="http://schemas.openxmlformats.org/officeDocument/2006/relationships/notesMaster" Target="/ppt/notesMasters/notesMaster1.xml" Id="R03315c83da4a41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38bc06aef9463a" /><Relationship Type="http://schemas.openxmlformats.org/officeDocument/2006/relationships/notesMaster" Target="/ppt/notesMasters/notesMaster1.xml" Id="Rbefdcd12280941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d8ae22a222405e" /><Relationship Type="http://schemas.openxmlformats.org/officeDocument/2006/relationships/notesMaster" Target="/ppt/notesMasters/notesMaster1.xml" Id="Rc53fbec9a9d74f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cd697d7be146b4" /><Relationship Type="http://schemas.openxmlformats.org/officeDocument/2006/relationships/notesMaster" Target="/ppt/notesMasters/notesMaster1.xml" Id="R2b1f1ec77f0447f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383905d6634a57" /><Relationship Type="http://schemas.openxmlformats.org/officeDocument/2006/relationships/notesMaster" Target="/ppt/notesMasters/notesMaster1.xml" Id="R4decf5067b0a48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7244d538854375" /><Relationship Type="http://schemas.openxmlformats.org/officeDocument/2006/relationships/notesMaster" Target="/ppt/notesMasters/notesMaster1.xml" Id="Rb5297eae5558419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b5fbf2b0e34fcd" /><Relationship Type="http://schemas.openxmlformats.org/officeDocument/2006/relationships/notesMaster" Target="/ppt/notesMasters/notesMaster1.xml" Id="R5249aca3ea8c4c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a90b9f1f6724da6" /><Relationship Type="http://schemas.openxmlformats.org/officeDocument/2006/relationships/notesMaster" Target="/ppt/notesMasters/notesMaster1.xml" Id="R1f8b235aa3ad43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59291f585774542" /><Relationship Type="http://schemas.openxmlformats.org/officeDocument/2006/relationships/notesMaster" Target="/ppt/notesMasters/notesMaster1.xml" Id="R2d6b51b954d04f1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72c2feb7d3146eb" /><Relationship Type="http://schemas.openxmlformats.org/officeDocument/2006/relationships/notesMaster" Target="/ppt/notesMasters/notesMaster1.xml" Id="R5ca6359c4183409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2c0d7e0c479474c" /><Relationship Type="http://schemas.openxmlformats.org/officeDocument/2006/relationships/notesMaster" Target="/ppt/notesMasters/notesMaster1.xml" Id="R58c21f3f823e4cb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51b372abd634d49" /><Relationship Type="http://schemas.openxmlformats.org/officeDocument/2006/relationships/notesMaster" Target="/ppt/notesMasters/notesMaster1.xml" Id="Rb90b7d2e1c864f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artigo que escolhi analisa como diferentes sistemas orientam a priorização de vulnerabilidades. Minha área de interesse é cibersegurança e o tema do TCC ainda está em definição. Por isso, uso gestão de vulnerabilidades como um recorte provisório para este seminário. Vou explicar a seleção, a classificação do veículo e a estrutura da pesquisa.</a:t>
            </a:r>
          </a:p>
          <a:p xmlns:a="http://schemas.openxmlformats.org/drawingml/2006/main">
            <a:r>
              <a:t/>
            </a:r>
          </a:p>
          <a:p xmlns:a="http://schemas.openxmlformats.org/drawingml/2006/main">
            <a:r>
              <a:t>Tempo sugerido: 25 segundos.</a:t>
            </a:r>
          </a:p>
          <a:p xmlns:a="http://schemas.openxmlformats.org/drawingml/2006/main">
            <a:r>
              <a:t/>
            </a:r>
          </a:p>
          <a:p xmlns:a="http://schemas.openxmlformats.org/drawingml/2006/main">
            <a:r>
              <a:t>Sources:</a:t>
            </a:r>
          </a:p>
          <a:p xmlns:a="http://schemas.openxmlformats.org/drawingml/2006/main">
            <a:r>
              <a:t>https://doi.org/10.1145/3719027.3765210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problema que orienta a escolha é simples: uma equipe encontra muitas vulnerabilidades, mas não consegue corrigir todas ao mesmo tempo. Ela precisa decidir quais tratar primeiro. No meu repositório, essa linha já aparece entre as possibilidades de TCC. O artigo ajuda a transformar uma área ampla em uma pergunta que pode ser investigada com dados: como a escolha do critério muda a lista de prioridades? Ainda será necessário delimitar população, período e contribuição com o orientador. O seminário serve para fundamentar essa decisão.</a:t>
            </a:r>
          </a:p>
          <a:p xmlns:a="http://schemas.openxmlformats.org/drawingml/2006/main">
            <a:r>
              <a:t/>
            </a:r>
          </a:p>
          <a:p xmlns:a="http://schemas.openxmlformats.org/drawingml/2006/main">
            <a:r>
              <a:t>Tempo sugerido: 45 segundos.</a:t>
            </a:r>
          </a:p>
          <a:p xmlns:a="http://schemas.openxmlformats.org/drawingml/2006/main">
            <a:r>
              <a:t/>
            </a:r>
          </a:p>
          <a:p xmlns:a="http://schemas.openxmlformats.org/drawingml/2006/main">
            <a:r>
              <a:t>Sources:</a:t>
            </a:r>
          </a:p>
          <a:p xmlns:a="http://schemas.openxmlformats.org/drawingml/2006/main">
            <a:r>
              <a:t>https://github.com/ClaudioAMF1/TCC/blob/main/temas/04-avaliacao-da-area.md</a:t>
            </a:r>
          </a:p>
          <a:p xmlns:a="http://schemas.openxmlformats.org/drawingml/2006/main">
            <a:r>
              <a:t>https://github.com/ClaudioAMF1/TCC/tree/main/disciplina/aulas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protocolo começa pelo acesso ao Portal CAPES via CAFe, selecionando o IDP e entrando com a conta institucional. Na base ACM, a busca proposta combina vulnerability prioritization com CVSS, EPSS ou SSVC. O período inicial é de 2021 a 2026, com trabalhos completos e resultados empíricos. A triagem passa por título e resumo, seguida da leitura integral para verificar método, dados e contribuição. Nesta versão, a busca pública e a leitura do artigo já foram realizadas. O registro da busca autenticada via CAFe ainda precisa ser concluído. Por isso, não apresento contagens de resultados nem afirmo que essa etapa institucional já ocorreu.</a:t>
            </a:r>
          </a:p>
          <a:p xmlns:a="http://schemas.openxmlformats.org/drawingml/2006/main">
            <a:r>
              <a:t/>
            </a:r>
          </a:p>
          <a:p xmlns:a="http://schemas.openxmlformats.org/drawingml/2006/main">
            <a:r>
              <a:t>Tempo sugerido: 65 segundos.</a:t>
            </a:r>
          </a:p>
          <a:p xmlns:a="http://schemas.openxmlformats.org/drawingml/2006/main">
            <a:r>
              <a:t/>
            </a:r>
          </a:p>
          <a:p xmlns:a="http://schemas.openxmlformats.org/drawingml/2006/main">
            <a:r>
              <a:t>Sources:</a:t>
            </a:r>
          </a:p>
          <a:p xmlns:a="http://schemas.openxmlformats.org/drawingml/2006/main">
            <a:r>
              <a:t>https://www.periodicos.capes.gov.br/index.php/acesso-cafe.html</a:t>
            </a:r>
          </a:p>
          <a:p xmlns:a="http://schemas.openxmlformats.org/drawingml/2006/main">
            <a:r>
              <a:t>https://doi.org/10.1145/3719027.3765210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título é Conflicting Scores, Confusing Signals: An Empirical Study of Vulnerability Scoring Systems. Viktoria Koscinski e outros quatro autores publicaram o trabalho nos anais da ACM CCS de 2025. A contribuição original está na comparação empírica de quatro sistemas sobre um mesmo conjunto de vulnerabilidades, acompanhada de uma análise temporal do EPSS. Não se trata apenas de reunir opiniões da literatura. Os autores coletam dados, aplicam procedimentos de análise e apresentam resultados próprios. Para a leitura detalhada, usei a versão aberta dos autores, identificada como arXiv versão 1, e confirmei a publicação por DOI e pelos registros da conferência.</a:t>
            </a:r>
          </a:p>
          <a:p xmlns:a="http://schemas.openxmlformats.org/drawingml/2006/main">
            <a:r>
              <a:t/>
            </a:r>
          </a:p>
          <a:p xmlns:a="http://schemas.openxmlformats.org/drawingml/2006/main">
            <a:r>
              <a:t>Tempo sugerido: 55 segundos.</a:t>
            </a:r>
          </a:p>
          <a:p xmlns:a="http://schemas.openxmlformats.org/drawingml/2006/main">
            <a:r>
              <a:t/>
            </a:r>
          </a:p>
          <a:p xmlns:a="http://schemas.openxmlformats.org/drawingml/2006/main">
            <a:r>
              <a:t>Sources:</a:t>
            </a:r>
          </a:p>
          <a:p xmlns:a="http://schemas.openxmlformats.org/drawingml/2006/main">
            <a:r>
              <a:t>https://doi.org/10.1145/3719027.3765210</a:t>
            </a:r>
          </a:p>
          <a:p xmlns:a="http://schemas.openxmlformats.org/drawingml/2006/main">
            <a:r>
              <a:t>https://arxiv.org/abs/2508.13644</a:t>
            </a:r>
          </a:p>
          <a:p xmlns:a="http://schemas.openxmlformats.org/drawingml/2006/main">
            <a:r>
              <a:t>https://github.com/SoftwareDesignLab/Vulnerability-Scoring-Systems-Comparison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relevância não depende só do prestígio da conferência. O assunto corresponde a uma decisão concreta de defesa: priorizar correções. O trabalho reúne 600 vulnerabilidades no estudo principal, compara quatro sistemas e disponibiliza um pacote de reprodução. Isso permite conhecer o desenho metodológico antes de assumir um escopo de TCC. A publicação é de 2025, mas os dados principais são de 2024, uma distinção importante. A análise é pertinente e tecnicamente aproveitável, embora a viabilidade de uma extensão ainda precise de piloto e revisão bibliográfica.</a:t>
            </a:r>
          </a:p>
          <a:p xmlns:a="http://schemas.openxmlformats.org/drawingml/2006/main">
            <a:r>
              <a:t/>
            </a:r>
          </a:p>
          <a:p xmlns:a="http://schemas.openxmlformats.org/drawingml/2006/main">
            <a:r>
              <a:t>Tempo sugerido: 45 segundos.</a:t>
            </a:r>
          </a:p>
          <a:p xmlns:a="http://schemas.openxmlformats.org/drawingml/2006/main">
            <a:r>
              <a:t/>
            </a:r>
          </a:p>
          <a:p xmlns:a="http://schemas.openxmlformats.org/drawingml/2006/main">
            <a:r>
              <a:t>Sources:</a:t>
            </a:r>
          </a:p>
          <a:p xmlns:a="http://schemas.openxmlformats.org/drawingml/2006/main">
            <a:r>
              <a:t>https://doi.org/10.1145/3719027.3765210</a:t>
            </a:r>
          </a:p>
          <a:p xmlns:a="http://schemas.openxmlformats.org/drawingml/2006/main">
            <a:r>
              <a:t>https://github.com/SoftwareDesignLab/Vulnerability-Scoring-Systems-Comparison</a:t>
            </a:r>
          </a:p>
          <a:p xmlns:a="http://schemas.openxmlformats.org/drawingml/2006/main">
            <a:r>
              <a:t>https://github.com/ClaudioAMF1/TCC/blob/main/temas/04-avaliacao-da-area.md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Como o artigo é de conferência, o caminho correspondente no enunciado é h5, classificação Qualis e rank CORE. Confirmei A estrela no portal CORE, na edição ICORE 2026. A lista oficial de eventos da CAPES para 2017 a 2020 classifica a CCS como A1. O corte por h5 para A1 é 35, critério também mantido no relatório do ciclo 2021 a 2024. Existe um registro histórico de h5 igual a 77 na lista provisória de 2019, mas ele não é a métrica atual. O Google Scholar bloqueou a consulta nesta sessão, então o h5 atual permanece pendente. Também é preciso distinguir Qualis Eventos de Qualis Periódicos: a tabela de percentis de revistas não deve ser aplicada diretamente ao h5 de conferências.</a:t>
            </a:r>
          </a:p>
          <a:p xmlns:a="http://schemas.openxmlformats.org/drawingml/2006/main">
            <a:r>
              <a:t/>
            </a:r>
          </a:p>
          <a:p xmlns:a="http://schemas.openxmlformats.org/drawingml/2006/main">
            <a:r>
              <a:t>Tempo sugerido: 65 segundos.</a:t>
            </a:r>
          </a:p>
          <a:p xmlns:a="http://schemas.openxmlformats.org/drawingml/2006/main">
            <a:r>
              <a:t/>
            </a:r>
          </a:p>
          <a:p xmlns:a="http://schemas.openxmlformats.org/drawingml/2006/main">
            <a:r>
              <a:t>Sources:</a:t>
            </a:r>
          </a:p>
          <a:p xmlns:a="http://schemas.openxmlformats.org/drawingml/2006/main">
            <a:r>
              <a:t>https://portal.core.edu.au/conf-ranks/?by=all&amp;search=security</a:t>
            </a:r>
          </a:p>
          <a:p xmlns:a="http://schemas.openxmlformats.org/drawingml/2006/main">
            <a:r>
              <a:t>https://www.gov.br/capes/pt-br/centrais-de-conteudo/documentos/avaliacao/09012022_RELATORIOQUALISEVENTOS20172020COMPUTACAO.PDF/@@display-file/file</a:t>
            </a:r>
          </a:p>
          <a:p xmlns:a="http://schemas.openxmlformats.org/drawingml/2006/main">
            <a:r>
              <a:t>https://www.gov.br/capes/pt-br/acesso-a-informacao/acoes-e-programas/avaliacao/sobre-a-avaliacao/areas-avaliacao/sobre-as-areas-de-avaliacao/colegio-de-ciencias-exatas-tecnologicas-e-multidisciplinar/ciencias-exatas-e-da-terra/Computao.pdf/@@display-file/file</a:t>
            </a:r>
          </a:p>
          <a:p xmlns:a="http://schemas.openxmlformats.org/drawingml/2006/main">
            <a:r>
              <a:t>https://www-di.inf.puc-rio.br/~endler/qualis/QualisEventosComputa%C3%A7%C3%A3o-2019Provis.pdf</a:t>
            </a:r>
          </a:p>
          <a:p xmlns:a="http://schemas.openxmlformats.org/drawingml/2006/main">
            <a:r>
              <a:t>https://www.gov.br/capes/pt-br/centrais-de-conteudo/documentos/avaliacao/avaliacao-quadrienal-2017/DocumentotcnicoQualisPeridicosfinal.pdf/@@display-file/file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artigo tem uma organização própria. Começa pelos elementos de identificação e pelo resumo. Depois apresenta introdução, fundamentos e configuração do estudo de caso. Os resultados estão organizados pelas quatro perguntas de pesquisa. Ameaças à validade e discussão aparecem em seções separadas. Os trabalhos relacionados vêm depois da discussão, antes das conclusões. Por fim, há referências e dois apêndices. Essa ordem mostra por que analisar a estrutura vai além de procurar uma sequência rígida de introdução, método, resultado e conclusão. O importante é identificar a função que cada seção cumpre.</a:t>
            </a:r>
          </a:p>
          <a:p xmlns:a="http://schemas.openxmlformats.org/drawingml/2006/main">
            <a:r>
              <a:t/>
            </a:r>
          </a:p>
          <a:p xmlns:a="http://schemas.openxmlformats.org/drawingml/2006/main">
            <a:r>
              <a:t>Tempo sugerido: 45 segundos.</a:t>
            </a:r>
          </a:p>
          <a:p xmlns:a="http://schemas.openxmlformats.org/drawingml/2006/main">
            <a:r>
              <a:t/>
            </a:r>
          </a:p>
          <a:p xmlns:a="http://schemas.openxmlformats.org/drawingml/2006/main">
            <a:r>
              <a:t>Sources:</a:t>
            </a:r>
          </a:p>
          <a:p xmlns:a="http://schemas.openxmlformats.org/drawingml/2006/main">
            <a:r>
              <a:t>https://arxiv.org/html/2508.13644v1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título tem duas partes. A primeira destaca o problema dos sinais divergentes, e a segunda informa o objeto e o tipo de estudo. A autoria e as afiliações permitem identificar os responsáveis pela pesquisa. O resumo apresenta o problema, a comparação empírica e a dimensão da amostra, mas descreve os resultados de modo mais geral. Minha avaliação é que ele poderia indicar um efeito numérico para tornar a contribuição mais precisa. As palavras-chave e os conceitos de classificação da ACM ajudam a indexar e recuperar o trabalho nas bases.</a:t>
            </a:r>
          </a:p>
          <a:p xmlns:a="http://schemas.openxmlformats.org/drawingml/2006/main">
            <a:r>
              <a:t/>
            </a:r>
          </a:p>
          <a:p xmlns:a="http://schemas.openxmlformats.org/drawingml/2006/main">
            <a:r>
              <a:t>Tempo sugerido: 40 segundos.</a:t>
            </a:r>
          </a:p>
          <a:p xmlns:a="http://schemas.openxmlformats.org/drawingml/2006/main">
            <a:r>
              <a:t/>
            </a:r>
          </a:p>
          <a:p xmlns:a="http://schemas.openxmlformats.org/drawingml/2006/main">
            <a:r>
              <a:t>Sources:</a:t>
            </a:r>
          </a:p>
          <a:p xmlns:a="http://schemas.openxmlformats.org/drawingml/2006/main">
            <a:r>
              <a:t>https://arxiv.org/html/2508.13644v1</a:t>
            </a:r>
          </a:p>
          <a:p xmlns:a="http://schemas.openxmlformats.org/drawingml/2006/main">
            <a:r>
              <a:t>https://github.com/ClaudioAMF1/TCC/tree/main/disciplina/aulas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introdução contextualiza a limitação de recursos para corrigir vulnerabilidades e apresenta a lacuna que os autores pretendem enfrentar: comparar sistemas diferentes sobre os mesmos casos. Ela termina com quatro perguntas, sobre concordância, esforço de triagem, exploração conhecida e tipos de fraqueza. A seção de fundamentos explica os sistemas. CVSS expressa severidade técnica. EPSS estima probabilidade de exploração nos próximos trinta dias. SSVC orienta uma decisão considerando o contexto. Já o Exploitability Index usado no estudo combina um modelo e informações do produto. Ele é o modelo de Okutan e Mirakhorli, não o índice homônimo da Microsoft. Essa distinção conceitual é essencial para interpretar a comparação.</a:t>
            </a:r>
          </a:p>
          <a:p xmlns:a="http://schemas.openxmlformats.org/drawingml/2006/main">
            <a:r>
              <a:t/>
            </a:r>
          </a:p>
          <a:p xmlns:a="http://schemas.openxmlformats.org/drawingml/2006/main">
            <a:r>
              <a:t>Tempo sugerido: 60 segundos.</a:t>
            </a:r>
          </a:p>
          <a:p xmlns:a="http://schemas.openxmlformats.org/drawingml/2006/main">
            <a:r>
              <a:t/>
            </a:r>
          </a:p>
          <a:p xmlns:a="http://schemas.openxmlformats.org/drawingml/2006/main">
            <a:r>
              <a:t>Sources:</a:t>
            </a:r>
          </a:p>
          <a:p xmlns:a="http://schemas.openxmlformats.org/drawingml/2006/main">
            <a:r>
              <a:t>https://arxiv.org/html/2508.13644v1</a:t>
            </a:r>
          </a:p>
          <a:p xmlns:a="http://schemas.openxmlformats.org/drawingml/2006/main">
            <a:r>
              <a:t>https://www.first.org/epss/faq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metodologia descreve um estudo de caso incorporado: o caso é o Patch Tuesday da Microsoft e cada vulnerabilidade é uma unidade de análise. O conjunto principal contém 600 CVEs divulgados entre abril e julho de 2024. Os autores usam dados da Microsoft e do NVD, calculam ou coletam os diferentes escores e comparam suas saídas. O retrato do EPSS é de 9 de julho de 2024. Somente 458 CVEs tinham esse escore, por isso certas análises usam 458, não 600. Há ainda uma análise separada com 1.226 CVEs do KEV e observações mensais de EPSS. Concordância, correlação, agrupamentos por pontuação e sobreposição entre listas são os principais instrumentos. Essas escolhas precisam ser explicitadas para que outra pessoa consiga avaliar ou repetir o procedimento.</a:t>
            </a:r>
          </a:p>
          <a:p xmlns:a="http://schemas.openxmlformats.org/drawingml/2006/main">
            <a:r>
              <a:t/>
            </a:r>
          </a:p>
          <a:p xmlns:a="http://schemas.openxmlformats.org/drawingml/2006/main">
            <a:r>
              <a:t>Tempo sugerido: 75 segundos.</a:t>
            </a:r>
          </a:p>
          <a:p xmlns:a="http://schemas.openxmlformats.org/drawingml/2006/main">
            <a:r>
              <a:t/>
            </a:r>
          </a:p>
          <a:p xmlns:a="http://schemas.openxmlformats.org/drawingml/2006/main">
            <a:r>
              <a:t>Sources:</a:t>
            </a:r>
          </a:p>
          <a:p xmlns:a="http://schemas.openxmlformats.org/drawingml/2006/main">
            <a:r>
              <a:t>https://arxiv.org/html/2508.13644v1</a:t>
            </a:r>
          </a:p>
          <a:p xmlns:a="http://schemas.openxmlformats.org/drawingml/2006/main">
            <a:r>
              <a:t>https://github.com/SoftwareDesignLab/Vulnerability-Scoring-Systems-Comparison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seção de resultados responde às perguntas da introdução. Na primeira, as medidas apontam baixa concordância entre os sistemas. Na segunda, os autores mostram que empates ampliam listas que deveriam conter poucos casos prioritários. Um exemplo é o top vinte de CVSS, que inclui 198 vulnerabilidades quando os empates são preservados. Nas listas de maior prioridade, somente cinco CVEs são comuns aos quatro sistemas na comparação reportada. A terceira pergunta examina a relação com exploração conhecida. A quarta considera as classes de fraqueza, mas muitos grupos têm poucos casos. A função desta seção é apresentar a evidência e o procedimento de leitura dos números. A interpretação mais ampla deve considerar as limitações que vêm depois.</a:t>
            </a:r>
          </a:p>
          <a:p xmlns:a="http://schemas.openxmlformats.org/drawingml/2006/main">
            <a:r>
              <a:t/>
            </a:r>
          </a:p>
          <a:p xmlns:a="http://schemas.openxmlformats.org/drawingml/2006/main">
            <a:r>
              <a:t>Tempo sugerido: 65 segundos.</a:t>
            </a:r>
          </a:p>
          <a:p xmlns:a="http://schemas.openxmlformats.org/drawingml/2006/main">
            <a:r>
              <a:t/>
            </a:r>
          </a:p>
          <a:p xmlns:a="http://schemas.openxmlformats.org/drawingml/2006/main">
            <a:r>
              <a:t>Sources:</a:t>
            </a:r>
          </a:p>
          <a:p xmlns:a="http://schemas.openxmlformats.org/drawingml/2006/main">
            <a:r>
              <a:t>https://arxiv.org/html/2508.13644v1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gráfico reorganiza a tabela seis e o texto da seção quatro ponto três ponto dois em três grupos exclusivos. Entre 1.226 CVEs do catálogo analisado, 244 tiveram ao menos um retrato mensal com EPSS maior ou igual a meio antes da inclusão no KEV. Outros 275 não tinham escore anterior. O restante, 707, tinha observações, mas nenhuma atingiu esse limiar. Os 19,9 por cento são uma proporção nesse conjunto de CVEs conhecidos, não a acurácia do EPSS. A data de entrada no catálogo também não identifica necessariamente a primeira exploração. Minha leitura crítica é que avaliar utilidade preditiva exige justificar o limiar, a janela temporal e o conjunto de comparação.</a:t>
            </a:r>
          </a:p>
          <a:p xmlns:a="http://schemas.openxmlformats.org/drawingml/2006/main">
            <a:r>
              <a:t/>
            </a:r>
          </a:p>
          <a:p xmlns:a="http://schemas.openxmlformats.org/drawingml/2006/main">
            <a:r>
              <a:t>Tempo sugerido: 65 segundos.</a:t>
            </a:r>
          </a:p>
          <a:p xmlns:a="http://schemas.openxmlformats.org/drawingml/2006/main">
            <a:r>
              <a:t/>
            </a:r>
          </a:p>
          <a:p xmlns:a="http://schemas.openxmlformats.org/drawingml/2006/main">
            <a:r>
              <a:t>Sources:</a:t>
            </a:r>
          </a:p>
          <a:p xmlns:a="http://schemas.openxmlformats.org/drawingml/2006/main">
            <a:r>
              <a:t>https://arxiv.org/html/2508.13644v1</a:t>
            </a:r>
          </a:p>
          <a:p xmlns:a="http://schemas.openxmlformats.org/drawingml/2006/main">
            <a:r>
              <a:t>https://www.first.org/epss/faq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 discussão, os autores interpretam as divergências e defendem que os escores sejam considerados junto ao contexto da organização. A seção de ameaças à validade reconhece restrições de amostra e de medição. Na minha análise, há cuidados adicionais: normalizar escalas não faz os sistemas medirem o mesmo conceito, fotografias mensais podem perder variações diárias e entrada no KEV é um registro público, não o instante exato do ataque. Por isso, os resultados não demonstram sozinhos que um sistema seja universalmente melhor ou que o EPSS seja inútil. Os trabalhos relacionados posicionam a contribuição diante das pesquisas anteriores. As conclusões retomam as perguntas e as implicações, enquanto referências e apêndices permitem verificar as bases e os detalhes da análise.</a:t>
            </a:r>
          </a:p>
          <a:p xmlns:a="http://schemas.openxmlformats.org/drawingml/2006/main">
            <a:r>
              <a:t/>
            </a:r>
          </a:p>
          <a:p xmlns:a="http://schemas.openxmlformats.org/drawingml/2006/main">
            <a:r>
              <a:t>Tempo sugerido: 70 segundos.</a:t>
            </a:r>
          </a:p>
          <a:p xmlns:a="http://schemas.openxmlformats.org/drawingml/2006/main">
            <a:r>
              <a:t/>
            </a:r>
          </a:p>
          <a:p xmlns:a="http://schemas.openxmlformats.org/drawingml/2006/main">
            <a:r>
              <a:t>Sources:</a:t>
            </a:r>
          </a:p>
          <a:p xmlns:a="http://schemas.openxmlformats.org/drawingml/2006/main">
            <a:r>
              <a:t>https://arxiv.org/html/2508.13644v1</a:t>
            </a:r>
          </a:p>
          <a:p xmlns:a="http://schemas.openxmlformats.org/drawingml/2006/main">
            <a:r>
              <a:t>https://www.first.org/epss/faq</a:t>
            </a:r>
          </a:p>
          <a:p xmlns:a="http://schemas.openxmlformats.org/drawingml/2006/main">
            <a:r>
              <a:t>https://github.com/ClaudioAMF1/TCC/tree/main/disciplina/aulas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artigo é útil porque oferece tanto um método quanto pontos que merecem investigação. Um possível TCC poderia comparar critérios de priorização mantendo o mesmo orçamento de correções, com registros históricos coletados antes do evento de interesse. A pergunta inicial seria quanto a lista selecionada muda entre CVSS, EPSS e uma regra que considere exploração conhecida. Para isso, seria preciso definir fornecedores, período, orçamento e medida de resultado, além de tratar dados ausentes e versões dos modelos. Isso é uma proposta exploratória. Ainda não afirmo que seja inédita nem que substitua as outras opções de tema registradas no repositório.</a:t>
            </a:r>
          </a:p>
          <a:p xmlns:a="http://schemas.openxmlformats.org/drawingml/2006/main">
            <a:r>
              <a:t/>
            </a:r>
          </a:p>
          <a:p xmlns:a="http://schemas.openxmlformats.org/drawingml/2006/main">
            <a:r>
              <a:t>Tempo sugerido: 45 segundos.</a:t>
            </a:r>
          </a:p>
          <a:p xmlns:a="http://schemas.openxmlformats.org/drawingml/2006/main">
            <a:r>
              <a:t/>
            </a:r>
          </a:p>
          <a:p xmlns:a="http://schemas.openxmlformats.org/drawingml/2006/main">
            <a:r>
              <a:t>Sources:</a:t>
            </a:r>
          </a:p>
          <a:p xmlns:a="http://schemas.openxmlformats.org/drawingml/2006/main">
            <a:r>
              <a:t>https://github.com/ClaudioAMF1/TCC/blob/main/temas/04-avaliacao-da-area.md</a:t>
            </a:r>
          </a:p>
          <a:p xmlns:a="http://schemas.openxmlformats.org/drawingml/2006/main">
            <a:r>
              <a:t>https://arxiv.org/html/2508.13644v1</a:t>
            </a:r>
          </a:p>
          <a:p xmlns:a="http://schemas.openxmlformats.org/drawingml/2006/main">
            <a:r>
              <a:t>https://github.com/ClaudioAMF1/TCC/tree/main/disciplina/aulas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 referências completas e o registro das fontes estão no material de apoio. A contribuição deste seminário é analisar criticamente uma pesquisa original que pode orientar a delimitação do meu TCC em cibersegurança. A escolha do artigo fundamenta um caminho possível, mantendo a decisão do tema em aberto.</a:t>
            </a:r>
          </a:p>
          <a:p xmlns:a="http://schemas.openxmlformats.org/drawingml/2006/main">
            <a:r>
              <a:t/>
            </a:r>
          </a:p>
          <a:p xmlns:a="http://schemas.openxmlformats.org/drawingml/2006/main">
            <a:r>
              <a:t>Tempo sugerido: 20 segundos.</a:t>
            </a:r>
          </a:p>
          <a:p xmlns:a="http://schemas.openxmlformats.org/drawingml/2006/main">
            <a:r>
              <a:t/>
            </a:r>
          </a:p>
          <a:p xmlns:a="http://schemas.openxmlformats.org/drawingml/2006/main">
            <a:r>
              <a:t>Sources:</a:t>
            </a:r>
          </a:p>
          <a:p xmlns:a="http://schemas.openxmlformats.org/drawingml/2006/main">
            <a:r>
              <a:t>https://doi.org/10.1145/3719027.3765210</a:t>
            </a:r>
          </a:p>
          <a:p xmlns:a="http://schemas.openxmlformats.org/drawingml/2006/main">
            <a:r>
              <a:t>https://arxiv.org/abs/2508.13644</a:t>
            </a:r>
          </a:p>
          <a:p xmlns:a="http://schemas.openxmlformats.org/drawingml/2006/main">
            <a:r>
              <a:t>https://github.com/SoftwareDesignLab/Vulnerability-Scoring-Systems-Comparison</a:t>
            </a:r>
          </a:p>
          <a:p xmlns:a="http://schemas.openxmlformats.org/drawingml/2006/main">
            <a:r>
              <a:t>https://www.gov.br/capes/pt-br/centrais-de-conteudo/documentos/avaliacao/09012022_RELATORIOQUALISEVENTOS20172020COMPUTACAO.PDF/@@display-file/file</a:t>
            </a:r>
          </a:p>
          <a:p xmlns:a="http://schemas.openxmlformats.org/drawingml/2006/main">
            <a:r>
              <a:t>https://www.gov.br/capes/pt-br/acesso-a-informacao/acoes-e-programas/avaliacao/sobre-a-avaliacao/areas-avaliacao/sobre-as-areas-de-avaliacao/colegio-de-ciencias-exatas-tecnologicas-e-multidisciplinar/ciencias-exatas-e-da-terra/Computao.pdf/@@display-file/file</a:t>
            </a:r>
          </a:p>
          <a:p xmlns:a="http://schemas.openxmlformats.org/drawingml/2006/main">
            <a:r>
              <a:t>https://portal.core.edu.au/conf-ranks/?by=all&amp;search=security</a:t>
            </a:r>
          </a:p>
          <a:p xmlns:a="http://schemas.openxmlformats.org/drawingml/2006/main">
            <a:r>
              <a:t>https://www.first.org/epss/faq</a:t>
            </a:r>
          </a:p>
          <a:p xmlns:a="http://schemas.openxmlformats.org/drawingml/2006/main">
            <a:r>
              <a:t>https://github.com/ClaudioAMF1/TCC/tree/main/disciplina/aulas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c0c85cecb747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1638a4bd154d03" /><Relationship Type="http://schemas.openxmlformats.org/officeDocument/2006/relationships/slideLayout" Target="/ppt/slideLayouts/slideLayout1.xml" Id="R86b8f4cec6df47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b8f4cec6df47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f9efc81a954e3f" /><Relationship Type="http://schemas.openxmlformats.org/officeDocument/2006/relationships/notesSlide" Target="/ppt/notesSlides/notesSlide1.xml" Id="R13f62ac59f2b4c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db349243c274280" /><Relationship Type="http://schemas.openxmlformats.org/officeDocument/2006/relationships/notesSlide" Target="/ppt/notesSlides/notesSlide2.xml" Id="Rf4b8352913d448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a676cd3757d498b" /><Relationship Type="http://schemas.openxmlformats.org/officeDocument/2006/relationships/notesSlide" Target="/ppt/notesSlides/notesSlide3.xml" Id="R061f661d785141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88422b2490f4b2c" /><Relationship Type="http://schemas.openxmlformats.org/officeDocument/2006/relationships/notesSlide" Target="/ppt/notesSlides/notesSlide4.xml" Id="Raf35db34e84340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a419690780d4bf6" /><Relationship Type="http://schemas.openxmlformats.org/officeDocument/2006/relationships/notesSlide" Target="/ppt/notesSlides/notesSlide5.xml" Id="Rcb6ad203dc4e44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0d4f46194684396" /><Relationship Type="http://schemas.openxmlformats.org/officeDocument/2006/relationships/notesSlide" Target="/ppt/notesSlides/notesSlide6.xml" Id="R470815cf800a47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6d69c6d77c4381" /><Relationship Type="http://schemas.openxmlformats.org/officeDocument/2006/relationships/notesSlide" Target="/ppt/notesSlides/notesSlide7.xml" Id="R3c6d79c8d99843e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1110a58a27747c3" /><Relationship Type="http://schemas.openxmlformats.org/officeDocument/2006/relationships/image" Target="/ppt/media/image.png" Id="R44c9202543a64e5d" /><Relationship Type="http://schemas.openxmlformats.org/officeDocument/2006/relationships/notesSlide" Target="/ppt/notesSlides/notesSlide8.xml" Id="R9b25ac657ff241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3f43b3a2a62449d" /><Relationship Type="http://schemas.openxmlformats.org/officeDocument/2006/relationships/notesSlide" Target="/ppt/notesSlides/notesSlide9.xml" Id="Rb5057a36af14428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38e2477d98540d8" /><Relationship Type="http://schemas.openxmlformats.org/officeDocument/2006/relationships/notesSlide" Target="/ppt/notesSlides/notesSlide10.xml" Id="Ra0abcc67537341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964debedeaf41f2" /><Relationship Type="http://schemas.openxmlformats.org/officeDocument/2006/relationships/notesSlide" Target="/ppt/notesSlides/notesSlide11.xml" Id="R4ed7e60087f04bc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29d3abfb65c4af6" /><Relationship Type="http://schemas.openxmlformats.org/officeDocument/2006/relationships/chart" Target="/ppt/slides/charts/chart1.xml" Id="R566b20a96ed0489c" /><Relationship Type="http://schemas.openxmlformats.org/officeDocument/2006/relationships/notesSlide" Target="/ppt/notesSlides/notesSlide12.xml" Id="R931a95fb8aaa409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c0993b583a9409e" /><Relationship Type="http://schemas.openxmlformats.org/officeDocument/2006/relationships/notesSlide" Target="/ppt/notesSlides/notesSlide13.xml" Id="R2ee14bfd6e5f48d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907a4cd185b4ddb" /><Relationship Type="http://schemas.openxmlformats.org/officeDocument/2006/relationships/notesSlide" Target="/ppt/notesSlides/notesSlide14.xml" Id="R9dbb85c7b4b04d3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dab5d3bd20442f3" /><Relationship Type="http://schemas.openxmlformats.org/officeDocument/2006/relationships/notesSlide" Target="/ppt/notesSlides/notesSlide15.xml" Id="Re1cd65f4158042e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CVEs</c:v>
          </c:tx>
          <c:spPr>
            <a:solidFill xmlns:a="http://schemas.openxmlformats.org/drawingml/2006/main">
              <a:srgbClr val="006F70"/>
            </a:solidFill>
          </c:spPr>
          <c:dPt>
            <c:idx val="0"/>
            <c:invertIfNegative val="0"/>
            <c:spPr>
              <a:solidFill xmlns:a="http://schemas.openxmlformats.org/drawingml/2006/main">
                <a:srgbClr val="006F70"/>
              </a:solidFill>
            </c:spPr>
          </c:dPt>
          <c:dPt>
            <c:idx val="1"/>
            <c:invertIfNegative val="0"/>
            <c:spPr>
              <a:solidFill xmlns:a="http://schemas.openxmlformats.org/drawingml/2006/main">
                <a:srgbClr val="5A7184"/>
              </a:solidFill>
            </c:spPr>
          </c:dPt>
          <c:dPt>
            <c:idx val="2"/>
            <c:invertIfNegative val="0"/>
            <c:spPr>
              <a:solidFill xmlns:a="http://schemas.openxmlformats.org/drawingml/2006/main">
                <a:srgbClr val="C5D0D8"/>
              </a:solidFill>
            </c:spPr>
          </c:dPt>
          <c:cat>
            <c:strRef>
              <c:f>'Chart Data'!$A$2:$A$4</c:f>
              <c:strCache>
                <c:ptCount val="3"/>
                <c:pt idx="0">
                  <c:v>Máximo mensal ≥ 0,5</c:v>
                </c:pt>
                <c:pt idx="1">
                  <c:v>Máximo mensal &lt; 0,5</c:v>
                </c:pt>
                <c:pt idx="2">
                  <c:v>Sem escore anterior</c:v>
                </c:pt>
              </c:strCache>
            </c:strRef>
          </c:cat>
          <c:val>
            <c:numRef>
              <c:f>'Chart Data'!$B$2:$B$4</c:f>
              <c:numCache>
                <c:formatCode>0</c:formatCode>
                <c:ptCount val="3"/>
                <c:pt idx="0">
                  <c:v>244</c:v>
                </c:pt>
                <c:pt idx="1">
                  <c:v>707</c:v>
                </c:pt>
                <c:pt idx="2">
                  <c:v>275</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02A43"/>
                  </a:solidFill>
                  <a:latin typeface="Bitstream Charter"/>
                  <a:ea typeface="Bitstream Charter"/>
                  <a:cs typeface="Bitstream Charter"/>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DE3"/>
            </a:solidFill>
          </a:ln>
        </c:spPr>
        <c:txPr>
          <a:bodyPr xmlns:a="http://schemas.openxmlformats.org/drawingml/2006/main" anchorCtr="1"/>
          <a:lstStyle xmlns:a="http://schemas.openxmlformats.org/drawingml/2006/main"/>
          <a:p xmlns:a="http://schemas.openxmlformats.org/drawingml/2006/main">
            <a:pPr>
              <a:defRPr sz="1725">
                <a:solidFill>
                  <a:srgbClr val="102A43"/>
                </a:solidFill>
                <a:latin typeface="Bitstream Charter"/>
                <a:ea typeface="Bitstream Charter"/>
                <a:cs typeface="Bitstream Charter"/>
              </a:defRPr>
            </a:pPr>
          </a:p>
        </c:txPr>
        <c:crossAx val="48672768"/>
      </c:catAx>
      <c:valAx>
        <c:axId val="48672768"/>
        <c:scaling>
          <c:orientation val="minMax"/>
          <c:max val="800"/>
          <c:min val="0"/>
        </c:scaling>
        <c:delete val="0"/>
        <c:axPos val="l"/>
        <c:majorGridlines>
          <c:spPr>
            <a:ln xmlns:a="http://schemas.openxmlformats.org/drawingml/2006/main" w="9525">
              <a:solidFill>
                <a:srgbClr val="E3E9E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574"/>
                </a:solidFill>
                <a:latin typeface="Bitstream Charter"/>
                <a:ea typeface="Bitstream Charter"/>
                <a:cs typeface="Bitstream Charter"/>
              </a:defRPr>
            </a:pPr>
          </a:p>
        </c:txPr>
        <c:crossAx val="48650112"/>
        <c:crossBetween val="between"/>
        <c:majorUnit val="2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7723CC-3F3E-4512-AA2F-43059BFF4EF0}"/>
              </a:ext>
            </a:extLst>
          </p:cNvPr>
          <p:cNvSpPr>
            <a:spLocks xmlns:a="http://schemas.openxmlformats.org/drawingml/2006/main" noGrp="1"/>
          </p:cNvSpPr>
          <p:nvPr/>
        </p:nvSpPr>
        <p:spPr>
          <a:xfrm xmlns:a="http://schemas.openxmlformats.org/drawingml/2006/main">
            <a:off x="685800" y="6219825"/>
            <a:ext cx="1019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4"/>
                </a:solidFill>
                <a:latin typeface="Bitstream Charter"/>
                <a:ea typeface="Bitstream Charter"/>
                <a:cs typeface="Bitstream Charter"/>
              </a:defRPr>
            </a:pPr>
            <a:r>
              <a:rPr sz="1125" b="0">
                <a:solidFill>
                  <a:srgbClr val="526574"/>
                </a:solidFill>
                <a:latin typeface="Bitstream Charter"/>
                <a:ea typeface="Bitstream Charter"/>
                <a:cs typeface="Bitstream Charter"/>
              </a:rPr>
              <a:t>Recorte exploratório para o TCC</a:t>
            </a:r>
          </a:p>
        </p:txBody>
      </p:sp>
      <p:sp>
        <p:nvSpPr>
          <p:cNvPr id="2" name="">
            <a:extLst xmlns:a="http://schemas.openxmlformats.org/drawingml/2006/main">
              <a:ext uri="{FF2B5EF4-FFF2-40B4-BE49-F238E27FC236}">
                <a16:creationId xmlns:a16="http://schemas.microsoft.com/office/drawing/2014/main" id="{2A361DE3-EECC-467D-B5F8-DE7AFFEC403C}"/>
              </a:ext>
            </a:extLst>
          </p:cNvPr>
          <p:cNvSpPr>
            <a:spLocks xmlns:a="http://schemas.openxmlformats.org/drawingml/2006/main" noGrp="1"/>
          </p:cNvSpPr>
          <p:nvPr/>
        </p:nvSpPr>
        <p:spPr>
          <a:xfrm xmlns:a="http://schemas.openxmlformats.org/drawingml/2006/main">
            <a:off x="11049000" y="62484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26574"/>
                </a:solidFill>
                <a:latin typeface="Bitstream Charter"/>
                <a:ea typeface="Bitstream Charter"/>
                <a:cs typeface="Bitstream Charter"/>
              </a:defRPr>
            </a:pPr>
            <a:r>
              <a:rPr sz="1350" b="0">
                <a:solidFill>
                  <a:srgbClr val="526574"/>
                </a:solidFill>
                <a:latin typeface="Bitstream Charter"/>
                <a:ea typeface="Bitstream Charter"/>
                <a:cs typeface="Bitstream Charter"/>
              </a:rPr>
              <a:t>1</a:t>
            </a:r>
          </a:p>
        </p:txBody>
      </p:sp>
      <p:sp>
        <p:nvSpPr>
          <p:cNvPr id="3" name="">
            <a:extLst xmlns:a="http://schemas.openxmlformats.org/drawingml/2006/main">
              <a:ext uri="{FF2B5EF4-FFF2-40B4-BE49-F238E27FC236}">
                <a16:creationId xmlns:a16="http://schemas.microsoft.com/office/drawing/2014/main" id="{F6CB1096-862F-4DA9-B5F9-203591C32E47}"/>
              </a:ext>
            </a:extLst>
          </p:cNvPr>
          <p:cNvSpPr>
            <a:spLocks xmlns:a="http://schemas.openxmlformats.org/drawingml/2006/main" noGrp="1"/>
          </p:cNvSpPr>
          <p:nvPr/>
        </p:nvSpPr>
        <p:spPr>
          <a:xfrm xmlns:a="http://schemas.openxmlformats.org/drawingml/2006/main">
            <a:off x="685800" y="65722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006F70"/>
                </a:solidFill>
                <a:latin typeface="Bitstream Charter"/>
                <a:ea typeface="Bitstream Charter"/>
                <a:cs typeface="Bitstream Charter"/>
              </a:defRPr>
            </a:pPr>
            <a:r>
              <a:rPr sz="1575" b="1">
                <a:solidFill>
                  <a:srgbClr val="006F70"/>
                </a:solidFill>
                <a:latin typeface="Bitstream Charter"/>
                <a:ea typeface="Bitstream Charter"/>
                <a:cs typeface="Bitstream Charter"/>
              </a:rPr>
              <a:t>CIBERSEGURANÇA · TCC</a:t>
            </a:r>
          </a:p>
        </p:txBody>
      </p:sp>
      <p:sp>
        <p:nvSpPr>
          <p:cNvPr id="4" name="">
            <a:extLst xmlns:a="http://schemas.openxmlformats.org/drawingml/2006/main">
              <a:ext uri="{FF2B5EF4-FFF2-40B4-BE49-F238E27FC236}">
                <a16:creationId xmlns:a16="http://schemas.microsoft.com/office/drawing/2014/main" id="{7C70C871-B01A-4214-B034-49379C9C9255}"/>
              </a:ext>
            </a:extLst>
          </p:cNvPr>
          <p:cNvSpPr>
            <a:spLocks xmlns:a="http://schemas.openxmlformats.org/drawingml/2006/main" noGrp="1"/>
          </p:cNvSpPr>
          <p:nvPr/>
        </p:nvSpPr>
        <p:spPr>
          <a:xfrm xmlns:a="http://schemas.openxmlformats.org/drawingml/2006/main">
            <a:off x="685800" y="1600200"/>
            <a:ext cx="10572750" cy="1895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700" b="1">
                <a:solidFill>
                  <a:srgbClr val="102A43"/>
                </a:solidFill>
                <a:latin typeface="Bitstream Charter"/>
                <a:ea typeface="Bitstream Charter"/>
                <a:cs typeface="Bitstream Charter"/>
              </a:defRPr>
            </a:pPr>
            <a:r>
              <a:rPr sz="5700" b="1">
                <a:solidFill>
                  <a:srgbClr val="102A43"/>
                </a:solidFill>
                <a:latin typeface="Bitstream Charter"/>
                <a:ea typeface="Bitstream Charter"/>
                <a:cs typeface="Bitstream Charter"/>
              </a:rPr>
              <a:t>Priorização de</a:t>
            </a:r>
          </a:p>
          <a:p xmlns:a="http://schemas.openxmlformats.org/drawingml/2006/main">
            <a:pPr>
              <a:defRPr sz="5700" b="1">
                <a:solidFill>
                  <a:srgbClr val="102A43"/>
                </a:solidFill>
                <a:latin typeface="Bitstream Charter"/>
                <a:ea typeface="Bitstream Charter"/>
                <a:cs typeface="Bitstream Charter"/>
              </a:defRPr>
            </a:pPr>
            <a:r>
              <a:rPr sz="5700" b="1">
                <a:solidFill>
                  <a:srgbClr val="102A43"/>
                </a:solidFill>
                <a:latin typeface="Bitstream Charter"/>
                <a:ea typeface="Bitstream Charter"/>
                <a:cs typeface="Bitstream Charter"/>
              </a:rPr>
              <a:t>vulnerabilidades</a:t>
            </a:r>
          </a:p>
        </p:txBody>
      </p:sp>
      <p:sp>
        <p:nvSpPr>
          <p:cNvPr id="5" name="">
            <a:extLst xmlns:a="http://schemas.openxmlformats.org/drawingml/2006/main">
              <a:ext uri="{FF2B5EF4-FFF2-40B4-BE49-F238E27FC236}">
                <a16:creationId xmlns:a16="http://schemas.microsoft.com/office/drawing/2014/main" id="{0DBA5E2F-652E-411A-9261-F157F42CDE5A}"/>
              </a:ext>
            </a:extLst>
          </p:cNvPr>
          <p:cNvSpPr>
            <a:spLocks xmlns:a="http://schemas.openxmlformats.org/drawingml/2006/main" noGrp="1"/>
          </p:cNvSpPr>
          <p:nvPr/>
        </p:nvSpPr>
        <p:spPr>
          <a:xfrm xmlns:a="http://schemas.openxmlformats.org/drawingml/2006/main">
            <a:off x="723900" y="37814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0">
                <a:solidFill>
                  <a:srgbClr val="526574"/>
                </a:solidFill>
                <a:latin typeface="Bitstream Charter"/>
                <a:ea typeface="Bitstream Charter"/>
                <a:cs typeface="Bitstream Charter"/>
              </a:defRPr>
            </a:pPr>
            <a:r>
              <a:rPr sz="2475" b="0">
                <a:solidFill>
                  <a:srgbClr val="526574"/>
                </a:solidFill>
                <a:latin typeface="Bitstream Charter"/>
                <a:ea typeface="Bitstream Charter"/>
                <a:cs typeface="Bitstream Charter"/>
              </a:rPr>
              <a:t>Seminário de análise de artigo científico</a:t>
            </a:r>
          </a:p>
        </p:txBody>
      </p:sp>
      <p:sp>
        <p:nvSpPr>
          <p:cNvPr id="6" name="">
            <a:extLst xmlns:a="http://schemas.openxmlformats.org/drawingml/2006/main">
              <a:ext uri="{FF2B5EF4-FFF2-40B4-BE49-F238E27FC236}">
                <a16:creationId xmlns:a16="http://schemas.microsoft.com/office/drawing/2014/main" id="{18B9DFF1-F5B1-48D9-871D-40A76D3FD84E}"/>
              </a:ext>
            </a:extLst>
          </p:cNvPr>
          <p:cNvSpPr>
            <a:spLocks xmlns:a="http://schemas.openxmlformats.org/drawingml/2006/main" noGrp="1"/>
          </p:cNvSpPr>
          <p:nvPr/>
        </p:nvSpPr>
        <p:spPr>
          <a:xfrm xmlns:a="http://schemas.openxmlformats.org/drawingml/2006/main">
            <a:off x="723900" y="48482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02A43"/>
                </a:solidFill>
                <a:latin typeface="Bitstream Charter"/>
                <a:ea typeface="Bitstream Charter"/>
                <a:cs typeface="Bitstream Charter"/>
              </a:defRPr>
            </a:pPr>
            <a:r>
              <a:rPr sz="2025" b="1">
                <a:solidFill>
                  <a:srgbClr val="102A43"/>
                </a:solidFill>
                <a:latin typeface="Bitstream Charter"/>
                <a:ea typeface="Bitstream Charter"/>
                <a:cs typeface="Bitstream Charter"/>
              </a:rPr>
              <a:t>Claudio Meireles</a:t>
            </a:r>
          </a:p>
        </p:txBody>
      </p:sp>
      <p:sp>
        <p:nvSpPr>
          <p:cNvPr id="7" name="">
            <a:extLst xmlns:a="http://schemas.openxmlformats.org/drawingml/2006/main">
              <a:ext uri="{FF2B5EF4-FFF2-40B4-BE49-F238E27FC236}">
                <a16:creationId xmlns:a16="http://schemas.microsoft.com/office/drawing/2014/main" id="{42C531EA-55FE-43C9-9187-5A202EA17ACD}"/>
              </a:ext>
            </a:extLst>
          </p:cNvPr>
          <p:cNvSpPr>
            <a:spLocks xmlns:a="http://schemas.openxmlformats.org/drawingml/2006/main" noGrp="1"/>
          </p:cNvSpPr>
          <p:nvPr/>
        </p:nvSpPr>
        <p:spPr>
          <a:xfrm xmlns:a="http://schemas.openxmlformats.org/drawingml/2006/main">
            <a:off x="723900" y="52673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26574"/>
                </a:solidFill>
                <a:latin typeface="Bitstream Charter"/>
                <a:ea typeface="Bitstream Charter"/>
                <a:cs typeface="Bitstream Charter"/>
              </a:defRPr>
            </a:pPr>
            <a:r>
              <a:rPr sz="1650" b="0">
                <a:solidFill>
                  <a:srgbClr val="526574"/>
                </a:solidFill>
                <a:latin typeface="Bitstream Charter"/>
                <a:ea typeface="Bitstream Charter"/>
                <a:cs typeface="Bitstream Charter"/>
              </a:rPr>
              <a:t>Projeto Capstone I · IDP · 2026.2</a:t>
            </a:r>
          </a:p>
        </p:txBody>
      </p:sp>
    </p:spTree>
    <p:extLst>
      <p:ext uri="{BB962C8B-B14F-4D97-AF65-F5344CB8AC3E}">
        <p14:creationId xmlns:p14="http://schemas.microsoft.com/office/powerpoint/2010/main" val="16175951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FAB90F-4335-4420-9C07-9BF97956D04F}"/>
              </a:ext>
            </a:extLst>
          </p:cNvPr>
          <p:cNvSpPr>
            <a:spLocks xmlns:a="http://schemas.openxmlformats.org/drawingml/2006/main" noGrp="1"/>
          </p:cNvSpPr>
          <p:nvPr/>
        </p:nvSpPr>
        <p:spPr>
          <a:xfrm xmlns:a="http://schemas.openxmlformats.org/drawingml/2006/main">
            <a:off x="685800" y="3333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006F70"/>
                </a:solidFill>
                <a:latin typeface="Bitstream Charter"/>
                <a:ea typeface="Bitstream Charter"/>
                <a:cs typeface="Bitstream Charter"/>
              </a:defRPr>
            </a:pPr>
            <a:r>
              <a:rPr sz="1200" b="1">
                <a:solidFill>
                  <a:srgbClr val="006F70"/>
                </a:solidFill>
                <a:latin typeface="Bitstream Charter"/>
                <a:ea typeface="Bitstream Charter"/>
                <a:cs typeface="Bitstream Charter"/>
              </a:rPr>
              <a:t>1 · SELEÇÃO DO ARTIGO</a:t>
            </a:r>
          </a:p>
        </p:txBody>
      </p:sp>
      <p:sp>
        <p:nvSpPr>
          <p:cNvPr id="2" name="">
            <a:extLst xmlns:a="http://schemas.openxmlformats.org/drawingml/2006/main">
              <a:ext uri="{FF2B5EF4-FFF2-40B4-BE49-F238E27FC236}">
                <a16:creationId xmlns:a16="http://schemas.microsoft.com/office/drawing/2014/main" id="{5DF21E78-8384-4A8C-810A-849F2B944767}"/>
              </a:ext>
            </a:extLst>
          </p:cNvPr>
          <p:cNvSpPr>
            <a:spLocks xmlns:a="http://schemas.openxmlformats.org/drawingml/2006/main" noGrp="1"/>
          </p:cNvSpPr>
          <p:nvPr/>
        </p:nvSpPr>
        <p:spPr>
          <a:xfrm xmlns:a="http://schemas.openxmlformats.org/drawingml/2006/main">
            <a:off x="685800" y="790575"/>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02A43"/>
                </a:solidFill>
                <a:latin typeface="Bitstream Charter"/>
                <a:ea typeface="Bitstream Charter"/>
                <a:cs typeface="Bitstream Charter"/>
              </a:defRPr>
            </a:pPr>
            <a:r>
              <a:rPr sz="3300" b="1">
                <a:solidFill>
                  <a:srgbClr val="102A43"/>
                </a:solidFill>
                <a:latin typeface="Bitstream Charter"/>
                <a:ea typeface="Bitstream Charter"/>
                <a:cs typeface="Bitstream Charter"/>
              </a:rPr>
              <a:t>Recorte provisório do TCC</a:t>
            </a:r>
          </a:p>
        </p:txBody>
      </p:sp>
      <p:sp>
        <p:nvSpPr>
          <p:cNvPr id="3" name="">
            <a:extLst xmlns:a="http://schemas.openxmlformats.org/drawingml/2006/main">
              <a:ext uri="{FF2B5EF4-FFF2-40B4-BE49-F238E27FC236}">
                <a16:creationId xmlns:a16="http://schemas.microsoft.com/office/drawing/2014/main" id="{00F3DAD8-B981-41DE-AE42-DEB6EE8455C0}"/>
              </a:ext>
            </a:extLst>
          </p:cNvPr>
          <p:cNvSpPr>
            <a:spLocks xmlns:a="http://schemas.openxmlformats.org/drawingml/2006/main" noGrp="1"/>
          </p:cNvSpPr>
          <p:nvPr/>
        </p:nvSpPr>
        <p:spPr>
          <a:xfrm xmlns:a="http://schemas.openxmlformats.org/drawingml/2006/main">
            <a:off x="685800" y="6219825"/>
            <a:ext cx="1019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4"/>
                </a:solidFill>
                <a:latin typeface="Bitstream Charter"/>
                <a:ea typeface="Bitstream Charter"/>
                <a:cs typeface="Bitstream Charter"/>
              </a:defRPr>
            </a:pPr>
            <a:r>
              <a:rPr sz="1125" b="0">
                <a:solidFill>
                  <a:srgbClr val="526574"/>
                </a:solidFill>
                <a:latin typeface="Bitstream Charter"/>
                <a:ea typeface="Bitstream Charter"/>
                <a:cs typeface="Bitstream Charter"/>
              </a:rPr>
              <a:t>O tema definitivo e a contribuição do TCC permanecem em aberto</a:t>
            </a:r>
          </a:p>
        </p:txBody>
      </p:sp>
      <p:sp>
        <p:nvSpPr>
          <p:cNvPr id="4" name="">
            <a:extLst xmlns:a="http://schemas.openxmlformats.org/drawingml/2006/main">
              <a:ext uri="{FF2B5EF4-FFF2-40B4-BE49-F238E27FC236}">
                <a16:creationId xmlns:a16="http://schemas.microsoft.com/office/drawing/2014/main" id="{D251956E-269C-4007-8752-A15B9F1B1BE2}"/>
              </a:ext>
            </a:extLst>
          </p:cNvPr>
          <p:cNvSpPr>
            <a:spLocks xmlns:a="http://schemas.openxmlformats.org/drawingml/2006/main" noGrp="1"/>
          </p:cNvSpPr>
          <p:nvPr/>
        </p:nvSpPr>
        <p:spPr>
          <a:xfrm xmlns:a="http://schemas.openxmlformats.org/drawingml/2006/main">
            <a:off x="11049000" y="62484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26574"/>
                </a:solidFill>
                <a:latin typeface="Bitstream Charter"/>
                <a:ea typeface="Bitstream Charter"/>
                <a:cs typeface="Bitstream Charter"/>
              </a:defRPr>
            </a:pPr>
            <a:r>
              <a:rPr sz="1350" b="0">
                <a:solidFill>
                  <a:srgbClr val="526574"/>
                </a:solidFill>
                <a:latin typeface="Bitstream Charter"/>
                <a:ea typeface="Bitstream Charter"/>
                <a:cs typeface="Bitstream Charter"/>
              </a:rPr>
              <a:t>2</a:t>
            </a:r>
          </a:p>
        </p:txBody>
      </p:sp>
      <p:sp>
        <p:nvSpPr>
          <p:cNvPr id="5" name="">
            <a:extLst xmlns:a="http://schemas.openxmlformats.org/drawingml/2006/main">
              <a:ext uri="{FF2B5EF4-FFF2-40B4-BE49-F238E27FC236}">
                <a16:creationId xmlns:a16="http://schemas.microsoft.com/office/drawing/2014/main" id="{1C4E8E9A-34D6-4AA0-949B-8C28361619FC}"/>
              </a:ext>
            </a:extLst>
          </p:cNvPr>
          <p:cNvSpPr>
            <a:spLocks xmlns:a="http://schemas.openxmlformats.org/drawingml/2006/main" noGrp="1"/>
          </p:cNvSpPr>
          <p:nvPr/>
        </p:nvSpPr>
        <p:spPr>
          <a:xfrm xmlns:a="http://schemas.openxmlformats.org/drawingml/2006/main">
            <a:off x="685800" y="18669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06F70"/>
                </a:solidFill>
                <a:latin typeface="Bitstream Charter"/>
                <a:ea typeface="Bitstream Charter"/>
                <a:cs typeface="Bitstream Charter"/>
              </a:defRPr>
            </a:pPr>
            <a:r>
              <a:rPr sz="1725" b="1">
                <a:solidFill>
                  <a:srgbClr val="006F70"/>
                </a:solidFill>
                <a:latin typeface="Bitstream Charter"/>
                <a:ea typeface="Bitstream Charter"/>
                <a:cs typeface="Bitstream Charter"/>
              </a:rPr>
              <a:t>Área</a:t>
            </a:r>
          </a:p>
        </p:txBody>
      </p:sp>
      <p:sp>
        <p:nvSpPr>
          <p:cNvPr id="6" name="">
            <a:extLst xmlns:a="http://schemas.openxmlformats.org/drawingml/2006/main">
              <a:ext uri="{FF2B5EF4-FFF2-40B4-BE49-F238E27FC236}">
                <a16:creationId xmlns:a16="http://schemas.microsoft.com/office/drawing/2014/main" id="{7B21904C-5947-4DF9-984E-6D2D82D759DA}"/>
              </a:ext>
            </a:extLst>
          </p:cNvPr>
          <p:cNvSpPr>
            <a:spLocks xmlns:a="http://schemas.openxmlformats.org/drawingml/2006/main" noGrp="1"/>
          </p:cNvSpPr>
          <p:nvPr/>
        </p:nvSpPr>
        <p:spPr>
          <a:xfrm xmlns:a="http://schemas.openxmlformats.org/drawingml/2006/main">
            <a:off x="685800" y="2257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02A43"/>
                </a:solidFill>
                <a:latin typeface="Bitstream Charter"/>
                <a:ea typeface="Bitstream Charter"/>
                <a:cs typeface="Bitstream Charter"/>
              </a:defRPr>
            </a:pPr>
            <a:r>
              <a:rPr sz="2325" b="0">
                <a:solidFill>
                  <a:srgbClr val="102A43"/>
                </a:solidFill>
                <a:latin typeface="Bitstream Charter"/>
                <a:ea typeface="Bitstream Charter"/>
                <a:cs typeface="Bitstream Charter"/>
              </a:rPr>
              <a:t>Cibersegurança</a:t>
            </a:r>
          </a:p>
        </p:txBody>
      </p:sp>
      <p:sp>
        <p:nvSpPr>
          <p:cNvPr id="7" name="">
            <a:extLst xmlns:a="http://schemas.openxmlformats.org/drawingml/2006/main">
              <a:ext uri="{FF2B5EF4-FFF2-40B4-BE49-F238E27FC236}">
                <a16:creationId xmlns:a16="http://schemas.microsoft.com/office/drawing/2014/main" id="{BFEE864B-95C9-4779-ADAB-5D1D334FC8C4}"/>
              </a:ext>
            </a:extLst>
          </p:cNvPr>
          <p:cNvSpPr>
            <a:spLocks xmlns:a="http://schemas.openxmlformats.org/drawingml/2006/main" noGrp="1"/>
          </p:cNvSpPr>
          <p:nvPr/>
        </p:nvSpPr>
        <p:spPr>
          <a:xfrm xmlns:a="http://schemas.openxmlformats.org/drawingml/2006/main">
            <a:off x="685800" y="32099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06F70"/>
                </a:solidFill>
                <a:latin typeface="Bitstream Charter"/>
                <a:ea typeface="Bitstream Charter"/>
                <a:cs typeface="Bitstream Charter"/>
              </a:defRPr>
            </a:pPr>
            <a:r>
              <a:rPr sz="1725" b="1">
                <a:solidFill>
                  <a:srgbClr val="006F70"/>
                </a:solidFill>
                <a:latin typeface="Bitstream Charter"/>
                <a:ea typeface="Bitstream Charter"/>
                <a:cs typeface="Bitstream Charter"/>
              </a:rPr>
              <a:t>Recorte do seminário</a:t>
            </a:r>
          </a:p>
        </p:txBody>
      </p:sp>
      <p:sp>
        <p:nvSpPr>
          <p:cNvPr id="8" name="">
            <a:extLst xmlns:a="http://schemas.openxmlformats.org/drawingml/2006/main">
              <a:ext uri="{FF2B5EF4-FFF2-40B4-BE49-F238E27FC236}">
                <a16:creationId xmlns:a16="http://schemas.microsoft.com/office/drawing/2014/main" id="{09163A32-F82E-4433-8F29-BF58BDC53361}"/>
              </a:ext>
            </a:extLst>
          </p:cNvPr>
          <p:cNvSpPr>
            <a:spLocks xmlns:a="http://schemas.openxmlformats.org/drawingml/2006/main" noGrp="1"/>
          </p:cNvSpPr>
          <p:nvPr/>
        </p:nvSpPr>
        <p:spPr>
          <a:xfrm xmlns:a="http://schemas.openxmlformats.org/drawingml/2006/main">
            <a:off x="685800" y="36004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02A43"/>
                </a:solidFill>
                <a:latin typeface="Bitstream Charter"/>
                <a:ea typeface="Bitstream Charter"/>
                <a:cs typeface="Bitstream Charter"/>
              </a:defRPr>
            </a:pPr>
            <a:r>
              <a:rPr sz="2325" b="0">
                <a:solidFill>
                  <a:srgbClr val="102A43"/>
                </a:solidFill>
                <a:latin typeface="Bitstream Charter"/>
                <a:ea typeface="Bitstream Charter"/>
                <a:cs typeface="Bitstream Charter"/>
              </a:rPr>
              <a:t>Avaliação de critérios para priorizar vulnerabilidades</a:t>
            </a:r>
          </a:p>
        </p:txBody>
      </p:sp>
      <p:sp>
        <p:nvSpPr>
          <p:cNvPr id="9" name="">
            <a:extLst xmlns:a="http://schemas.openxmlformats.org/drawingml/2006/main">
              <a:ext uri="{FF2B5EF4-FFF2-40B4-BE49-F238E27FC236}">
                <a16:creationId xmlns:a16="http://schemas.microsoft.com/office/drawing/2014/main" id="{E3F08BCF-69EE-48D8-A9F2-92C6197C3B39}"/>
              </a:ext>
            </a:extLst>
          </p:cNvPr>
          <p:cNvSpPr>
            <a:spLocks xmlns:a="http://schemas.openxmlformats.org/drawingml/2006/main" noGrp="1"/>
          </p:cNvSpPr>
          <p:nvPr/>
        </p:nvSpPr>
        <p:spPr>
          <a:xfrm xmlns:a="http://schemas.openxmlformats.org/drawingml/2006/main">
            <a:off x="685800" y="45529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06F70"/>
                </a:solidFill>
                <a:latin typeface="Bitstream Charter"/>
                <a:ea typeface="Bitstream Charter"/>
                <a:cs typeface="Bitstream Charter"/>
              </a:defRPr>
            </a:pPr>
            <a:r>
              <a:rPr sz="1725" b="1">
                <a:solidFill>
                  <a:srgbClr val="006F70"/>
                </a:solidFill>
                <a:latin typeface="Bitstream Charter"/>
                <a:ea typeface="Bitstream Charter"/>
                <a:cs typeface="Bitstream Charter"/>
              </a:rPr>
              <a:t>Pergunta inicial</a:t>
            </a:r>
          </a:p>
        </p:txBody>
      </p:sp>
      <p:sp>
        <p:nvSpPr>
          <p:cNvPr id="10" name="">
            <a:extLst xmlns:a="http://schemas.openxmlformats.org/drawingml/2006/main">
              <a:ext uri="{FF2B5EF4-FFF2-40B4-BE49-F238E27FC236}">
                <a16:creationId xmlns:a16="http://schemas.microsoft.com/office/drawing/2014/main" id="{B6A52D4E-C290-41EC-8B1A-902DFB13F21B}"/>
              </a:ext>
            </a:extLst>
          </p:cNvPr>
          <p:cNvSpPr>
            <a:spLocks xmlns:a="http://schemas.openxmlformats.org/drawingml/2006/main" noGrp="1"/>
          </p:cNvSpPr>
          <p:nvPr/>
        </p:nvSpPr>
        <p:spPr>
          <a:xfrm xmlns:a="http://schemas.openxmlformats.org/drawingml/2006/main">
            <a:off x="685800" y="49434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02A43"/>
                </a:solidFill>
                <a:latin typeface="Bitstream Charter"/>
                <a:ea typeface="Bitstream Charter"/>
                <a:cs typeface="Bitstream Charter"/>
              </a:defRPr>
            </a:pPr>
            <a:r>
              <a:rPr sz="2325" b="0">
                <a:solidFill>
                  <a:srgbClr val="102A43"/>
                </a:solidFill>
                <a:latin typeface="Bitstream Charter"/>
                <a:ea typeface="Bitstream Charter"/>
                <a:cs typeface="Bitstream Charter"/>
              </a:rPr>
              <a:t>Como a escolha do escore altera a lista de correções prioritárias?</a:t>
            </a:r>
          </a:p>
        </p:txBody>
      </p:sp>
    </p:spTree>
    <p:extLst>
      <p:ext uri="{BB962C8B-B14F-4D97-AF65-F5344CB8AC3E}">
        <p14:creationId xmlns:p14="http://schemas.microsoft.com/office/powerpoint/2010/main" val="20712723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D92604D-E4FF-4440-BEE4-6A968A1858DA}"/>
              </a:ext>
            </a:extLst>
          </p:cNvPr>
          <p:cNvSpPr>
            <a:spLocks xmlns:a="http://schemas.openxmlformats.org/drawingml/2006/main" noGrp="1"/>
          </p:cNvSpPr>
          <p:nvPr/>
        </p:nvSpPr>
        <p:spPr>
          <a:xfrm xmlns:a="http://schemas.openxmlformats.org/drawingml/2006/main">
            <a:off x="685800" y="3333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006F70"/>
                </a:solidFill>
                <a:latin typeface="Bitstream Charter"/>
                <a:ea typeface="Bitstream Charter"/>
                <a:cs typeface="Bitstream Charter"/>
              </a:defRPr>
            </a:pPr>
            <a:r>
              <a:rPr sz="1200" b="1">
                <a:solidFill>
                  <a:srgbClr val="006F70"/>
                </a:solidFill>
                <a:latin typeface="Bitstream Charter"/>
                <a:ea typeface="Bitstream Charter"/>
                <a:cs typeface="Bitstream Charter"/>
              </a:rPr>
              <a:t>1 · SELEÇÃO DO ARTIGO</a:t>
            </a:r>
          </a:p>
        </p:txBody>
      </p:sp>
      <p:sp>
        <p:nvSpPr>
          <p:cNvPr id="2" name="">
            <a:extLst xmlns:a="http://schemas.openxmlformats.org/drawingml/2006/main">
              <a:ext uri="{FF2B5EF4-FFF2-40B4-BE49-F238E27FC236}">
                <a16:creationId xmlns:a16="http://schemas.microsoft.com/office/drawing/2014/main" id="{31431879-F578-4FF6-BCE0-D27ECD2D2127}"/>
              </a:ext>
            </a:extLst>
          </p:cNvPr>
          <p:cNvSpPr>
            <a:spLocks xmlns:a="http://schemas.openxmlformats.org/drawingml/2006/main" noGrp="1"/>
          </p:cNvSpPr>
          <p:nvPr/>
        </p:nvSpPr>
        <p:spPr>
          <a:xfrm xmlns:a="http://schemas.openxmlformats.org/drawingml/2006/main">
            <a:off x="685800" y="790575"/>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02A43"/>
                </a:solidFill>
                <a:latin typeface="Bitstream Charter"/>
                <a:ea typeface="Bitstream Charter"/>
                <a:cs typeface="Bitstream Charter"/>
              </a:defRPr>
            </a:pPr>
            <a:r>
              <a:rPr sz="3300" b="1">
                <a:solidFill>
                  <a:srgbClr val="102A43"/>
                </a:solidFill>
                <a:latin typeface="Bitstream Charter"/>
                <a:ea typeface="Bitstream Charter"/>
                <a:cs typeface="Bitstream Charter"/>
              </a:rPr>
              <a:t>Seleção: busca e triagem</a:t>
            </a:r>
          </a:p>
        </p:txBody>
      </p:sp>
      <p:sp>
        <p:nvSpPr>
          <p:cNvPr id="3" name="">
            <a:extLst xmlns:a="http://schemas.openxmlformats.org/drawingml/2006/main">
              <a:ext uri="{FF2B5EF4-FFF2-40B4-BE49-F238E27FC236}">
                <a16:creationId xmlns:a16="http://schemas.microsoft.com/office/drawing/2014/main" id="{8436766C-1ED1-4D04-92BA-B06FF419D237}"/>
              </a:ext>
            </a:extLst>
          </p:cNvPr>
          <p:cNvSpPr>
            <a:spLocks xmlns:a="http://schemas.openxmlformats.org/drawingml/2006/main" noGrp="1"/>
          </p:cNvSpPr>
          <p:nvPr/>
        </p:nvSpPr>
        <p:spPr>
          <a:xfrm xmlns:a="http://schemas.openxmlformats.org/drawingml/2006/main">
            <a:off x="685800" y="6219825"/>
            <a:ext cx="1019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4"/>
                </a:solidFill>
                <a:latin typeface="Bitstream Charter"/>
                <a:ea typeface="Bitstream Charter"/>
                <a:cs typeface="Bitstream Charter"/>
              </a:defRPr>
            </a:pPr>
            <a:r>
              <a:rPr sz="1125" b="0">
                <a:solidFill>
                  <a:srgbClr val="526574"/>
                </a:solidFill>
                <a:latin typeface="Bitstream Charter"/>
                <a:ea typeface="Bitstream Charter"/>
                <a:cs typeface="Bitstream Charter"/>
              </a:rPr>
              <a:t>Busca pública concluída. Registro da busca autenticada via CAFe pendente.</a:t>
            </a:r>
          </a:p>
        </p:txBody>
      </p:sp>
      <p:sp>
        <p:nvSpPr>
          <p:cNvPr id="4" name="">
            <a:extLst xmlns:a="http://schemas.openxmlformats.org/drawingml/2006/main">
              <a:ext uri="{FF2B5EF4-FFF2-40B4-BE49-F238E27FC236}">
                <a16:creationId xmlns:a16="http://schemas.microsoft.com/office/drawing/2014/main" id="{B437FB13-93FB-4A4A-A2C2-DC0946E1B5CD}"/>
              </a:ext>
            </a:extLst>
          </p:cNvPr>
          <p:cNvSpPr>
            <a:spLocks xmlns:a="http://schemas.openxmlformats.org/drawingml/2006/main" noGrp="1"/>
          </p:cNvSpPr>
          <p:nvPr/>
        </p:nvSpPr>
        <p:spPr>
          <a:xfrm xmlns:a="http://schemas.openxmlformats.org/drawingml/2006/main">
            <a:off x="11049000" y="62484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26574"/>
                </a:solidFill>
                <a:latin typeface="Bitstream Charter"/>
                <a:ea typeface="Bitstream Charter"/>
                <a:cs typeface="Bitstream Charter"/>
              </a:defRPr>
            </a:pPr>
            <a:r>
              <a:rPr sz="1350" b="0">
                <a:solidFill>
                  <a:srgbClr val="526574"/>
                </a:solidFill>
                <a:latin typeface="Bitstream Charter"/>
                <a:ea typeface="Bitstream Charter"/>
                <a:cs typeface="Bitstream Charter"/>
              </a:rPr>
              <a:t>3</a:t>
            </a:r>
          </a:p>
        </p:txBody>
      </p:sp>
      <p:sp>
        <p:nvSpPr>
          <p:cNvPr id="5" name="">
            <a:extLst xmlns:a="http://schemas.openxmlformats.org/drawingml/2006/main">
              <a:ext uri="{FF2B5EF4-FFF2-40B4-BE49-F238E27FC236}">
                <a16:creationId xmlns:a16="http://schemas.microsoft.com/office/drawing/2014/main" id="{35185431-3DA0-421C-8995-C711F4A2BF5C}"/>
              </a:ext>
            </a:extLst>
          </p:cNvPr>
          <p:cNvSpPr>
            <a:spLocks xmlns:a="http://schemas.openxmlformats.org/drawingml/2006/main" noGrp="1"/>
          </p:cNvSpPr>
          <p:nvPr/>
        </p:nvSpPr>
        <p:spPr>
          <a:xfrm xmlns:a="http://schemas.openxmlformats.org/drawingml/2006/main">
            <a:off x="685800" y="1857375"/>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006F70"/>
                </a:solidFill>
                <a:latin typeface="Bitstream Charter"/>
                <a:ea typeface="Bitstream Charter"/>
                <a:cs typeface="Bitstream Charter"/>
              </a:defRPr>
            </a:pPr>
            <a:r>
              <a:rPr sz="3300" b="1">
                <a:solidFill>
                  <a:srgbClr val="006F70"/>
                </a:solidFill>
                <a:latin typeface="Bitstream Charter"/>
                <a:ea typeface="Bitstream Charter"/>
                <a:cs typeface="Bitstream Charter"/>
              </a:rPr>
              <a:t>1</a:t>
            </a:r>
          </a:p>
        </p:txBody>
      </p:sp>
      <p:sp>
        <p:nvSpPr>
          <p:cNvPr id="6" name="">
            <a:extLst xmlns:a="http://schemas.openxmlformats.org/drawingml/2006/main">
              <a:ext uri="{FF2B5EF4-FFF2-40B4-BE49-F238E27FC236}">
                <a16:creationId xmlns:a16="http://schemas.microsoft.com/office/drawing/2014/main" id="{5ADFB735-FE19-4EB6-9A1F-3B4646C407B4}"/>
              </a:ext>
            </a:extLst>
          </p:cNvPr>
          <p:cNvSpPr>
            <a:spLocks xmlns:a="http://schemas.openxmlformats.org/drawingml/2006/main" noGrp="1"/>
          </p:cNvSpPr>
          <p:nvPr/>
        </p:nvSpPr>
        <p:spPr>
          <a:xfrm xmlns:a="http://schemas.openxmlformats.org/drawingml/2006/main">
            <a:off x="1466850" y="1885950"/>
            <a:ext cx="9810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02A43"/>
                </a:solidFill>
                <a:latin typeface="Bitstream Charter"/>
                <a:ea typeface="Bitstream Charter"/>
                <a:cs typeface="Bitstream Charter"/>
              </a:defRPr>
            </a:pPr>
            <a:r>
              <a:rPr sz="2175" b="0">
                <a:solidFill>
                  <a:srgbClr val="102A43"/>
                </a:solidFill>
                <a:latin typeface="Bitstream Charter"/>
                <a:ea typeface="Bitstream Charter"/>
                <a:cs typeface="Bitstream Charter"/>
              </a:rPr>
              <a:t>Acesso CAFe pelo IDP e abertura da ACM Digital Library</a:t>
            </a:r>
          </a:p>
        </p:txBody>
      </p:sp>
      <p:sp>
        <p:nvSpPr>
          <p:cNvPr id="7" name="">
            <a:extLst xmlns:a="http://schemas.openxmlformats.org/drawingml/2006/main">
              <a:ext uri="{FF2B5EF4-FFF2-40B4-BE49-F238E27FC236}">
                <a16:creationId xmlns:a16="http://schemas.microsoft.com/office/drawing/2014/main" id="{8F43D106-514E-4B24-A674-9BBCDDCBF5E2}"/>
              </a:ext>
            </a:extLst>
          </p:cNvPr>
          <p:cNvSpPr>
            <a:spLocks xmlns:a="http://schemas.openxmlformats.org/drawingml/2006/main" noGrp="1"/>
          </p:cNvSpPr>
          <p:nvPr/>
        </p:nvSpPr>
        <p:spPr>
          <a:xfrm xmlns:a="http://schemas.openxmlformats.org/drawingml/2006/main">
            <a:off x="685800" y="2838450"/>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006F70"/>
                </a:solidFill>
                <a:latin typeface="Bitstream Charter"/>
                <a:ea typeface="Bitstream Charter"/>
                <a:cs typeface="Bitstream Charter"/>
              </a:defRPr>
            </a:pPr>
            <a:r>
              <a:rPr sz="3300" b="1">
                <a:solidFill>
                  <a:srgbClr val="006F70"/>
                </a:solidFill>
                <a:latin typeface="Bitstream Charter"/>
                <a:ea typeface="Bitstream Charter"/>
                <a:cs typeface="Bitstream Charter"/>
              </a:rPr>
              <a:t>2</a:t>
            </a:r>
          </a:p>
        </p:txBody>
      </p:sp>
      <p:sp>
        <p:nvSpPr>
          <p:cNvPr id="8" name="">
            <a:extLst xmlns:a="http://schemas.openxmlformats.org/drawingml/2006/main">
              <a:ext uri="{FF2B5EF4-FFF2-40B4-BE49-F238E27FC236}">
                <a16:creationId xmlns:a16="http://schemas.microsoft.com/office/drawing/2014/main" id="{A4286035-2618-473B-A14D-6A9AAC5F70FE}"/>
              </a:ext>
            </a:extLst>
          </p:cNvPr>
          <p:cNvSpPr>
            <a:spLocks xmlns:a="http://schemas.openxmlformats.org/drawingml/2006/main" noGrp="1"/>
          </p:cNvSpPr>
          <p:nvPr/>
        </p:nvSpPr>
        <p:spPr>
          <a:xfrm xmlns:a="http://schemas.openxmlformats.org/drawingml/2006/main">
            <a:off x="1466850" y="2867025"/>
            <a:ext cx="9810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02A43"/>
                </a:solidFill>
                <a:latin typeface="Bitstream Charter"/>
                <a:ea typeface="Bitstream Charter"/>
                <a:cs typeface="Bitstream Charter"/>
              </a:defRPr>
            </a:pPr>
            <a:r>
              <a:rPr sz="2175" b="0">
                <a:solidFill>
                  <a:srgbClr val="102A43"/>
                </a:solidFill>
                <a:latin typeface="Bitstream Charter"/>
                <a:ea typeface="Bitstream Charter"/>
                <a:cs typeface="Bitstream Charter"/>
              </a:rPr>
              <a:t>Busca proposta: "vulnerability prioritization" AND (CVSS OR EPSS OR SSVC)</a:t>
            </a:r>
          </a:p>
        </p:txBody>
      </p:sp>
      <p:sp>
        <p:nvSpPr>
          <p:cNvPr id="9" name="">
            <a:extLst xmlns:a="http://schemas.openxmlformats.org/drawingml/2006/main">
              <a:ext uri="{FF2B5EF4-FFF2-40B4-BE49-F238E27FC236}">
                <a16:creationId xmlns:a16="http://schemas.microsoft.com/office/drawing/2014/main" id="{07000725-FA38-4BC9-8C95-FBA4A61AB236}"/>
              </a:ext>
            </a:extLst>
          </p:cNvPr>
          <p:cNvSpPr>
            <a:spLocks xmlns:a="http://schemas.openxmlformats.org/drawingml/2006/main" noGrp="1"/>
          </p:cNvSpPr>
          <p:nvPr/>
        </p:nvSpPr>
        <p:spPr>
          <a:xfrm xmlns:a="http://schemas.openxmlformats.org/drawingml/2006/main">
            <a:off x="685800" y="3819525"/>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006F70"/>
                </a:solidFill>
                <a:latin typeface="Bitstream Charter"/>
                <a:ea typeface="Bitstream Charter"/>
                <a:cs typeface="Bitstream Charter"/>
              </a:defRPr>
            </a:pPr>
            <a:r>
              <a:rPr sz="3300" b="1">
                <a:solidFill>
                  <a:srgbClr val="006F70"/>
                </a:solidFill>
                <a:latin typeface="Bitstream Charter"/>
                <a:ea typeface="Bitstream Charter"/>
                <a:cs typeface="Bitstream Charter"/>
              </a:rPr>
              <a:t>3</a:t>
            </a:r>
          </a:p>
        </p:txBody>
      </p:sp>
      <p:sp>
        <p:nvSpPr>
          <p:cNvPr id="10" name="">
            <a:extLst xmlns:a="http://schemas.openxmlformats.org/drawingml/2006/main">
              <a:ext uri="{FF2B5EF4-FFF2-40B4-BE49-F238E27FC236}">
                <a16:creationId xmlns:a16="http://schemas.microsoft.com/office/drawing/2014/main" id="{0282619A-B073-4799-9263-7339B7B853C6}"/>
              </a:ext>
            </a:extLst>
          </p:cNvPr>
          <p:cNvSpPr>
            <a:spLocks xmlns:a="http://schemas.openxmlformats.org/drawingml/2006/main" noGrp="1"/>
          </p:cNvSpPr>
          <p:nvPr/>
        </p:nvSpPr>
        <p:spPr>
          <a:xfrm xmlns:a="http://schemas.openxmlformats.org/drawingml/2006/main">
            <a:off x="1466850" y="3848100"/>
            <a:ext cx="9810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02A43"/>
                </a:solidFill>
                <a:latin typeface="Bitstream Charter"/>
                <a:ea typeface="Bitstream Charter"/>
                <a:cs typeface="Bitstream Charter"/>
              </a:defRPr>
            </a:pPr>
            <a:r>
              <a:rPr sz="2175" b="0">
                <a:solidFill>
                  <a:srgbClr val="102A43"/>
                </a:solidFill>
                <a:latin typeface="Bitstream Charter"/>
                <a:ea typeface="Bitstream Charter"/>
                <a:cs typeface="Bitstream Charter"/>
              </a:rPr>
              <a:t>Filtro inicial: 2021–2026, artigo completo, pesquisa empírica</a:t>
            </a:r>
          </a:p>
        </p:txBody>
      </p:sp>
      <p:sp>
        <p:nvSpPr>
          <p:cNvPr id="11" name="">
            <a:extLst xmlns:a="http://schemas.openxmlformats.org/drawingml/2006/main">
              <a:ext uri="{FF2B5EF4-FFF2-40B4-BE49-F238E27FC236}">
                <a16:creationId xmlns:a16="http://schemas.microsoft.com/office/drawing/2014/main" id="{2205023C-863E-4697-B1D7-94660626CC7E}"/>
              </a:ext>
            </a:extLst>
          </p:cNvPr>
          <p:cNvSpPr>
            <a:spLocks xmlns:a="http://schemas.openxmlformats.org/drawingml/2006/main" noGrp="1"/>
          </p:cNvSpPr>
          <p:nvPr/>
        </p:nvSpPr>
        <p:spPr>
          <a:xfrm xmlns:a="http://schemas.openxmlformats.org/drawingml/2006/main">
            <a:off x="685800" y="4800600"/>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006F70"/>
                </a:solidFill>
                <a:latin typeface="Bitstream Charter"/>
                <a:ea typeface="Bitstream Charter"/>
                <a:cs typeface="Bitstream Charter"/>
              </a:defRPr>
            </a:pPr>
            <a:r>
              <a:rPr sz="3300" b="1">
                <a:solidFill>
                  <a:srgbClr val="006F70"/>
                </a:solidFill>
                <a:latin typeface="Bitstream Charter"/>
                <a:ea typeface="Bitstream Charter"/>
                <a:cs typeface="Bitstream Charter"/>
              </a:rPr>
              <a:t>4</a:t>
            </a:r>
          </a:p>
        </p:txBody>
      </p:sp>
      <p:sp>
        <p:nvSpPr>
          <p:cNvPr id="12" name="">
            <a:extLst xmlns:a="http://schemas.openxmlformats.org/drawingml/2006/main">
              <a:ext uri="{FF2B5EF4-FFF2-40B4-BE49-F238E27FC236}">
                <a16:creationId xmlns:a16="http://schemas.microsoft.com/office/drawing/2014/main" id="{534FDFC0-5CEE-48DF-A9F0-D92EA4CED0DF}"/>
              </a:ext>
            </a:extLst>
          </p:cNvPr>
          <p:cNvSpPr>
            <a:spLocks xmlns:a="http://schemas.openxmlformats.org/drawingml/2006/main" noGrp="1"/>
          </p:cNvSpPr>
          <p:nvPr/>
        </p:nvSpPr>
        <p:spPr>
          <a:xfrm xmlns:a="http://schemas.openxmlformats.org/drawingml/2006/main">
            <a:off x="1466850" y="4829175"/>
            <a:ext cx="9810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02A43"/>
                </a:solidFill>
                <a:latin typeface="Bitstream Charter"/>
                <a:ea typeface="Bitstream Charter"/>
                <a:cs typeface="Bitstream Charter"/>
              </a:defRPr>
            </a:pPr>
            <a:r>
              <a:rPr sz="2175" b="0">
                <a:solidFill>
                  <a:srgbClr val="102A43"/>
                </a:solidFill>
                <a:latin typeface="Bitstream Charter"/>
                <a:ea typeface="Bitstream Charter"/>
                <a:cs typeface="Bitstream Charter"/>
              </a:rPr>
              <a:t>Leitura integral e decisão por aderência, método e dados</a:t>
            </a:r>
          </a:p>
        </p:txBody>
      </p:sp>
    </p:spTree>
    <p:extLst>
      <p:ext uri="{BB962C8B-B14F-4D97-AF65-F5344CB8AC3E}">
        <p14:creationId xmlns:p14="http://schemas.microsoft.com/office/powerpoint/2010/main" val="10864242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319FFF7-37C4-491D-B31F-2C182DCBA71E}"/>
              </a:ext>
            </a:extLst>
          </p:cNvPr>
          <p:cNvSpPr>
            <a:spLocks xmlns:a="http://schemas.openxmlformats.org/drawingml/2006/main" noGrp="1"/>
          </p:cNvSpPr>
          <p:nvPr/>
        </p:nvSpPr>
        <p:spPr>
          <a:xfrm xmlns:a="http://schemas.openxmlformats.org/drawingml/2006/main">
            <a:off x="685800" y="3333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006F70"/>
                </a:solidFill>
                <a:latin typeface="Bitstream Charter"/>
                <a:ea typeface="Bitstream Charter"/>
                <a:cs typeface="Bitstream Charter"/>
              </a:defRPr>
            </a:pPr>
            <a:r>
              <a:rPr sz="1200" b="1">
                <a:solidFill>
                  <a:srgbClr val="006F70"/>
                </a:solidFill>
                <a:latin typeface="Bitstream Charter"/>
                <a:ea typeface="Bitstream Charter"/>
                <a:cs typeface="Bitstream Charter"/>
              </a:rPr>
              <a:t>1 · SELEÇÃO DO ARTIGO</a:t>
            </a:r>
          </a:p>
        </p:txBody>
      </p:sp>
      <p:sp>
        <p:nvSpPr>
          <p:cNvPr id="2" name="">
            <a:extLst xmlns:a="http://schemas.openxmlformats.org/drawingml/2006/main">
              <a:ext uri="{FF2B5EF4-FFF2-40B4-BE49-F238E27FC236}">
                <a16:creationId xmlns:a16="http://schemas.microsoft.com/office/drawing/2014/main" id="{842DBC17-B6F3-46EF-83BE-A1F4CEA5D7CD}"/>
              </a:ext>
            </a:extLst>
          </p:cNvPr>
          <p:cNvSpPr>
            <a:spLocks xmlns:a="http://schemas.openxmlformats.org/drawingml/2006/main" noGrp="1"/>
          </p:cNvSpPr>
          <p:nvPr/>
        </p:nvSpPr>
        <p:spPr>
          <a:xfrm xmlns:a="http://schemas.openxmlformats.org/drawingml/2006/main">
            <a:off x="685800" y="790575"/>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02A43"/>
                </a:solidFill>
                <a:latin typeface="Bitstream Charter"/>
                <a:ea typeface="Bitstream Charter"/>
                <a:cs typeface="Bitstream Charter"/>
              </a:defRPr>
            </a:pPr>
            <a:r>
              <a:rPr sz="3300" b="1">
                <a:solidFill>
                  <a:srgbClr val="102A43"/>
                </a:solidFill>
                <a:latin typeface="Bitstream Charter"/>
                <a:ea typeface="Bitstream Charter"/>
                <a:cs typeface="Bitstream Charter"/>
              </a:rPr>
              <a:t>Artigo selecionado</a:t>
            </a:r>
          </a:p>
        </p:txBody>
      </p:sp>
      <p:sp>
        <p:nvSpPr>
          <p:cNvPr id="3" name="">
            <a:extLst xmlns:a="http://schemas.openxmlformats.org/drawingml/2006/main">
              <a:ext uri="{FF2B5EF4-FFF2-40B4-BE49-F238E27FC236}">
                <a16:creationId xmlns:a16="http://schemas.microsoft.com/office/drawing/2014/main" id="{42D9A400-F70F-4EF9-85D0-01E561E0B388}"/>
              </a:ext>
            </a:extLst>
          </p:cNvPr>
          <p:cNvSpPr>
            <a:spLocks xmlns:a="http://schemas.openxmlformats.org/drawingml/2006/main" noGrp="1"/>
          </p:cNvSpPr>
          <p:nvPr/>
        </p:nvSpPr>
        <p:spPr>
          <a:xfrm xmlns:a="http://schemas.openxmlformats.org/drawingml/2006/main">
            <a:off x="685800" y="6219825"/>
            <a:ext cx="1019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4"/>
                </a:solidFill>
                <a:latin typeface="Bitstream Charter"/>
                <a:ea typeface="Bitstream Charter"/>
                <a:cs typeface="Bitstream Charter"/>
              </a:defRPr>
            </a:pPr>
            <a:r>
              <a:rPr sz="1125" b="0">
                <a:solidFill>
                  <a:srgbClr val="526574"/>
                </a:solidFill>
                <a:latin typeface="Bitstream Charter"/>
                <a:ea typeface="Bitstream Charter"/>
                <a:cs typeface="Bitstream Charter"/>
              </a:rPr>
              <a:t>DOI: 10.1145/3719027.3765210 · Leitura: versão aberta dos autores, arXiv v1</a:t>
            </a:r>
          </a:p>
        </p:txBody>
      </p:sp>
      <p:sp>
        <p:nvSpPr>
          <p:cNvPr id="4" name="">
            <a:extLst xmlns:a="http://schemas.openxmlformats.org/drawingml/2006/main">
              <a:ext uri="{FF2B5EF4-FFF2-40B4-BE49-F238E27FC236}">
                <a16:creationId xmlns:a16="http://schemas.microsoft.com/office/drawing/2014/main" id="{D7096D9D-9F7E-4F87-B519-11649EF4563F}"/>
              </a:ext>
            </a:extLst>
          </p:cNvPr>
          <p:cNvSpPr>
            <a:spLocks xmlns:a="http://schemas.openxmlformats.org/drawingml/2006/main" noGrp="1"/>
          </p:cNvSpPr>
          <p:nvPr/>
        </p:nvSpPr>
        <p:spPr>
          <a:xfrm xmlns:a="http://schemas.openxmlformats.org/drawingml/2006/main">
            <a:off x="11049000" y="62484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26574"/>
                </a:solidFill>
                <a:latin typeface="Bitstream Charter"/>
                <a:ea typeface="Bitstream Charter"/>
                <a:cs typeface="Bitstream Charter"/>
              </a:defRPr>
            </a:pPr>
            <a:r>
              <a:rPr sz="1350" b="0">
                <a:solidFill>
                  <a:srgbClr val="526574"/>
                </a:solidFill>
                <a:latin typeface="Bitstream Charter"/>
                <a:ea typeface="Bitstream Charter"/>
                <a:cs typeface="Bitstream Charter"/>
              </a:rPr>
              <a:t>4</a:t>
            </a:r>
          </a:p>
        </p:txBody>
      </p:sp>
      <p:sp>
        <p:nvSpPr>
          <p:cNvPr id="5" name="">
            <a:extLst xmlns:a="http://schemas.openxmlformats.org/drawingml/2006/main">
              <a:ext uri="{FF2B5EF4-FFF2-40B4-BE49-F238E27FC236}">
                <a16:creationId xmlns:a16="http://schemas.microsoft.com/office/drawing/2014/main" id="{BF8DEC3F-0B17-43EF-82B3-C45AB0645F98}"/>
              </a:ext>
            </a:extLst>
          </p:cNvPr>
          <p:cNvSpPr>
            <a:spLocks xmlns:a="http://schemas.openxmlformats.org/drawingml/2006/main" noGrp="1"/>
          </p:cNvSpPr>
          <p:nvPr/>
        </p:nvSpPr>
        <p:spPr>
          <a:xfrm xmlns:a="http://schemas.openxmlformats.org/drawingml/2006/main">
            <a:off x="685800" y="1809750"/>
            <a:ext cx="108204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50" b="1">
                <a:solidFill>
                  <a:srgbClr val="006F70"/>
                </a:solidFill>
                <a:latin typeface="Bitstream Charter"/>
                <a:ea typeface="Bitstream Charter"/>
                <a:cs typeface="Bitstream Charter"/>
              </a:defRPr>
            </a:pPr>
            <a:r>
              <a:rPr sz="2850" b="1">
                <a:solidFill>
                  <a:srgbClr val="006F70"/>
                </a:solidFill>
                <a:latin typeface="Bitstream Charter"/>
                <a:ea typeface="Bitstream Charter"/>
                <a:cs typeface="Bitstream Charter"/>
              </a:rPr>
              <a:t>Conflicting Scores, Confusing Signals:</a:t>
            </a:r>
          </a:p>
          <a:p xmlns:a="http://schemas.openxmlformats.org/drawingml/2006/main">
            <a:pPr>
              <a:defRPr sz="2850" b="1">
                <a:solidFill>
                  <a:srgbClr val="006F70"/>
                </a:solidFill>
                <a:latin typeface="Bitstream Charter"/>
                <a:ea typeface="Bitstream Charter"/>
                <a:cs typeface="Bitstream Charter"/>
              </a:defRPr>
            </a:pPr>
            <a:r>
              <a:rPr sz="2850" b="1">
                <a:solidFill>
                  <a:srgbClr val="006F70"/>
                </a:solidFill>
                <a:latin typeface="Bitstream Charter"/>
                <a:ea typeface="Bitstream Charter"/>
                <a:cs typeface="Bitstream Charter"/>
              </a:rPr>
              <a:t>An Empirical Study of Vulnerability Scoring Systems</a:t>
            </a:r>
          </a:p>
        </p:txBody>
      </p:sp>
      <p:sp>
        <p:nvSpPr>
          <p:cNvPr id="6" name="">
            <a:extLst xmlns:a="http://schemas.openxmlformats.org/drawingml/2006/main">
              <a:ext uri="{FF2B5EF4-FFF2-40B4-BE49-F238E27FC236}">
                <a16:creationId xmlns:a16="http://schemas.microsoft.com/office/drawing/2014/main" id="{0DF01925-C3AB-40DB-88B7-87F6219F33A5}"/>
              </a:ext>
            </a:extLst>
          </p:cNvPr>
          <p:cNvSpPr>
            <a:spLocks xmlns:a="http://schemas.openxmlformats.org/drawingml/2006/main" noGrp="1"/>
          </p:cNvSpPr>
          <p:nvPr/>
        </p:nvSpPr>
        <p:spPr>
          <a:xfrm xmlns:a="http://schemas.openxmlformats.org/drawingml/2006/main">
            <a:off x="685800" y="3362325"/>
            <a:ext cx="10477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02A43"/>
                </a:solidFill>
                <a:latin typeface="Bitstream Charter"/>
                <a:ea typeface="Bitstream Charter"/>
                <a:cs typeface="Bitstream Charter"/>
              </a:defRPr>
            </a:pPr>
            <a:r>
              <a:rPr sz="2025" b="0">
                <a:solidFill>
                  <a:srgbClr val="102A43"/>
                </a:solidFill>
                <a:latin typeface="Bitstream Charter"/>
                <a:ea typeface="Bitstream Charter"/>
                <a:cs typeface="Bitstream Charter"/>
              </a:rPr>
              <a:t>Viktoria Koscinski, Mark Nelson, Ahmet Okutan,</a:t>
            </a:r>
          </a:p>
          <a:p xmlns:a="http://schemas.openxmlformats.org/drawingml/2006/main">
            <a:pPr>
              <a:defRPr sz="2025" b="0">
                <a:solidFill>
                  <a:srgbClr val="102A43"/>
                </a:solidFill>
                <a:latin typeface="Bitstream Charter"/>
                <a:ea typeface="Bitstream Charter"/>
                <a:cs typeface="Bitstream Charter"/>
              </a:defRPr>
            </a:pPr>
            <a:r>
              <a:rPr sz="2025" b="0">
                <a:solidFill>
                  <a:srgbClr val="102A43"/>
                </a:solidFill>
                <a:latin typeface="Bitstream Charter"/>
                <a:ea typeface="Bitstream Charter"/>
                <a:cs typeface="Bitstream Charter"/>
              </a:rPr>
              <a:t>Robert Falso e Mehdi Mirakhorli</a:t>
            </a:r>
          </a:p>
        </p:txBody>
      </p:sp>
      <p:sp>
        <p:nvSpPr>
          <p:cNvPr id="7" name="">
            <a:extLst xmlns:a="http://schemas.openxmlformats.org/drawingml/2006/main">
              <a:ext uri="{FF2B5EF4-FFF2-40B4-BE49-F238E27FC236}">
                <a16:creationId xmlns:a16="http://schemas.microsoft.com/office/drawing/2014/main" id="{131EB53A-920D-4AD0-BBA0-3409AA2E511C}"/>
              </a:ext>
            </a:extLst>
          </p:cNvPr>
          <p:cNvSpPr>
            <a:spLocks xmlns:a="http://schemas.openxmlformats.org/drawingml/2006/main" noGrp="1"/>
          </p:cNvSpPr>
          <p:nvPr/>
        </p:nvSpPr>
        <p:spPr>
          <a:xfrm xmlns:a="http://schemas.openxmlformats.org/drawingml/2006/main">
            <a:off x="685800" y="44291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02A43"/>
                </a:solidFill>
                <a:latin typeface="Bitstream Charter"/>
                <a:ea typeface="Bitstream Charter"/>
                <a:cs typeface="Bitstream Charter"/>
              </a:defRPr>
            </a:pPr>
            <a:r>
              <a:rPr sz="2025" b="1">
                <a:solidFill>
                  <a:srgbClr val="102A43"/>
                </a:solidFill>
                <a:latin typeface="Bitstream Charter"/>
                <a:ea typeface="Bitstream Charter"/>
                <a:cs typeface="Bitstream Charter"/>
              </a:rPr>
              <a:t>ACM CCS 2025 · Artigo completo · p. 1904–1918</a:t>
            </a:r>
          </a:p>
        </p:txBody>
      </p:sp>
      <p:sp>
        <p:nvSpPr>
          <p:cNvPr id="8" name="">
            <a:extLst xmlns:a="http://schemas.openxmlformats.org/drawingml/2006/main">
              <a:ext uri="{FF2B5EF4-FFF2-40B4-BE49-F238E27FC236}">
                <a16:creationId xmlns:a16="http://schemas.microsoft.com/office/drawing/2014/main" id="{760E3918-E80A-4F87-AFC7-1639E0FAAD22}"/>
              </a:ext>
            </a:extLst>
          </p:cNvPr>
          <p:cNvSpPr>
            <a:spLocks xmlns:a="http://schemas.openxmlformats.org/drawingml/2006/main" noGrp="1"/>
          </p:cNvSpPr>
          <p:nvPr/>
        </p:nvSpPr>
        <p:spPr>
          <a:xfrm xmlns:a="http://schemas.openxmlformats.org/drawingml/2006/main">
            <a:off x="685800" y="51816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526574"/>
                </a:solidFill>
                <a:latin typeface="Bitstream Charter"/>
                <a:ea typeface="Bitstream Charter"/>
                <a:cs typeface="Bitstream Charter"/>
              </a:defRPr>
            </a:pPr>
            <a:r>
              <a:rPr sz="2025" b="0">
                <a:solidFill>
                  <a:srgbClr val="526574"/>
                </a:solidFill>
                <a:latin typeface="Bitstream Charter"/>
                <a:ea typeface="Bitstream Charter"/>
                <a:cs typeface="Bitstream Charter"/>
              </a:rPr>
              <a:t>Originalidade: dados e análises próprios sobre sistemas de pontuação</a:t>
            </a:r>
          </a:p>
        </p:txBody>
      </p:sp>
    </p:spTree>
    <p:extLst>
      <p:ext uri="{BB962C8B-B14F-4D97-AF65-F5344CB8AC3E}">
        <p14:creationId xmlns:p14="http://schemas.microsoft.com/office/powerpoint/2010/main" val="6370542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01C48C5-F30D-45C7-9E1B-C5A8830E5016}"/>
              </a:ext>
            </a:extLst>
          </p:cNvPr>
          <p:cNvSpPr>
            <a:spLocks xmlns:a="http://schemas.openxmlformats.org/drawingml/2006/main" noGrp="1"/>
          </p:cNvSpPr>
          <p:nvPr/>
        </p:nvSpPr>
        <p:spPr>
          <a:xfrm xmlns:a="http://schemas.openxmlformats.org/drawingml/2006/main">
            <a:off x="685800" y="3333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006F70"/>
                </a:solidFill>
                <a:latin typeface="Bitstream Charter"/>
                <a:ea typeface="Bitstream Charter"/>
                <a:cs typeface="Bitstream Charter"/>
              </a:defRPr>
            </a:pPr>
            <a:r>
              <a:rPr sz="1200" b="1">
                <a:solidFill>
                  <a:srgbClr val="006F70"/>
                </a:solidFill>
                <a:latin typeface="Bitstream Charter"/>
                <a:ea typeface="Bitstream Charter"/>
                <a:cs typeface="Bitstream Charter"/>
              </a:rPr>
              <a:t>1 · SELEÇÃO DO ARTIGO</a:t>
            </a:r>
          </a:p>
        </p:txBody>
      </p:sp>
      <p:sp>
        <p:nvSpPr>
          <p:cNvPr id="2" name="">
            <a:extLst xmlns:a="http://schemas.openxmlformats.org/drawingml/2006/main">
              <a:ext uri="{FF2B5EF4-FFF2-40B4-BE49-F238E27FC236}">
                <a16:creationId xmlns:a16="http://schemas.microsoft.com/office/drawing/2014/main" id="{85FF31DB-7E7E-437C-B576-CD8A61609590}"/>
              </a:ext>
            </a:extLst>
          </p:cNvPr>
          <p:cNvSpPr>
            <a:spLocks xmlns:a="http://schemas.openxmlformats.org/drawingml/2006/main" noGrp="1"/>
          </p:cNvSpPr>
          <p:nvPr/>
        </p:nvSpPr>
        <p:spPr>
          <a:xfrm xmlns:a="http://schemas.openxmlformats.org/drawingml/2006/main">
            <a:off x="685800" y="790575"/>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02A43"/>
                </a:solidFill>
                <a:latin typeface="Bitstream Charter"/>
                <a:ea typeface="Bitstream Charter"/>
                <a:cs typeface="Bitstream Charter"/>
              </a:defRPr>
            </a:pPr>
            <a:r>
              <a:rPr sz="3300" b="1">
                <a:solidFill>
                  <a:srgbClr val="102A43"/>
                </a:solidFill>
                <a:latin typeface="Bitstream Charter"/>
                <a:ea typeface="Bitstream Charter"/>
                <a:cs typeface="Bitstream Charter"/>
              </a:rPr>
              <a:t>Relevância para o meu TCC</a:t>
            </a:r>
          </a:p>
        </p:txBody>
      </p:sp>
      <p:sp>
        <p:nvSpPr>
          <p:cNvPr id="3" name="">
            <a:extLst xmlns:a="http://schemas.openxmlformats.org/drawingml/2006/main">
              <a:ext uri="{FF2B5EF4-FFF2-40B4-BE49-F238E27FC236}">
                <a16:creationId xmlns:a16="http://schemas.microsoft.com/office/drawing/2014/main" id="{9CB46EF8-3930-4070-952C-161DDB1B3DAD}"/>
              </a:ext>
            </a:extLst>
          </p:cNvPr>
          <p:cNvSpPr>
            <a:spLocks xmlns:a="http://schemas.openxmlformats.org/drawingml/2006/main" noGrp="1"/>
          </p:cNvSpPr>
          <p:nvPr/>
        </p:nvSpPr>
        <p:spPr>
          <a:xfrm xmlns:a="http://schemas.openxmlformats.org/drawingml/2006/main">
            <a:off x="685800" y="6219825"/>
            <a:ext cx="1019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4"/>
                </a:solidFill>
                <a:latin typeface="Bitstream Charter"/>
                <a:ea typeface="Bitstream Charter"/>
                <a:cs typeface="Bitstream Charter"/>
              </a:defRPr>
            </a:pPr>
            <a:r>
              <a:rPr sz="1125" b="0">
                <a:solidFill>
                  <a:srgbClr val="526574"/>
                </a:solidFill>
                <a:latin typeface="Bitstream Charter"/>
                <a:ea typeface="Bitstream Charter"/>
                <a:cs typeface="Bitstream Charter"/>
              </a:rPr>
              <a:t>Critérios quantitativos e qualitativos. Viabilidade da extensão ainda não testada.</a:t>
            </a:r>
          </a:p>
        </p:txBody>
      </p:sp>
      <p:sp>
        <p:nvSpPr>
          <p:cNvPr id="4" name="">
            <a:extLst xmlns:a="http://schemas.openxmlformats.org/drawingml/2006/main">
              <a:ext uri="{FF2B5EF4-FFF2-40B4-BE49-F238E27FC236}">
                <a16:creationId xmlns:a16="http://schemas.microsoft.com/office/drawing/2014/main" id="{D6769C62-D9BA-4122-9F49-8646E33BBD9C}"/>
              </a:ext>
            </a:extLst>
          </p:cNvPr>
          <p:cNvSpPr>
            <a:spLocks xmlns:a="http://schemas.openxmlformats.org/drawingml/2006/main" noGrp="1"/>
          </p:cNvSpPr>
          <p:nvPr/>
        </p:nvSpPr>
        <p:spPr>
          <a:xfrm xmlns:a="http://schemas.openxmlformats.org/drawingml/2006/main">
            <a:off x="11049000" y="62484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26574"/>
                </a:solidFill>
                <a:latin typeface="Bitstream Charter"/>
                <a:ea typeface="Bitstream Charter"/>
                <a:cs typeface="Bitstream Charter"/>
              </a:defRPr>
            </a:pPr>
            <a:r>
              <a:rPr sz="1350" b="0">
                <a:solidFill>
                  <a:srgbClr val="526574"/>
                </a:solidFill>
                <a:latin typeface="Bitstream Charter"/>
                <a:ea typeface="Bitstream Charter"/>
                <a:cs typeface="Bitstream Charter"/>
              </a:rPr>
              <a:t>5</a:t>
            </a:r>
          </a:p>
        </p:txBody>
      </p:sp>
      <p:graphicFrame>
        <p:nvGraphicFramePr>
          <p:cNvPr id="10" name=""/>
          <p:cNvGraphicFramePr/>
          <p:nvPr/>
        </p:nvGraphicFramePr>
        <p:xfrm>
          <a:off xmlns:a="http://schemas.openxmlformats.org/drawingml/2006/main" x="685800" y="1752600"/>
          <a:ext xmlns:a="http://schemas.openxmlformats.org/drawingml/2006/main" cx="10820400" cy="4048125"/>
        </p:xfrm>
        <a:graphic xmlns:a="http://schemas.openxmlformats.org/drawingml/2006/main">
          <a:graphicData uri="http://schemas.openxmlformats.org/drawingml/2006/table">
            <a:tbl>
              <a:tblPr firstRow="0" bandRow="0"/>
              <a:tblGrid>
                <a:gridCol w="2381250"/>
                <a:gridCol w="4095750"/>
                <a:gridCol w="4343400"/>
              </a:tblGrid>
              <a:tr h="809625">
                <a:tc>
                  <a:txBody>
                    <a:bodyPr/>
                    <a:lstStyle/>
                    <a:p>
                      <a:r>
                        <a:rPr sz="1875" b="1">
                          <a:solidFill>
                            <a:srgbClr val="FFFFFF"/>
                          </a:solidFill>
                          <a:latin typeface="Bitstream Charter"/>
                          <a:ea typeface="Bitstream Charter"/>
                          <a:cs typeface="Bitstream Charter"/>
                        </a:rPr>
                        <a:t>Critério</a:t>
                      </a:r>
                    </a:p>
                  </a:txBody>
                  <a:tcPr marL="171450" marR="171450" marT="114300" marB="95250" anchor="ctr">
                    <a:solidFill>
                      <a:srgbClr val="102A43"/>
                    </a:solidFill>
                  </a:tcPr>
                </a:tc>
                <a:tc>
                  <a:txBody>
                    <a:bodyPr/>
                    <a:lstStyle/>
                    <a:p>
                      <a:r>
                        <a:rPr sz="1875" b="1">
                          <a:solidFill>
                            <a:srgbClr val="FFFFFF"/>
                          </a:solidFill>
                          <a:latin typeface="Bitstream Charter"/>
                          <a:ea typeface="Bitstream Charter"/>
                          <a:cs typeface="Bitstream Charter"/>
                        </a:rPr>
                        <a:t>Evidência</a:t>
                      </a:r>
                    </a:p>
                  </a:txBody>
                  <a:tcPr marL="171450" marR="171450" marT="114300" marB="95250" anchor="ctr">
                    <a:solidFill>
                      <a:srgbClr val="102A43"/>
                    </a:solidFill>
                  </a:tcPr>
                </a:tc>
                <a:tc>
                  <a:txBody>
                    <a:bodyPr/>
                    <a:lstStyle/>
                    <a:p>
                      <a:r>
                        <a:rPr sz="1875" b="1">
                          <a:solidFill>
                            <a:srgbClr val="FFFFFF"/>
                          </a:solidFill>
                          <a:latin typeface="Bitstream Charter"/>
                          <a:ea typeface="Bitstream Charter"/>
                          <a:cs typeface="Bitstream Charter"/>
                        </a:rPr>
                        <a:t>Uso possível no TCC</a:t>
                      </a:r>
                    </a:p>
                  </a:txBody>
                  <a:tcPr marL="171450" marR="171450" marT="114300" marB="95250" anchor="ctr">
                    <a:solidFill>
                      <a:srgbClr val="102A43"/>
                    </a:solidFill>
                  </a:tcPr>
                </a:tc>
              </a:tr>
              <a:tr h="809625">
                <a:tc>
                  <a:txBody>
                    <a:bodyPr/>
                    <a:lstStyle/>
                    <a:p>
                      <a:r>
                        <a:rPr sz="1875" b="0">
                          <a:solidFill>
                            <a:srgbClr val="102A43"/>
                          </a:solidFill>
                          <a:latin typeface="Bitstream Charter"/>
                          <a:ea typeface="Bitstream Charter"/>
                          <a:cs typeface="Bitstream Charter"/>
                        </a:rPr>
                        <a:t>Aderência</a:t>
                      </a:r>
                    </a:p>
                  </a:txBody>
                  <a:tcPr marL="171450" marR="171450" marT="114300" marB="95250" anchor="ctr">
                    <a:solidFill>
                      <a:srgbClr val="FFFFFF"/>
                    </a:solidFill>
                  </a:tcPr>
                </a:tc>
                <a:tc>
                  <a:txBody>
                    <a:bodyPr/>
                    <a:lstStyle/>
                    <a:p>
                      <a:r>
                        <a:rPr sz="1875" b="0">
                          <a:solidFill>
                            <a:srgbClr val="102A43"/>
                          </a:solidFill>
                          <a:latin typeface="Bitstream Charter"/>
                          <a:ea typeface="Bitstream Charter"/>
                          <a:cs typeface="Bitstream Charter"/>
                        </a:rPr>
                        <a:t>Priorização de correções</a:t>
                      </a:r>
                    </a:p>
                  </a:txBody>
                  <a:tcPr marL="171450" marR="171450" marT="114300" marB="95250" anchor="ctr">
                    <a:solidFill>
                      <a:srgbClr val="FFFFFF"/>
                    </a:solidFill>
                  </a:tcPr>
                </a:tc>
                <a:tc>
                  <a:txBody>
                    <a:bodyPr/>
                    <a:lstStyle/>
                    <a:p>
                      <a:r>
                        <a:rPr sz="1875" b="0">
                          <a:solidFill>
                            <a:srgbClr val="102A43"/>
                          </a:solidFill>
                          <a:latin typeface="Bitstream Charter"/>
                          <a:ea typeface="Bitstream Charter"/>
                          <a:cs typeface="Bitstream Charter"/>
                        </a:rPr>
                        <a:t>Problema de defesa mensurável</a:t>
                      </a:r>
                    </a:p>
                  </a:txBody>
                  <a:tcPr marL="171450" marR="171450" marT="114300" marB="95250" anchor="ctr">
                    <a:solidFill>
                      <a:srgbClr val="FFFFFF"/>
                    </a:solidFill>
                  </a:tcPr>
                </a:tc>
              </a:tr>
              <a:tr h="809625">
                <a:tc>
                  <a:txBody>
                    <a:bodyPr/>
                    <a:lstStyle/>
                    <a:p>
                      <a:r>
                        <a:rPr sz="1875" b="0">
                          <a:solidFill>
                            <a:srgbClr val="102A43"/>
                          </a:solidFill>
                          <a:latin typeface="Bitstream Charter"/>
                          <a:ea typeface="Bitstream Charter"/>
                          <a:cs typeface="Bitstream Charter"/>
                        </a:rPr>
                        <a:t>Pesquisa empírica</a:t>
                      </a:r>
                    </a:p>
                  </a:txBody>
                  <a:tcPr marL="171450" marR="171450" marT="114300" marB="95250" anchor="ctr">
                    <a:solidFill>
                      <a:srgbClr val="F1F6F7"/>
                    </a:solidFill>
                  </a:tcPr>
                </a:tc>
                <a:tc>
                  <a:txBody>
                    <a:bodyPr/>
                    <a:lstStyle/>
                    <a:p>
                      <a:r>
                        <a:rPr sz="1875" b="0">
                          <a:solidFill>
                            <a:srgbClr val="102A43"/>
                          </a:solidFill>
                          <a:latin typeface="Bitstream Charter"/>
                          <a:ea typeface="Bitstream Charter"/>
                          <a:cs typeface="Bitstream Charter"/>
                        </a:rPr>
                        <a:t>600 CVEs e 4 sistemas</a:t>
                      </a:r>
                    </a:p>
                  </a:txBody>
                  <a:tcPr marL="171450" marR="171450" marT="114300" marB="95250" anchor="ctr">
                    <a:solidFill>
                      <a:srgbClr val="F1F6F7"/>
                    </a:solidFill>
                  </a:tcPr>
                </a:tc>
                <a:tc>
                  <a:txBody>
                    <a:bodyPr/>
                    <a:lstStyle/>
                    <a:p>
                      <a:r>
                        <a:rPr sz="1875" b="0">
                          <a:solidFill>
                            <a:srgbClr val="102A43"/>
                          </a:solidFill>
                          <a:latin typeface="Bitstream Charter"/>
                          <a:ea typeface="Bitstream Charter"/>
                          <a:cs typeface="Bitstream Charter"/>
                        </a:rPr>
                        <a:t>Referência de desenho comparativo</a:t>
                      </a:r>
                    </a:p>
                  </a:txBody>
                  <a:tcPr marL="171450" marR="171450" marT="114300" marB="95250" anchor="ctr">
                    <a:solidFill>
                      <a:srgbClr val="F1F6F7"/>
                    </a:solidFill>
                  </a:tcPr>
                </a:tc>
              </a:tr>
              <a:tr h="809625">
                <a:tc>
                  <a:txBody>
                    <a:bodyPr/>
                    <a:lstStyle/>
                    <a:p>
                      <a:r>
                        <a:rPr sz="1875" b="0">
                          <a:solidFill>
                            <a:srgbClr val="102A43"/>
                          </a:solidFill>
                          <a:latin typeface="Bitstream Charter"/>
                          <a:ea typeface="Bitstream Charter"/>
                          <a:cs typeface="Bitstream Charter"/>
                        </a:rPr>
                        <a:t>Reprodutibilidade</a:t>
                      </a:r>
                    </a:p>
                  </a:txBody>
                  <a:tcPr marL="171450" marR="171450" marT="114300" marB="95250" anchor="ctr">
                    <a:solidFill>
                      <a:srgbClr val="FFFFFF"/>
                    </a:solidFill>
                  </a:tcPr>
                </a:tc>
                <a:tc>
                  <a:txBody>
                    <a:bodyPr/>
                    <a:lstStyle/>
                    <a:p>
                      <a:r>
                        <a:rPr sz="1875" b="0">
                          <a:solidFill>
                            <a:srgbClr val="102A43"/>
                          </a:solidFill>
                          <a:latin typeface="Bitstream Charter"/>
                          <a:ea typeface="Bitstream Charter"/>
                          <a:cs typeface="Bitstream Charter"/>
                        </a:rPr>
                        <a:t>Dados e scripts públicos</a:t>
                      </a:r>
                    </a:p>
                  </a:txBody>
                  <a:tcPr marL="171450" marR="171450" marT="114300" marB="95250" anchor="ctr">
                    <a:solidFill>
                      <a:srgbClr val="FFFFFF"/>
                    </a:solidFill>
                  </a:tcPr>
                </a:tc>
                <a:tc>
                  <a:txBody>
                    <a:bodyPr/>
                    <a:lstStyle/>
                    <a:p>
                      <a:r>
                        <a:rPr sz="1875" b="0">
                          <a:solidFill>
                            <a:srgbClr val="102A43"/>
                          </a:solidFill>
                          <a:latin typeface="Bitstream Charter"/>
                          <a:ea typeface="Bitstream Charter"/>
                          <a:cs typeface="Bitstream Charter"/>
                        </a:rPr>
                        <a:t>Inspeção e replicação parcial</a:t>
                      </a:r>
                    </a:p>
                  </a:txBody>
                  <a:tcPr marL="171450" marR="171450" marT="114300" marB="95250" anchor="ctr">
                    <a:solidFill>
                      <a:srgbClr val="FFFFFF"/>
                    </a:solidFill>
                  </a:tcPr>
                </a:tc>
              </a:tr>
              <a:tr h="809625">
                <a:tc>
                  <a:txBody>
                    <a:bodyPr/>
                    <a:lstStyle/>
                    <a:p>
                      <a:r>
                        <a:rPr sz="1875" b="0">
                          <a:solidFill>
                            <a:srgbClr val="102A43"/>
                          </a:solidFill>
                          <a:latin typeface="Bitstream Charter"/>
                          <a:ea typeface="Bitstream Charter"/>
                          <a:cs typeface="Bitstream Charter"/>
                        </a:rPr>
                        <a:t>Atualidade</a:t>
                      </a:r>
                    </a:p>
                  </a:txBody>
                  <a:tcPr marL="171450" marR="171450" marT="114300" marB="95250" anchor="ctr">
                    <a:solidFill>
                      <a:srgbClr val="F1F6F7"/>
                    </a:solidFill>
                  </a:tcPr>
                </a:tc>
                <a:tc>
                  <a:txBody>
                    <a:bodyPr/>
                    <a:lstStyle/>
                    <a:p>
                      <a:r>
                        <a:rPr sz="1875" b="0">
                          <a:solidFill>
                            <a:srgbClr val="102A43"/>
                          </a:solidFill>
                          <a:latin typeface="Bitstream Charter"/>
                          <a:ea typeface="Bitstream Charter"/>
                          <a:cs typeface="Bitstream Charter"/>
                        </a:rPr>
                        <a:t>Publicação em 2025</a:t>
                      </a:r>
                    </a:p>
                  </a:txBody>
                  <a:tcPr marL="171450" marR="171450" marT="114300" marB="95250" anchor="ctr">
                    <a:solidFill>
                      <a:srgbClr val="F1F6F7"/>
                    </a:solidFill>
                  </a:tcPr>
                </a:tc>
                <a:tc>
                  <a:txBody>
                    <a:bodyPr/>
                    <a:lstStyle/>
                    <a:p>
                      <a:r>
                        <a:rPr sz="1875" b="0">
                          <a:solidFill>
                            <a:srgbClr val="102A43"/>
                          </a:solidFill>
                          <a:latin typeface="Bitstream Charter"/>
                          <a:ea typeface="Bitstream Charter"/>
                          <a:cs typeface="Bitstream Charter"/>
                        </a:rPr>
                        <a:t>Base recente, com dados de 2024</a:t>
                      </a:r>
                    </a:p>
                  </a:txBody>
                  <a:tcPr marL="171450" marR="171450" marT="114300" marB="95250" anchor="ctr">
                    <a:solidFill>
                      <a:srgbClr val="F1F6F7"/>
                    </a:solidFill>
                  </a:tcPr>
                </a:tc>
              </a:tr>
            </a:tbl>
          </a:graphicData>
        </a:graphic>
      </p:graphicFrame>
    </p:spTree>
    <p:extLst>
      <p:ext uri="{BB962C8B-B14F-4D97-AF65-F5344CB8AC3E}">
        <p14:creationId xmlns:p14="http://schemas.microsoft.com/office/powerpoint/2010/main" val="14703000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D11B207-15C9-4CA7-B404-9F357322E8B5}"/>
              </a:ext>
            </a:extLst>
          </p:cNvPr>
          <p:cNvSpPr>
            <a:spLocks xmlns:a="http://schemas.openxmlformats.org/drawingml/2006/main" noGrp="1"/>
          </p:cNvSpPr>
          <p:nvPr/>
        </p:nvSpPr>
        <p:spPr>
          <a:xfrm xmlns:a="http://schemas.openxmlformats.org/drawingml/2006/main">
            <a:off x="685800" y="3333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006F70"/>
                </a:solidFill>
                <a:latin typeface="Bitstream Charter"/>
                <a:ea typeface="Bitstream Charter"/>
                <a:cs typeface="Bitstream Charter"/>
              </a:defRPr>
            </a:pPr>
            <a:r>
              <a:rPr sz="1200" b="1">
                <a:solidFill>
                  <a:srgbClr val="006F70"/>
                </a:solidFill>
                <a:latin typeface="Bitstream Charter"/>
                <a:ea typeface="Bitstream Charter"/>
                <a:cs typeface="Bitstream Charter"/>
              </a:rPr>
              <a:t>2 · MÉTRICAS E CLASSIFICAÇÃO</a:t>
            </a:r>
          </a:p>
        </p:txBody>
      </p:sp>
      <p:sp>
        <p:nvSpPr>
          <p:cNvPr id="2" name="">
            <a:extLst xmlns:a="http://schemas.openxmlformats.org/drawingml/2006/main">
              <a:ext uri="{FF2B5EF4-FFF2-40B4-BE49-F238E27FC236}">
                <a16:creationId xmlns:a16="http://schemas.microsoft.com/office/drawing/2014/main" id="{FC5FA798-E510-48E3-A3D7-E4F48D00313E}"/>
              </a:ext>
            </a:extLst>
          </p:cNvPr>
          <p:cNvSpPr>
            <a:spLocks xmlns:a="http://schemas.openxmlformats.org/drawingml/2006/main" noGrp="1"/>
          </p:cNvSpPr>
          <p:nvPr/>
        </p:nvSpPr>
        <p:spPr>
          <a:xfrm xmlns:a="http://schemas.openxmlformats.org/drawingml/2006/main">
            <a:off x="685800" y="790575"/>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02A43"/>
                </a:solidFill>
                <a:latin typeface="Bitstream Charter"/>
                <a:ea typeface="Bitstream Charter"/>
                <a:cs typeface="Bitstream Charter"/>
              </a:defRPr>
            </a:pPr>
            <a:r>
              <a:rPr sz="3300" b="1">
                <a:solidFill>
                  <a:srgbClr val="102A43"/>
                </a:solidFill>
                <a:latin typeface="Bitstream Charter"/>
                <a:ea typeface="Bitstream Charter"/>
                <a:cs typeface="Bitstream Charter"/>
              </a:rPr>
              <a:t>Métricas da conferência</a:t>
            </a:r>
          </a:p>
        </p:txBody>
      </p:sp>
      <p:sp>
        <p:nvSpPr>
          <p:cNvPr id="3" name="">
            <a:extLst xmlns:a="http://schemas.openxmlformats.org/drawingml/2006/main">
              <a:ext uri="{FF2B5EF4-FFF2-40B4-BE49-F238E27FC236}">
                <a16:creationId xmlns:a16="http://schemas.microsoft.com/office/drawing/2014/main" id="{89F80177-604B-42CE-BAD1-461A955CD342}"/>
              </a:ext>
            </a:extLst>
          </p:cNvPr>
          <p:cNvSpPr>
            <a:spLocks xmlns:a="http://schemas.openxmlformats.org/drawingml/2006/main" noGrp="1"/>
          </p:cNvSpPr>
          <p:nvPr/>
        </p:nvSpPr>
        <p:spPr>
          <a:xfrm xmlns:a="http://schemas.openxmlformats.org/drawingml/2006/main">
            <a:off x="685800" y="6219825"/>
            <a:ext cx="1019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4"/>
                </a:solidFill>
                <a:latin typeface="Bitstream Charter"/>
                <a:ea typeface="Bitstream Charter"/>
                <a:cs typeface="Bitstream Charter"/>
              </a:defRPr>
            </a:pPr>
            <a:r>
              <a:rPr sz="1125" b="0">
                <a:solidFill>
                  <a:srgbClr val="526574"/>
                </a:solidFill>
                <a:latin typeface="Bitstream Charter"/>
                <a:ea typeface="Bitstream Charter"/>
                <a:cs typeface="Bitstream Charter"/>
              </a:rPr>
              <a:t>Para conferências, usa-se Qualis Eventos. JIF e CiteScore não se aplicam a esta escolha.</a:t>
            </a:r>
          </a:p>
        </p:txBody>
      </p:sp>
      <p:sp>
        <p:nvSpPr>
          <p:cNvPr id="4" name="">
            <a:extLst xmlns:a="http://schemas.openxmlformats.org/drawingml/2006/main">
              <a:ext uri="{FF2B5EF4-FFF2-40B4-BE49-F238E27FC236}">
                <a16:creationId xmlns:a16="http://schemas.microsoft.com/office/drawing/2014/main" id="{8DF47E95-B42B-4E87-9C27-6396155E3E9E}"/>
              </a:ext>
            </a:extLst>
          </p:cNvPr>
          <p:cNvSpPr>
            <a:spLocks xmlns:a="http://schemas.openxmlformats.org/drawingml/2006/main" noGrp="1"/>
          </p:cNvSpPr>
          <p:nvPr/>
        </p:nvSpPr>
        <p:spPr>
          <a:xfrm xmlns:a="http://schemas.openxmlformats.org/drawingml/2006/main">
            <a:off x="11049000" y="62484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26574"/>
                </a:solidFill>
                <a:latin typeface="Bitstream Charter"/>
                <a:ea typeface="Bitstream Charter"/>
                <a:cs typeface="Bitstream Charter"/>
              </a:defRPr>
            </a:pPr>
            <a:r>
              <a:rPr sz="1350" b="0">
                <a:solidFill>
                  <a:srgbClr val="526574"/>
                </a:solidFill>
                <a:latin typeface="Bitstream Charter"/>
                <a:ea typeface="Bitstream Charter"/>
                <a:cs typeface="Bitstream Charter"/>
              </a:rPr>
              <a:t>6</a:t>
            </a:r>
          </a:p>
        </p:txBody>
      </p:sp>
      <p:graphicFrame>
        <p:nvGraphicFramePr>
          <p:cNvPr id="10" name=""/>
          <p:cNvGraphicFramePr/>
          <p:nvPr/>
        </p:nvGraphicFramePr>
        <p:xfrm>
          <a:off xmlns:a="http://schemas.openxmlformats.org/drawingml/2006/main" x="685800" y="1752600"/>
          <a:ext xmlns:a="http://schemas.openxmlformats.org/drawingml/2006/main" cx="10820400" cy="4057650"/>
        </p:xfrm>
        <a:graphic xmlns:a="http://schemas.openxmlformats.org/drawingml/2006/main">
          <a:graphicData uri="http://schemas.openxmlformats.org/drawingml/2006/table">
            <a:tbl>
              <a:tblPr firstRow="0" bandRow="0"/>
              <a:tblGrid>
                <a:gridCol w="5381625"/>
                <a:gridCol w="5438775"/>
              </a:tblGrid>
              <a:tr h="676275">
                <a:tc>
                  <a:txBody>
                    <a:bodyPr/>
                    <a:lstStyle/>
                    <a:p>
                      <a:r>
                        <a:rPr sz="1875" b="1">
                          <a:solidFill>
                            <a:srgbClr val="FFFFFF"/>
                          </a:solidFill>
                          <a:latin typeface="Bitstream Charter"/>
                          <a:ea typeface="Bitstream Charter"/>
                          <a:cs typeface="Bitstream Charter"/>
                        </a:rPr>
                        <a:t>Indicador</a:t>
                      </a:r>
                    </a:p>
                  </a:txBody>
                  <a:tcPr marL="171450" marR="171450" marT="114300" marB="95250" anchor="ctr">
                    <a:solidFill>
                      <a:srgbClr val="102A43"/>
                    </a:solidFill>
                  </a:tcPr>
                </a:tc>
                <a:tc>
                  <a:txBody>
                    <a:bodyPr/>
                    <a:lstStyle/>
                    <a:p>
                      <a:r>
                        <a:rPr sz="1875" b="1">
                          <a:solidFill>
                            <a:srgbClr val="FFFFFF"/>
                          </a:solidFill>
                          <a:latin typeface="Bitstream Charter"/>
                          <a:ea typeface="Bitstream Charter"/>
                          <a:cs typeface="Bitstream Charter"/>
                        </a:rPr>
                        <a:t>Resultado verificado</a:t>
                      </a:r>
                    </a:p>
                  </a:txBody>
                  <a:tcPr marL="171450" marR="171450" marT="114300" marB="95250" anchor="ctr">
                    <a:solidFill>
                      <a:srgbClr val="102A43"/>
                    </a:solidFill>
                  </a:tcPr>
                </a:tc>
              </a:tr>
              <a:tr h="676275">
                <a:tc>
                  <a:txBody>
                    <a:bodyPr/>
                    <a:lstStyle/>
                    <a:p>
                      <a:r>
                        <a:rPr sz="1875" b="0">
                          <a:solidFill>
                            <a:srgbClr val="102A43"/>
                          </a:solidFill>
                          <a:latin typeface="Bitstream Charter"/>
                          <a:ea typeface="Bitstream Charter"/>
                          <a:cs typeface="Bitstream Charter"/>
                        </a:rPr>
                        <a:t>CORE / ICORE 2026</a:t>
                      </a:r>
                    </a:p>
                  </a:txBody>
                  <a:tcPr marL="171450" marR="171450" marT="114300" marB="95250" anchor="ctr">
                    <a:solidFill>
                      <a:srgbClr val="FFFFFF"/>
                    </a:solidFill>
                  </a:tcPr>
                </a:tc>
                <a:tc>
                  <a:txBody>
                    <a:bodyPr/>
                    <a:lstStyle/>
                    <a:p>
                      <a:r>
                        <a:rPr sz="1875" b="0">
                          <a:solidFill>
                            <a:srgbClr val="102A43"/>
                          </a:solidFill>
                          <a:latin typeface="Bitstream Charter"/>
                          <a:ea typeface="Bitstream Charter"/>
                          <a:cs typeface="Bitstream Charter"/>
                        </a:rPr>
                        <a:t>A*</a:t>
                      </a:r>
                    </a:p>
                  </a:txBody>
                  <a:tcPr marL="171450" marR="171450" marT="114300" marB="95250" anchor="ctr">
                    <a:solidFill>
                      <a:srgbClr val="FFFFFF"/>
                    </a:solidFill>
                  </a:tcPr>
                </a:tc>
              </a:tr>
              <a:tr h="676275">
                <a:tc>
                  <a:txBody>
                    <a:bodyPr/>
                    <a:lstStyle/>
                    <a:p>
                      <a:r>
                        <a:rPr sz="1875" b="0">
                          <a:solidFill>
                            <a:srgbClr val="102A43"/>
                          </a:solidFill>
                          <a:latin typeface="Bitstream Charter"/>
                          <a:ea typeface="Bitstream Charter"/>
                          <a:cs typeface="Bitstream Charter"/>
                        </a:rPr>
                        <a:t>Qualis Eventos · 2017–2020</a:t>
                      </a:r>
                    </a:p>
                  </a:txBody>
                  <a:tcPr marL="171450" marR="171450" marT="114300" marB="95250" anchor="ctr">
                    <a:solidFill>
                      <a:srgbClr val="F1F6F7"/>
                    </a:solidFill>
                  </a:tcPr>
                </a:tc>
                <a:tc>
                  <a:txBody>
                    <a:bodyPr/>
                    <a:lstStyle/>
                    <a:p>
                      <a:r>
                        <a:rPr sz="1875" b="0">
                          <a:solidFill>
                            <a:srgbClr val="102A43"/>
                          </a:solidFill>
                          <a:latin typeface="Bitstream Charter"/>
                          <a:ea typeface="Bitstream Charter"/>
                          <a:cs typeface="Bitstream Charter"/>
                        </a:rPr>
                        <a:t>A1 · lista oficial da CAPES</a:t>
                      </a:r>
                    </a:p>
                  </a:txBody>
                  <a:tcPr marL="171450" marR="171450" marT="114300" marB="95250" anchor="ctr">
                    <a:solidFill>
                      <a:srgbClr val="F1F6F7"/>
                    </a:solidFill>
                  </a:tcPr>
                </a:tc>
              </a:tr>
              <a:tr h="676275">
                <a:tc>
                  <a:txBody>
                    <a:bodyPr/>
                    <a:lstStyle/>
                    <a:p>
                      <a:r>
                        <a:rPr sz="1875" b="0">
                          <a:solidFill>
                            <a:srgbClr val="102A43"/>
                          </a:solidFill>
                          <a:latin typeface="Bitstream Charter"/>
                          <a:ea typeface="Bitstream Charter"/>
                          <a:cs typeface="Bitstream Charter"/>
                        </a:rPr>
                        <a:t>Regra de enquadramento por h5</a:t>
                      </a:r>
                    </a:p>
                  </a:txBody>
                  <a:tcPr marL="171450" marR="171450" marT="114300" marB="95250" anchor="ctr">
                    <a:solidFill>
                      <a:srgbClr val="FFFFFF"/>
                    </a:solidFill>
                  </a:tcPr>
                </a:tc>
                <a:tc>
                  <a:txBody>
                    <a:bodyPr/>
                    <a:lstStyle/>
                    <a:p>
                      <a:r>
                        <a:rPr sz="1875" b="0">
                          <a:solidFill>
                            <a:srgbClr val="102A43"/>
                          </a:solidFill>
                          <a:latin typeface="Bitstream Charter"/>
                          <a:ea typeface="Bitstream Charter"/>
                          <a:cs typeface="Bitstream Charter"/>
                        </a:rPr>
                        <a:t>A1 quando h5 ≥ 35</a:t>
                      </a:r>
                    </a:p>
                  </a:txBody>
                  <a:tcPr marL="171450" marR="171450" marT="114300" marB="95250" anchor="ctr">
                    <a:solidFill>
                      <a:srgbClr val="FFFFFF"/>
                    </a:solidFill>
                  </a:tcPr>
                </a:tc>
              </a:tr>
              <a:tr h="676275">
                <a:tc>
                  <a:txBody>
                    <a:bodyPr/>
                    <a:lstStyle/>
                    <a:p>
                      <a:r>
                        <a:rPr sz="1875" b="0">
                          <a:solidFill>
                            <a:srgbClr val="102A43"/>
                          </a:solidFill>
                          <a:latin typeface="Bitstream Charter"/>
                          <a:ea typeface="Bitstream Charter"/>
                          <a:cs typeface="Bitstream Charter"/>
                        </a:rPr>
                        <a:t>h5 histórico · lista provisória de 2019</a:t>
                      </a:r>
                    </a:p>
                  </a:txBody>
                  <a:tcPr marL="171450" marR="171450" marT="114300" marB="95250" anchor="ctr">
                    <a:solidFill>
                      <a:srgbClr val="F1F6F7"/>
                    </a:solidFill>
                  </a:tcPr>
                </a:tc>
                <a:tc>
                  <a:txBody>
                    <a:bodyPr/>
                    <a:lstStyle/>
                    <a:p>
                      <a:r>
                        <a:rPr sz="1875" b="0">
                          <a:solidFill>
                            <a:srgbClr val="102A43"/>
                          </a:solidFill>
                          <a:latin typeface="Bitstream Charter"/>
                          <a:ea typeface="Bitstream Charter"/>
                          <a:cs typeface="Bitstream Charter"/>
                        </a:rPr>
                        <a:t>77 · não representa o valor atual</a:t>
                      </a:r>
                    </a:p>
                  </a:txBody>
                  <a:tcPr marL="171450" marR="171450" marT="114300" marB="95250" anchor="ctr">
                    <a:solidFill>
                      <a:srgbClr val="F1F6F7"/>
                    </a:solidFill>
                  </a:tcPr>
                </a:tc>
              </a:tr>
              <a:tr h="676275">
                <a:tc>
                  <a:txBody>
                    <a:bodyPr/>
                    <a:lstStyle/>
                    <a:p>
                      <a:r>
                        <a:rPr sz="1875" b="0">
                          <a:solidFill>
                            <a:srgbClr val="102A43"/>
                          </a:solidFill>
                          <a:latin typeface="Bitstream Charter"/>
                          <a:ea typeface="Bitstream Charter"/>
                          <a:cs typeface="Bitstream Charter"/>
                        </a:rPr>
                        <a:t>h5 atual · Google Scholar</a:t>
                      </a:r>
                    </a:p>
                  </a:txBody>
                  <a:tcPr marL="171450" marR="171450" marT="114300" marB="95250" anchor="ctr">
                    <a:solidFill>
                      <a:srgbClr val="FFFFFF"/>
                    </a:solidFill>
                  </a:tcPr>
                </a:tc>
                <a:tc>
                  <a:txBody>
                    <a:bodyPr/>
                    <a:lstStyle/>
                    <a:p>
                      <a:r>
                        <a:rPr sz="1875" b="1">
                          <a:solidFill>
                            <a:srgbClr val="936000"/>
                          </a:solidFill>
                          <a:latin typeface="Bitstream Charter"/>
                          <a:ea typeface="Bitstream Charter"/>
                          <a:cs typeface="Bitstream Charter"/>
                        </a:rPr>
                        <a:t>Consulta bloqueada · confirmação pendente</a:t>
                      </a:r>
                    </a:p>
                  </a:txBody>
                  <a:tcPr marL="171450" marR="171450" marT="114300" marB="95250" anchor="ctr">
                    <a:solidFill>
                      <a:srgbClr val="FFFFFF"/>
                    </a:solidFill>
                  </a:tcPr>
                </a:tc>
              </a:tr>
            </a:tbl>
          </a:graphicData>
        </a:graphic>
      </p:graphicFrame>
    </p:spTree>
    <p:extLst>
      <p:ext uri="{BB962C8B-B14F-4D97-AF65-F5344CB8AC3E}">
        <p14:creationId xmlns:p14="http://schemas.microsoft.com/office/powerpoint/2010/main" val="16346335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0C5F9AC-38B0-4C51-9D78-FF5223977F3C}"/>
              </a:ext>
            </a:extLst>
          </p:cNvPr>
          <p:cNvSpPr>
            <a:spLocks xmlns:a="http://schemas.openxmlformats.org/drawingml/2006/main" noGrp="1"/>
          </p:cNvSpPr>
          <p:nvPr/>
        </p:nvSpPr>
        <p:spPr>
          <a:xfrm xmlns:a="http://schemas.openxmlformats.org/drawingml/2006/main">
            <a:off x="685800" y="3333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006F70"/>
                </a:solidFill>
                <a:latin typeface="Bitstream Charter"/>
                <a:ea typeface="Bitstream Charter"/>
                <a:cs typeface="Bitstream Charter"/>
              </a:defRPr>
            </a:pPr>
            <a:r>
              <a:rPr sz="1200" b="1">
                <a:solidFill>
                  <a:srgbClr val="006F70"/>
                </a:solidFill>
                <a:latin typeface="Bitstream Charter"/>
                <a:ea typeface="Bitstream Charter"/>
                <a:cs typeface="Bitstream Charter"/>
              </a:rPr>
              <a:t>3 · ANÁLISE DA ESTRUTURA</a:t>
            </a:r>
          </a:p>
        </p:txBody>
      </p:sp>
      <p:sp>
        <p:nvSpPr>
          <p:cNvPr id="2" name="">
            <a:extLst xmlns:a="http://schemas.openxmlformats.org/drawingml/2006/main">
              <a:ext uri="{FF2B5EF4-FFF2-40B4-BE49-F238E27FC236}">
                <a16:creationId xmlns:a16="http://schemas.microsoft.com/office/drawing/2014/main" id="{2CA4AA24-855A-4A19-BF71-C748FCD9FE8A}"/>
              </a:ext>
            </a:extLst>
          </p:cNvPr>
          <p:cNvSpPr>
            <a:spLocks xmlns:a="http://schemas.openxmlformats.org/drawingml/2006/main" noGrp="1"/>
          </p:cNvSpPr>
          <p:nvPr/>
        </p:nvSpPr>
        <p:spPr>
          <a:xfrm xmlns:a="http://schemas.openxmlformats.org/drawingml/2006/main">
            <a:off x="685800" y="790575"/>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02A43"/>
                </a:solidFill>
                <a:latin typeface="Bitstream Charter"/>
                <a:ea typeface="Bitstream Charter"/>
                <a:cs typeface="Bitstream Charter"/>
              </a:defRPr>
            </a:pPr>
            <a:r>
              <a:rPr sz="3300" b="1">
                <a:solidFill>
                  <a:srgbClr val="102A43"/>
                </a:solidFill>
                <a:latin typeface="Bitstream Charter"/>
                <a:ea typeface="Bitstream Charter"/>
                <a:cs typeface="Bitstream Charter"/>
              </a:rPr>
              <a:t>Mapa da estrutura do artigo</a:t>
            </a:r>
          </a:p>
        </p:txBody>
      </p:sp>
      <p:sp>
        <p:nvSpPr>
          <p:cNvPr id="3" name="">
            <a:extLst xmlns:a="http://schemas.openxmlformats.org/drawingml/2006/main">
              <a:ext uri="{FF2B5EF4-FFF2-40B4-BE49-F238E27FC236}">
                <a16:creationId xmlns:a16="http://schemas.microsoft.com/office/drawing/2014/main" id="{4A96468F-D35B-4EE2-BC87-CAE8AD08A817}"/>
              </a:ext>
            </a:extLst>
          </p:cNvPr>
          <p:cNvSpPr>
            <a:spLocks xmlns:a="http://schemas.openxmlformats.org/drawingml/2006/main" noGrp="1"/>
          </p:cNvSpPr>
          <p:nvPr/>
        </p:nvSpPr>
        <p:spPr>
          <a:xfrm xmlns:a="http://schemas.openxmlformats.org/drawingml/2006/main">
            <a:off x="685800" y="6219825"/>
            <a:ext cx="1019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4"/>
                </a:solidFill>
                <a:latin typeface="Bitstream Charter"/>
                <a:ea typeface="Bitstream Charter"/>
                <a:cs typeface="Bitstream Charter"/>
              </a:defRPr>
            </a:pPr>
            <a:r>
              <a:rPr sz="1125" b="0">
                <a:solidFill>
                  <a:srgbClr val="526574"/>
                </a:solidFill>
                <a:latin typeface="Bitstream Charter"/>
                <a:ea typeface="Bitstream Charter"/>
                <a:cs typeface="Bitstream Charter"/>
              </a:rPr>
              <a:t>A numeração refere-se ao arXiv:2508.13644v1, com 15 páginas</a:t>
            </a:r>
          </a:p>
        </p:txBody>
      </p:sp>
      <p:sp>
        <p:nvSpPr>
          <p:cNvPr id="4" name="">
            <a:extLst xmlns:a="http://schemas.openxmlformats.org/drawingml/2006/main">
              <a:ext uri="{FF2B5EF4-FFF2-40B4-BE49-F238E27FC236}">
                <a16:creationId xmlns:a16="http://schemas.microsoft.com/office/drawing/2014/main" id="{0083CC20-DE78-42EF-95A4-E6F7DED5B41C}"/>
              </a:ext>
            </a:extLst>
          </p:cNvPr>
          <p:cNvSpPr>
            <a:spLocks xmlns:a="http://schemas.openxmlformats.org/drawingml/2006/main" noGrp="1"/>
          </p:cNvSpPr>
          <p:nvPr/>
        </p:nvSpPr>
        <p:spPr>
          <a:xfrm xmlns:a="http://schemas.openxmlformats.org/drawingml/2006/main">
            <a:off x="11049000" y="62484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26574"/>
                </a:solidFill>
                <a:latin typeface="Bitstream Charter"/>
                <a:ea typeface="Bitstream Charter"/>
                <a:cs typeface="Bitstream Charter"/>
              </a:defRPr>
            </a:pPr>
            <a:r>
              <a:rPr sz="1350" b="0">
                <a:solidFill>
                  <a:srgbClr val="526574"/>
                </a:solidFill>
                <a:latin typeface="Bitstream Charter"/>
                <a:ea typeface="Bitstream Charter"/>
                <a:cs typeface="Bitstream Charter"/>
              </a:rPr>
              <a:t>7</a:t>
            </a:r>
          </a:p>
        </p:txBody>
      </p:sp>
      <p:graphicFrame>
        <p:nvGraphicFramePr>
          <p:cNvPr id="10" name=""/>
          <p:cNvGraphicFramePr/>
          <p:nvPr/>
        </p:nvGraphicFramePr>
        <p:xfrm>
          <a:off xmlns:a="http://schemas.openxmlformats.org/drawingml/2006/main" x="685800" y="1752600"/>
          <a:ext xmlns:a="http://schemas.openxmlformats.org/drawingml/2006/main" cx="10820400" cy="4114800"/>
        </p:xfrm>
        <a:graphic xmlns:a="http://schemas.openxmlformats.org/drawingml/2006/main">
          <a:graphicData uri="http://schemas.openxmlformats.org/drawingml/2006/table">
            <a:tbl>
              <a:tblPr firstRow="0" bandRow="0"/>
              <a:tblGrid>
                <a:gridCol w="6286500"/>
                <a:gridCol w="4533900"/>
              </a:tblGrid>
              <a:tr h="514350">
                <a:tc>
                  <a:txBody>
                    <a:bodyPr/>
                    <a:lstStyle/>
                    <a:p>
                      <a:r>
                        <a:rPr sz="1800" b="1">
                          <a:solidFill>
                            <a:srgbClr val="FFFFFF"/>
                          </a:solidFill>
                          <a:latin typeface="Bitstream Charter"/>
                          <a:ea typeface="Bitstream Charter"/>
                          <a:cs typeface="Bitstream Charter"/>
                        </a:rPr>
                        <a:t>Elemento</a:t>
                      </a:r>
                    </a:p>
                  </a:txBody>
                  <a:tcPr marL="171450" marR="171450" marT="114300" marB="95250" anchor="ctr">
                    <a:solidFill>
                      <a:srgbClr val="102A43"/>
                    </a:solidFill>
                  </a:tcPr>
                </a:tc>
                <a:tc>
                  <a:txBody>
                    <a:bodyPr/>
                    <a:lstStyle/>
                    <a:p>
                      <a:r>
                        <a:rPr sz="1800" b="1">
                          <a:solidFill>
                            <a:srgbClr val="FFFFFF"/>
                          </a:solidFill>
                          <a:latin typeface="Bitstream Charter"/>
                          <a:ea typeface="Bitstream Charter"/>
                          <a:cs typeface="Bitstream Charter"/>
                        </a:rPr>
                        <a:t>Localização na versão lida</a:t>
                      </a:r>
                    </a:p>
                  </a:txBody>
                  <a:tcPr marL="171450" marR="171450" marT="114300" marB="95250" anchor="ctr">
                    <a:solidFill>
                      <a:srgbClr val="102A43"/>
                    </a:solidFill>
                  </a:tcPr>
                </a:tc>
              </a:tr>
              <a:tr h="514350">
                <a:tc>
                  <a:txBody>
                    <a:bodyPr/>
                    <a:lstStyle/>
                    <a:p>
                      <a:r>
                        <a:rPr sz="1800" b="0">
                          <a:solidFill>
                            <a:srgbClr val="102A43"/>
                          </a:solidFill>
                          <a:latin typeface="Bitstream Charter"/>
                          <a:ea typeface="Bitstream Charter"/>
                          <a:cs typeface="Bitstream Charter"/>
                        </a:rPr>
                        <a:t>Título, autoria, resumo e palavras-chave</a:t>
                      </a:r>
                    </a:p>
                  </a:txBody>
                  <a:tcPr marL="171450" marR="171450" marT="114300" marB="95250" anchor="ctr">
                    <a:solidFill>
                      <a:srgbClr val="FFFFFF"/>
                    </a:solidFill>
                  </a:tcPr>
                </a:tc>
                <a:tc>
                  <a:txBody>
                    <a:bodyPr/>
                    <a:lstStyle/>
                    <a:p>
                      <a:r>
                        <a:rPr sz="1800" b="0">
                          <a:solidFill>
                            <a:srgbClr val="102A43"/>
                          </a:solidFill>
                          <a:latin typeface="Bitstream Charter"/>
                          <a:ea typeface="Bitstream Charter"/>
                          <a:cs typeface="Bitstream Charter"/>
                        </a:rPr>
                        <a:t>Página 1</a:t>
                      </a:r>
                    </a:p>
                  </a:txBody>
                  <a:tcPr marL="171450" marR="171450" marT="114300" marB="95250" anchor="ctr">
                    <a:solidFill>
                      <a:srgbClr val="FFFFFF"/>
                    </a:solidFill>
                  </a:tcPr>
                </a:tc>
              </a:tr>
              <a:tr h="514350">
                <a:tc>
                  <a:txBody>
                    <a:bodyPr/>
                    <a:lstStyle/>
                    <a:p>
                      <a:r>
                        <a:rPr sz="1800" b="0">
                          <a:solidFill>
                            <a:srgbClr val="102A43"/>
                          </a:solidFill>
                          <a:latin typeface="Bitstream Charter"/>
                          <a:ea typeface="Bitstream Charter"/>
                          <a:cs typeface="Bitstream Charter"/>
                        </a:rPr>
                        <a:t>Introdução e fundamentos</a:t>
                      </a:r>
                    </a:p>
                  </a:txBody>
                  <a:tcPr marL="171450" marR="171450" marT="114300" marB="95250" anchor="ctr">
                    <a:solidFill>
                      <a:srgbClr val="F1F6F7"/>
                    </a:solidFill>
                  </a:tcPr>
                </a:tc>
                <a:tc>
                  <a:txBody>
                    <a:bodyPr/>
                    <a:lstStyle/>
                    <a:p>
                      <a:r>
                        <a:rPr sz="1800" b="0">
                          <a:solidFill>
                            <a:srgbClr val="102A43"/>
                          </a:solidFill>
                          <a:latin typeface="Bitstream Charter"/>
                          <a:ea typeface="Bitstream Charter"/>
                          <a:cs typeface="Bitstream Charter"/>
                        </a:rPr>
                        <a:t>Seções 1–2</a:t>
                      </a:r>
                    </a:p>
                  </a:txBody>
                  <a:tcPr marL="171450" marR="171450" marT="114300" marB="95250" anchor="ctr">
                    <a:solidFill>
                      <a:srgbClr val="F1F6F7"/>
                    </a:solidFill>
                  </a:tcPr>
                </a:tc>
              </a:tr>
              <a:tr h="514350">
                <a:tc>
                  <a:txBody>
                    <a:bodyPr/>
                    <a:lstStyle/>
                    <a:p>
                      <a:r>
                        <a:rPr sz="1800" b="0">
                          <a:solidFill>
                            <a:srgbClr val="102A43"/>
                          </a:solidFill>
                          <a:latin typeface="Bitstream Charter"/>
                          <a:ea typeface="Bitstream Charter"/>
                          <a:cs typeface="Bitstream Charter"/>
                        </a:rPr>
                        <a:t>Metodologia</a:t>
                      </a:r>
                    </a:p>
                  </a:txBody>
                  <a:tcPr marL="171450" marR="171450" marT="114300" marB="95250" anchor="ctr">
                    <a:solidFill>
                      <a:srgbClr val="FFFFFF"/>
                    </a:solidFill>
                  </a:tcPr>
                </a:tc>
                <a:tc>
                  <a:txBody>
                    <a:bodyPr/>
                    <a:lstStyle/>
                    <a:p>
                      <a:r>
                        <a:rPr sz="1800" b="0">
                          <a:solidFill>
                            <a:srgbClr val="102A43"/>
                          </a:solidFill>
                          <a:latin typeface="Bitstream Charter"/>
                          <a:ea typeface="Bitstream Charter"/>
                          <a:cs typeface="Bitstream Charter"/>
                        </a:rPr>
                        <a:t>Seção 3 · Case Study Setup</a:t>
                      </a:r>
                    </a:p>
                  </a:txBody>
                  <a:tcPr marL="171450" marR="171450" marT="114300" marB="95250" anchor="ctr">
                    <a:solidFill>
                      <a:srgbClr val="FFFFFF"/>
                    </a:solidFill>
                  </a:tcPr>
                </a:tc>
              </a:tr>
              <a:tr h="514350">
                <a:tc>
                  <a:txBody>
                    <a:bodyPr/>
                    <a:lstStyle/>
                    <a:p>
                      <a:r>
                        <a:rPr sz="1800" b="0">
                          <a:solidFill>
                            <a:srgbClr val="102A43"/>
                          </a:solidFill>
                          <a:latin typeface="Bitstream Charter"/>
                          <a:ea typeface="Bitstream Charter"/>
                          <a:cs typeface="Bitstream Charter"/>
                        </a:rPr>
                        <a:t>Resultados por pergunta de pesquisa</a:t>
                      </a:r>
                    </a:p>
                  </a:txBody>
                  <a:tcPr marL="171450" marR="171450" marT="114300" marB="95250" anchor="ctr">
                    <a:solidFill>
                      <a:srgbClr val="F1F6F7"/>
                    </a:solidFill>
                  </a:tcPr>
                </a:tc>
                <a:tc>
                  <a:txBody>
                    <a:bodyPr/>
                    <a:lstStyle/>
                    <a:p>
                      <a:r>
                        <a:rPr sz="1800" b="0">
                          <a:solidFill>
                            <a:srgbClr val="102A43"/>
                          </a:solidFill>
                          <a:latin typeface="Bitstream Charter"/>
                          <a:ea typeface="Bitstream Charter"/>
                          <a:cs typeface="Bitstream Charter"/>
                        </a:rPr>
                        <a:t>Seção 4 · RQ1–RQ4</a:t>
                      </a:r>
                    </a:p>
                  </a:txBody>
                  <a:tcPr marL="171450" marR="171450" marT="114300" marB="95250" anchor="ctr">
                    <a:solidFill>
                      <a:srgbClr val="F1F6F7"/>
                    </a:solidFill>
                  </a:tcPr>
                </a:tc>
              </a:tr>
              <a:tr h="514350">
                <a:tc>
                  <a:txBody>
                    <a:bodyPr/>
                    <a:lstStyle/>
                    <a:p>
                      <a:r>
                        <a:rPr sz="1800" b="0">
                          <a:solidFill>
                            <a:srgbClr val="102A43"/>
                          </a:solidFill>
                          <a:latin typeface="Bitstream Charter"/>
                          <a:ea typeface="Bitstream Charter"/>
                          <a:cs typeface="Bitstream Charter"/>
                        </a:rPr>
                        <a:t>Ameaças à validade e discussão</a:t>
                      </a:r>
                    </a:p>
                  </a:txBody>
                  <a:tcPr marL="171450" marR="171450" marT="114300" marB="95250" anchor="ctr">
                    <a:solidFill>
                      <a:srgbClr val="FFFFFF"/>
                    </a:solidFill>
                  </a:tcPr>
                </a:tc>
                <a:tc>
                  <a:txBody>
                    <a:bodyPr/>
                    <a:lstStyle/>
                    <a:p>
                      <a:r>
                        <a:rPr sz="1800" b="0">
                          <a:solidFill>
                            <a:srgbClr val="102A43"/>
                          </a:solidFill>
                          <a:latin typeface="Bitstream Charter"/>
                          <a:ea typeface="Bitstream Charter"/>
                          <a:cs typeface="Bitstream Charter"/>
                        </a:rPr>
                        <a:t>Seções 5–6</a:t>
                      </a:r>
                    </a:p>
                  </a:txBody>
                  <a:tcPr marL="171450" marR="171450" marT="114300" marB="95250" anchor="ctr">
                    <a:solidFill>
                      <a:srgbClr val="FFFFFF"/>
                    </a:solidFill>
                  </a:tcPr>
                </a:tc>
              </a:tr>
              <a:tr h="514350">
                <a:tc>
                  <a:txBody>
                    <a:bodyPr/>
                    <a:lstStyle/>
                    <a:p>
                      <a:r>
                        <a:rPr sz="1800" b="0">
                          <a:solidFill>
                            <a:srgbClr val="102A43"/>
                          </a:solidFill>
                          <a:latin typeface="Bitstream Charter"/>
                          <a:ea typeface="Bitstream Charter"/>
                          <a:cs typeface="Bitstream Charter"/>
                        </a:rPr>
                        <a:t>Trabalhos relacionados e conclusões</a:t>
                      </a:r>
                    </a:p>
                  </a:txBody>
                  <a:tcPr marL="171450" marR="171450" marT="114300" marB="95250" anchor="ctr">
                    <a:solidFill>
                      <a:srgbClr val="F1F6F7"/>
                    </a:solidFill>
                  </a:tcPr>
                </a:tc>
                <a:tc>
                  <a:txBody>
                    <a:bodyPr/>
                    <a:lstStyle/>
                    <a:p>
                      <a:r>
                        <a:rPr sz="1800" b="0">
                          <a:solidFill>
                            <a:srgbClr val="102A43"/>
                          </a:solidFill>
                          <a:latin typeface="Bitstream Charter"/>
                          <a:ea typeface="Bitstream Charter"/>
                          <a:cs typeface="Bitstream Charter"/>
                        </a:rPr>
                        <a:t>Seções 7–8</a:t>
                      </a:r>
                    </a:p>
                  </a:txBody>
                  <a:tcPr marL="171450" marR="171450" marT="114300" marB="95250" anchor="ctr">
                    <a:solidFill>
                      <a:srgbClr val="F1F6F7"/>
                    </a:solidFill>
                  </a:tcPr>
                </a:tc>
              </a:tr>
              <a:tr h="514350">
                <a:tc>
                  <a:txBody>
                    <a:bodyPr/>
                    <a:lstStyle/>
                    <a:p>
                      <a:r>
                        <a:rPr sz="1800" b="0">
                          <a:solidFill>
                            <a:srgbClr val="102A43"/>
                          </a:solidFill>
                          <a:latin typeface="Bitstream Charter"/>
                          <a:ea typeface="Bitstream Charter"/>
                          <a:cs typeface="Bitstream Charter"/>
                        </a:rPr>
                        <a:t>Referências e análises complementares</a:t>
                      </a:r>
                    </a:p>
                  </a:txBody>
                  <a:tcPr marL="171450" marR="171450" marT="114300" marB="95250" anchor="ctr">
                    <a:solidFill>
                      <a:srgbClr val="FFFFFF"/>
                    </a:solidFill>
                  </a:tcPr>
                </a:tc>
                <a:tc>
                  <a:txBody>
                    <a:bodyPr/>
                    <a:lstStyle/>
                    <a:p>
                      <a:r>
                        <a:rPr sz="1800" b="0">
                          <a:solidFill>
                            <a:srgbClr val="102A43"/>
                          </a:solidFill>
                          <a:latin typeface="Bitstream Charter"/>
                          <a:ea typeface="Bitstream Charter"/>
                          <a:cs typeface="Bitstream Charter"/>
                        </a:rPr>
                        <a:t>References · Apêndices A–B</a:t>
                      </a:r>
                    </a:p>
                  </a:txBody>
                  <a:tcPr marL="171450" marR="171450" marT="114300" marB="95250" anchor="ctr">
                    <a:solidFill>
                      <a:srgbClr val="FFFFFF"/>
                    </a:solidFill>
                  </a:tcPr>
                </a:tc>
              </a:tr>
            </a:tbl>
          </a:graphicData>
        </a:graphic>
      </p:graphicFrame>
    </p:spTree>
    <p:extLst>
      <p:ext uri="{BB962C8B-B14F-4D97-AF65-F5344CB8AC3E}">
        <p14:creationId xmlns:p14="http://schemas.microsoft.com/office/powerpoint/2010/main" val="165732061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DB70588-9335-4A2A-A6E6-75756F265405}"/>
              </a:ext>
            </a:extLst>
          </p:cNvPr>
          <p:cNvSpPr>
            <a:spLocks xmlns:a="http://schemas.openxmlformats.org/drawingml/2006/main" noGrp="1"/>
          </p:cNvSpPr>
          <p:nvPr/>
        </p:nvSpPr>
        <p:spPr>
          <a:xfrm xmlns:a="http://schemas.openxmlformats.org/drawingml/2006/main">
            <a:off x="685800" y="3333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006F70"/>
                </a:solidFill>
                <a:latin typeface="Bitstream Charter"/>
                <a:ea typeface="Bitstream Charter"/>
                <a:cs typeface="Bitstream Charter"/>
              </a:defRPr>
            </a:pPr>
            <a:r>
              <a:rPr sz="1200" b="1">
                <a:solidFill>
                  <a:srgbClr val="006F70"/>
                </a:solidFill>
                <a:latin typeface="Bitstream Charter"/>
                <a:ea typeface="Bitstream Charter"/>
                <a:cs typeface="Bitstream Charter"/>
              </a:rPr>
              <a:t>3 · ANÁLISE DA ESTRUTURA</a:t>
            </a:r>
          </a:p>
        </p:txBody>
      </p:sp>
      <p:sp>
        <p:nvSpPr>
          <p:cNvPr id="2" name="">
            <a:extLst xmlns:a="http://schemas.openxmlformats.org/drawingml/2006/main">
              <a:ext uri="{FF2B5EF4-FFF2-40B4-BE49-F238E27FC236}">
                <a16:creationId xmlns:a16="http://schemas.microsoft.com/office/drawing/2014/main" id="{F9407714-63E2-4984-A72D-C4660EE7AB46}"/>
              </a:ext>
            </a:extLst>
          </p:cNvPr>
          <p:cNvSpPr>
            <a:spLocks xmlns:a="http://schemas.openxmlformats.org/drawingml/2006/main" noGrp="1"/>
          </p:cNvSpPr>
          <p:nvPr/>
        </p:nvSpPr>
        <p:spPr>
          <a:xfrm xmlns:a="http://schemas.openxmlformats.org/drawingml/2006/main">
            <a:off x="685800" y="790575"/>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02A43"/>
                </a:solidFill>
                <a:latin typeface="Bitstream Charter"/>
                <a:ea typeface="Bitstream Charter"/>
                <a:cs typeface="Bitstream Charter"/>
              </a:defRPr>
            </a:pPr>
            <a:r>
              <a:rPr sz="3300" b="1">
                <a:solidFill>
                  <a:srgbClr val="102A43"/>
                </a:solidFill>
                <a:latin typeface="Bitstream Charter"/>
                <a:ea typeface="Bitstream Charter"/>
                <a:cs typeface="Bitstream Charter"/>
              </a:rPr>
              <a:t>Título, resumo e indexação</a:t>
            </a:r>
          </a:p>
        </p:txBody>
      </p:sp>
      <p:sp>
        <p:nvSpPr>
          <p:cNvPr id="3" name="">
            <a:extLst xmlns:a="http://schemas.openxmlformats.org/drawingml/2006/main">
              <a:ext uri="{FF2B5EF4-FFF2-40B4-BE49-F238E27FC236}">
                <a16:creationId xmlns:a16="http://schemas.microsoft.com/office/drawing/2014/main" id="{DA5FD268-1687-428A-9B7E-2DC716B4ABE5}"/>
              </a:ext>
            </a:extLst>
          </p:cNvPr>
          <p:cNvSpPr>
            <a:spLocks xmlns:a="http://schemas.openxmlformats.org/drawingml/2006/main" noGrp="1"/>
          </p:cNvSpPr>
          <p:nvPr/>
        </p:nvSpPr>
        <p:spPr>
          <a:xfrm xmlns:a="http://schemas.openxmlformats.org/drawingml/2006/main">
            <a:off x="685800" y="6219825"/>
            <a:ext cx="1019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4"/>
                </a:solidFill>
                <a:latin typeface="Bitstream Charter"/>
                <a:ea typeface="Bitstream Charter"/>
                <a:cs typeface="Bitstream Charter"/>
              </a:defRPr>
            </a:pPr>
            <a:r>
              <a:rPr sz="1125" b="0">
                <a:solidFill>
                  <a:srgbClr val="526574"/>
                </a:solidFill>
                <a:latin typeface="Bitstream Charter"/>
                <a:ea typeface="Bitstream Charter"/>
                <a:cs typeface="Bitstream Charter"/>
              </a:rPr>
              <a:t>Análise da página 1. Imagem: versão aberta dos autores.</a:t>
            </a:r>
          </a:p>
        </p:txBody>
      </p:sp>
      <p:sp>
        <p:nvSpPr>
          <p:cNvPr id="4" name="">
            <a:extLst xmlns:a="http://schemas.openxmlformats.org/drawingml/2006/main">
              <a:ext uri="{FF2B5EF4-FFF2-40B4-BE49-F238E27FC236}">
                <a16:creationId xmlns:a16="http://schemas.microsoft.com/office/drawing/2014/main" id="{2D36D1B6-1E60-4648-A2C8-7803CFC219EB}"/>
              </a:ext>
            </a:extLst>
          </p:cNvPr>
          <p:cNvSpPr>
            <a:spLocks xmlns:a="http://schemas.openxmlformats.org/drawingml/2006/main" noGrp="1"/>
          </p:cNvSpPr>
          <p:nvPr/>
        </p:nvSpPr>
        <p:spPr>
          <a:xfrm xmlns:a="http://schemas.openxmlformats.org/drawingml/2006/main">
            <a:off x="11049000" y="62484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26574"/>
                </a:solidFill>
                <a:latin typeface="Bitstream Charter"/>
                <a:ea typeface="Bitstream Charter"/>
                <a:cs typeface="Bitstream Charter"/>
              </a:defRPr>
            </a:pPr>
            <a:r>
              <a:rPr sz="1350" b="0">
                <a:solidFill>
                  <a:srgbClr val="526574"/>
                </a:solidFill>
                <a:latin typeface="Bitstream Charter"/>
                <a:ea typeface="Bitstream Charter"/>
                <a:cs typeface="Bitstream Charter"/>
              </a:rPr>
              <a:t>8</a:t>
            </a:r>
          </a:p>
        </p:txBody>
      </p:sp>
      <p:sp>
        <p:nvSpPr>
          <p:cNvPr id="5" name="">
            <a:extLst xmlns:a="http://schemas.openxmlformats.org/drawingml/2006/main">
              <a:ext uri="{FF2B5EF4-FFF2-40B4-BE49-F238E27FC236}">
                <a16:creationId xmlns:a16="http://schemas.microsoft.com/office/drawing/2014/main" id="{3BEE6035-1BD3-4A52-A763-CBACC8A48F9A}"/>
              </a:ext>
            </a:extLst>
          </p:cNvPr>
          <p:cNvSpPr>
            <a:spLocks xmlns:a="http://schemas.openxmlformats.org/drawingml/2006/main" noGrp="1"/>
          </p:cNvSpPr>
          <p:nvPr/>
        </p:nvSpPr>
        <p:spPr>
          <a:xfrm xmlns:a="http://schemas.openxmlformats.org/drawingml/2006/main">
            <a:off x="685800" y="1866900"/>
            <a:ext cx="6743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06F70"/>
                </a:solidFill>
                <a:latin typeface="Bitstream Charter"/>
                <a:ea typeface="Bitstream Charter"/>
                <a:cs typeface="Bitstream Charter"/>
              </a:defRPr>
            </a:pPr>
            <a:r>
              <a:rPr sz="1725" b="1">
                <a:solidFill>
                  <a:srgbClr val="006F70"/>
                </a:solidFill>
                <a:latin typeface="Bitstream Charter"/>
                <a:ea typeface="Bitstream Charter"/>
                <a:cs typeface="Bitstream Charter"/>
              </a:rPr>
              <a:t>Título</a:t>
            </a:r>
          </a:p>
        </p:txBody>
      </p:sp>
      <p:sp>
        <p:nvSpPr>
          <p:cNvPr id="6" name="">
            <a:extLst xmlns:a="http://schemas.openxmlformats.org/drawingml/2006/main">
              <a:ext uri="{FF2B5EF4-FFF2-40B4-BE49-F238E27FC236}">
                <a16:creationId xmlns:a16="http://schemas.microsoft.com/office/drawing/2014/main" id="{37FB1D93-6AE8-4770-AFCE-F2941428B240}"/>
              </a:ext>
            </a:extLst>
          </p:cNvPr>
          <p:cNvSpPr>
            <a:spLocks xmlns:a="http://schemas.openxmlformats.org/drawingml/2006/main" noGrp="1"/>
          </p:cNvSpPr>
          <p:nvPr/>
        </p:nvSpPr>
        <p:spPr>
          <a:xfrm xmlns:a="http://schemas.openxmlformats.org/drawingml/2006/main">
            <a:off x="685800" y="2257425"/>
            <a:ext cx="6743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02A43"/>
                </a:solidFill>
                <a:latin typeface="Bitstream Charter"/>
                <a:ea typeface="Bitstream Charter"/>
                <a:cs typeface="Bitstream Charter"/>
              </a:defRPr>
            </a:pPr>
            <a:r>
              <a:rPr sz="1950" b="0">
                <a:solidFill>
                  <a:srgbClr val="102A43"/>
                </a:solidFill>
                <a:latin typeface="Bitstream Charter"/>
                <a:ea typeface="Bitstream Charter"/>
                <a:cs typeface="Bitstream Charter"/>
              </a:rPr>
              <a:t>Problema em destaque e subtítulo que identifica o estudo empírico</a:t>
            </a:r>
          </a:p>
        </p:txBody>
      </p:sp>
      <p:sp>
        <p:nvSpPr>
          <p:cNvPr id="7" name="">
            <a:extLst xmlns:a="http://schemas.openxmlformats.org/drawingml/2006/main">
              <a:ext uri="{FF2B5EF4-FFF2-40B4-BE49-F238E27FC236}">
                <a16:creationId xmlns:a16="http://schemas.microsoft.com/office/drawing/2014/main" id="{E01CF394-1161-4F17-B8EC-70BCB52D08F2}"/>
              </a:ext>
            </a:extLst>
          </p:cNvPr>
          <p:cNvSpPr>
            <a:spLocks xmlns:a="http://schemas.openxmlformats.org/drawingml/2006/main" noGrp="1"/>
          </p:cNvSpPr>
          <p:nvPr/>
        </p:nvSpPr>
        <p:spPr>
          <a:xfrm xmlns:a="http://schemas.openxmlformats.org/drawingml/2006/main">
            <a:off x="685800" y="3209925"/>
            <a:ext cx="6743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06F70"/>
                </a:solidFill>
                <a:latin typeface="Bitstream Charter"/>
                <a:ea typeface="Bitstream Charter"/>
                <a:cs typeface="Bitstream Charter"/>
              </a:defRPr>
            </a:pPr>
            <a:r>
              <a:rPr sz="1725" b="1">
                <a:solidFill>
                  <a:srgbClr val="006F70"/>
                </a:solidFill>
                <a:latin typeface="Bitstream Charter"/>
                <a:ea typeface="Bitstream Charter"/>
                <a:cs typeface="Bitstream Charter"/>
              </a:rPr>
              <a:t>Resumo</a:t>
            </a:r>
          </a:p>
        </p:txBody>
      </p:sp>
      <p:sp>
        <p:nvSpPr>
          <p:cNvPr id="8" name="">
            <a:extLst xmlns:a="http://schemas.openxmlformats.org/drawingml/2006/main">
              <a:ext uri="{FF2B5EF4-FFF2-40B4-BE49-F238E27FC236}">
                <a16:creationId xmlns:a16="http://schemas.microsoft.com/office/drawing/2014/main" id="{B443D22E-FFC7-4B18-A583-97E0CDDCC13F}"/>
              </a:ext>
            </a:extLst>
          </p:cNvPr>
          <p:cNvSpPr>
            <a:spLocks xmlns:a="http://schemas.openxmlformats.org/drawingml/2006/main" noGrp="1"/>
          </p:cNvSpPr>
          <p:nvPr/>
        </p:nvSpPr>
        <p:spPr>
          <a:xfrm xmlns:a="http://schemas.openxmlformats.org/drawingml/2006/main">
            <a:off x="685800" y="3600450"/>
            <a:ext cx="6743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02A43"/>
                </a:solidFill>
                <a:latin typeface="Bitstream Charter"/>
                <a:ea typeface="Bitstream Charter"/>
                <a:cs typeface="Bitstream Charter"/>
              </a:defRPr>
            </a:pPr>
            <a:r>
              <a:rPr sz="1950" b="0">
                <a:solidFill>
                  <a:srgbClr val="102A43"/>
                </a:solidFill>
                <a:latin typeface="Bitstream Charter"/>
                <a:ea typeface="Bitstream Charter"/>
                <a:cs typeface="Bitstream Charter"/>
              </a:rPr>
              <a:t>Problema, método e amostra. Resultados descritos sem efeito numérico central.</a:t>
            </a:r>
          </a:p>
        </p:txBody>
      </p:sp>
      <p:sp>
        <p:nvSpPr>
          <p:cNvPr id="9" name="">
            <a:extLst xmlns:a="http://schemas.openxmlformats.org/drawingml/2006/main">
              <a:ext uri="{FF2B5EF4-FFF2-40B4-BE49-F238E27FC236}">
                <a16:creationId xmlns:a16="http://schemas.microsoft.com/office/drawing/2014/main" id="{511508D5-2E45-4422-AAB0-6AA288942747}"/>
              </a:ext>
            </a:extLst>
          </p:cNvPr>
          <p:cNvSpPr>
            <a:spLocks xmlns:a="http://schemas.openxmlformats.org/drawingml/2006/main" noGrp="1"/>
          </p:cNvSpPr>
          <p:nvPr/>
        </p:nvSpPr>
        <p:spPr>
          <a:xfrm xmlns:a="http://schemas.openxmlformats.org/drawingml/2006/main">
            <a:off x="685800" y="4552950"/>
            <a:ext cx="6743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06F70"/>
                </a:solidFill>
                <a:latin typeface="Bitstream Charter"/>
                <a:ea typeface="Bitstream Charter"/>
                <a:cs typeface="Bitstream Charter"/>
              </a:defRPr>
            </a:pPr>
            <a:r>
              <a:rPr sz="1725" b="1">
                <a:solidFill>
                  <a:srgbClr val="006F70"/>
                </a:solidFill>
                <a:latin typeface="Bitstream Charter"/>
                <a:ea typeface="Bitstream Charter"/>
                <a:cs typeface="Bitstream Charter"/>
              </a:rPr>
              <a:t>Autoria e indexação</a:t>
            </a:r>
          </a:p>
        </p:txBody>
      </p:sp>
      <p:sp>
        <p:nvSpPr>
          <p:cNvPr id="10" name="">
            <a:extLst xmlns:a="http://schemas.openxmlformats.org/drawingml/2006/main">
              <a:ext uri="{FF2B5EF4-FFF2-40B4-BE49-F238E27FC236}">
                <a16:creationId xmlns:a16="http://schemas.microsoft.com/office/drawing/2014/main" id="{6B1E3937-9821-4155-A0B2-D2B13D361186}"/>
              </a:ext>
            </a:extLst>
          </p:cNvPr>
          <p:cNvSpPr>
            <a:spLocks xmlns:a="http://schemas.openxmlformats.org/drawingml/2006/main" noGrp="1"/>
          </p:cNvSpPr>
          <p:nvPr/>
        </p:nvSpPr>
        <p:spPr>
          <a:xfrm xmlns:a="http://schemas.openxmlformats.org/drawingml/2006/main">
            <a:off x="685800" y="4943475"/>
            <a:ext cx="6743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02A43"/>
                </a:solidFill>
                <a:latin typeface="Bitstream Charter"/>
                <a:ea typeface="Bitstream Charter"/>
                <a:cs typeface="Bitstream Charter"/>
              </a:defRPr>
            </a:pPr>
            <a:r>
              <a:rPr sz="1950" b="0">
                <a:solidFill>
                  <a:srgbClr val="102A43"/>
                </a:solidFill>
                <a:latin typeface="Bitstream Charter"/>
                <a:ea typeface="Bitstream Charter"/>
                <a:cs typeface="Bitstream Charter"/>
              </a:rPr>
              <a:t>Afiliações, palavras-chave e conceitos ACM identificam e tornam o trabalho recuperável</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4c9202543a64e5d"/>
          <a:stretch xmlns:a="http://schemas.openxmlformats.org/drawingml/2006/main"/>
        </p:blipFill>
        <p:spPr>
          <a:xfrm xmlns:a="http://schemas.openxmlformats.org/drawingml/2006/main">
            <a:off x="7984981" y="1676400"/>
            <a:ext cx="3356264" cy="4343400"/>
          </a:xfrm>
          <a:prstGeom xmlns:a="http://schemas.openxmlformats.org/drawingml/2006/main" prst="rect">
            <a:avLst/>
          </a:prstGeom>
        </p:spPr>
      </p:pic>
    </p:spTree>
    <p:extLst>
      <p:ext uri="{BB962C8B-B14F-4D97-AF65-F5344CB8AC3E}">
        <p14:creationId xmlns:p14="http://schemas.microsoft.com/office/powerpoint/2010/main" val="100240139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52F46D-E752-494A-8F83-4225E28F3065}"/>
              </a:ext>
            </a:extLst>
          </p:cNvPr>
          <p:cNvSpPr>
            <a:spLocks xmlns:a="http://schemas.openxmlformats.org/drawingml/2006/main" noGrp="1"/>
          </p:cNvSpPr>
          <p:nvPr/>
        </p:nvSpPr>
        <p:spPr>
          <a:xfrm xmlns:a="http://schemas.openxmlformats.org/drawingml/2006/main">
            <a:off x="685800" y="3333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006F70"/>
                </a:solidFill>
                <a:latin typeface="Bitstream Charter"/>
                <a:ea typeface="Bitstream Charter"/>
                <a:cs typeface="Bitstream Charter"/>
              </a:defRPr>
            </a:pPr>
            <a:r>
              <a:rPr sz="1200" b="1">
                <a:solidFill>
                  <a:srgbClr val="006F70"/>
                </a:solidFill>
                <a:latin typeface="Bitstream Charter"/>
                <a:ea typeface="Bitstream Charter"/>
                <a:cs typeface="Bitstream Charter"/>
              </a:rPr>
              <a:t>3 · ANÁLISE DA ESTRUTURA</a:t>
            </a:r>
          </a:p>
        </p:txBody>
      </p:sp>
      <p:sp>
        <p:nvSpPr>
          <p:cNvPr id="2" name="">
            <a:extLst xmlns:a="http://schemas.openxmlformats.org/drawingml/2006/main">
              <a:ext uri="{FF2B5EF4-FFF2-40B4-BE49-F238E27FC236}">
                <a16:creationId xmlns:a16="http://schemas.microsoft.com/office/drawing/2014/main" id="{1CA5D2FF-1CD5-4912-9728-BB4D40375B94}"/>
              </a:ext>
            </a:extLst>
          </p:cNvPr>
          <p:cNvSpPr>
            <a:spLocks xmlns:a="http://schemas.openxmlformats.org/drawingml/2006/main" noGrp="1"/>
          </p:cNvSpPr>
          <p:nvPr/>
        </p:nvSpPr>
        <p:spPr>
          <a:xfrm xmlns:a="http://schemas.openxmlformats.org/drawingml/2006/main">
            <a:off x="685800" y="790575"/>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02A43"/>
                </a:solidFill>
                <a:latin typeface="Bitstream Charter"/>
                <a:ea typeface="Bitstream Charter"/>
                <a:cs typeface="Bitstream Charter"/>
              </a:defRPr>
            </a:pPr>
            <a:r>
              <a:rPr sz="3300" b="1">
                <a:solidFill>
                  <a:srgbClr val="102A43"/>
                </a:solidFill>
                <a:latin typeface="Bitstream Charter"/>
                <a:ea typeface="Bitstream Charter"/>
                <a:cs typeface="Bitstream Charter"/>
              </a:rPr>
              <a:t>Introdução e fundamentos</a:t>
            </a:r>
          </a:p>
        </p:txBody>
      </p:sp>
      <p:sp>
        <p:nvSpPr>
          <p:cNvPr id="3" name="">
            <a:extLst xmlns:a="http://schemas.openxmlformats.org/drawingml/2006/main">
              <a:ext uri="{FF2B5EF4-FFF2-40B4-BE49-F238E27FC236}">
                <a16:creationId xmlns:a16="http://schemas.microsoft.com/office/drawing/2014/main" id="{38308FAE-B7EA-4CEF-841A-8AD29E4C9953}"/>
              </a:ext>
            </a:extLst>
          </p:cNvPr>
          <p:cNvSpPr>
            <a:spLocks xmlns:a="http://schemas.openxmlformats.org/drawingml/2006/main" noGrp="1"/>
          </p:cNvSpPr>
          <p:nvPr/>
        </p:nvSpPr>
        <p:spPr>
          <a:xfrm xmlns:a="http://schemas.openxmlformats.org/drawingml/2006/main">
            <a:off x="685800" y="6219825"/>
            <a:ext cx="1019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4"/>
                </a:solidFill>
                <a:latin typeface="Bitstream Charter"/>
                <a:ea typeface="Bitstream Charter"/>
                <a:cs typeface="Bitstream Charter"/>
              </a:defRPr>
            </a:pPr>
            <a:r>
              <a:rPr sz="1125" b="0">
                <a:solidFill>
                  <a:srgbClr val="526574"/>
                </a:solidFill>
                <a:latin typeface="Bitstream Charter"/>
                <a:ea typeface="Bitstream Charter"/>
                <a:cs typeface="Bitstream Charter"/>
              </a:rPr>
              <a:t>Introdução: problema e RQ1–RQ4. Fundamentos: definições necessárias à interpretação.</a:t>
            </a:r>
          </a:p>
        </p:txBody>
      </p:sp>
      <p:sp>
        <p:nvSpPr>
          <p:cNvPr id="4" name="">
            <a:extLst xmlns:a="http://schemas.openxmlformats.org/drawingml/2006/main">
              <a:ext uri="{FF2B5EF4-FFF2-40B4-BE49-F238E27FC236}">
                <a16:creationId xmlns:a16="http://schemas.microsoft.com/office/drawing/2014/main" id="{371C8622-677C-4324-9F0C-0A108406B38C}"/>
              </a:ext>
            </a:extLst>
          </p:cNvPr>
          <p:cNvSpPr>
            <a:spLocks xmlns:a="http://schemas.openxmlformats.org/drawingml/2006/main" noGrp="1"/>
          </p:cNvSpPr>
          <p:nvPr/>
        </p:nvSpPr>
        <p:spPr>
          <a:xfrm xmlns:a="http://schemas.openxmlformats.org/drawingml/2006/main">
            <a:off x="11049000" y="62484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26574"/>
                </a:solidFill>
                <a:latin typeface="Bitstream Charter"/>
                <a:ea typeface="Bitstream Charter"/>
                <a:cs typeface="Bitstream Charter"/>
              </a:defRPr>
            </a:pPr>
            <a:r>
              <a:rPr sz="1350" b="0">
                <a:solidFill>
                  <a:srgbClr val="526574"/>
                </a:solidFill>
                <a:latin typeface="Bitstream Charter"/>
                <a:ea typeface="Bitstream Charter"/>
                <a:cs typeface="Bitstream Charter"/>
              </a:rPr>
              <a:t>9</a:t>
            </a:r>
          </a:p>
        </p:txBody>
      </p:sp>
      <p:graphicFrame>
        <p:nvGraphicFramePr>
          <p:cNvPr id="10" name=""/>
          <p:cNvGraphicFramePr/>
          <p:nvPr/>
        </p:nvGraphicFramePr>
        <p:xfrm>
          <a:off xmlns:a="http://schemas.openxmlformats.org/drawingml/2006/main" x="685800" y="1752600"/>
          <a:ext xmlns:a="http://schemas.openxmlformats.org/drawingml/2006/main" cx="10820400" cy="4048125"/>
        </p:xfrm>
        <a:graphic xmlns:a="http://schemas.openxmlformats.org/drawingml/2006/main">
          <a:graphicData uri="http://schemas.openxmlformats.org/drawingml/2006/table">
            <a:tbl>
              <a:tblPr firstRow="0" bandRow="0"/>
              <a:tblGrid>
                <a:gridCol w="3524250"/>
                <a:gridCol w="7296150"/>
              </a:tblGrid>
              <a:tr h="809625">
                <a:tc>
                  <a:txBody>
                    <a:bodyPr/>
                    <a:lstStyle/>
                    <a:p>
                      <a:r>
                        <a:rPr sz="1875" b="1">
                          <a:solidFill>
                            <a:srgbClr val="FFFFFF"/>
                          </a:solidFill>
                          <a:latin typeface="Bitstream Charter"/>
                          <a:ea typeface="Bitstream Charter"/>
                          <a:cs typeface="Bitstream Charter"/>
                        </a:rPr>
                        <a:t>Sistema</a:t>
                      </a:r>
                    </a:p>
                  </a:txBody>
                  <a:tcPr marL="171450" marR="171450" marT="114300" marB="95250" anchor="ctr">
                    <a:solidFill>
                      <a:srgbClr val="102A43"/>
                    </a:solidFill>
                  </a:tcPr>
                </a:tc>
                <a:tc>
                  <a:txBody>
                    <a:bodyPr/>
                    <a:lstStyle/>
                    <a:p>
                      <a:r>
                        <a:rPr sz="1875" b="1">
                          <a:solidFill>
                            <a:srgbClr val="FFFFFF"/>
                          </a:solidFill>
                          <a:latin typeface="Bitstream Charter"/>
                          <a:ea typeface="Bitstream Charter"/>
                          <a:cs typeface="Bitstream Charter"/>
                        </a:rPr>
                        <a:t>O que representa no estudo</a:t>
                      </a:r>
                    </a:p>
                  </a:txBody>
                  <a:tcPr marL="171450" marR="171450" marT="114300" marB="95250" anchor="ctr">
                    <a:solidFill>
                      <a:srgbClr val="102A43"/>
                    </a:solidFill>
                  </a:tcPr>
                </a:tc>
              </a:tr>
              <a:tr h="809625">
                <a:tc>
                  <a:txBody>
                    <a:bodyPr/>
                    <a:lstStyle/>
                    <a:p>
                      <a:r>
                        <a:rPr sz="1875" b="0">
                          <a:solidFill>
                            <a:srgbClr val="102A43"/>
                          </a:solidFill>
                          <a:latin typeface="Bitstream Charter"/>
                          <a:ea typeface="Bitstream Charter"/>
                          <a:cs typeface="Bitstream Charter"/>
                        </a:rPr>
                        <a:t>CVSS</a:t>
                      </a:r>
                    </a:p>
                  </a:txBody>
                  <a:tcPr marL="171450" marR="171450" marT="114300" marB="95250" anchor="ctr">
                    <a:solidFill>
                      <a:srgbClr val="FFFFFF"/>
                    </a:solidFill>
                  </a:tcPr>
                </a:tc>
                <a:tc>
                  <a:txBody>
                    <a:bodyPr/>
                    <a:lstStyle/>
                    <a:p>
                      <a:r>
                        <a:rPr sz="1875" b="0">
                          <a:solidFill>
                            <a:srgbClr val="102A43"/>
                          </a:solidFill>
                          <a:latin typeface="Bitstream Charter"/>
                          <a:ea typeface="Bitstream Charter"/>
                          <a:cs typeface="Bitstream Charter"/>
                        </a:rPr>
                        <a:t>Severidade técnica da vulnerabilidade</a:t>
                      </a:r>
                    </a:p>
                  </a:txBody>
                  <a:tcPr marL="171450" marR="171450" marT="114300" marB="95250" anchor="ctr">
                    <a:solidFill>
                      <a:srgbClr val="FFFFFF"/>
                    </a:solidFill>
                  </a:tcPr>
                </a:tc>
              </a:tr>
              <a:tr h="809625">
                <a:tc>
                  <a:txBody>
                    <a:bodyPr/>
                    <a:lstStyle/>
                    <a:p>
                      <a:r>
                        <a:rPr sz="1875" b="0">
                          <a:solidFill>
                            <a:srgbClr val="102A43"/>
                          </a:solidFill>
                          <a:latin typeface="Bitstream Charter"/>
                          <a:ea typeface="Bitstream Charter"/>
                          <a:cs typeface="Bitstream Charter"/>
                        </a:rPr>
                        <a:t>EPSS</a:t>
                      </a:r>
                    </a:p>
                  </a:txBody>
                  <a:tcPr marL="171450" marR="171450" marT="114300" marB="95250" anchor="ctr">
                    <a:solidFill>
                      <a:srgbClr val="F1F6F7"/>
                    </a:solidFill>
                  </a:tcPr>
                </a:tc>
                <a:tc>
                  <a:txBody>
                    <a:bodyPr/>
                    <a:lstStyle/>
                    <a:p>
                      <a:r>
                        <a:rPr sz="1875" b="0">
                          <a:solidFill>
                            <a:srgbClr val="102A43"/>
                          </a:solidFill>
                          <a:latin typeface="Bitstream Charter"/>
                          <a:ea typeface="Bitstream Charter"/>
                          <a:cs typeface="Bitstream Charter"/>
                        </a:rPr>
                        <a:t>Probabilidade de exploração nos próximos 30 dias</a:t>
                      </a:r>
                    </a:p>
                  </a:txBody>
                  <a:tcPr marL="171450" marR="171450" marT="114300" marB="95250" anchor="ctr">
                    <a:solidFill>
                      <a:srgbClr val="F1F6F7"/>
                    </a:solidFill>
                  </a:tcPr>
                </a:tc>
              </a:tr>
              <a:tr h="809625">
                <a:tc>
                  <a:txBody>
                    <a:bodyPr/>
                    <a:lstStyle/>
                    <a:p>
                      <a:r>
                        <a:rPr sz="1875" b="0">
                          <a:solidFill>
                            <a:srgbClr val="102A43"/>
                          </a:solidFill>
                          <a:latin typeface="Bitstream Charter"/>
                          <a:ea typeface="Bitstream Charter"/>
                          <a:cs typeface="Bitstream Charter"/>
                        </a:rPr>
                        <a:t>SSVC</a:t>
                      </a:r>
                    </a:p>
                  </a:txBody>
                  <a:tcPr marL="171450" marR="171450" marT="114300" marB="95250" anchor="ctr">
                    <a:solidFill>
                      <a:srgbClr val="FFFFFF"/>
                    </a:solidFill>
                  </a:tcPr>
                </a:tc>
                <a:tc>
                  <a:txBody>
                    <a:bodyPr/>
                    <a:lstStyle/>
                    <a:p>
                      <a:r>
                        <a:rPr sz="1875" b="0">
                          <a:solidFill>
                            <a:srgbClr val="102A43"/>
                          </a:solidFill>
                          <a:latin typeface="Bitstream Charter"/>
                          <a:ea typeface="Bitstream Charter"/>
                          <a:cs typeface="Bitstream Charter"/>
                        </a:rPr>
                        <a:t>Ação sugerida conforme contexto e impacto</a:t>
                      </a:r>
                    </a:p>
                  </a:txBody>
                  <a:tcPr marL="171450" marR="171450" marT="114300" marB="95250" anchor="ctr">
                    <a:solidFill>
                      <a:srgbClr val="FFFFFF"/>
                    </a:solidFill>
                  </a:tcPr>
                </a:tc>
              </a:tr>
              <a:tr h="809625">
                <a:tc>
                  <a:txBody>
                    <a:bodyPr/>
                    <a:lstStyle/>
                    <a:p>
                      <a:r>
                        <a:rPr sz="1875" b="0">
                          <a:solidFill>
                            <a:srgbClr val="102A43"/>
                          </a:solidFill>
                          <a:latin typeface="Bitstream Charter"/>
                          <a:ea typeface="Bitstream Charter"/>
                          <a:cs typeface="Bitstream Charter"/>
                        </a:rPr>
                        <a:t>Exploitability Index</a:t>
                      </a:r>
                    </a:p>
                  </a:txBody>
                  <a:tcPr marL="171450" marR="171450" marT="114300" marB="95250" anchor="ctr">
                    <a:solidFill>
                      <a:srgbClr val="F1F6F7"/>
                    </a:solidFill>
                  </a:tcPr>
                </a:tc>
                <a:tc>
                  <a:txBody>
                    <a:bodyPr/>
                    <a:lstStyle/>
                    <a:p>
                      <a:r>
                        <a:rPr sz="1875" b="0">
                          <a:solidFill>
                            <a:srgbClr val="102A43"/>
                          </a:solidFill>
                          <a:latin typeface="Bitstream Charter"/>
                          <a:ea typeface="Bitstream Charter"/>
                          <a:cs typeface="Bitstream Charter"/>
                        </a:rPr>
                        <a:t>Estimativa baseada em modelo e histórico do produto</a:t>
                      </a:r>
                    </a:p>
                  </a:txBody>
                  <a:tcPr marL="171450" marR="171450" marT="114300" marB="95250" anchor="ctr">
                    <a:solidFill>
                      <a:srgbClr val="F1F6F7"/>
                    </a:solidFill>
                  </a:tcPr>
                </a:tc>
              </a:tr>
            </a:tbl>
          </a:graphicData>
        </a:graphic>
      </p:graphicFrame>
    </p:spTree>
    <p:extLst>
      <p:ext uri="{BB962C8B-B14F-4D97-AF65-F5344CB8AC3E}">
        <p14:creationId xmlns:p14="http://schemas.microsoft.com/office/powerpoint/2010/main" val="21054288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9CEC69-DDEA-491D-9463-CE0F5BB80DDB}"/>
              </a:ext>
            </a:extLst>
          </p:cNvPr>
          <p:cNvSpPr>
            <a:spLocks xmlns:a="http://schemas.openxmlformats.org/drawingml/2006/main" noGrp="1"/>
          </p:cNvSpPr>
          <p:nvPr/>
        </p:nvSpPr>
        <p:spPr>
          <a:xfrm xmlns:a="http://schemas.openxmlformats.org/drawingml/2006/main">
            <a:off x="685800" y="3333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006F70"/>
                </a:solidFill>
                <a:latin typeface="Bitstream Charter"/>
                <a:ea typeface="Bitstream Charter"/>
                <a:cs typeface="Bitstream Charter"/>
              </a:defRPr>
            </a:pPr>
            <a:r>
              <a:rPr sz="1200" b="1">
                <a:solidFill>
                  <a:srgbClr val="006F70"/>
                </a:solidFill>
                <a:latin typeface="Bitstream Charter"/>
                <a:ea typeface="Bitstream Charter"/>
                <a:cs typeface="Bitstream Charter"/>
              </a:rPr>
              <a:t>3 · ANÁLISE DA ESTRUTURA</a:t>
            </a:r>
          </a:p>
        </p:txBody>
      </p:sp>
      <p:sp>
        <p:nvSpPr>
          <p:cNvPr id="2" name="">
            <a:extLst xmlns:a="http://schemas.openxmlformats.org/drawingml/2006/main">
              <a:ext uri="{FF2B5EF4-FFF2-40B4-BE49-F238E27FC236}">
                <a16:creationId xmlns:a16="http://schemas.microsoft.com/office/drawing/2014/main" id="{8015AA9D-9AD3-4ACD-9213-2EC8FFA6D364}"/>
              </a:ext>
            </a:extLst>
          </p:cNvPr>
          <p:cNvSpPr>
            <a:spLocks xmlns:a="http://schemas.openxmlformats.org/drawingml/2006/main" noGrp="1"/>
          </p:cNvSpPr>
          <p:nvPr/>
        </p:nvSpPr>
        <p:spPr>
          <a:xfrm xmlns:a="http://schemas.openxmlformats.org/drawingml/2006/main">
            <a:off x="685800" y="790575"/>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02A43"/>
                </a:solidFill>
                <a:latin typeface="Bitstream Charter"/>
                <a:ea typeface="Bitstream Charter"/>
                <a:cs typeface="Bitstream Charter"/>
              </a:defRPr>
            </a:pPr>
            <a:r>
              <a:rPr sz="3300" b="1">
                <a:solidFill>
                  <a:srgbClr val="102A43"/>
                </a:solidFill>
                <a:latin typeface="Bitstream Charter"/>
                <a:ea typeface="Bitstream Charter"/>
                <a:cs typeface="Bitstream Charter"/>
              </a:rPr>
              <a:t>Metodologia e unidades de análise</a:t>
            </a:r>
          </a:p>
        </p:txBody>
      </p:sp>
      <p:sp>
        <p:nvSpPr>
          <p:cNvPr id="3" name="">
            <a:extLst xmlns:a="http://schemas.openxmlformats.org/drawingml/2006/main">
              <a:ext uri="{FF2B5EF4-FFF2-40B4-BE49-F238E27FC236}">
                <a16:creationId xmlns:a16="http://schemas.microsoft.com/office/drawing/2014/main" id="{EEF6B64F-40A0-4354-99C2-02C6FC60E036}"/>
              </a:ext>
            </a:extLst>
          </p:cNvPr>
          <p:cNvSpPr>
            <a:spLocks xmlns:a="http://schemas.openxmlformats.org/drawingml/2006/main" noGrp="1"/>
          </p:cNvSpPr>
          <p:nvPr/>
        </p:nvSpPr>
        <p:spPr>
          <a:xfrm xmlns:a="http://schemas.openxmlformats.org/drawingml/2006/main">
            <a:off x="685800" y="6219825"/>
            <a:ext cx="1019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4"/>
                </a:solidFill>
                <a:latin typeface="Bitstream Charter"/>
                <a:ea typeface="Bitstream Charter"/>
                <a:cs typeface="Bitstream Charter"/>
              </a:defRPr>
            </a:pPr>
            <a:r>
              <a:rPr sz="1125" b="0">
                <a:solidFill>
                  <a:srgbClr val="526574"/>
                </a:solidFill>
                <a:latin typeface="Bitstream Charter"/>
                <a:ea typeface="Bitstream Charter"/>
                <a:cs typeface="Bitstream Charter"/>
              </a:rPr>
              <a:t>Ausência de escore não equivale a escore zero. Os conjuntos respondem a análises diferentes.</a:t>
            </a:r>
          </a:p>
        </p:txBody>
      </p:sp>
      <p:sp>
        <p:nvSpPr>
          <p:cNvPr id="4" name="">
            <a:extLst xmlns:a="http://schemas.openxmlformats.org/drawingml/2006/main">
              <a:ext uri="{FF2B5EF4-FFF2-40B4-BE49-F238E27FC236}">
                <a16:creationId xmlns:a16="http://schemas.microsoft.com/office/drawing/2014/main" id="{5AFFE28C-946D-4681-989C-29C4BDA0A323}"/>
              </a:ext>
            </a:extLst>
          </p:cNvPr>
          <p:cNvSpPr>
            <a:spLocks xmlns:a="http://schemas.openxmlformats.org/drawingml/2006/main" noGrp="1"/>
          </p:cNvSpPr>
          <p:nvPr/>
        </p:nvSpPr>
        <p:spPr>
          <a:xfrm xmlns:a="http://schemas.openxmlformats.org/drawingml/2006/main">
            <a:off x="11049000" y="62484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26574"/>
                </a:solidFill>
                <a:latin typeface="Bitstream Charter"/>
                <a:ea typeface="Bitstream Charter"/>
                <a:cs typeface="Bitstream Charter"/>
              </a:defRPr>
            </a:pPr>
            <a:r>
              <a:rPr sz="1350" b="0">
                <a:solidFill>
                  <a:srgbClr val="526574"/>
                </a:solidFill>
                <a:latin typeface="Bitstream Charter"/>
                <a:ea typeface="Bitstream Charter"/>
                <a:cs typeface="Bitstream Charter"/>
              </a:rPr>
              <a:t>10</a:t>
            </a:r>
          </a:p>
        </p:txBody>
      </p:sp>
      <p:graphicFrame>
        <p:nvGraphicFramePr>
          <p:cNvPr id="10" name=""/>
          <p:cNvGraphicFramePr/>
          <p:nvPr/>
        </p:nvGraphicFramePr>
        <p:xfrm>
          <a:off xmlns:a="http://schemas.openxmlformats.org/drawingml/2006/main" x="685800" y="1752600"/>
          <a:ext xmlns:a="http://schemas.openxmlformats.org/drawingml/2006/main" cx="10820400" cy="4048125"/>
        </p:xfrm>
        <a:graphic xmlns:a="http://schemas.openxmlformats.org/drawingml/2006/main">
          <a:graphicData uri="http://schemas.openxmlformats.org/drawingml/2006/table">
            <a:tbl>
              <a:tblPr firstRow="0" bandRow="0"/>
              <a:tblGrid>
                <a:gridCol w="3714750"/>
                <a:gridCol w="7105650"/>
              </a:tblGrid>
              <a:tr h="809625">
                <a:tc>
                  <a:txBody>
                    <a:bodyPr/>
                    <a:lstStyle/>
                    <a:p>
                      <a:r>
                        <a:rPr sz="1875" b="1">
                          <a:solidFill>
                            <a:srgbClr val="FFFFFF"/>
                          </a:solidFill>
                          <a:latin typeface="Bitstream Charter"/>
                          <a:ea typeface="Bitstream Charter"/>
                          <a:cs typeface="Bitstream Charter"/>
                        </a:rPr>
                        <a:t>Conjunto</a:t>
                      </a:r>
                    </a:p>
                  </a:txBody>
                  <a:tcPr marL="171450" marR="171450" marT="114300" marB="95250" anchor="ctr">
                    <a:solidFill>
                      <a:srgbClr val="102A43"/>
                    </a:solidFill>
                  </a:tcPr>
                </a:tc>
                <a:tc>
                  <a:txBody>
                    <a:bodyPr/>
                    <a:lstStyle/>
                    <a:p>
                      <a:r>
                        <a:rPr sz="1875" b="1">
                          <a:solidFill>
                            <a:srgbClr val="FFFFFF"/>
                          </a:solidFill>
                          <a:latin typeface="Bitstream Charter"/>
                          <a:ea typeface="Bitstream Charter"/>
                          <a:cs typeface="Bitstream Charter"/>
                        </a:rPr>
                        <a:t>Dimensão e papel</a:t>
                      </a:r>
                    </a:p>
                  </a:txBody>
                  <a:tcPr marL="171450" marR="171450" marT="114300" marB="95250" anchor="ctr">
                    <a:solidFill>
                      <a:srgbClr val="102A43"/>
                    </a:solidFill>
                  </a:tcPr>
                </a:tc>
              </a:tr>
              <a:tr h="809625">
                <a:tc>
                  <a:txBody>
                    <a:bodyPr/>
                    <a:lstStyle/>
                    <a:p>
                      <a:r>
                        <a:rPr sz="1875" b="0">
                          <a:solidFill>
                            <a:srgbClr val="102A43"/>
                          </a:solidFill>
                          <a:latin typeface="Bitstream Charter"/>
                          <a:ea typeface="Bitstream Charter"/>
                          <a:cs typeface="Bitstream Charter"/>
                        </a:rPr>
                        <a:t>Estudo principal</a:t>
                      </a:r>
                    </a:p>
                  </a:txBody>
                  <a:tcPr marL="171450" marR="171450" marT="114300" marB="95250" anchor="ctr">
                    <a:solidFill>
                      <a:srgbClr val="FFFFFF"/>
                    </a:solidFill>
                  </a:tcPr>
                </a:tc>
                <a:tc>
                  <a:txBody>
                    <a:bodyPr/>
                    <a:lstStyle/>
                    <a:p>
                      <a:r>
                        <a:rPr sz="1875" b="0">
                          <a:solidFill>
                            <a:srgbClr val="102A43"/>
                          </a:solidFill>
                          <a:latin typeface="Bitstream Charter"/>
                          <a:ea typeface="Bitstream Charter"/>
                          <a:cs typeface="Bitstream Charter"/>
                        </a:rPr>
                        <a:t>600 CVEs · Microsoft · abril–julho de 2024</a:t>
                      </a:r>
                    </a:p>
                  </a:txBody>
                  <a:tcPr marL="171450" marR="171450" marT="114300" marB="95250" anchor="ctr">
                    <a:solidFill>
                      <a:srgbClr val="FFFFFF"/>
                    </a:solidFill>
                  </a:tcPr>
                </a:tc>
              </a:tr>
              <a:tr h="809625">
                <a:tc>
                  <a:txBody>
                    <a:bodyPr/>
                    <a:lstStyle/>
                    <a:p>
                      <a:r>
                        <a:rPr sz="1875" b="0">
                          <a:solidFill>
                            <a:srgbClr val="102A43"/>
                          </a:solidFill>
                          <a:latin typeface="Bitstream Charter"/>
                          <a:ea typeface="Bitstream Charter"/>
                          <a:cs typeface="Bitstream Charter"/>
                        </a:rPr>
                        <a:t>Comparação com EPSS disponível</a:t>
                      </a:r>
                    </a:p>
                  </a:txBody>
                  <a:tcPr marL="171450" marR="171450" marT="114300" marB="95250" anchor="ctr">
                    <a:solidFill>
                      <a:srgbClr val="F1F6F7"/>
                    </a:solidFill>
                  </a:tcPr>
                </a:tc>
                <a:tc>
                  <a:txBody>
                    <a:bodyPr/>
                    <a:lstStyle/>
                    <a:p>
                      <a:r>
                        <a:rPr sz="1875" b="0">
                          <a:solidFill>
                            <a:srgbClr val="102A43"/>
                          </a:solidFill>
                          <a:latin typeface="Bitstream Charter"/>
                          <a:ea typeface="Bitstream Charter"/>
                          <a:cs typeface="Bitstream Charter"/>
                        </a:rPr>
                        <a:t>458 CVEs · 142 sem escore no retrato de 09/07/2024</a:t>
                      </a:r>
                    </a:p>
                  </a:txBody>
                  <a:tcPr marL="171450" marR="171450" marT="114300" marB="95250" anchor="ctr">
                    <a:solidFill>
                      <a:srgbClr val="F1F6F7"/>
                    </a:solidFill>
                  </a:tcPr>
                </a:tc>
              </a:tr>
              <a:tr h="809625">
                <a:tc>
                  <a:txBody>
                    <a:bodyPr/>
                    <a:lstStyle/>
                    <a:p>
                      <a:r>
                        <a:rPr sz="1875" b="0">
                          <a:solidFill>
                            <a:srgbClr val="102A43"/>
                          </a:solidFill>
                          <a:latin typeface="Bitstream Charter"/>
                          <a:ea typeface="Bitstream Charter"/>
                          <a:cs typeface="Bitstream Charter"/>
                        </a:rPr>
                        <a:t>Análise temporal adicional</a:t>
                      </a:r>
                    </a:p>
                  </a:txBody>
                  <a:tcPr marL="171450" marR="171450" marT="114300" marB="95250" anchor="ctr">
                    <a:solidFill>
                      <a:srgbClr val="FFFFFF"/>
                    </a:solidFill>
                  </a:tcPr>
                </a:tc>
                <a:tc>
                  <a:txBody>
                    <a:bodyPr/>
                    <a:lstStyle/>
                    <a:p>
                      <a:r>
                        <a:rPr sz="1875" b="0">
                          <a:solidFill>
                            <a:srgbClr val="102A43"/>
                          </a:solidFill>
                          <a:latin typeface="Bitstream Charter"/>
                          <a:ea typeface="Bitstream Charter"/>
                          <a:cs typeface="Bitstream Charter"/>
                        </a:rPr>
                        <a:t>1.226 CVEs do KEV · retratos mensais de 2021–2024</a:t>
                      </a:r>
                    </a:p>
                  </a:txBody>
                  <a:tcPr marL="171450" marR="171450" marT="114300" marB="95250" anchor="ctr">
                    <a:solidFill>
                      <a:srgbClr val="FFFFFF"/>
                    </a:solidFill>
                  </a:tcPr>
                </a:tc>
              </a:tr>
              <a:tr h="809625">
                <a:tc>
                  <a:txBody>
                    <a:bodyPr/>
                    <a:lstStyle/>
                    <a:p>
                      <a:r>
                        <a:rPr sz="1875" b="0">
                          <a:solidFill>
                            <a:srgbClr val="102A43"/>
                          </a:solidFill>
                          <a:latin typeface="Bitstream Charter"/>
                          <a:ea typeface="Bitstream Charter"/>
                          <a:cs typeface="Bitstream Charter"/>
                        </a:rPr>
                        <a:t>Instrumentos</a:t>
                      </a:r>
                    </a:p>
                  </a:txBody>
                  <a:tcPr marL="171450" marR="171450" marT="114300" marB="95250" anchor="ctr">
                    <a:solidFill>
                      <a:srgbClr val="F1F6F7"/>
                    </a:solidFill>
                  </a:tcPr>
                </a:tc>
                <a:tc>
                  <a:txBody>
                    <a:bodyPr/>
                    <a:lstStyle/>
                    <a:p>
                      <a:r>
                        <a:rPr sz="1875" b="0">
                          <a:solidFill>
                            <a:srgbClr val="102A43"/>
                          </a:solidFill>
                          <a:latin typeface="Bitstream Charter"/>
                          <a:ea typeface="Bitstream Charter"/>
                          <a:cs typeface="Bitstream Charter"/>
                        </a:rPr>
                        <a:t>Correlação, concordância, faixas de escore e top-N</a:t>
                      </a:r>
                    </a:p>
                  </a:txBody>
                  <a:tcPr marL="171450" marR="171450" marT="114300" marB="95250" anchor="ctr">
                    <a:solidFill>
                      <a:srgbClr val="F1F6F7"/>
                    </a:solidFill>
                  </a:tcPr>
                </a:tc>
              </a:tr>
            </a:tbl>
          </a:graphicData>
        </a:graphic>
      </p:graphicFrame>
    </p:spTree>
    <p:extLst>
      <p:ext uri="{BB962C8B-B14F-4D97-AF65-F5344CB8AC3E}">
        <p14:creationId xmlns:p14="http://schemas.microsoft.com/office/powerpoint/2010/main" val="64502982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8F94431-51EE-473C-B716-496492F8B0A3}"/>
              </a:ext>
            </a:extLst>
          </p:cNvPr>
          <p:cNvSpPr>
            <a:spLocks xmlns:a="http://schemas.openxmlformats.org/drawingml/2006/main" noGrp="1"/>
          </p:cNvSpPr>
          <p:nvPr/>
        </p:nvSpPr>
        <p:spPr>
          <a:xfrm xmlns:a="http://schemas.openxmlformats.org/drawingml/2006/main">
            <a:off x="685800" y="3333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006F70"/>
                </a:solidFill>
                <a:latin typeface="Bitstream Charter"/>
                <a:ea typeface="Bitstream Charter"/>
                <a:cs typeface="Bitstream Charter"/>
              </a:defRPr>
            </a:pPr>
            <a:r>
              <a:rPr sz="1200" b="1">
                <a:solidFill>
                  <a:srgbClr val="006F70"/>
                </a:solidFill>
                <a:latin typeface="Bitstream Charter"/>
                <a:ea typeface="Bitstream Charter"/>
                <a:cs typeface="Bitstream Charter"/>
              </a:rPr>
              <a:t>3 · ANÁLISE DA ESTRUTURA</a:t>
            </a:r>
          </a:p>
        </p:txBody>
      </p:sp>
      <p:sp>
        <p:nvSpPr>
          <p:cNvPr id="2" name="">
            <a:extLst xmlns:a="http://schemas.openxmlformats.org/drawingml/2006/main">
              <a:ext uri="{FF2B5EF4-FFF2-40B4-BE49-F238E27FC236}">
                <a16:creationId xmlns:a16="http://schemas.microsoft.com/office/drawing/2014/main" id="{068CA00C-0812-43C4-8CB3-1F1ECDD050B6}"/>
              </a:ext>
            </a:extLst>
          </p:cNvPr>
          <p:cNvSpPr>
            <a:spLocks xmlns:a="http://schemas.openxmlformats.org/drawingml/2006/main" noGrp="1"/>
          </p:cNvSpPr>
          <p:nvPr/>
        </p:nvSpPr>
        <p:spPr>
          <a:xfrm xmlns:a="http://schemas.openxmlformats.org/drawingml/2006/main">
            <a:off x="685800" y="790575"/>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02A43"/>
                </a:solidFill>
                <a:latin typeface="Bitstream Charter"/>
                <a:ea typeface="Bitstream Charter"/>
                <a:cs typeface="Bitstream Charter"/>
              </a:defRPr>
            </a:pPr>
            <a:r>
              <a:rPr sz="3300" b="1">
                <a:solidFill>
                  <a:srgbClr val="102A43"/>
                </a:solidFill>
                <a:latin typeface="Bitstream Charter"/>
                <a:ea typeface="Bitstream Charter"/>
                <a:cs typeface="Bitstream Charter"/>
              </a:rPr>
              <a:t>Resultados organizados pelas perguntas</a:t>
            </a:r>
          </a:p>
        </p:txBody>
      </p:sp>
      <p:sp>
        <p:nvSpPr>
          <p:cNvPr id="3" name="">
            <a:extLst xmlns:a="http://schemas.openxmlformats.org/drawingml/2006/main">
              <a:ext uri="{FF2B5EF4-FFF2-40B4-BE49-F238E27FC236}">
                <a16:creationId xmlns:a16="http://schemas.microsoft.com/office/drawing/2014/main" id="{19D1D592-E5F5-41B7-A2F0-F6272814CB06}"/>
              </a:ext>
            </a:extLst>
          </p:cNvPr>
          <p:cNvSpPr>
            <a:spLocks xmlns:a="http://schemas.openxmlformats.org/drawingml/2006/main" noGrp="1"/>
          </p:cNvSpPr>
          <p:nvPr/>
        </p:nvSpPr>
        <p:spPr>
          <a:xfrm xmlns:a="http://schemas.openxmlformats.org/drawingml/2006/main">
            <a:off x="685800" y="6219825"/>
            <a:ext cx="1019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4"/>
                </a:solidFill>
                <a:latin typeface="Bitstream Charter"/>
                <a:ea typeface="Bitstream Charter"/>
                <a:cs typeface="Bitstream Charter"/>
              </a:defRPr>
            </a:pPr>
            <a:r>
              <a:rPr sz="1125" b="0">
                <a:solidFill>
                  <a:srgbClr val="526574"/>
                </a:solidFill>
                <a:latin typeface="Bitstream Charter"/>
                <a:ea typeface="Bitstream Charter"/>
                <a:cs typeface="Bitstream Charter"/>
              </a:rPr>
              <a:t>Resultados dos autores. Listas top-N incorporam empates, podendo ultrapassar N.</a:t>
            </a:r>
          </a:p>
        </p:txBody>
      </p:sp>
      <p:sp>
        <p:nvSpPr>
          <p:cNvPr id="4" name="">
            <a:extLst xmlns:a="http://schemas.openxmlformats.org/drawingml/2006/main">
              <a:ext uri="{FF2B5EF4-FFF2-40B4-BE49-F238E27FC236}">
                <a16:creationId xmlns:a16="http://schemas.microsoft.com/office/drawing/2014/main" id="{3D45A1FC-E6A6-42C0-A2E0-B6C69B158FE8}"/>
              </a:ext>
            </a:extLst>
          </p:cNvPr>
          <p:cNvSpPr>
            <a:spLocks xmlns:a="http://schemas.openxmlformats.org/drawingml/2006/main" noGrp="1"/>
          </p:cNvSpPr>
          <p:nvPr/>
        </p:nvSpPr>
        <p:spPr>
          <a:xfrm xmlns:a="http://schemas.openxmlformats.org/drawingml/2006/main">
            <a:off x="11049000" y="62484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26574"/>
                </a:solidFill>
                <a:latin typeface="Bitstream Charter"/>
                <a:ea typeface="Bitstream Charter"/>
                <a:cs typeface="Bitstream Charter"/>
              </a:defRPr>
            </a:pPr>
            <a:r>
              <a:rPr sz="1350" b="0">
                <a:solidFill>
                  <a:srgbClr val="526574"/>
                </a:solidFill>
                <a:latin typeface="Bitstream Charter"/>
                <a:ea typeface="Bitstream Charter"/>
                <a:cs typeface="Bitstream Charter"/>
              </a:rPr>
              <a:t>11</a:t>
            </a:r>
          </a:p>
        </p:txBody>
      </p:sp>
      <p:graphicFrame>
        <p:nvGraphicFramePr>
          <p:cNvPr id="10" name=""/>
          <p:cNvGraphicFramePr/>
          <p:nvPr/>
        </p:nvGraphicFramePr>
        <p:xfrm>
          <a:off xmlns:a="http://schemas.openxmlformats.org/drawingml/2006/main" x="685800" y="1752600"/>
          <a:ext xmlns:a="http://schemas.openxmlformats.org/drawingml/2006/main" cx="10820400" cy="4048125"/>
        </p:xfrm>
        <a:graphic xmlns:a="http://schemas.openxmlformats.org/drawingml/2006/main">
          <a:graphicData uri="http://schemas.openxmlformats.org/drawingml/2006/table">
            <a:tbl>
              <a:tblPr firstRow="0" bandRow="0"/>
              <a:tblGrid>
                <a:gridCol w="3333750"/>
                <a:gridCol w="7486650"/>
              </a:tblGrid>
              <a:tr h="809625">
                <a:tc>
                  <a:txBody>
                    <a:bodyPr/>
                    <a:lstStyle/>
                    <a:p>
                      <a:r>
                        <a:rPr sz="1875" b="1">
                          <a:solidFill>
                            <a:srgbClr val="FFFFFF"/>
                          </a:solidFill>
                          <a:latin typeface="Bitstream Charter"/>
                          <a:ea typeface="Bitstream Charter"/>
                          <a:cs typeface="Bitstream Charter"/>
                        </a:rPr>
                        <a:t>Pergunta</a:t>
                      </a:r>
                    </a:p>
                  </a:txBody>
                  <a:tcPr marL="171450" marR="171450" marT="114300" marB="95250" anchor="ctr">
                    <a:solidFill>
                      <a:srgbClr val="102A43"/>
                    </a:solidFill>
                  </a:tcPr>
                </a:tc>
                <a:tc>
                  <a:txBody>
                    <a:bodyPr/>
                    <a:lstStyle/>
                    <a:p>
                      <a:r>
                        <a:rPr sz="1875" b="1">
                          <a:solidFill>
                            <a:srgbClr val="FFFFFF"/>
                          </a:solidFill>
                          <a:latin typeface="Bitstream Charter"/>
                          <a:ea typeface="Bitstream Charter"/>
                          <a:cs typeface="Bitstream Charter"/>
                        </a:rPr>
                        <a:t>Resultado relatado</a:t>
                      </a:r>
                    </a:p>
                  </a:txBody>
                  <a:tcPr marL="171450" marR="171450" marT="114300" marB="95250" anchor="ctr">
                    <a:solidFill>
                      <a:srgbClr val="102A43"/>
                    </a:solidFill>
                  </a:tcPr>
                </a:tc>
              </a:tr>
              <a:tr h="809625">
                <a:tc>
                  <a:txBody>
                    <a:bodyPr/>
                    <a:lstStyle/>
                    <a:p>
                      <a:r>
                        <a:rPr sz="1875" b="0">
                          <a:solidFill>
                            <a:srgbClr val="102A43"/>
                          </a:solidFill>
                          <a:latin typeface="Bitstream Charter"/>
                          <a:ea typeface="Bitstream Charter"/>
                          <a:cs typeface="Bitstream Charter"/>
                        </a:rPr>
                        <a:t>RQ1 · Concordância</a:t>
                      </a:r>
                    </a:p>
                  </a:txBody>
                  <a:tcPr marL="171450" marR="171450" marT="114300" marB="95250" anchor="ctr">
                    <a:solidFill>
                      <a:srgbClr val="FFFFFF"/>
                    </a:solidFill>
                  </a:tcPr>
                </a:tc>
                <a:tc>
                  <a:txBody>
                    <a:bodyPr/>
                    <a:lstStyle/>
                    <a:p>
                      <a:r>
                        <a:rPr sz="1875" b="0">
                          <a:solidFill>
                            <a:srgbClr val="102A43"/>
                          </a:solidFill>
                          <a:latin typeface="Bitstream Charter"/>
                          <a:ea typeface="Bitstream Charter"/>
                          <a:cs typeface="Bitstream Charter"/>
                        </a:rPr>
                        <a:t>Kappa próximo de zero nas comparações apresentadas</a:t>
                      </a:r>
                    </a:p>
                  </a:txBody>
                  <a:tcPr marL="171450" marR="171450" marT="114300" marB="95250" anchor="ctr">
                    <a:solidFill>
                      <a:srgbClr val="FFFFFF"/>
                    </a:solidFill>
                  </a:tcPr>
                </a:tc>
              </a:tr>
              <a:tr h="809625">
                <a:tc>
                  <a:txBody>
                    <a:bodyPr/>
                    <a:lstStyle/>
                    <a:p>
                      <a:r>
                        <a:rPr sz="1875" b="0">
                          <a:solidFill>
                            <a:srgbClr val="102A43"/>
                          </a:solidFill>
                          <a:latin typeface="Bitstream Charter"/>
                          <a:ea typeface="Bitstream Charter"/>
                          <a:cs typeface="Bitstream Charter"/>
                        </a:rPr>
                        <a:t>RQ2 · Triagem</a:t>
                      </a:r>
                    </a:p>
                  </a:txBody>
                  <a:tcPr marL="171450" marR="171450" marT="114300" marB="95250" anchor="ctr">
                    <a:solidFill>
                      <a:srgbClr val="F1F6F7"/>
                    </a:solidFill>
                  </a:tcPr>
                </a:tc>
                <a:tc>
                  <a:txBody>
                    <a:bodyPr/>
                    <a:lstStyle/>
                    <a:p>
                      <a:r>
                        <a:rPr sz="1875" b="0">
                          <a:solidFill>
                            <a:srgbClr val="102A43"/>
                          </a:solidFill>
                          <a:latin typeface="Bitstream Charter"/>
                          <a:ea typeface="Bitstream Charter"/>
                          <a:cs typeface="Bitstream Charter"/>
                        </a:rPr>
                        <a:t>Top-20 do CVSS inclui 198 CVEs com os empates</a:t>
                      </a:r>
                    </a:p>
                  </a:txBody>
                  <a:tcPr marL="171450" marR="171450" marT="114300" marB="95250" anchor="ctr">
                    <a:solidFill>
                      <a:srgbClr val="F1F6F7"/>
                    </a:solidFill>
                  </a:tcPr>
                </a:tc>
              </a:tr>
              <a:tr h="809625">
                <a:tc>
                  <a:txBody>
                    <a:bodyPr/>
                    <a:lstStyle/>
                    <a:p>
                      <a:r>
                        <a:rPr sz="1875" b="0">
                          <a:solidFill>
                            <a:srgbClr val="102A43"/>
                          </a:solidFill>
                          <a:latin typeface="Bitstream Charter"/>
                          <a:ea typeface="Bitstream Charter"/>
                          <a:cs typeface="Bitstream Charter"/>
                        </a:rPr>
                        <a:t>RQ3 · Exploração conhecida</a:t>
                      </a:r>
                    </a:p>
                  </a:txBody>
                  <a:tcPr marL="171450" marR="171450" marT="114300" marB="95250" anchor="ctr">
                    <a:solidFill>
                      <a:srgbClr val="FFFFFF"/>
                    </a:solidFill>
                  </a:tcPr>
                </a:tc>
                <a:tc>
                  <a:txBody>
                    <a:bodyPr/>
                    <a:lstStyle/>
                    <a:p>
                      <a:r>
                        <a:rPr sz="1875" b="0">
                          <a:solidFill>
                            <a:srgbClr val="102A43"/>
                          </a:solidFill>
                          <a:latin typeface="Bitstream Charter"/>
                          <a:ea typeface="Bitstream Charter"/>
                          <a:cs typeface="Bitstream Charter"/>
                        </a:rPr>
                        <a:t>Escores baixos ou ausentes motivam a análise temporal</a:t>
                      </a:r>
                    </a:p>
                  </a:txBody>
                  <a:tcPr marL="171450" marR="171450" marT="114300" marB="95250" anchor="ctr">
                    <a:solidFill>
                      <a:srgbClr val="FFFFFF"/>
                    </a:solidFill>
                  </a:tcPr>
                </a:tc>
              </a:tr>
              <a:tr h="809625">
                <a:tc>
                  <a:txBody>
                    <a:bodyPr/>
                    <a:lstStyle/>
                    <a:p>
                      <a:r>
                        <a:rPr sz="1875" b="0">
                          <a:solidFill>
                            <a:srgbClr val="102A43"/>
                          </a:solidFill>
                          <a:latin typeface="Bitstream Charter"/>
                          <a:ea typeface="Bitstream Charter"/>
                          <a:cs typeface="Bitstream Charter"/>
                        </a:rPr>
                        <a:t>RQ4 · Classes CWE</a:t>
                      </a:r>
                    </a:p>
                  </a:txBody>
                  <a:tcPr marL="171450" marR="171450" marT="114300" marB="95250" anchor="ctr">
                    <a:solidFill>
                      <a:srgbClr val="F1F6F7"/>
                    </a:solidFill>
                  </a:tcPr>
                </a:tc>
                <a:tc>
                  <a:txBody>
                    <a:bodyPr/>
                    <a:lstStyle/>
                    <a:p>
                      <a:r>
                        <a:rPr sz="1875" b="0">
                          <a:solidFill>
                            <a:srgbClr val="102A43"/>
                          </a:solidFill>
                          <a:latin typeface="Bitstream Charter"/>
                          <a:ea typeface="Bitstream Charter"/>
                          <a:cs typeface="Bitstream Charter"/>
                        </a:rPr>
                        <a:t>Poucos casos em muitas classes limitam generalizações</a:t>
                      </a:r>
                    </a:p>
                  </a:txBody>
                  <a:tcPr marL="171450" marR="171450" marT="114300" marB="95250" anchor="ctr">
                    <a:solidFill>
                      <a:srgbClr val="F1F6F7"/>
                    </a:solidFill>
                  </a:tcPr>
                </a:tc>
              </a:tr>
            </a:tbl>
          </a:graphicData>
        </a:graphic>
      </p:graphicFrame>
    </p:spTree>
    <p:extLst>
      <p:ext uri="{BB962C8B-B14F-4D97-AF65-F5344CB8AC3E}">
        <p14:creationId xmlns:p14="http://schemas.microsoft.com/office/powerpoint/2010/main" val="7219916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CB22863-AF09-4720-B50A-A345C0F6D911}"/>
              </a:ext>
            </a:extLst>
          </p:cNvPr>
          <p:cNvSpPr>
            <a:spLocks xmlns:a="http://schemas.openxmlformats.org/drawingml/2006/main" noGrp="1"/>
          </p:cNvSpPr>
          <p:nvPr/>
        </p:nvSpPr>
        <p:spPr>
          <a:xfrm xmlns:a="http://schemas.openxmlformats.org/drawingml/2006/main">
            <a:off x="685800" y="3333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006F70"/>
                </a:solidFill>
                <a:latin typeface="Bitstream Charter"/>
                <a:ea typeface="Bitstream Charter"/>
                <a:cs typeface="Bitstream Charter"/>
              </a:defRPr>
            </a:pPr>
            <a:r>
              <a:rPr sz="1200" b="1">
                <a:solidFill>
                  <a:srgbClr val="006F70"/>
                </a:solidFill>
                <a:latin typeface="Bitstream Charter"/>
                <a:ea typeface="Bitstream Charter"/>
                <a:cs typeface="Bitstream Charter"/>
              </a:rPr>
              <a:t>3 · ANÁLISE DA ESTRUTURA</a:t>
            </a:r>
          </a:p>
        </p:txBody>
      </p:sp>
      <p:sp>
        <p:nvSpPr>
          <p:cNvPr id="2" name="">
            <a:extLst xmlns:a="http://schemas.openxmlformats.org/drawingml/2006/main">
              <a:ext uri="{FF2B5EF4-FFF2-40B4-BE49-F238E27FC236}">
                <a16:creationId xmlns:a16="http://schemas.microsoft.com/office/drawing/2014/main" id="{BBC64A22-46F4-4D1A-BFBD-FB33ADB6DC3A}"/>
              </a:ext>
            </a:extLst>
          </p:cNvPr>
          <p:cNvSpPr>
            <a:spLocks xmlns:a="http://schemas.openxmlformats.org/drawingml/2006/main" noGrp="1"/>
          </p:cNvSpPr>
          <p:nvPr/>
        </p:nvSpPr>
        <p:spPr>
          <a:xfrm xmlns:a="http://schemas.openxmlformats.org/drawingml/2006/main">
            <a:off x="685800" y="790575"/>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02A43"/>
                </a:solidFill>
                <a:latin typeface="Bitstream Charter"/>
                <a:ea typeface="Bitstream Charter"/>
                <a:cs typeface="Bitstream Charter"/>
              </a:defRPr>
            </a:pPr>
            <a:r>
              <a:rPr sz="3300" b="1">
                <a:solidFill>
                  <a:srgbClr val="102A43"/>
                </a:solidFill>
                <a:latin typeface="Bitstream Charter"/>
                <a:ea typeface="Bitstream Charter"/>
                <a:cs typeface="Bitstream Charter"/>
              </a:rPr>
              <a:t>EPSS antes da inclusão no KEV</a:t>
            </a:r>
          </a:p>
        </p:txBody>
      </p:sp>
      <p:sp>
        <p:nvSpPr>
          <p:cNvPr id="3" name="">
            <a:extLst xmlns:a="http://schemas.openxmlformats.org/drawingml/2006/main">
              <a:ext uri="{FF2B5EF4-FFF2-40B4-BE49-F238E27FC236}">
                <a16:creationId xmlns:a16="http://schemas.microsoft.com/office/drawing/2014/main" id="{3E541091-DF43-4F47-8A63-93511EBEF142}"/>
              </a:ext>
            </a:extLst>
          </p:cNvPr>
          <p:cNvSpPr>
            <a:spLocks xmlns:a="http://schemas.openxmlformats.org/drawingml/2006/main" noGrp="1"/>
          </p:cNvSpPr>
          <p:nvPr/>
        </p:nvSpPr>
        <p:spPr>
          <a:xfrm xmlns:a="http://schemas.openxmlformats.org/drawingml/2006/main">
            <a:off x="685800" y="6219825"/>
            <a:ext cx="1019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4"/>
                </a:solidFill>
                <a:latin typeface="Bitstream Charter"/>
                <a:ea typeface="Bitstream Charter"/>
                <a:cs typeface="Bitstream Charter"/>
              </a:defRPr>
            </a:pPr>
            <a:r>
              <a:rPr sz="1125" b="0">
                <a:solidFill>
                  <a:srgbClr val="526574"/>
                </a:solidFill>
                <a:latin typeface="Bitstream Charter"/>
                <a:ea typeface="Bitstream Charter"/>
                <a:cs typeface="Bitstream Charter"/>
              </a:rPr>
              <a:t>Derivação: 707 = 1.226 − 244 − 275. Proporção na amostra, não acurácia. Fonte: §4.3.2 e Tabela 6.</a:t>
            </a:r>
          </a:p>
        </p:txBody>
      </p:sp>
      <p:sp>
        <p:nvSpPr>
          <p:cNvPr id="4" name="">
            <a:extLst xmlns:a="http://schemas.openxmlformats.org/drawingml/2006/main">
              <a:ext uri="{FF2B5EF4-FFF2-40B4-BE49-F238E27FC236}">
                <a16:creationId xmlns:a16="http://schemas.microsoft.com/office/drawing/2014/main" id="{254728CF-E50F-4A6D-9CB6-35BFC115318A}"/>
              </a:ext>
            </a:extLst>
          </p:cNvPr>
          <p:cNvSpPr>
            <a:spLocks xmlns:a="http://schemas.openxmlformats.org/drawingml/2006/main" noGrp="1"/>
          </p:cNvSpPr>
          <p:nvPr/>
        </p:nvSpPr>
        <p:spPr>
          <a:xfrm xmlns:a="http://schemas.openxmlformats.org/drawingml/2006/main">
            <a:off x="11049000" y="62484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26574"/>
                </a:solidFill>
                <a:latin typeface="Bitstream Charter"/>
                <a:ea typeface="Bitstream Charter"/>
                <a:cs typeface="Bitstream Charter"/>
              </a:defRPr>
            </a:pPr>
            <a:r>
              <a:rPr sz="1350" b="0">
                <a:solidFill>
                  <a:srgbClr val="526574"/>
                </a:solidFill>
                <a:latin typeface="Bitstream Charter"/>
                <a:ea typeface="Bitstream Charter"/>
                <a:cs typeface="Bitstream Charter"/>
              </a:rPr>
              <a:t>12</a:t>
            </a:r>
          </a:p>
        </p:txBody>
      </p:sp>
      <p:sp>
        <p:nvSpPr>
          <p:cNvPr id="5" name="">
            <a:extLst xmlns:a="http://schemas.openxmlformats.org/drawingml/2006/main">
              <a:ext uri="{FF2B5EF4-FFF2-40B4-BE49-F238E27FC236}">
                <a16:creationId xmlns:a16="http://schemas.microsoft.com/office/drawing/2014/main" id="{86EEE74E-6CB9-4BE6-8DFC-05FADBDFA680}"/>
              </a:ext>
            </a:extLst>
          </p:cNvPr>
          <p:cNvSpPr>
            <a:spLocks xmlns:a="http://schemas.openxmlformats.org/drawingml/2006/main" noGrp="1"/>
          </p:cNvSpPr>
          <p:nvPr/>
        </p:nvSpPr>
        <p:spPr>
          <a:xfrm xmlns:a="http://schemas.openxmlformats.org/drawingml/2006/main">
            <a:off x="685800" y="17145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006F70"/>
                </a:solidFill>
                <a:latin typeface="Bitstream Charter"/>
                <a:ea typeface="Bitstream Charter"/>
                <a:cs typeface="Bitstream Charter"/>
              </a:defRPr>
            </a:pPr>
            <a:r>
              <a:rPr sz="3225" b="1">
                <a:solidFill>
                  <a:srgbClr val="006F70"/>
                </a:solidFill>
                <a:latin typeface="Bitstream Charter"/>
                <a:ea typeface="Bitstream Charter"/>
                <a:cs typeface="Bitstream Charter"/>
              </a:rPr>
              <a:t>244 de 1.226 · 19,9%</a:t>
            </a:r>
          </a:p>
        </p:txBody>
      </p:sp>
      <p:sp>
        <p:nvSpPr>
          <p:cNvPr id="6" name="">
            <a:extLst xmlns:a="http://schemas.openxmlformats.org/drawingml/2006/main">
              <a:ext uri="{FF2B5EF4-FFF2-40B4-BE49-F238E27FC236}">
                <a16:creationId xmlns:a16="http://schemas.microsoft.com/office/drawing/2014/main" id="{F9AEF645-849A-4133-9C9C-A5A42879E109}"/>
              </a:ext>
            </a:extLst>
          </p:cNvPr>
          <p:cNvSpPr>
            <a:spLocks xmlns:a="http://schemas.openxmlformats.org/drawingml/2006/main" noGrp="1"/>
          </p:cNvSpPr>
          <p:nvPr/>
        </p:nvSpPr>
        <p:spPr>
          <a:xfrm xmlns:a="http://schemas.openxmlformats.org/drawingml/2006/main">
            <a:off x="685800" y="22860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02A43"/>
                </a:solidFill>
                <a:latin typeface="Bitstream Charter"/>
                <a:ea typeface="Bitstream Charter"/>
                <a:cs typeface="Bitstream Charter"/>
              </a:defRPr>
            </a:pPr>
            <a:r>
              <a:rPr sz="1875" b="0">
                <a:solidFill>
                  <a:srgbClr val="102A43"/>
                </a:solidFill>
                <a:latin typeface="Bitstream Charter"/>
                <a:ea typeface="Bitstream Charter"/>
                <a:cs typeface="Bitstream Charter"/>
              </a:rPr>
              <a:t>atingiram EPSS ≥ 0,5 em algum retrato mensal anterior à inclusão</a:t>
            </a:r>
          </a:p>
        </p:txBody>
      </p:sp>
      <p:graphicFrame>
        <p:nvGraphicFramePr>
          <p:cNvPr id="14" name="Chart"/>
          <p:cNvGraphicFramePr/>
          <p:nvPr/>
        </p:nvGraphicFramePr>
        <p:xfrm>
          <a:off xmlns:a="http://schemas.openxmlformats.org/drawingml/2006/main" x="704850" y="2819400"/>
          <a:ext xmlns:a="http://schemas.openxmlformats.org/drawingml/2006/main" cx="10744200" cy="3200400"/>
        </p:xfrm>
        <a:graphic xmlns:a="http://schemas.openxmlformats.org/drawingml/2006/main">
          <a:graphicData uri="http://schemas.openxmlformats.org/drawingml/2006/chart">
            <c:chart xmlns:r="http://schemas.openxmlformats.org/officeDocument/2006/relationships" xmlns:c="http://schemas.openxmlformats.org/drawingml/2006/chart" r:id="R566b20a96ed0489c"/>
          </a:graphicData>
        </a:graphic>
      </p:graphicFrame>
    </p:spTree>
    <p:extLst>
      <p:ext uri="{BB962C8B-B14F-4D97-AF65-F5344CB8AC3E}">
        <p14:creationId xmlns:p14="http://schemas.microsoft.com/office/powerpoint/2010/main" val="140073644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2D0149C-ACEB-46A1-9360-9D9265A92EA3}"/>
              </a:ext>
            </a:extLst>
          </p:cNvPr>
          <p:cNvSpPr>
            <a:spLocks xmlns:a="http://schemas.openxmlformats.org/drawingml/2006/main" noGrp="1"/>
          </p:cNvSpPr>
          <p:nvPr/>
        </p:nvSpPr>
        <p:spPr>
          <a:xfrm xmlns:a="http://schemas.openxmlformats.org/drawingml/2006/main">
            <a:off x="685800" y="3333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006F70"/>
                </a:solidFill>
                <a:latin typeface="Bitstream Charter"/>
                <a:ea typeface="Bitstream Charter"/>
                <a:cs typeface="Bitstream Charter"/>
              </a:defRPr>
            </a:pPr>
            <a:r>
              <a:rPr sz="1200" b="1">
                <a:solidFill>
                  <a:srgbClr val="006F70"/>
                </a:solidFill>
                <a:latin typeface="Bitstream Charter"/>
                <a:ea typeface="Bitstream Charter"/>
                <a:cs typeface="Bitstream Charter"/>
              </a:rPr>
              <a:t>3 · ANÁLISE DA ESTRUTURA</a:t>
            </a:r>
          </a:p>
        </p:txBody>
      </p:sp>
      <p:sp>
        <p:nvSpPr>
          <p:cNvPr id="2" name="">
            <a:extLst xmlns:a="http://schemas.openxmlformats.org/drawingml/2006/main">
              <a:ext uri="{FF2B5EF4-FFF2-40B4-BE49-F238E27FC236}">
                <a16:creationId xmlns:a16="http://schemas.microsoft.com/office/drawing/2014/main" id="{D97B451C-83BA-479D-B40D-D0B884819210}"/>
              </a:ext>
            </a:extLst>
          </p:cNvPr>
          <p:cNvSpPr>
            <a:spLocks xmlns:a="http://schemas.openxmlformats.org/drawingml/2006/main" noGrp="1"/>
          </p:cNvSpPr>
          <p:nvPr/>
        </p:nvSpPr>
        <p:spPr>
          <a:xfrm xmlns:a="http://schemas.openxmlformats.org/drawingml/2006/main">
            <a:off x="685800" y="790575"/>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02A43"/>
                </a:solidFill>
                <a:latin typeface="Bitstream Charter"/>
                <a:ea typeface="Bitstream Charter"/>
                <a:cs typeface="Bitstream Charter"/>
              </a:defRPr>
            </a:pPr>
            <a:r>
              <a:rPr sz="3300" b="1">
                <a:solidFill>
                  <a:srgbClr val="102A43"/>
                </a:solidFill>
                <a:latin typeface="Bitstream Charter"/>
                <a:ea typeface="Bitstream Charter"/>
                <a:cs typeface="Bitstream Charter"/>
              </a:rPr>
              <a:t>Discussão, limites e conclusão</a:t>
            </a:r>
          </a:p>
        </p:txBody>
      </p:sp>
      <p:sp>
        <p:nvSpPr>
          <p:cNvPr id="3" name="">
            <a:extLst xmlns:a="http://schemas.openxmlformats.org/drawingml/2006/main">
              <a:ext uri="{FF2B5EF4-FFF2-40B4-BE49-F238E27FC236}">
                <a16:creationId xmlns:a16="http://schemas.microsoft.com/office/drawing/2014/main" id="{52867957-1BE8-404E-BC85-ED768941247E}"/>
              </a:ext>
            </a:extLst>
          </p:cNvPr>
          <p:cNvSpPr>
            <a:spLocks xmlns:a="http://schemas.openxmlformats.org/drawingml/2006/main" noGrp="1"/>
          </p:cNvSpPr>
          <p:nvPr/>
        </p:nvSpPr>
        <p:spPr>
          <a:xfrm xmlns:a="http://schemas.openxmlformats.org/drawingml/2006/main">
            <a:off x="685800" y="6219825"/>
            <a:ext cx="1019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4"/>
                </a:solidFill>
                <a:latin typeface="Bitstream Charter"/>
                <a:ea typeface="Bitstream Charter"/>
                <a:cs typeface="Bitstream Charter"/>
              </a:defRPr>
            </a:pPr>
            <a:r>
              <a:rPr sz="1125" b="0">
                <a:solidFill>
                  <a:srgbClr val="526574"/>
                </a:solidFill>
                <a:latin typeface="Bitstream Charter"/>
                <a:ea typeface="Bitstream Charter"/>
                <a:cs typeface="Bitstream Charter"/>
              </a:rPr>
              <a:t>Baixa concordância entre instrumentos com finalidades distintas exige interpretação</a:t>
            </a:r>
          </a:p>
        </p:txBody>
      </p:sp>
      <p:sp>
        <p:nvSpPr>
          <p:cNvPr id="4" name="">
            <a:extLst xmlns:a="http://schemas.openxmlformats.org/drawingml/2006/main">
              <a:ext uri="{FF2B5EF4-FFF2-40B4-BE49-F238E27FC236}">
                <a16:creationId xmlns:a16="http://schemas.microsoft.com/office/drawing/2014/main" id="{55562FBC-1A36-4B97-B40B-95D29A7093F1}"/>
              </a:ext>
            </a:extLst>
          </p:cNvPr>
          <p:cNvSpPr>
            <a:spLocks xmlns:a="http://schemas.openxmlformats.org/drawingml/2006/main" noGrp="1"/>
          </p:cNvSpPr>
          <p:nvPr/>
        </p:nvSpPr>
        <p:spPr>
          <a:xfrm xmlns:a="http://schemas.openxmlformats.org/drawingml/2006/main">
            <a:off x="11049000" y="62484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26574"/>
                </a:solidFill>
                <a:latin typeface="Bitstream Charter"/>
                <a:ea typeface="Bitstream Charter"/>
                <a:cs typeface="Bitstream Charter"/>
              </a:defRPr>
            </a:pPr>
            <a:r>
              <a:rPr sz="1350" b="0">
                <a:solidFill>
                  <a:srgbClr val="526574"/>
                </a:solidFill>
                <a:latin typeface="Bitstream Charter"/>
                <a:ea typeface="Bitstream Charter"/>
                <a:cs typeface="Bitstream Charter"/>
              </a:rPr>
              <a:t>13</a:t>
            </a:r>
          </a:p>
        </p:txBody>
      </p:sp>
      <p:sp>
        <p:nvSpPr>
          <p:cNvPr id="5" name="">
            <a:extLst xmlns:a="http://schemas.openxmlformats.org/drawingml/2006/main">
              <a:ext uri="{FF2B5EF4-FFF2-40B4-BE49-F238E27FC236}">
                <a16:creationId xmlns:a16="http://schemas.microsoft.com/office/drawing/2014/main" id="{49500EF4-9E54-42E5-9631-DFC807BEBB9E}"/>
              </a:ext>
            </a:extLst>
          </p:cNvPr>
          <p:cNvSpPr>
            <a:spLocks xmlns:a="http://schemas.openxmlformats.org/drawingml/2006/main" noGrp="1"/>
          </p:cNvSpPr>
          <p:nvPr/>
        </p:nvSpPr>
        <p:spPr>
          <a:xfrm xmlns:a="http://schemas.openxmlformats.org/drawingml/2006/main">
            <a:off x="685800" y="18669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06F70"/>
                </a:solidFill>
                <a:latin typeface="Bitstream Charter"/>
                <a:ea typeface="Bitstream Charter"/>
                <a:cs typeface="Bitstream Charter"/>
              </a:defRPr>
            </a:pPr>
            <a:r>
              <a:rPr sz="1725" b="1">
                <a:solidFill>
                  <a:srgbClr val="006F70"/>
                </a:solidFill>
                <a:latin typeface="Bitstream Charter"/>
                <a:ea typeface="Bitstream Charter"/>
                <a:cs typeface="Bitstream Charter"/>
              </a:rPr>
              <a:t>Discussão dos autores</a:t>
            </a:r>
          </a:p>
        </p:txBody>
      </p:sp>
      <p:sp>
        <p:nvSpPr>
          <p:cNvPr id="6" name="">
            <a:extLst xmlns:a="http://schemas.openxmlformats.org/drawingml/2006/main">
              <a:ext uri="{FF2B5EF4-FFF2-40B4-BE49-F238E27FC236}">
                <a16:creationId xmlns:a16="http://schemas.microsoft.com/office/drawing/2014/main" id="{AC711400-E2E0-4EE7-ACB6-503D518222AF}"/>
              </a:ext>
            </a:extLst>
          </p:cNvPr>
          <p:cNvSpPr>
            <a:spLocks xmlns:a="http://schemas.openxmlformats.org/drawingml/2006/main" noGrp="1"/>
          </p:cNvSpPr>
          <p:nvPr/>
        </p:nvSpPr>
        <p:spPr>
          <a:xfrm xmlns:a="http://schemas.openxmlformats.org/drawingml/2006/main">
            <a:off x="685800" y="2257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02A43"/>
                </a:solidFill>
                <a:latin typeface="Bitstream Charter"/>
                <a:ea typeface="Bitstream Charter"/>
                <a:cs typeface="Bitstream Charter"/>
              </a:defRPr>
            </a:pPr>
            <a:r>
              <a:rPr sz="2325" b="0">
                <a:solidFill>
                  <a:srgbClr val="102A43"/>
                </a:solidFill>
                <a:latin typeface="Bitstream Charter"/>
                <a:ea typeface="Bitstream Charter"/>
                <a:cs typeface="Bitstream Charter"/>
              </a:rPr>
              <a:t>Escores precisam ser interpretados junto ao contexto da organização</a:t>
            </a:r>
          </a:p>
        </p:txBody>
      </p:sp>
      <p:sp>
        <p:nvSpPr>
          <p:cNvPr id="7" name="">
            <a:extLst xmlns:a="http://schemas.openxmlformats.org/drawingml/2006/main">
              <a:ext uri="{FF2B5EF4-FFF2-40B4-BE49-F238E27FC236}">
                <a16:creationId xmlns:a16="http://schemas.microsoft.com/office/drawing/2014/main" id="{10360B0C-433D-40E5-B9D5-58B23587A609}"/>
              </a:ext>
            </a:extLst>
          </p:cNvPr>
          <p:cNvSpPr>
            <a:spLocks xmlns:a="http://schemas.openxmlformats.org/drawingml/2006/main" noGrp="1"/>
          </p:cNvSpPr>
          <p:nvPr/>
        </p:nvSpPr>
        <p:spPr>
          <a:xfrm xmlns:a="http://schemas.openxmlformats.org/drawingml/2006/main">
            <a:off x="685800" y="32099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06F70"/>
                </a:solidFill>
                <a:latin typeface="Bitstream Charter"/>
                <a:ea typeface="Bitstream Charter"/>
                <a:cs typeface="Bitstream Charter"/>
              </a:defRPr>
            </a:pPr>
            <a:r>
              <a:rPr sz="1725" b="1">
                <a:solidFill>
                  <a:srgbClr val="006F70"/>
                </a:solidFill>
                <a:latin typeface="Bitstream Charter"/>
                <a:ea typeface="Bitstream Charter"/>
                <a:cs typeface="Bitstream Charter"/>
              </a:rPr>
              <a:t>Minha análise crítica</a:t>
            </a:r>
          </a:p>
        </p:txBody>
      </p:sp>
      <p:sp>
        <p:nvSpPr>
          <p:cNvPr id="8" name="">
            <a:extLst xmlns:a="http://schemas.openxmlformats.org/drawingml/2006/main">
              <a:ext uri="{FF2B5EF4-FFF2-40B4-BE49-F238E27FC236}">
                <a16:creationId xmlns:a16="http://schemas.microsoft.com/office/drawing/2014/main" id="{8657E206-0F87-4BE6-928D-6D53E5D0E285}"/>
              </a:ext>
            </a:extLst>
          </p:cNvPr>
          <p:cNvSpPr>
            <a:spLocks xmlns:a="http://schemas.openxmlformats.org/drawingml/2006/main" noGrp="1"/>
          </p:cNvSpPr>
          <p:nvPr/>
        </p:nvSpPr>
        <p:spPr>
          <a:xfrm xmlns:a="http://schemas.openxmlformats.org/drawingml/2006/main">
            <a:off x="685800" y="36004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02A43"/>
                </a:solidFill>
                <a:latin typeface="Bitstream Charter"/>
                <a:ea typeface="Bitstream Charter"/>
                <a:cs typeface="Bitstream Charter"/>
              </a:defRPr>
            </a:pPr>
            <a:r>
              <a:rPr sz="2325" b="0">
                <a:solidFill>
                  <a:srgbClr val="102A43"/>
                </a:solidFill>
                <a:latin typeface="Bitstream Charter"/>
                <a:ea typeface="Bitstream Charter"/>
                <a:cs typeface="Bitstream Charter"/>
              </a:rPr>
              <a:t>Escalas distintas, recorte Microsoft e observação temporal limitam as conclusões</a:t>
            </a:r>
          </a:p>
        </p:txBody>
      </p:sp>
      <p:sp>
        <p:nvSpPr>
          <p:cNvPr id="9" name="">
            <a:extLst xmlns:a="http://schemas.openxmlformats.org/drawingml/2006/main">
              <a:ext uri="{FF2B5EF4-FFF2-40B4-BE49-F238E27FC236}">
                <a16:creationId xmlns:a16="http://schemas.microsoft.com/office/drawing/2014/main" id="{E1C06906-D291-444B-886D-41974735F74E}"/>
              </a:ext>
            </a:extLst>
          </p:cNvPr>
          <p:cNvSpPr>
            <a:spLocks xmlns:a="http://schemas.openxmlformats.org/drawingml/2006/main" noGrp="1"/>
          </p:cNvSpPr>
          <p:nvPr/>
        </p:nvSpPr>
        <p:spPr>
          <a:xfrm xmlns:a="http://schemas.openxmlformats.org/drawingml/2006/main">
            <a:off x="685800" y="45529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06F70"/>
                </a:solidFill>
                <a:latin typeface="Bitstream Charter"/>
                <a:ea typeface="Bitstream Charter"/>
                <a:cs typeface="Bitstream Charter"/>
              </a:defRPr>
            </a:pPr>
            <a:r>
              <a:rPr sz="1725" b="1">
                <a:solidFill>
                  <a:srgbClr val="006F70"/>
                </a:solidFill>
                <a:latin typeface="Bitstream Charter"/>
                <a:ea typeface="Bitstream Charter"/>
                <a:cs typeface="Bitstream Charter"/>
              </a:rPr>
              <a:t>Conclusão e sustentação</a:t>
            </a:r>
          </a:p>
        </p:txBody>
      </p:sp>
      <p:sp>
        <p:nvSpPr>
          <p:cNvPr id="10" name="">
            <a:extLst xmlns:a="http://schemas.openxmlformats.org/drawingml/2006/main">
              <a:ext uri="{FF2B5EF4-FFF2-40B4-BE49-F238E27FC236}">
                <a16:creationId xmlns:a16="http://schemas.microsoft.com/office/drawing/2014/main" id="{7ADDDA2B-4210-442A-8B04-21457AE3DDF5}"/>
              </a:ext>
            </a:extLst>
          </p:cNvPr>
          <p:cNvSpPr>
            <a:spLocks xmlns:a="http://schemas.openxmlformats.org/drawingml/2006/main" noGrp="1"/>
          </p:cNvSpPr>
          <p:nvPr/>
        </p:nvSpPr>
        <p:spPr>
          <a:xfrm xmlns:a="http://schemas.openxmlformats.org/drawingml/2006/main">
            <a:off x="685800" y="49434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02A43"/>
                </a:solidFill>
                <a:latin typeface="Bitstream Charter"/>
                <a:ea typeface="Bitstream Charter"/>
                <a:cs typeface="Bitstream Charter"/>
              </a:defRPr>
            </a:pPr>
            <a:r>
              <a:rPr sz="2325" b="0">
                <a:solidFill>
                  <a:srgbClr val="102A43"/>
                </a:solidFill>
                <a:latin typeface="Bitstream Charter"/>
                <a:ea typeface="Bitstream Charter"/>
                <a:cs typeface="Bitstream Charter"/>
              </a:rPr>
              <a:t>Síntese das RQs. Trabalhos relacionados posicionam a contribuição. Referências e apêndices permitem conferência.</a:t>
            </a:r>
          </a:p>
        </p:txBody>
      </p:sp>
    </p:spTree>
    <p:extLst>
      <p:ext uri="{BB962C8B-B14F-4D97-AF65-F5344CB8AC3E}">
        <p14:creationId xmlns:p14="http://schemas.microsoft.com/office/powerpoint/2010/main" val="120037542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E23F1FA-05A5-4A5B-A500-5EE02C36D2B6}"/>
              </a:ext>
            </a:extLst>
          </p:cNvPr>
          <p:cNvSpPr>
            <a:spLocks xmlns:a="http://schemas.openxmlformats.org/drawingml/2006/main" noGrp="1"/>
          </p:cNvSpPr>
          <p:nvPr/>
        </p:nvSpPr>
        <p:spPr>
          <a:xfrm xmlns:a="http://schemas.openxmlformats.org/drawingml/2006/main">
            <a:off x="685800" y="3333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006F70"/>
                </a:solidFill>
                <a:latin typeface="Bitstream Charter"/>
                <a:ea typeface="Bitstream Charter"/>
                <a:cs typeface="Bitstream Charter"/>
              </a:defRPr>
            </a:pPr>
            <a:r>
              <a:rPr sz="1200" b="1">
                <a:solidFill>
                  <a:srgbClr val="006F70"/>
                </a:solidFill>
                <a:latin typeface="Bitstream Charter"/>
                <a:ea typeface="Bitstream Charter"/>
                <a:cs typeface="Bitstream Charter"/>
              </a:rPr>
              <a:t>3 · ANÁLISE DA ESTRUTURA</a:t>
            </a:r>
          </a:p>
        </p:txBody>
      </p:sp>
      <p:sp>
        <p:nvSpPr>
          <p:cNvPr id="2" name="">
            <a:extLst xmlns:a="http://schemas.openxmlformats.org/drawingml/2006/main">
              <a:ext uri="{FF2B5EF4-FFF2-40B4-BE49-F238E27FC236}">
                <a16:creationId xmlns:a16="http://schemas.microsoft.com/office/drawing/2014/main" id="{10AE510F-7E3B-47EC-814C-06E742A3B186}"/>
              </a:ext>
            </a:extLst>
          </p:cNvPr>
          <p:cNvSpPr>
            <a:spLocks xmlns:a="http://schemas.openxmlformats.org/drawingml/2006/main" noGrp="1"/>
          </p:cNvSpPr>
          <p:nvPr/>
        </p:nvSpPr>
        <p:spPr>
          <a:xfrm xmlns:a="http://schemas.openxmlformats.org/drawingml/2006/main">
            <a:off x="685800" y="790575"/>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02A43"/>
                </a:solidFill>
                <a:latin typeface="Bitstream Charter"/>
                <a:ea typeface="Bitstream Charter"/>
                <a:cs typeface="Bitstream Charter"/>
              </a:defRPr>
            </a:pPr>
            <a:r>
              <a:rPr sz="3300" b="1">
                <a:solidFill>
                  <a:srgbClr val="102A43"/>
                </a:solidFill>
                <a:latin typeface="Bitstream Charter"/>
                <a:ea typeface="Bitstream Charter"/>
                <a:cs typeface="Bitstream Charter"/>
              </a:rPr>
              <a:t>Aproveitamento possível no TCC</a:t>
            </a:r>
          </a:p>
        </p:txBody>
      </p:sp>
      <p:sp>
        <p:nvSpPr>
          <p:cNvPr id="3" name="">
            <a:extLst xmlns:a="http://schemas.openxmlformats.org/drawingml/2006/main">
              <a:ext uri="{FF2B5EF4-FFF2-40B4-BE49-F238E27FC236}">
                <a16:creationId xmlns:a16="http://schemas.microsoft.com/office/drawing/2014/main" id="{082A1CE4-8A18-4148-A70E-CE71E638A961}"/>
              </a:ext>
            </a:extLst>
          </p:cNvPr>
          <p:cNvSpPr>
            <a:spLocks xmlns:a="http://schemas.openxmlformats.org/drawingml/2006/main" noGrp="1"/>
          </p:cNvSpPr>
          <p:nvPr/>
        </p:nvSpPr>
        <p:spPr>
          <a:xfrm xmlns:a="http://schemas.openxmlformats.org/drawingml/2006/main">
            <a:off x="685800" y="6219825"/>
            <a:ext cx="1019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4"/>
                </a:solidFill>
                <a:latin typeface="Bitstream Charter"/>
                <a:ea typeface="Bitstream Charter"/>
                <a:cs typeface="Bitstream Charter"/>
              </a:defRPr>
            </a:pPr>
            <a:r>
              <a:rPr sz="1125" b="0">
                <a:solidFill>
                  <a:srgbClr val="526574"/>
                </a:solidFill>
                <a:latin typeface="Bitstream Charter"/>
                <a:ea typeface="Bitstream Charter"/>
                <a:cs typeface="Bitstream Charter"/>
              </a:rPr>
              <a:t>Proposta exploratória. Originalidade, escopo e orientação ainda precisam ser definidos.</a:t>
            </a:r>
          </a:p>
        </p:txBody>
      </p:sp>
      <p:sp>
        <p:nvSpPr>
          <p:cNvPr id="4" name="">
            <a:extLst xmlns:a="http://schemas.openxmlformats.org/drawingml/2006/main">
              <a:ext uri="{FF2B5EF4-FFF2-40B4-BE49-F238E27FC236}">
                <a16:creationId xmlns:a16="http://schemas.microsoft.com/office/drawing/2014/main" id="{EA22C2F1-8F0C-407D-9153-40FAC00AFDD1}"/>
              </a:ext>
            </a:extLst>
          </p:cNvPr>
          <p:cNvSpPr>
            <a:spLocks xmlns:a="http://schemas.openxmlformats.org/drawingml/2006/main" noGrp="1"/>
          </p:cNvSpPr>
          <p:nvPr/>
        </p:nvSpPr>
        <p:spPr>
          <a:xfrm xmlns:a="http://schemas.openxmlformats.org/drawingml/2006/main">
            <a:off x="11049000" y="62484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26574"/>
                </a:solidFill>
                <a:latin typeface="Bitstream Charter"/>
                <a:ea typeface="Bitstream Charter"/>
                <a:cs typeface="Bitstream Charter"/>
              </a:defRPr>
            </a:pPr>
            <a:r>
              <a:rPr sz="1350" b="0">
                <a:solidFill>
                  <a:srgbClr val="526574"/>
                </a:solidFill>
                <a:latin typeface="Bitstream Charter"/>
                <a:ea typeface="Bitstream Charter"/>
                <a:cs typeface="Bitstream Charter"/>
              </a:rPr>
              <a:t>14</a:t>
            </a:r>
          </a:p>
        </p:txBody>
      </p:sp>
      <p:sp>
        <p:nvSpPr>
          <p:cNvPr id="5" name="">
            <a:extLst xmlns:a="http://schemas.openxmlformats.org/drawingml/2006/main">
              <a:ext uri="{FF2B5EF4-FFF2-40B4-BE49-F238E27FC236}">
                <a16:creationId xmlns:a16="http://schemas.microsoft.com/office/drawing/2014/main" id="{2583CB55-E27E-4D17-9B94-E0D1B7171DD2}"/>
              </a:ext>
            </a:extLst>
          </p:cNvPr>
          <p:cNvSpPr>
            <a:spLocks xmlns:a="http://schemas.openxmlformats.org/drawingml/2006/main" noGrp="1"/>
          </p:cNvSpPr>
          <p:nvPr/>
        </p:nvSpPr>
        <p:spPr>
          <a:xfrm xmlns:a="http://schemas.openxmlformats.org/drawingml/2006/main">
            <a:off x="685800" y="18669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06F70"/>
                </a:solidFill>
                <a:latin typeface="Bitstream Charter"/>
                <a:ea typeface="Bitstream Charter"/>
                <a:cs typeface="Bitstream Charter"/>
              </a:defRPr>
            </a:pPr>
            <a:r>
              <a:rPr sz="1725" b="1">
                <a:solidFill>
                  <a:srgbClr val="006F70"/>
                </a:solidFill>
                <a:latin typeface="Bitstream Charter"/>
                <a:ea typeface="Bitstream Charter"/>
                <a:cs typeface="Bitstream Charter"/>
              </a:rPr>
              <a:t>Pergunta possível</a:t>
            </a:r>
          </a:p>
        </p:txBody>
      </p:sp>
      <p:sp>
        <p:nvSpPr>
          <p:cNvPr id="6" name="">
            <a:extLst xmlns:a="http://schemas.openxmlformats.org/drawingml/2006/main">
              <a:ext uri="{FF2B5EF4-FFF2-40B4-BE49-F238E27FC236}">
                <a16:creationId xmlns:a16="http://schemas.microsoft.com/office/drawing/2014/main" id="{A010A753-A9EF-4BE1-9084-9ECE1E0F53D6}"/>
              </a:ext>
            </a:extLst>
          </p:cNvPr>
          <p:cNvSpPr>
            <a:spLocks xmlns:a="http://schemas.openxmlformats.org/drawingml/2006/main" noGrp="1"/>
          </p:cNvSpPr>
          <p:nvPr/>
        </p:nvSpPr>
        <p:spPr>
          <a:xfrm xmlns:a="http://schemas.openxmlformats.org/drawingml/2006/main">
            <a:off x="685800" y="2257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02A43"/>
                </a:solidFill>
                <a:latin typeface="Bitstream Charter"/>
                <a:ea typeface="Bitstream Charter"/>
                <a:cs typeface="Bitstream Charter"/>
              </a:defRPr>
            </a:pPr>
            <a:r>
              <a:rPr sz="2325" b="0">
                <a:solidFill>
                  <a:srgbClr val="102A43"/>
                </a:solidFill>
                <a:latin typeface="Bitstream Charter"/>
                <a:ea typeface="Bitstream Charter"/>
                <a:cs typeface="Bitstream Charter"/>
              </a:rPr>
              <a:t>Com o mesmo limite de correções, como diferentes critérios alteram a seleção de CVEs?</a:t>
            </a:r>
          </a:p>
        </p:txBody>
      </p:sp>
      <p:sp>
        <p:nvSpPr>
          <p:cNvPr id="7" name="">
            <a:extLst xmlns:a="http://schemas.openxmlformats.org/drawingml/2006/main">
              <a:ext uri="{FF2B5EF4-FFF2-40B4-BE49-F238E27FC236}">
                <a16:creationId xmlns:a16="http://schemas.microsoft.com/office/drawing/2014/main" id="{51B7A89A-1157-4091-AAF8-98CCF50D429D}"/>
              </a:ext>
            </a:extLst>
          </p:cNvPr>
          <p:cNvSpPr>
            <a:spLocks xmlns:a="http://schemas.openxmlformats.org/drawingml/2006/main" noGrp="1"/>
          </p:cNvSpPr>
          <p:nvPr/>
        </p:nvSpPr>
        <p:spPr>
          <a:xfrm xmlns:a="http://schemas.openxmlformats.org/drawingml/2006/main">
            <a:off x="685800" y="32099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06F70"/>
                </a:solidFill>
                <a:latin typeface="Bitstream Charter"/>
                <a:ea typeface="Bitstream Charter"/>
                <a:cs typeface="Bitstream Charter"/>
              </a:defRPr>
            </a:pPr>
            <a:r>
              <a:rPr sz="1725" b="1">
                <a:solidFill>
                  <a:srgbClr val="006F70"/>
                </a:solidFill>
                <a:latin typeface="Bitstream Charter"/>
                <a:ea typeface="Bitstream Charter"/>
                <a:cs typeface="Bitstream Charter"/>
              </a:rPr>
              <a:t>Desenho inicial</a:t>
            </a:r>
          </a:p>
        </p:txBody>
      </p:sp>
      <p:sp>
        <p:nvSpPr>
          <p:cNvPr id="8" name="">
            <a:extLst xmlns:a="http://schemas.openxmlformats.org/drawingml/2006/main">
              <a:ext uri="{FF2B5EF4-FFF2-40B4-BE49-F238E27FC236}">
                <a16:creationId xmlns:a16="http://schemas.microsoft.com/office/drawing/2014/main" id="{6F419722-442F-48B5-970F-1D64FA51E2CD}"/>
              </a:ext>
            </a:extLst>
          </p:cNvPr>
          <p:cNvSpPr>
            <a:spLocks xmlns:a="http://schemas.openxmlformats.org/drawingml/2006/main" noGrp="1"/>
          </p:cNvSpPr>
          <p:nvPr/>
        </p:nvSpPr>
        <p:spPr>
          <a:xfrm xmlns:a="http://schemas.openxmlformats.org/drawingml/2006/main">
            <a:off x="685800" y="36004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02A43"/>
                </a:solidFill>
                <a:latin typeface="Bitstream Charter"/>
                <a:ea typeface="Bitstream Charter"/>
                <a:cs typeface="Bitstream Charter"/>
              </a:defRPr>
            </a:pPr>
            <a:r>
              <a:rPr sz="2325" b="0">
                <a:solidFill>
                  <a:srgbClr val="102A43"/>
                </a:solidFill>
                <a:latin typeface="Bitstream Charter"/>
                <a:ea typeface="Bitstream Charter"/>
                <a:cs typeface="Bitstream Charter"/>
              </a:rPr>
              <a:t>Comparação temporal com dados públicos, regras explícitas e controle de dados ausentes</a:t>
            </a:r>
          </a:p>
        </p:txBody>
      </p:sp>
      <p:sp>
        <p:nvSpPr>
          <p:cNvPr id="9" name="">
            <a:extLst xmlns:a="http://schemas.openxmlformats.org/drawingml/2006/main">
              <a:ext uri="{FF2B5EF4-FFF2-40B4-BE49-F238E27FC236}">
                <a16:creationId xmlns:a16="http://schemas.microsoft.com/office/drawing/2014/main" id="{1D5C4FF2-54E6-4876-89B5-29E4419D2AF6}"/>
              </a:ext>
            </a:extLst>
          </p:cNvPr>
          <p:cNvSpPr>
            <a:spLocks xmlns:a="http://schemas.openxmlformats.org/drawingml/2006/main" noGrp="1"/>
          </p:cNvSpPr>
          <p:nvPr/>
        </p:nvSpPr>
        <p:spPr>
          <a:xfrm xmlns:a="http://schemas.openxmlformats.org/drawingml/2006/main">
            <a:off x="685800" y="45529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06F70"/>
                </a:solidFill>
                <a:latin typeface="Bitstream Charter"/>
                <a:ea typeface="Bitstream Charter"/>
                <a:cs typeface="Bitstream Charter"/>
              </a:defRPr>
            </a:pPr>
            <a:r>
              <a:rPr sz="1725" b="1">
                <a:solidFill>
                  <a:srgbClr val="006F70"/>
                </a:solidFill>
                <a:latin typeface="Bitstream Charter"/>
                <a:ea typeface="Bitstream Charter"/>
                <a:cs typeface="Bitstream Charter"/>
              </a:rPr>
              <a:t>Próxima decisão</a:t>
            </a:r>
          </a:p>
        </p:txBody>
      </p:sp>
      <p:sp>
        <p:nvSpPr>
          <p:cNvPr id="10" name="">
            <a:extLst xmlns:a="http://schemas.openxmlformats.org/drawingml/2006/main">
              <a:ext uri="{FF2B5EF4-FFF2-40B4-BE49-F238E27FC236}">
                <a16:creationId xmlns:a16="http://schemas.microsoft.com/office/drawing/2014/main" id="{E2922ABB-94CE-4C3E-8EBA-D3AA88365121}"/>
              </a:ext>
            </a:extLst>
          </p:cNvPr>
          <p:cNvSpPr>
            <a:spLocks xmlns:a="http://schemas.openxmlformats.org/drawingml/2006/main" noGrp="1"/>
          </p:cNvSpPr>
          <p:nvPr/>
        </p:nvSpPr>
        <p:spPr>
          <a:xfrm xmlns:a="http://schemas.openxmlformats.org/drawingml/2006/main">
            <a:off x="685800" y="49434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02A43"/>
                </a:solidFill>
                <a:latin typeface="Bitstream Charter"/>
                <a:ea typeface="Bitstream Charter"/>
                <a:cs typeface="Bitstream Charter"/>
              </a:defRPr>
            </a:pPr>
            <a:r>
              <a:rPr sz="2325" b="0">
                <a:solidFill>
                  <a:srgbClr val="102A43"/>
                </a:solidFill>
                <a:latin typeface="Bitstream Charter"/>
                <a:ea typeface="Bitstream Charter"/>
                <a:cs typeface="Bitstream Charter"/>
              </a:rPr>
              <a:t>Revisão de literatura e piloto para delimitar contribuição e viabilidade</a:t>
            </a:r>
          </a:p>
        </p:txBody>
      </p:sp>
    </p:spTree>
    <p:extLst>
      <p:ext uri="{BB962C8B-B14F-4D97-AF65-F5344CB8AC3E}">
        <p14:creationId xmlns:p14="http://schemas.microsoft.com/office/powerpoint/2010/main" val="178362162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B386B9F-D7B5-4CF3-B0FD-B1AEBC002CAF}"/>
              </a:ext>
            </a:extLst>
          </p:cNvPr>
          <p:cNvSpPr>
            <a:spLocks xmlns:a="http://schemas.openxmlformats.org/drawingml/2006/main" noGrp="1"/>
          </p:cNvSpPr>
          <p:nvPr/>
        </p:nvSpPr>
        <p:spPr>
          <a:xfrm xmlns:a="http://schemas.openxmlformats.org/drawingml/2006/main">
            <a:off x="685800" y="3333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006F70"/>
                </a:solidFill>
                <a:latin typeface="Bitstream Charter"/>
                <a:ea typeface="Bitstream Charter"/>
                <a:cs typeface="Bitstream Charter"/>
              </a:defRPr>
            </a:pPr>
            <a:r>
              <a:rPr sz="1200" b="1">
                <a:solidFill>
                  <a:srgbClr val="006F70"/>
                </a:solidFill>
                <a:latin typeface="Bitstream Charter"/>
                <a:ea typeface="Bitstream Charter"/>
                <a:cs typeface="Bitstream Charter"/>
              </a:rPr>
              <a:t>3 · ANÁLISE DA ESTRUTURA</a:t>
            </a:r>
          </a:p>
        </p:txBody>
      </p:sp>
      <p:sp>
        <p:nvSpPr>
          <p:cNvPr id="2" name="">
            <a:extLst xmlns:a="http://schemas.openxmlformats.org/drawingml/2006/main">
              <a:ext uri="{FF2B5EF4-FFF2-40B4-BE49-F238E27FC236}">
                <a16:creationId xmlns:a16="http://schemas.microsoft.com/office/drawing/2014/main" id="{7B418860-0818-4844-831C-C836C2626CA0}"/>
              </a:ext>
            </a:extLst>
          </p:cNvPr>
          <p:cNvSpPr>
            <a:spLocks xmlns:a="http://schemas.openxmlformats.org/drawingml/2006/main" noGrp="1"/>
          </p:cNvSpPr>
          <p:nvPr/>
        </p:nvSpPr>
        <p:spPr>
          <a:xfrm xmlns:a="http://schemas.openxmlformats.org/drawingml/2006/main">
            <a:off x="685800" y="790575"/>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02A43"/>
                </a:solidFill>
                <a:latin typeface="Bitstream Charter"/>
                <a:ea typeface="Bitstream Charter"/>
                <a:cs typeface="Bitstream Charter"/>
              </a:defRPr>
            </a:pPr>
            <a:r>
              <a:rPr sz="3300" b="1">
                <a:solidFill>
                  <a:srgbClr val="102A43"/>
                </a:solidFill>
                <a:latin typeface="Bitstream Charter"/>
                <a:ea typeface="Bitstream Charter"/>
                <a:cs typeface="Bitstream Charter"/>
              </a:rPr>
              <a:t>Referências principais</a:t>
            </a:r>
          </a:p>
        </p:txBody>
      </p:sp>
      <p:sp>
        <p:nvSpPr>
          <p:cNvPr id="3" name="">
            <a:extLst xmlns:a="http://schemas.openxmlformats.org/drawingml/2006/main">
              <a:ext uri="{FF2B5EF4-FFF2-40B4-BE49-F238E27FC236}">
                <a16:creationId xmlns:a16="http://schemas.microsoft.com/office/drawing/2014/main" id="{19652B54-AFC0-4F19-96A1-1EF1D70DD7CD}"/>
              </a:ext>
            </a:extLst>
          </p:cNvPr>
          <p:cNvSpPr>
            <a:spLocks xmlns:a="http://schemas.openxmlformats.org/drawingml/2006/main" noGrp="1"/>
          </p:cNvSpPr>
          <p:nvPr/>
        </p:nvSpPr>
        <p:spPr>
          <a:xfrm xmlns:a="http://schemas.openxmlformats.org/drawingml/2006/main">
            <a:off x="685800" y="6219825"/>
            <a:ext cx="1019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526574"/>
                </a:solidFill>
                <a:latin typeface="Bitstream Charter"/>
                <a:ea typeface="Bitstream Charter"/>
                <a:cs typeface="Bitstream Charter"/>
              </a:defRPr>
            </a:pPr>
            <a:r>
              <a:rPr sz="1125" b="0">
                <a:solidFill>
                  <a:srgbClr val="526574"/>
                </a:solidFill>
                <a:latin typeface="Bitstream Charter"/>
                <a:ea typeface="Bitstream Charter"/>
                <a:cs typeface="Bitstream Charter"/>
              </a:rPr>
              <a:t>Fontes completas e links nas notas dos slides e no material de apoio</a:t>
            </a:r>
          </a:p>
        </p:txBody>
      </p:sp>
      <p:sp>
        <p:nvSpPr>
          <p:cNvPr id="4" name="">
            <a:extLst xmlns:a="http://schemas.openxmlformats.org/drawingml/2006/main">
              <a:ext uri="{FF2B5EF4-FFF2-40B4-BE49-F238E27FC236}">
                <a16:creationId xmlns:a16="http://schemas.microsoft.com/office/drawing/2014/main" id="{5D6EB3CC-D069-4402-AB4E-CB7D66705C31}"/>
              </a:ext>
            </a:extLst>
          </p:cNvPr>
          <p:cNvSpPr>
            <a:spLocks xmlns:a="http://schemas.openxmlformats.org/drawingml/2006/main" noGrp="1"/>
          </p:cNvSpPr>
          <p:nvPr/>
        </p:nvSpPr>
        <p:spPr>
          <a:xfrm xmlns:a="http://schemas.openxmlformats.org/drawingml/2006/main">
            <a:off x="11049000" y="62484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26574"/>
                </a:solidFill>
                <a:latin typeface="Bitstream Charter"/>
                <a:ea typeface="Bitstream Charter"/>
                <a:cs typeface="Bitstream Charter"/>
              </a:defRPr>
            </a:pPr>
            <a:r>
              <a:rPr sz="1350" b="0">
                <a:solidFill>
                  <a:srgbClr val="526574"/>
                </a:solidFill>
                <a:latin typeface="Bitstream Charter"/>
                <a:ea typeface="Bitstream Charter"/>
                <a:cs typeface="Bitstream Charter"/>
              </a:rPr>
              <a:t>15</a:t>
            </a:r>
          </a:p>
        </p:txBody>
      </p:sp>
      <p:sp>
        <p:nvSpPr>
          <p:cNvPr id="5" name="">
            <a:extLst xmlns:a="http://schemas.openxmlformats.org/drawingml/2006/main">
              <a:ext uri="{FF2B5EF4-FFF2-40B4-BE49-F238E27FC236}">
                <a16:creationId xmlns:a16="http://schemas.microsoft.com/office/drawing/2014/main" id="{68BEF2B6-FB8F-4469-9205-7BE64BD34B22}"/>
              </a:ext>
            </a:extLst>
          </p:cNvPr>
          <p:cNvSpPr>
            <a:spLocks xmlns:a="http://schemas.openxmlformats.org/drawingml/2006/main" noGrp="1"/>
          </p:cNvSpPr>
          <p:nvPr/>
        </p:nvSpPr>
        <p:spPr>
          <a:xfrm xmlns:a="http://schemas.openxmlformats.org/drawingml/2006/main">
            <a:off x="685800" y="1828800"/>
            <a:ext cx="466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06F70"/>
                </a:solidFill>
                <a:latin typeface="Bitstream Charter"/>
                <a:ea typeface="Bitstream Charter"/>
                <a:cs typeface="Bitstream Charter"/>
              </a:defRPr>
            </a:pPr>
            <a:r>
              <a:rPr sz="1800" b="1">
                <a:solidFill>
                  <a:srgbClr val="006F70"/>
                </a:solidFill>
                <a:latin typeface="Bitstream Charter"/>
                <a:ea typeface="Bitstream Charter"/>
                <a:cs typeface="Bitstream Charter"/>
              </a:rPr>
              <a:t>1</a:t>
            </a:r>
          </a:p>
        </p:txBody>
      </p:sp>
      <p:sp>
        <p:nvSpPr>
          <p:cNvPr id="6" name="">
            <a:extLst xmlns:a="http://schemas.openxmlformats.org/drawingml/2006/main">
              <a:ext uri="{FF2B5EF4-FFF2-40B4-BE49-F238E27FC236}">
                <a16:creationId xmlns:a16="http://schemas.microsoft.com/office/drawing/2014/main" id="{B2F3F4FC-9722-46B6-AF7A-EAD6DF861A0A}"/>
              </a:ext>
            </a:extLst>
          </p:cNvPr>
          <p:cNvSpPr>
            <a:spLocks xmlns:a="http://schemas.openxmlformats.org/drawingml/2006/main" noGrp="1"/>
          </p:cNvSpPr>
          <p:nvPr/>
        </p:nvSpPr>
        <p:spPr>
          <a:xfrm xmlns:a="http://schemas.openxmlformats.org/drawingml/2006/main">
            <a:off x="1247775" y="1828800"/>
            <a:ext cx="101155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02A43"/>
                </a:solidFill>
                <a:latin typeface="Bitstream Charter"/>
                <a:ea typeface="Bitstream Charter"/>
                <a:cs typeface="Bitstream Charter"/>
              </a:defRPr>
            </a:pPr>
            <a:r>
              <a:rPr sz="1875" b="0">
                <a:solidFill>
                  <a:srgbClr val="102A43"/>
                </a:solidFill>
                <a:latin typeface="Bitstream Charter"/>
                <a:ea typeface="Bitstream Charter"/>
                <a:cs typeface="Bitstream Charter"/>
              </a:rPr>
              <a:t>Koscinski et al. (2025). Conflicting Scores, Confusing Signals. ACM CCS. DOI: 10.1145/3719027.3765210.</a:t>
            </a:r>
          </a:p>
        </p:txBody>
      </p:sp>
      <p:sp>
        <p:nvSpPr>
          <p:cNvPr id="7" name="">
            <a:extLst xmlns:a="http://schemas.openxmlformats.org/drawingml/2006/main">
              <a:ext uri="{FF2B5EF4-FFF2-40B4-BE49-F238E27FC236}">
                <a16:creationId xmlns:a16="http://schemas.microsoft.com/office/drawing/2014/main" id="{BB7EAA74-6B6A-41D9-9184-72F5D864CC47}"/>
              </a:ext>
            </a:extLst>
          </p:cNvPr>
          <p:cNvSpPr>
            <a:spLocks xmlns:a="http://schemas.openxmlformats.org/drawingml/2006/main" noGrp="1"/>
          </p:cNvSpPr>
          <p:nvPr/>
        </p:nvSpPr>
        <p:spPr>
          <a:xfrm xmlns:a="http://schemas.openxmlformats.org/drawingml/2006/main">
            <a:off x="685800" y="2657475"/>
            <a:ext cx="466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06F70"/>
                </a:solidFill>
                <a:latin typeface="Bitstream Charter"/>
                <a:ea typeface="Bitstream Charter"/>
                <a:cs typeface="Bitstream Charter"/>
              </a:defRPr>
            </a:pPr>
            <a:r>
              <a:rPr sz="1800" b="1">
                <a:solidFill>
                  <a:srgbClr val="006F70"/>
                </a:solidFill>
                <a:latin typeface="Bitstream Charter"/>
                <a:ea typeface="Bitstream Charter"/>
                <a:cs typeface="Bitstream Charter"/>
              </a:rPr>
              <a:t>2</a:t>
            </a:r>
          </a:p>
        </p:txBody>
      </p:sp>
      <p:sp>
        <p:nvSpPr>
          <p:cNvPr id="8" name="">
            <a:extLst xmlns:a="http://schemas.openxmlformats.org/drawingml/2006/main">
              <a:ext uri="{FF2B5EF4-FFF2-40B4-BE49-F238E27FC236}">
                <a16:creationId xmlns:a16="http://schemas.microsoft.com/office/drawing/2014/main" id="{A8841553-2DB9-410C-8A03-700CD1D87E6F}"/>
              </a:ext>
            </a:extLst>
          </p:cNvPr>
          <p:cNvSpPr>
            <a:spLocks xmlns:a="http://schemas.openxmlformats.org/drawingml/2006/main" noGrp="1"/>
          </p:cNvSpPr>
          <p:nvPr/>
        </p:nvSpPr>
        <p:spPr>
          <a:xfrm xmlns:a="http://schemas.openxmlformats.org/drawingml/2006/main">
            <a:off x="1247775" y="2657475"/>
            <a:ext cx="101155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02A43"/>
                </a:solidFill>
                <a:latin typeface="Bitstream Charter"/>
                <a:ea typeface="Bitstream Charter"/>
                <a:cs typeface="Bitstream Charter"/>
              </a:defRPr>
            </a:pPr>
            <a:r>
              <a:rPr sz="1875" b="0">
                <a:solidFill>
                  <a:srgbClr val="102A43"/>
                </a:solidFill>
                <a:latin typeface="Bitstream Charter"/>
                <a:ea typeface="Bitstream Charter"/>
                <a:cs typeface="Bitstream Charter"/>
              </a:rPr>
              <a:t>CAPES. Relatório Qualis Eventos 2017–2020 e Relatório de Avaliação 2021–2024 da área de Computação.</a:t>
            </a:r>
          </a:p>
        </p:txBody>
      </p:sp>
      <p:sp>
        <p:nvSpPr>
          <p:cNvPr id="9" name="">
            <a:extLst xmlns:a="http://schemas.openxmlformats.org/drawingml/2006/main">
              <a:ext uri="{FF2B5EF4-FFF2-40B4-BE49-F238E27FC236}">
                <a16:creationId xmlns:a16="http://schemas.microsoft.com/office/drawing/2014/main" id="{59F1C195-2AF5-4A2B-BAA2-2B1E86B94685}"/>
              </a:ext>
            </a:extLst>
          </p:cNvPr>
          <p:cNvSpPr>
            <a:spLocks xmlns:a="http://schemas.openxmlformats.org/drawingml/2006/main" noGrp="1"/>
          </p:cNvSpPr>
          <p:nvPr/>
        </p:nvSpPr>
        <p:spPr>
          <a:xfrm xmlns:a="http://schemas.openxmlformats.org/drawingml/2006/main">
            <a:off x="685800" y="3486150"/>
            <a:ext cx="466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06F70"/>
                </a:solidFill>
                <a:latin typeface="Bitstream Charter"/>
                <a:ea typeface="Bitstream Charter"/>
                <a:cs typeface="Bitstream Charter"/>
              </a:defRPr>
            </a:pPr>
            <a:r>
              <a:rPr sz="1800" b="1">
                <a:solidFill>
                  <a:srgbClr val="006F70"/>
                </a:solidFill>
                <a:latin typeface="Bitstream Charter"/>
                <a:ea typeface="Bitstream Charter"/>
                <a:cs typeface="Bitstream Charter"/>
              </a:rPr>
              <a:t>3</a:t>
            </a:r>
          </a:p>
        </p:txBody>
      </p:sp>
      <p:sp>
        <p:nvSpPr>
          <p:cNvPr id="10" name="">
            <a:extLst xmlns:a="http://schemas.openxmlformats.org/drawingml/2006/main">
              <a:ext uri="{FF2B5EF4-FFF2-40B4-BE49-F238E27FC236}">
                <a16:creationId xmlns:a16="http://schemas.microsoft.com/office/drawing/2014/main" id="{95F3CEE6-D2A0-43B6-A344-16F82B799ED8}"/>
              </a:ext>
            </a:extLst>
          </p:cNvPr>
          <p:cNvSpPr>
            <a:spLocks xmlns:a="http://schemas.openxmlformats.org/drawingml/2006/main" noGrp="1"/>
          </p:cNvSpPr>
          <p:nvPr/>
        </p:nvSpPr>
        <p:spPr>
          <a:xfrm xmlns:a="http://schemas.openxmlformats.org/drawingml/2006/main">
            <a:off x="1247775" y="3486150"/>
            <a:ext cx="101155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02A43"/>
                </a:solidFill>
                <a:latin typeface="Bitstream Charter"/>
                <a:ea typeface="Bitstream Charter"/>
                <a:cs typeface="Bitstream Charter"/>
              </a:defRPr>
            </a:pPr>
            <a:r>
              <a:rPr sz="1875" b="0">
                <a:solidFill>
                  <a:srgbClr val="102A43"/>
                </a:solidFill>
                <a:latin typeface="Bitstream Charter"/>
                <a:ea typeface="Bitstream Charter"/>
                <a:cs typeface="Bitstream Charter"/>
              </a:rPr>
              <a:t>CORE Conference Portal. ICORE 2026. Consulta: 15/09/2026.</a:t>
            </a:r>
          </a:p>
        </p:txBody>
      </p:sp>
      <p:sp>
        <p:nvSpPr>
          <p:cNvPr id="11" name="">
            <a:extLst xmlns:a="http://schemas.openxmlformats.org/drawingml/2006/main">
              <a:ext uri="{FF2B5EF4-FFF2-40B4-BE49-F238E27FC236}">
                <a16:creationId xmlns:a16="http://schemas.microsoft.com/office/drawing/2014/main" id="{24BC03D9-C83D-4184-A69C-FCB31B7D2BC8}"/>
              </a:ext>
            </a:extLst>
          </p:cNvPr>
          <p:cNvSpPr>
            <a:spLocks xmlns:a="http://schemas.openxmlformats.org/drawingml/2006/main" noGrp="1"/>
          </p:cNvSpPr>
          <p:nvPr/>
        </p:nvSpPr>
        <p:spPr>
          <a:xfrm xmlns:a="http://schemas.openxmlformats.org/drawingml/2006/main">
            <a:off x="685800" y="4314825"/>
            <a:ext cx="466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06F70"/>
                </a:solidFill>
                <a:latin typeface="Bitstream Charter"/>
                <a:ea typeface="Bitstream Charter"/>
                <a:cs typeface="Bitstream Charter"/>
              </a:defRPr>
            </a:pPr>
            <a:r>
              <a:rPr sz="1800" b="1">
                <a:solidFill>
                  <a:srgbClr val="006F70"/>
                </a:solidFill>
                <a:latin typeface="Bitstream Charter"/>
                <a:ea typeface="Bitstream Charter"/>
                <a:cs typeface="Bitstream Charter"/>
              </a:rPr>
              <a:t>4</a:t>
            </a:r>
          </a:p>
        </p:txBody>
      </p:sp>
      <p:sp>
        <p:nvSpPr>
          <p:cNvPr id="12" name="">
            <a:extLst xmlns:a="http://schemas.openxmlformats.org/drawingml/2006/main">
              <a:ext uri="{FF2B5EF4-FFF2-40B4-BE49-F238E27FC236}">
                <a16:creationId xmlns:a16="http://schemas.microsoft.com/office/drawing/2014/main" id="{4A6927C4-7097-44D1-A893-FDAF47BF69C4}"/>
              </a:ext>
            </a:extLst>
          </p:cNvPr>
          <p:cNvSpPr>
            <a:spLocks xmlns:a="http://schemas.openxmlformats.org/drawingml/2006/main" noGrp="1"/>
          </p:cNvSpPr>
          <p:nvPr/>
        </p:nvSpPr>
        <p:spPr>
          <a:xfrm xmlns:a="http://schemas.openxmlformats.org/drawingml/2006/main">
            <a:off x="1247775" y="4314825"/>
            <a:ext cx="101155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02A43"/>
                </a:solidFill>
                <a:latin typeface="Bitstream Charter"/>
                <a:ea typeface="Bitstream Charter"/>
                <a:cs typeface="Bitstream Charter"/>
              </a:defRPr>
            </a:pPr>
            <a:r>
              <a:rPr sz="1875" b="0">
                <a:solidFill>
                  <a:srgbClr val="102A43"/>
                </a:solidFill>
                <a:latin typeface="Bitstream Charter"/>
                <a:ea typeface="Bitstream Charter"/>
                <a:cs typeface="Bitstream Charter"/>
              </a:rPr>
              <a:t>FIRST. EPSS Frequently Asked Questions.</a:t>
            </a:r>
          </a:p>
        </p:txBody>
      </p:sp>
      <p:sp>
        <p:nvSpPr>
          <p:cNvPr id="13" name="">
            <a:extLst xmlns:a="http://schemas.openxmlformats.org/drawingml/2006/main">
              <a:ext uri="{FF2B5EF4-FFF2-40B4-BE49-F238E27FC236}">
                <a16:creationId xmlns:a16="http://schemas.microsoft.com/office/drawing/2014/main" id="{82321C10-67D6-422F-B6BB-6D5280F2813F}"/>
              </a:ext>
            </a:extLst>
          </p:cNvPr>
          <p:cNvSpPr>
            <a:spLocks xmlns:a="http://schemas.openxmlformats.org/drawingml/2006/main" noGrp="1"/>
          </p:cNvSpPr>
          <p:nvPr/>
        </p:nvSpPr>
        <p:spPr>
          <a:xfrm xmlns:a="http://schemas.openxmlformats.org/drawingml/2006/main">
            <a:off x="685800" y="5143500"/>
            <a:ext cx="466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06F70"/>
                </a:solidFill>
                <a:latin typeface="Bitstream Charter"/>
                <a:ea typeface="Bitstream Charter"/>
                <a:cs typeface="Bitstream Charter"/>
              </a:defRPr>
            </a:pPr>
            <a:r>
              <a:rPr sz="1800" b="1">
                <a:solidFill>
                  <a:srgbClr val="006F70"/>
                </a:solidFill>
                <a:latin typeface="Bitstream Charter"/>
                <a:ea typeface="Bitstream Charter"/>
                <a:cs typeface="Bitstream Charter"/>
              </a:rPr>
              <a:t>5</a:t>
            </a:r>
          </a:p>
        </p:txBody>
      </p:sp>
      <p:sp>
        <p:nvSpPr>
          <p:cNvPr id="14" name="">
            <a:extLst xmlns:a="http://schemas.openxmlformats.org/drawingml/2006/main">
              <a:ext uri="{FF2B5EF4-FFF2-40B4-BE49-F238E27FC236}">
                <a16:creationId xmlns:a16="http://schemas.microsoft.com/office/drawing/2014/main" id="{DB712C96-2B11-4D62-B580-D32C81204025}"/>
              </a:ext>
            </a:extLst>
          </p:cNvPr>
          <p:cNvSpPr>
            <a:spLocks xmlns:a="http://schemas.openxmlformats.org/drawingml/2006/main" noGrp="1"/>
          </p:cNvSpPr>
          <p:nvPr/>
        </p:nvSpPr>
        <p:spPr>
          <a:xfrm xmlns:a="http://schemas.openxmlformats.org/drawingml/2006/main">
            <a:off x="1247775" y="5143500"/>
            <a:ext cx="101155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02A43"/>
                </a:solidFill>
                <a:latin typeface="Bitstream Charter"/>
                <a:ea typeface="Bitstream Charter"/>
                <a:cs typeface="Bitstream Charter"/>
              </a:defRPr>
            </a:pPr>
            <a:r>
              <a:rPr sz="1875" b="0">
                <a:solidFill>
                  <a:srgbClr val="102A43"/>
                </a:solidFill>
                <a:latin typeface="Bitstream Charter"/>
                <a:ea typeface="Bitstream Charter"/>
                <a:cs typeface="Bitstream Charter"/>
              </a:rPr>
              <a:t>Oliveira, Patrícia. Projeto Capstone I. Aulas 11, 12, 13 e 14.</a:t>
            </a:r>
          </a:p>
        </p:txBody>
      </p:sp>
    </p:spTree>
    <p:extLst>
      <p:ext uri="{BB962C8B-B14F-4D97-AF65-F5344CB8AC3E}">
        <p14:creationId xmlns:p14="http://schemas.microsoft.com/office/powerpoint/2010/main" val="20669695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2026-09-15T20:22:37.8700000Z</dcterms:created>
  <dcterms:modified xsi:type="dcterms:W3CDTF">2026-09-15T20:22:37.8700000Z</dcterms:modified>
</coreProperties>
</file>